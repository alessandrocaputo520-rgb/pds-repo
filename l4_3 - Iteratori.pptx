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10ab265b867_0_155: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g10ab265b867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10ab265b867_0_172: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10ab265b867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391629b4ac_0_6: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391629b4a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391629b4ac_0_17: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2391629b4ac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d1ab9ff0a5_0_38: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d1ab9ff0a5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d1ab9ff0a5_0_54: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d1ab9ff0a5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d1ab9ff0a5_0_63: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d1ab9ff0a5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d4ef953dbb_0_47: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d4ef953dbb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d1ab9ff0a5_0_76: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d1ab9ff0a5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d1ab9ff0a5_0_82: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d1ab9ff0a5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d1ab9ff0a5_0_89: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d1ab9ff0a5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d1ab9ff0a5_0_97: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d1ab9ff0a5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d4ef953dbb_0_56: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d4ef953dbb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d4ef953dbb_0_62: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d4ef953dbb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d4ef953dbb_0_68: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d4ef953dbb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d4ef953dbb_0_74: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d4ef953dbb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d4ef953dbb_0_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d4ef953db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d4ef953dbb_0_8: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d4ef953db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d4ef953dbb_0_8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d4ef953dbb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d4ef953dbb_0_86: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d4ef953dbb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d4ef953dbb_0_92: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d4ef953dbb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10f0ab675e4_0_18: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10f0ab675e4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12824ea1f52_0_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12824ea1f5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311708" y="17732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3" name="Google Shape;13;p2"/>
          <p:cNvSpPr txBox="1"/>
          <p:nvPr>
            <p:ph idx="1" type="subTitle"/>
          </p:nvPr>
        </p:nvSpPr>
        <p:spPr>
          <a:xfrm>
            <a:off x="311700" y="38628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 name="Google Shape;17;p3"/>
          <p:cNvSpPr txBox="1"/>
          <p:nvPr>
            <p:ph idx="12" type="sldNum"/>
          </p:nvPr>
        </p:nvSpPr>
        <p:spPr>
          <a:xfrm>
            <a:off x="8595308" y="476850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6" name="Google Shape;36;p8"/>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0" name="Google Shape;40;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2" name="Google Shape;42;p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5" name="Google Shape;45;p10"/>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8" name="Google Shape;48;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1"/>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pic>
        <p:nvPicPr>
          <p:cNvPr id="6" name="Google Shape;6;p1"/>
          <p:cNvPicPr preferRelativeResize="0"/>
          <p:nvPr/>
        </p:nvPicPr>
        <p:blipFill>
          <a:blip r:embed="rId1">
            <a:alphaModFix/>
          </a:blip>
          <a:stretch>
            <a:fillRect/>
          </a:stretch>
        </p:blipFill>
        <p:spPr>
          <a:xfrm>
            <a:off x="0" y="4787168"/>
            <a:ext cx="9144000" cy="356333"/>
          </a:xfrm>
          <a:prstGeom prst="rect">
            <a:avLst/>
          </a:prstGeom>
          <a:noFill/>
          <a:ln>
            <a:noFill/>
          </a:ln>
        </p:spPr>
      </p:pic>
      <p:sp>
        <p:nvSpPr>
          <p:cNvPr id="7" name="Google Shape;7;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1pPr>
            <a:lvl2pPr lvl="1">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2pPr>
            <a:lvl3pPr lvl="2">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3pPr>
            <a:lvl4pPr lvl="3">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4pPr>
            <a:lvl5pPr lvl="4">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5pPr>
            <a:lvl6pPr lvl="5">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6pPr>
            <a:lvl7pPr lvl="6">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7pPr>
            <a:lvl8pPr lvl="7">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8pPr>
            <a:lvl9pPr lvl="8">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9pPr>
          </a:lstStyle>
          <a:p/>
        </p:txBody>
      </p:sp>
      <p:sp>
        <p:nvSpPr>
          <p:cNvPr id="8" name="Google Shape;8;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Calibri"/>
              <a:buChar char="●"/>
              <a:defRPr sz="1800">
                <a:solidFill>
                  <a:schemeClr val="dk2"/>
                </a:solidFill>
                <a:latin typeface="Calibri"/>
                <a:ea typeface="Calibri"/>
                <a:cs typeface="Calibri"/>
                <a:sym typeface="Calibri"/>
              </a:defRPr>
            </a:lvl1pPr>
            <a:lvl2pPr indent="-317500" lvl="1" marL="9144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2pPr>
            <a:lvl3pPr indent="-317500" lvl="2" marL="13716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3pPr>
            <a:lvl4pPr indent="-317500" lvl="3" marL="18288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4pPr>
            <a:lvl5pPr indent="-317500" lvl="4" marL="22860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5pPr>
            <a:lvl6pPr indent="-317500" lvl="5" marL="27432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6pPr>
            <a:lvl7pPr indent="-317500" lvl="6" marL="32004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7pPr>
            <a:lvl8pPr indent="-317500" lvl="7" marL="36576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8pPr>
            <a:lvl9pPr indent="-317500" lvl="8" marL="41148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9pPr>
          </a:lstStyle>
          <a:p/>
        </p:txBody>
      </p:sp>
      <p:sp>
        <p:nvSpPr>
          <p:cNvPr id="9" name="Google Shape;9;p1"/>
          <p:cNvSpPr txBox="1"/>
          <p:nvPr>
            <p:ph idx="12" type="sldNum"/>
          </p:nvPr>
        </p:nvSpPr>
        <p:spPr>
          <a:xfrm>
            <a:off x="8472458" y="4768506"/>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
        <p:nvSpPr>
          <p:cNvPr id="10" name="Google Shape;10;p1"/>
          <p:cNvSpPr txBox="1"/>
          <p:nvPr/>
        </p:nvSpPr>
        <p:spPr>
          <a:xfrm>
            <a:off x="1019175" y="4806045"/>
            <a:ext cx="6677100" cy="31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it" sz="1100">
                <a:solidFill>
                  <a:schemeClr val="lt1"/>
                </a:solidFill>
              </a:rPr>
              <a:t>© G. Malnati, G. Liaci 2021-26</a:t>
            </a:r>
            <a:endParaRPr i="1" sz="1100">
              <a:solidFill>
                <a:schemeClr val="lt1"/>
              </a:solidFill>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doc.rust-lang.org/book/ch13-00-functional-features.html" TargetMode="External"/><Relationship Id="rId4" Type="http://schemas.openxmlformats.org/officeDocument/2006/relationships/hyperlink" Target="https://doc.rust-lang.org/rust-by-example/trait/iter.html" TargetMode="External"/><Relationship Id="rId5" Type="http://schemas.openxmlformats.org/officeDocument/2006/relationships/hyperlink" Target="https://www.newline.co/@uint/rust-iterators-a-guide--80e35528" TargetMode="External"/><Relationship Id="rId6" Type="http://schemas.openxmlformats.org/officeDocument/2006/relationships/hyperlink" Target="https://adventures.michaelfbryan.com/posts/daily/iterators/" TargetMode="External"/><Relationship Id="rId7"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8" y="17732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it"/>
              <a:t>Iteratori</a:t>
            </a:r>
            <a:endParaRPr/>
          </a:p>
        </p:txBody>
      </p:sp>
      <p:sp>
        <p:nvSpPr>
          <p:cNvPr id="57" name="Google Shape;57;p13"/>
          <p:cNvSpPr txBox="1"/>
          <p:nvPr>
            <p:ph idx="1" type="subTitle"/>
          </p:nvPr>
        </p:nvSpPr>
        <p:spPr>
          <a:xfrm>
            <a:off x="311700" y="38628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it"/>
              <a:t>Attraversare e trasformare sequenze di valori</a:t>
            </a:r>
            <a:endParaRPr/>
          </a:p>
        </p:txBody>
      </p:sp>
      <p:pic>
        <p:nvPicPr>
          <p:cNvPr id="58" name="Google Shape;58;p13"/>
          <p:cNvPicPr preferRelativeResize="0"/>
          <p:nvPr/>
        </p:nvPicPr>
        <p:blipFill>
          <a:blip r:embed="rId3">
            <a:alphaModFix/>
          </a:blip>
          <a:stretch>
            <a:fillRect/>
          </a:stretch>
        </p:blipFill>
        <p:spPr>
          <a:xfrm>
            <a:off x="3270448" y="281878"/>
            <a:ext cx="2342790" cy="23427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Iteratori</a:t>
            </a:r>
            <a:endParaRPr/>
          </a:p>
        </p:txBody>
      </p:sp>
      <p:sp>
        <p:nvSpPr>
          <p:cNvPr id="64" name="Google Shape;64;p1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65" name="Google Shape;65;p14"/>
          <p:cNvSpPr txBox="1"/>
          <p:nvPr>
            <p:ph idx="1" type="body"/>
          </p:nvPr>
        </p:nvSpPr>
        <p:spPr>
          <a:xfrm>
            <a:off x="311700" y="1152472"/>
            <a:ext cx="8520600" cy="3490500"/>
          </a:xfrm>
          <a:prstGeom prst="rect">
            <a:avLst/>
          </a:prstGeom>
        </p:spPr>
        <p:txBody>
          <a:bodyPr anchorCtr="0" anchor="t" bIns="91425" lIns="91425" spcFirstLastPara="1" rIns="91425" wrap="square" tIns="91425">
            <a:normAutofit fontScale="92500" lnSpcReduction="10000"/>
          </a:bodyPr>
          <a:lstStyle/>
          <a:p>
            <a:pPr indent="-334328" lvl="0" marL="457200" rtl="0" algn="l">
              <a:spcBef>
                <a:spcPts val="0"/>
              </a:spcBef>
              <a:spcAft>
                <a:spcPts val="0"/>
              </a:spcAft>
              <a:buSzPct val="100000"/>
              <a:buChar char="●"/>
            </a:pPr>
            <a:r>
              <a:rPr lang="it"/>
              <a:t>Un iteratore è un oggetto che genera progressivamente una sequenza di valori, mantenendo lo stato necessario a produrre l’elemento successivo</a:t>
            </a:r>
            <a:endParaRPr/>
          </a:p>
          <a:p>
            <a:pPr indent="-310832" lvl="1" marL="914400" rtl="0" algn="l">
              <a:spcBef>
                <a:spcPts val="0"/>
              </a:spcBef>
              <a:spcAft>
                <a:spcPts val="0"/>
              </a:spcAft>
              <a:buSzPct val="100000"/>
              <a:buChar char="○"/>
            </a:pPr>
            <a:r>
              <a:rPr lang="it"/>
              <a:t>I valori possono essere estratti da un contenitore, da uno stream, o generati programmaticamente, come nel caso di un intervallo di valori</a:t>
            </a:r>
            <a:endParaRPr/>
          </a:p>
          <a:p>
            <a:pPr indent="-334328" lvl="0" marL="457200" rtl="0" algn="l">
              <a:spcBef>
                <a:spcPts val="0"/>
              </a:spcBef>
              <a:spcAft>
                <a:spcPts val="0"/>
              </a:spcAft>
              <a:buSzPct val="100000"/>
              <a:buChar char="●"/>
            </a:pPr>
            <a:r>
              <a:rPr lang="it"/>
              <a:t>In molti linguaggi l’interfaccia separa “c’è un prossimo elemento?” e “restituisci il prossimo elemento”</a:t>
            </a:r>
            <a:endParaRPr/>
          </a:p>
          <a:p>
            <a:pPr indent="-310832" lvl="1" marL="914400" rtl="0" algn="l">
              <a:spcBef>
                <a:spcPts val="0"/>
              </a:spcBef>
              <a:spcAft>
                <a:spcPts val="0"/>
              </a:spcAft>
              <a:buSzPct val="100000"/>
              <a:buChar char="○"/>
            </a:pPr>
            <a:r>
              <a:rPr lang="it"/>
              <a:t>In Rust le due operazioni sono combinate in un singolo metodo( </a:t>
            </a:r>
            <a:r>
              <a:rPr b="1" lang="it">
                <a:solidFill>
                  <a:srgbClr val="0B5394"/>
                </a:solidFill>
                <a:latin typeface="Consolas"/>
                <a:ea typeface="Consolas"/>
                <a:cs typeface="Consolas"/>
                <a:sym typeface="Consolas"/>
              </a:rPr>
              <a:t>next() → Option&lt;Item&gt;</a:t>
            </a:r>
            <a:r>
              <a:rPr i="1" lang="it"/>
              <a:t> </a:t>
            </a:r>
            <a:r>
              <a:rPr lang="it"/>
              <a:t>)</a:t>
            </a:r>
            <a:endParaRPr/>
          </a:p>
          <a:p>
            <a:pPr indent="-334328" lvl="0" marL="457200" rtl="0" algn="l">
              <a:spcBef>
                <a:spcPts val="0"/>
              </a:spcBef>
              <a:spcAft>
                <a:spcPts val="0"/>
              </a:spcAft>
              <a:buSzPct val="100000"/>
              <a:buChar char="●"/>
            </a:pPr>
            <a:r>
              <a:rPr lang="it"/>
              <a:t>Un iteratore può offrire ulteriori metodi che consentono di derivare un nuovo iteratore </a:t>
            </a:r>
            <a:endParaRPr/>
          </a:p>
          <a:p>
            <a:pPr indent="-310832" lvl="1" marL="914400" rtl="0" algn="l">
              <a:spcBef>
                <a:spcPts val="0"/>
              </a:spcBef>
              <a:spcAft>
                <a:spcPts val="0"/>
              </a:spcAft>
              <a:buSzPct val="100000"/>
              <a:buChar char="○"/>
            </a:pPr>
            <a:r>
              <a:rPr lang="it"/>
              <a:t>Che trasforma la sequenza originale in un’altra sequenza, accorpando, eliminando o trasformando i singoli elementi</a:t>
            </a:r>
            <a:endParaRPr/>
          </a:p>
          <a:p>
            <a:pPr indent="-334328" lvl="0" marL="457200" rtl="0" algn="l">
              <a:spcBef>
                <a:spcPts val="0"/>
              </a:spcBef>
              <a:spcAft>
                <a:spcPts val="0"/>
              </a:spcAft>
              <a:buSzPct val="100000"/>
              <a:buChar char="●"/>
            </a:pPr>
            <a:r>
              <a:rPr lang="it"/>
              <a:t>Pressoché tutti i linguaggi “moderni” offrono il concetto di iteratore come parte della propria libreria standard</a:t>
            </a:r>
            <a:endParaRPr/>
          </a:p>
          <a:p>
            <a:pPr indent="-310832" lvl="1" marL="914400" rtl="0" algn="l">
              <a:spcBef>
                <a:spcPts val="0"/>
              </a:spcBef>
              <a:spcAft>
                <a:spcPts val="0"/>
              </a:spcAft>
              <a:buSzPct val="100000"/>
              <a:buChar char="○"/>
            </a:pPr>
            <a:r>
              <a:rPr lang="it"/>
              <a:t>Essi permettono di accedere ai valori contenuti all’interno di collezioni come liste, insiemi, mappe, scorrere i caratteri presenti all’interno di una stringa o leggere il contenuto di un file di testo estraendo una riga alla volta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Uso degli iteratori</a:t>
            </a:r>
            <a:endParaRPr/>
          </a:p>
        </p:txBody>
      </p:sp>
      <p:sp>
        <p:nvSpPr>
          <p:cNvPr id="71" name="Google Shape;71;p15"/>
          <p:cNvSpPr txBox="1"/>
          <p:nvPr>
            <p:ph idx="1" type="body"/>
          </p:nvPr>
        </p:nvSpPr>
        <p:spPr>
          <a:xfrm>
            <a:off x="311700" y="1052463"/>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L’uso degli iteratori si sovrappone concettualmente ai cicli </a:t>
            </a:r>
            <a:r>
              <a:rPr b="1" lang="it">
                <a:solidFill>
                  <a:srgbClr val="0B5394"/>
                </a:solidFill>
                <a:latin typeface="Consolas"/>
                <a:ea typeface="Consolas"/>
                <a:cs typeface="Consolas"/>
                <a:sym typeface="Consolas"/>
              </a:rPr>
              <a:t>for</a:t>
            </a:r>
            <a:r>
              <a:rPr lang="it"/>
              <a:t> e </a:t>
            </a:r>
            <a:r>
              <a:rPr b="1" lang="it">
                <a:solidFill>
                  <a:srgbClr val="0B5394"/>
                </a:solidFill>
                <a:latin typeface="Consolas"/>
                <a:ea typeface="Consolas"/>
                <a:cs typeface="Consolas"/>
                <a:sym typeface="Consolas"/>
              </a:rPr>
              <a:t>while</a:t>
            </a:r>
            <a:r>
              <a:rPr lang="it"/>
              <a:t>, ma consente di esprimere trasformazioni su sequenze in modo più composizionale</a:t>
            </a:r>
            <a:endParaRPr/>
          </a:p>
          <a:p>
            <a:pPr indent="-317500" lvl="1" marL="914400" rtl="0" algn="l">
              <a:spcBef>
                <a:spcPts val="0"/>
              </a:spcBef>
              <a:spcAft>
                <a:spcPts val="0"/>
              </a:spcAft>
              <a:buSzPts val="1400"/>
              <a:buChar char="○"/>
            </a:pPr>
            <a:r>
              <a:rPr lang="it"/>
              <a:t>Portando a vantaggi in termini di compattezza del codice, leggibilità, manutenibilità ed efficienza, nascondendo i dettagli necessari a generare / accedere ai singoli elementi</a:t>
            </a:r>
            <a:endParaRPr/>
          </a:p>
          <a:p>
            <a:pPr indent="-317500" lvl="1" marL="914400" rtl="0" algn="l">
              <a:spcBef>
                <a:spcPts val="0"/>
              </a:spcBef>
              <a:spcAft>
                <a:spcPts val="0"/>
              </a:spcAft>
              <a:buSzPts val="1400"/>
              <a:buChar char="○"/>
            </a:pPr>
            <a:r>
              <a:rPr lang="it"/>
              <a:t>I vantaggi sono maggiormente evidenti se l'operazione svolta all'interno del ciclo è complessa e richiede, ad esempio, di scartare alcuni valori e di trasformare i restanti</a:t>
            </a:r>
            <a:endParaRPr/>
          </a:p>
        </p:txBody>
      </p:sp>
      <p:sp>
        <p:nvSpPr>
          <p:cNvPr id="72" name="Google Shape;72;p1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73" name="Google Shape;73;p15"/>
          <p:cNvSpPr txBox="1"/>
          <p:nvPr/>
        </p:nvSpPr>
        <p:spPr>
          <a:xfrm>
            <a:off x="378825" y="2795220"/>
            <a:ext cx="4195200" cy="1908600"/>
          </a:xfrm>
          <a:prstGeom prst="rect">
            <a:avLst/>
          </a:prstGeom>
          <a:solidFill>
            <a:srgbClr val="FFF2CC"/>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it">
                <a:latin typeface="Consolas"/>
                <a:ea typeface="Consolas"/>
                <a:cs typeface="Consolas"/>
                <a:sym typeface="Consolas"/>
              </a:rPr>
              <a:t>let v1 = vec![1,2,3,4,5,6];</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a:latin typeface="Consolas"/>
                <a:ea typeface="Consolas"/>
                <a:cs typeface="Consolas"/>
                <a:sym typeface="Consolas"/>
              </a:rPr>
              <a:t>let mut v2 = Vec::&lt;String&gt;::new();</a:t>
            </a:r>
            <a:endParaRPr>
              <a:latin typeface="Consolas"/>
              <a:ea typeface="Consolas"/>
              <a:cs typeface="Consolas"/>
              <a:sym typeface="Consolas"/>
            </a:endParaRPr>
          </a:p>
          <a:p>
            <a:pPr indent="0" lvl="0" marL="0" rtl="0" algn="l">
              <a:spcBef>
                <a:spcPts val="0"/>
              </a:spcBef>
              <a:spcAft>
                <a:spcPts val="0"/>
              </a:spcAft>
              <a:buNone/>
            </a:pPr>
            <a:r>
              <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a:latin typeface="Consolas"/>
                <a:ea typeface="Consolas"/>
                <a:cs typeface="Consolas"/>
                <a:sym typeface="Consolas"/>
              </a:rPr>
              <a:t>for i in 0..v1.len() {</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a:latin typeface="Consolas"/>
                <a:ea typeface="Consolas"/>
                <a:cs typeface="Consolas"/>
                <a:sym typeface="Consolas"/>
              </a:rPr>
              <a:t>    if v1[i] %2 != 0 { continue; }</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a:latin typeface="Consolas"/>
                <a:ea typeface="Consolas"/>
                <a:cs typeface="Consolas"/>
                <a:sym typeface="Consolas"/>
              </a:rPr>
              <a:t>    v2.push(format!("a{}",v1[i]))</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a:latin typeface="Consolas"/>
                <a:ea typeface="Consolas"/>
                <a:cs typeface="Consolas"/>
                <a:sym typeface="Consolas"/>
              </a:rPr>
              <a:t>} </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a:latin typeface="Consolas"/>
                <a:ea typeface="Consolas"/>
                <a:cs typeface="Consolas"/>
                <a:sym typeface="Consolas"/>
              </a:rPr>
              <a:t>println!("{:?}", v2); </a:t>
            </a:r>
            <a:r>
              <a:rPr lang="it">
                <a:solidFill>
                  <a:srgbClr val="666666"/>
                </a:solidFill>
                <a:latin typeface="Consolas"/>
                <a:ea typeface="Consolas"/>
                <a:cs typeface="Consolas"/>
                <a:sym typeface="Consolas"/>
              </a:rPr>
              <a:t>// ["a2","a4","a6"]</a:t>
            </a:r>
            <a:r>
              <a:rPr lang="it">
                <a:latin typeface="Consolas"/>
                <a:ea typeface="Consolas"/>
                <a:cs typeface="Consolas"/>
                <a:sym typeface="Consolas"/>
              </a:rPr>
              <a:t> </a:t>
            </a:r>
            <a:endParaRPr>
              <a:latin typeface="Consolas"/>
              <a:ea typeface="Consolas"/>
              <a:cs typeface="Consolas"/>
              <a:sym typeface="Consolas"/>
            </a:endParaRPr>
          </a:p>
        </p:txBody>
      </p:sp>
      <p:sp>
        <p:nvSpPr>
          <p:cNvPr id="74" name="Google Shape;74;p15"/>
          <p:cNvSpPr txBox="1"/>
          <p:nvPr/>
        </p:nvSpPr>
        <p:spPr>
          <a:xfrm>
            <a:off x="4726450" y="2795220"/>
            <a:ext cx="4195200" cy="1908600"/>
          </a:xfrm>
          <a:prstGeom prst="rect">
            <a:avLst/>
          </a:prstGeom>
          <a:solidFill>
            <a:srgbClr val="FFF2CC"/>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it">
                <a:latin typeface="Consolas"/>
                <a:ea typeface="Consolas"/>
                <a:cs typeface="Consolas"/>
                <a:sym typeface="Consolas"/>
              </a:rPr>
              <a:t>let v1 = vec![1,2,3,4,5,6];</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a:latin typeface="Consolas"/>
                <a:ea typeface="Consolas"/>
                <a:cs typeface="Consolas"/>
                <a:sym typeface="Consolas"/>
              </a:rPr>
              <a:t>let mut v2: Vec&lt;String&gt;;</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a:latin typeface="Consolas"/>
                <a:ea typeface="Consolas"/>
                <a:cs typeface="Consolas"/>
                <a:sym typeface="Consolas"/>
              </a:rPr>
              <a:t>v2 = v1.</a:t>
            </a:r>
            <a:r>
              <a:rPr b="1" lang="it">
                <a:solidFill>
                  <a:srgbClr val="0B5394"/>
                </a:solidFill>
                <a:latin typeface="Consolas"/>
                <a:ea typeface="Consolas"/>
                <a:cs typeface="Consolas"/>
                <a:sym typeface="Consolas"/>
              </a:rPr>
              <a:t>iter</a:t>
            </a:r>
            <a:r>
              <a:rPr lang="it">
                <a:latin typeface="Consolas"/>
                <a:ea typeface="Consolas"/>
                <a:cs typeface="Consolas"/>
                <a:sym typeface="Consolas"/>
              </a:rPr>
              <a:t>()</a:t>
            </a:r>
            <a:endParaRPr>
              <a:latin typeface="Consolas"/>
              <a:ea typeface="Consolas"/>
              <a:cs typeface="Consolas"/>
              <a:sym typeface="Consolas"/>
            </a:endParaRPr>
          </a:p>
          <a:p>
            <a:pPr indent="0" lvl="0" marL="0" marR="0" rtl="0" algn="l">
              <a:lnSpc>
                <a:spcPct val="100000"/>
              </a:lnSpc>
              <a:spcBef>
                <a:spcPts val="0"/>
              </a:spcBef>
              <a:spcAft>
                <a:spcPts val="0"/>
              </a:spcAft>
              <a:buNone/>
            </a:pPr>
            <a:r>
              <a:rPr lang="it">
                <a:latin typeface="Consolas"/>
                <a:ea typeface="Consolas"/>
                <a:cs typeface="Consolas"/>
                <a:sym typeface="Consolas"/>
              </a:rPr>
              <a:t>    .</a:t>
            </a:r>
            <a:r>
              <a:rPr b="1" lang="it">
                <a:solidFill>
                  <a:srgbClr val="0B5394"/>
                </a:solidFill>
                <a:latin typeface="Consolas"/>
                <a:ea typeface="Consolas"/>
                <a:cs typeface="Consolas"/>
                <a:sym typeface="Consolas"/>
              </a:rPr>
              <a:t>filter</a:t>
            </a:r>
            <a:r>
              <a:rPr lang="it">
                <a:latin typeface="Consolas"/>
                <a:ea typeface="Consolas"/>
                <a:cs typeface="Consolas"/>
                <a:sym typeface="Consolas"/>
              </a:rPr>
              <a:t>(|val|{ *val %2 == 0})</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a:latin typeface="Consolas"/>
                <a:ea typeface="Consolas"/>
                <a:cs typeface="Consolas"/>
                <a:sym typeface="Consolas"/>
              </a:rPr>
              <a:t>    .</a:t>
            </a:r>
            <a:r>
              <a:rPr b="1" lang="it">
                <a:solidFill>
                  <a:srgbClr val="0B5394"/>
                </a:solidFill>
                <a:latin typeface="Consolas"/>
                <a:ea typeface="Consolas"/>
                <a:cs typeface="Consolas"/>
                <a:sym typeface="Consolas"/>
              </a:rPr>
              <a:t>map</a:t>
            </a:r>
            <a:r>
              <a:rPr lang="it">
                <a:latin typeface="Consolas"/>
                <a:ea typeface="Consolas"/>
                <a:cs typeface="Consolas"/>
                <a:sym typeface="Consolas"/>
              </a:rPr>
              <a:t>(|val| format!("a{}",val))</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a:latin typeface="Consolas"/>
                <a:ea typeface="Consolas"/>
                <a:cs typeface="Consolas"/>
                <a:sym typeface="Consolas"/>
              </a:rPr>
              <a:t>    .</a:t>
            </a:r>
            <a:r>
              <a:rPr b="1" lang="it">
                <a:solidFill>
                  <a:srgbClr val="0B5394"/>
                </a:solidFill>
                <a:latin typeface="Consolas"/>
                <a:ea typeface="Consolas"/>
                <a:cs typeface="Consolas"/>
                <a:sym typeface="Consolas"/>
              </a:rPr>
              <a:t>collect</a:t>
            </a:r>
            <a:r>
              <a:rPr lang="it">
                <a:latin typeface="Consolas"/>
                <a:ea typeface="Consolas"/>
                <a:cs typeface="Consolas"/>
                <a:sym typeface="Consolas"/>
              </a:rPr>
              <a:t>();</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println!("{:?}", v2); </a:t>
            </a:r>
            <a:r>
              <a:rPr lang="it">
                <a:solidFill>
                  <a:srgbClr val="666666"/>
                </a:solidFill>
                <a:latin typeface="Consolas"/>
                <a:ea typeface="Consolas"/>
                <a:cs typeface="Consolas"/>
                <a:sym typeface="Consolas"/>
              </a:rPr>
              <a:t>// ["a2","a4","a6"]</a:t>
            </a:r>
            <a:endParaRPr>
              <a:solidFill>
                <a:srgbClr val="666666"/>
              </a:solidFill>
              <a:latin typeface="Consolas"/>
              <a:ea typeface="Consolas"/>
              <a:cs typeface="Consolas"/>
              <a:sym typeface="Consola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Caratteristiche degli iteratori</a:t>
            </a:r>
            <a:endParaRPr/>
          </a:p>
        </p:txBody>
      </p:sp>
      <p:sp>
        <p:nvSpPr>
          <p:cNvPr id="80" name="Google Shape;80;p16"/>
          <p:cNvSpPr txBox="1"/>
          <p:nvPr>
            <p:ph idx="1" type="body"/>
          </p:nvPr>
        </p:nvSpPr>
        <p:spPr>
          <a:xfrm>
            <a:off x="311700" y="1152472"/>
            <a:ext cx="8520600" cy="35067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it"/>
              <a:t>Un iteratore offre un modo uniforme di accedere agli elementi, indipendentemente da come essi siano generati o da dove siano prelevati</a:t>
            </a:r>
            <a:endParaRPr/>
          </a:p>
          <a:p>
            <a:pPr indent="-317500" lvl="1" marL="914400" rtl="0" algn="l">
              <a:spcBef>
                <a:spcPts val="0"/>
              </a:spcBef>
              <a:spcAft>
                <a:spcPts val="0"/>
              </a:spcAft>
              <a:buSzPts val="1400"/>
              <a:buChar char="○"/>
            </a:pPr>
            <a:r>
              <a:rPr lang="it"/>
              <a:t>Permettendo al codice che utilizza tali valori di ignorare la fonte ed essere più generico</a:t>
            </a:r>
            <a:endParaRPr/>
          </a:p>
          <a:p>
            <a:pPr indent="-342900" lvl="0" marL="457200" rtl="0" algn="l">
              <a:spcBef>
                <a:spcPts val="0"/>
              </a:spcBef>
              <a:spcAft>
                <a:spcPts val="0"/>
              </a:spcAft>
              <a:buSzPts val="1800"/>
              <a:buChar char="●"/>
            </a:pPr>
            <a:r>
              <a:rPr lang="it"/>
              <a:t>Gli iteratori operano in modalità pigra</a:t>
            </a:r>
            <a:endParaRPr/>
          </a:p>
          <a:p>
            <a:pPr indent="-317500" lvl="1" marL="914400" rtl="0" algn="l">
              <a:spcBef>
                <a:spcPts val="0"/>
              </a:spcBef>
              <a:spcAft>
                <a:spcPts val="0"/>
              </a:spcAft>
              <a:buSzPts val="1400"/>
              <a:buChar char="○"/>
            </a:pPr>
            <a:r>
              <a:rPr lang="it"/>
              <a:t>Solo a fronte della richiesta di un valore successivo, si occupano di generarlo / prelevarlo</a:t>
            </a:r>
            <a:endParaRPr/>
          </a:p>
          <a:p>
            <a:pPr indent="-342900" lvl="0" marL="457200" rtl="0" algn="l">
              <a:spcBef>
                <a:spcPts val="0"/>
              </a:spcBef>
              <a:spcAft>
                <a:spcPts val="0"/>
              </a:spcAft>
              <a:buSzPts val="1800"/>
              <a:buChar char="●"/>
            </a:pPr>
            <a:r>
              <a:rPr lang="it"/>
              <a:t>La rappresentazione esplicita delle trasformazioni su sequenze si presta bene a ottimizzazioni</a:t>
            </a:r>
            <a:endParaRPr/>
          </a:p>
          <a:p>
            <a:pPr indent="-317500" lvl="1" marL="914400" rtl="0" algn="l">
              <a:spcBef>
                <a:spcPts val="0"/>
              </a:spcBef>
              <a:spcAft>
                <a:spcPts val="0"/>
              </a:spcAft>
              <a:buSzPts val="1400"/>
              <a:buChar char="○"/>
            </a:pPr>
            <a:r>
              <a:rPr lang="it"/>
              <a:t>Permettendo, con librerie dedicate, di sfruttare la presenza di più core nell'elaboratore</a:t>
            </a:r>
            <a:endParaRPr/>
          </a:p>
          <a:p>
            <a:pPr indent="-342900" lvl="0" marL="457200" rtl="0" algn="l">
              <a:spcBef>
                <a:spcPts val="0"/>
              </a:spcBef>
              <a:spcAft>
                <a:spcPts val="0"/>
              </a:spcAft>
              <a:buSzPts val="1800"/>
              <a:buChar char="●"/>
            </a:pPr>
            <a:r>
              <a:rPr lang="it"/>
              <a:t>La possibilità di derivare un iteratore da un altro iteratore aumenta la flessibilità del codice</a:t>
            </a:r>
            <a:endParaRPr/>
          </a:p>
          <a:p>
            <a:pPr indent="-317500" lvl="1" marL="914400" rtl="0" algn="l">
              <a:spcBef>
                <a:spcPts val="0"/>
              </a:spcBef>
              <a:spcAft>
                <a:spcPts val="0"/>
              </a:spcAft>
              <a:buSzPts val="1400"/>
              <a:buChar char="○"/>
            </a:pPr>
            <a:r>
              <a:rPr lang="it"/>
              <a:t>E' facile inserire all'interno di una catena di elaborazione passi ulteriori che iniettano nuovi valori, ne eliminano altri, combinano più valori tra loro, modificano l'ordine di visita, …, senza dover intervenire sul codice che utilizza i valori generati</a:t>
            </a:r>
            <a:endParaRPr/>
          </a:p>
        </p:txBody>
      </p:sp>
      <p:sp>
        <p:nvSpPr>
          <p:cNvPr id="81" name="Google Shape;81;p1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Iteratori in Rust</a:t>
            </a:r>
            <a:endParaRPr/>
          </a:p>
        </p:txBody>
      </p:sp>
      <p:sp>
        <p:nvSpPr>
          <p:cNvPr id="87" name="Google Shape;87;p1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88" name="Google Shape;88;p17"/>
          <p:cNvSpPr txBox="1"/>
          <p:nvPr>
            <p:ph idx="1" type="body"/>
          </p:nvPr>
        </p:nvSpPr>
        <p:spPr>
          <a:xfrm>
            <a:off x="311700" y="1152473"/>
            <a:ext cx="8520600" cy="7398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it"/>
              <a:t>In Rust, un iteratore è una struttura dati che implementa il tratto </a:t>
            </a:r>
            <a:r>
              <a:rPr b="1" lang="it">
                <a:solidFill>
                  <a:srgbClr val="0B5394"/>
                </a:solidFill>
                <a:latin typeface="Consolas"/>
                <a:ea typeface="Consolas"/>
                <a:cs typeface="Consolas"/>
                <a:sym typeface="Consolas"/>
              </a:rPr>
              <a:t>std::iter::Iterator</a:t>
            </a:r>
            <a:endParaRPr b="1">
              <a:solidFill>
                <a:srgbClr val="0B5394"/>
              </a:solidFill>
              <a:latin typeface="Consolas"/>
              <a:ea typeface="Consolas"/>
              <a:cs typeface="Consolas"/>
              <a:sym typeface="Consolas"/>
            </a:endParaRPr>
          </a:p>
        </p:txBody>
      </p:sp>
      <p:sp>
        <p:nvSpPr>
          <p:cNvPr id="89" name="Google Shape;89;p17"/>
          <p:cNvSpPr txBox="1"/>
          <p:nvPr/>
        </p:nvSpPr>
        <p:spPr>
          <a:xfrm>
            <a:off x="1108800" y="3540353"/>
            <a:ext cx="6926400" cy="11082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it" sz="1200">
                <a:latin typeface="Consolas"/>
                <a:ea typeface="Consolas"/>
                <a:cs typeface="Consolas"/>
                <a:sym typeface="Consolas"/>
              </a:rPr>
              <a:t>trait </a:t>
            </a:r>
            <a:r>
              <a:rPr b="1" lang="it" sz="1200">
                <a:solidFill>
                  <a:srgbClr val="0B5394"/>
                </a:solidFill>
                <a:latin typeface="Consolas"/>
                <a:ea typeface="Consolas"/>
                <a:cs typeface="Consolas"/>
                <a:sym typeface="Consolas"/>
              </a:rPr>
              <a:t>IntoIterator</a:t>
            </a:r>
            <a:r>
              <a:rPr lang="it" sz="1200">
                <a:latin typeface="Consolas"/>
                <a:ea typeface="Consolas"/>
                <a:cs typeface="Consolas"/>
                <a:sym typeface="Consolas"/>
              </a:rPr>
              <a:t> where Self::IntoIter: Iterator&lt;Item=Self::Item&gt; {</a:t>
            </a:r>
            <a:endParaRPr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sz="1200">
                <a:latin typeface="Consolas"/>
                <a:ea typeface="Consolas"/>
                <a:cs typeface="Consolas"/>
                <a:sym typeface="Consolas"/>
              </a:rPr>
              <a:t>  type Item;</a:t>
            </a:r>
            <a:endParaRPr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sz="1200">
                <a:latin typeface="Consolas"/>
                <a:ea typeface="Consolas"/>
                <a:cs typeface="Consolas"/>
                <a:sym typeface="Consolas"/>
              </a:rPr>
              <a:t>  type IntoIter: Iterator;</a:t>
            </a:r>
            <a:endParaRPr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sz="1200">
                <a:latin typeface="Consolas"/>
                <a:ea typeface="Consolas"/>
                <a:cs typeface="Consolas"/>
                <a:sym typeface="Consolas"/>
              </a:rPr>
              <a:t>  fn into_iter(</a:t>
            </a:r>
            <a:r>
              <a:rPr b="1" lang="it" sz="1200">
                <a:solidFill>
                  <a:srgbClr val="0B5394"/>
                </a:solidFill>
                <a:latin typeface="Consolas"/>
                <a:ea typeface="Consolas"/>
                <a:cs typeface="Consolas"/>
                <a:sym typeface="Consolas"/>
              </a:rPr>
              <a:t>self</a:t>
            </a:r>
            <a:r>
              <a:rPr lang="it" sz="1200">
                <a:latin typeface="Consolas"/>
                <a:ea typeface="Consolas"/>
                <a:cs typeface="Consolas"/>
                <a:sym typeface="Consolas"/>
              </a:rPr>
              <a:t>) -&gt; Self::IntoIter;</a:t>
            </a:r>
            <a:endParaRPr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sz="1200">
                <a:latin typeface="Consolas"/>
                <a:ea typeface="Consolas"/>
                <a:cs typeface="Consolas"/>
                <a:sym typeface="Consolas"/>
              </a:rPr>
              <a:t>}</a:t>
            </a:r>
            <a:endParaRPr sz="1200">
              <a:latin typeface="Consolas"/>
              <a:ea typeface="Consolas"/>
              <a:cs typeface="Consolas"/>
              <a:sym typeface="Consolas"/>
            </a:endParaRPr>
          </a:p>
        </p:txBody>
      </p:sp>
      <p:sp>
        <p:nvSpPr>
          <p:cNvPr id="90" name="Google Shape;90;p17"/>
          <p:cNvSpPr txBox="1"/>
          <p:nvPr>
            <p:ph idx="1" type="body"/>
          </p:nvPr>
        </p:nvSpPr>
        <p:spPr>
          <a:xfrm>
            <a:off x="311700" y="2893118"/>
            <a:ext cx="8520600" cy="7398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it"/>
              <a:t>Un tipo </a:t>
            </a:r>
            <a:r>
              <a:rPr b="1" lang="it">
                <a:solidFill>
                  <a:srgbClr val="0B5394"/>
                </a:solidFill>
              </a:rPr>
              <a:t>può</a:t>
            </a:r>
            <a:r>
              <a:rPr lang="it"/>
              <a:t> segnalare la capacità di essere esplorato tramite un iteratore, implementando il tratto </a:t>
            </a:r>
            <a:r>
              <a:rPr b="1" lang="it">
                <a:solidFill>
                  <a:srgbClr val="0B5394"/>
                </a:solidFill>
                <a:latin typeface="Consolas"/>
                <a:ea typeface="Consolas"/>
                <a:cs typeface="Consolas"/>
                <a:sym typeface="Consolas"/>
              </a:rPr>
              <a:t>std::iter::IntoIterator</a:t>
            </a:r>
            <a:endParaRPr b="1">
              <a:solidFill>
                <a:srgbClr val="0B5394"/>
              </a:solidFill>
              <a:latin typeface="Consolas"/>
              <a:ea typeface="Consolas"/>
              <a:cs typeface="Consolas"/>
              <a:sym typeface="Consolas"/>
            </a:endParaRPr>
          </a:p>
        </p:txBody>
      </p:sp>
      <p:sp>
        <p:nvSpPr>
          <p:cNvPr id="91" name="Google Shape;91;p17"/>
          <p:cNvSpPr txBox="1"/>
          <p:nvPr/>
        </p:nvSpPr>
        <p:spPr>
          <a:xfrm>
            <a:off x="1108800" y="1791599"/>
            <a:ext cx="6926400" cy="11082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lang="it" sz="1200">
                <a:latin typeface="Consolas"/>
                <a:ea typeface="Consolas"/>
                <a:cs typeface="Consolas"/>
                <a:sym typeface="Consolas"/>
              </a:rPr>
              <a:t>trait </a:t>
            </a:r>
            <a:r>
              <a:rPr b="1" lang="it" sz="1200">
                <a:solidFill>
                  <a:srgbClr val="0B5394"/>
                </a:solidFill>
                <a:latin typeface="Consolas"/>
                <a:ea typeface="Consolas"/>
                <a:cs typeface="Consolas"/>
                <a:sym typeface="Consolas"/>
              </a:rPr>
              <a:t>Iterator</a:t>
            </a:r>
            <a:r>
              <a:rPr lang="it" sz="1200">
                <a:latin typeface="Consolas"/>
                <a:ea typeface="Consolas"/>
                <a:cs typeface="Consolas"/>
                <a:sym typeface="Consolas"/>
              </a:rPr>
              <a:t>{</a:t>
            </a:r>
            <a:endParaRPr sz="1200">
              <a:latin typeface="Consolas"/>
              <a:ea typeface="Consolas"/>
              <a:cs typeface="Consolas"/>
              <a:sym typeface="Consolas"/>
            </a:endParaRPr>
          </a:p>
          <a:p>
            <a:pPr indent="0" lvl="0" marL="0" marR="0" rtl="0" algn="l">
              <a:lnSpc>
                <a:spcPct val="100000"/>
              </a:lnSpc>
              <a:spcBef>
                <a:spcPts val="0"/>
              </a:spcBef>
              <a:spcAft>
                <a:spcPts val="0"/>
              </a:spcAft>
              <a:buNone/>
            </a:pPr>
            <a:r>
              <a:rPr lang="it" sz="1200">
                <a:latin typeface="Consolas"/>
                <a:ea typeface="Consolas"/>
                <a:cs typeface="Consolas"/>
                <a:sym typeface="Consolas"/>
              </a:rPr>
              <a:t>  type </a:t>
            </a:r>
            <a:r>
              <a:rPr b="1" lang="it" sz="1200">
                <a:solidFill>
                  <a:srgbClr val="0B5394"/>
                </a:solidFill>
                <a:latin typeface="Consolas"/>
                <a:ea typeface="Consolas"/>
                <a:cs typeface="Consolas"/>
                <a:sym typeface="Consolas"/>
              </a:rPr>
              <a:t>Item</a:t>
            </a:r>
            <a:r>
              <a:rPr lang="it" sz="1200">
                <a:latin typeface="Consolas"/>
                <a:ea typeface="Consolas"/>
                <a:cs typeface="Consolas"/>
                <a:sym typeface="Consolas"/>
              </a:rPr>
              <a:t>;</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fn </a:t>
            </a:r>
            <a:r>
              <a:rPr b="1" lang="it" sz="1200">
                <a:solidFill>
                  <a:srgbClr val="0B5394"/>
                </a:solidFill>
                <a:latin typeface="Consolas"/>
                <a:ea typeface="Consolas"/>
                <a:cs typeface="Consolas"/>
                <a:sym typeface="Consolas"/>
              </a:rPr>
              <a:t>next</a:t>
            </a:r>
            <a:r>
              <a:rPr lang="it" sz="1200">
                <a:latin typeface="Consolas"/>
                <a:ea typeface="Consolas"/>
                <a:cs typeface="Consolas"/>
                <a:sym typeface="Consolas"/>
              </a:rPr>
              <a:t>(</a:t>
            </a:r>
            <a:r>
              <a:rPr b="1" lang="it" sz="1200">
                <a:solidFill>
                  <a:srgbClr val="0B5394"/>
                </a:solidFill>
                <a:latin typeface="Consolas"/>
                <a:ea typeface="Consolas"/>
                <a:cs typeface="Consolas"/>
                <a:sym typeface="Consolas"/>
              </a:rPr>
              <a:t>&amp;mut self</a:t>
            </a:r>
            <a:r>
              <a:rPr lang="it" sz="1200">
                <a:latin typeface="Consolas"/>
                <a:ea typeface="Consolas"/>
                <a:cs typeface="Consolas"/>
                <a:sym typeface="Consolas"/>
              </a:rPr>
              <a:t>) -&gt; Option&lt;Self::Item&gt;;</a:t>
            </a:r>
            <a:br>
              <a:rPr lang="it" sz="1200">
                <a:latin typeface="Consolas"/>
                <a:ea typeface="Consolas"/>
                <a:cs typeface="Consolas"/>
                <a:sym typeface="Consolas"/>
              </a:rPr>
            </a:br>
            <a:r>
              <a:rPr lang="it" sz="1200">
                <a:latin typeface="Consolas"/>
                <a:ea typeface="Consolas"/>
                <a:cs typeface="Consolas"/>
                <a:sym typeface="Consolas"/>
              </a:rPr>
              <a:t>  …// molti altri metodi con implementazione di default</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a:t>
            </a:r>
            <a:endParaRPr sz="1200">
              <a:latin typeface="Consolas"/>
              <a:ea typeface="Consolas"/>
              <a:cs typeface="Consolas"/>
              <a:sym typeface="Consola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97" name="Google Shape;97;p18"/>
          <p:cNvSpPr txBox="1"/>
          <p:nvPr/>
        </p:nvSpPr>
        <p:spPr>
          <a:xfrm>
            <a:off x="347550" y="1400752"/>
            <a:ext cx="3923100" cy="27705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lang="it" sz="1200">
                <a:latin typeface="Consolas"/>
                <a:ea typeface="Consolas"/>
                <a:cs typeface="Consolas"/>
                <a:sym typeface="Consolas"/>
              </a:rPr>
              <a:t>struct Words&lt;'a&gt;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text: &amp;'a str,</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a:t>
            </a:r>
            <a:endParaRPr sz="1200">
              <a:latin typeface="Consolas"/>
              <a:ea typeface="Consolas"/>
              <a:cs typeface="Consolas"/>
              <a:sym typeface="Consolas"/>
            </a:endParaRPr>
          </a:p>
          <a:p>
            <a:pPr indent="0" lvl="0" marL="0" rtl="0" algn="l">
              <a:spcBef>
                <a:spcPts val="0"/>
              </a:spcBef>
              <a:spcAft>
                <a:spcPts val="0"/>
              </a:spcAft>
              <a:buNone/>
            </a:pPr>
            <a:r>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impl&lt;'a&gt; Words&lt;'a&gt;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fn new(text: &amp;'a str) -&gt; Self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Self { text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a:t>
            </a:r>
            <a:endParaRPr sz="1200">
              <a:latin typeface="Consolas"/>
              <a:ea typeface="Consolas"/>
              <a:cs typeface="Consolas"/>
              <a:sym typeface="Consolas"/>
            </a:endParaRPr>
          </a:p>
          <a:p>
            <a:pPr indent="0" lvl="0" marL="0" rtl="0" algn="l">
              <a:spcBef>
                <a:spcPts val="0"/>
              </a:spcBef>
              <a:spcAft>
                <a:spcPts val="0"/>
              </a:spcAft>
              <a:buNone/>
            </a:pPr>
            <a:r>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struct WordsIter&lt;'a&gt;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text: &amp;'a str,</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pos: usize,</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a:t>
            </a:r>
            <a:endParaRPr sz="1200">
              <a:latin typeface="Consolas"/>
              <a:ea typeface="Consolas"/>
              <a:cs typeface="Consolas"/>
              <a:sym typeface="Consolas"/>
            </a:endParaRPr>
          </a:p>
        </p:txBody>
      </p:sp>
      <p:sp>
        <p:nvSpPr>
          <p:cNvPr id="98" name="Google Shape;9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Implementare un iteratore in Rust</a:t>
            </a:r>
            <a:endParaRPr/>
          </a:p>
        </p:txBody>
      </p:sp>
      <p:sp>
        <p:nvSpPr>
          <p:cNvPr id="99" name="Google Shape;99;p18"/>
          <p:cNvSpPr txBox="1"/>
          <p:nvPr/>
        </p:nvSpPr>
        <p:spPr>
          <a:xfrm>
            <a:off x="4572000" y="1400752"/>
            <a:ext cx="3923100" cy="27705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lang="it" sz="1200">
                <a:latin typeface="Consolas"/>
                <a:ea typeface="Consolas"/>
                <a:cs typeface="Consolas"/>
                <a:sym typeface="Consolas"/>
              </a:rPr>
              <a:t>impl&lt;'a&gt; IntoIterator for Words&lt;'a&gt;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type Item = &amp;'a str;</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type IntoIter = WordsIter&lt;'a&gt;;</a:t>
            </a:r>
            <a:endParaRPr sz="1200">
              <a:latin typeface="Consolas"/>
              <a:ea typeface="Consolas"/>
              <a:cs typeface="Consolas"/>
              <a:sym typeface="Consolas"/>
            </a:endParaRPr>
          </a:p>
          <a:p>
            <a:pPr indent="0" lvl="0" marL="0" rtl="0" algn="l">
              <a:spcBef>
                <a:spcPts val="0"/>
              </a:spcBef>
              <a:spcAft>
                <a:spcPts val="0"/>
              </a:spcAft>
              <a:buNone/>
            </a:pPr>
            <a:r>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fn into_iter(self) -&gt; Self::IntoIter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WordsIter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text: self.text,</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pos: 0,</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a:t>
            </a:r>
            <a:endParaRPr sz="1200">
              <a:latin typeface="Consolas"/>
              <a:ea typeface="Consolas"/>
              <a:cs typeface="Consolas"/>
              <a:sym typeface="Consolas"/>
            </a:endParaRPr>
          </a:p>
          <a:p>
            <a:pPr indent="0" lvl="0" marL="0" rtl="0" algn="l">
              <a:spcBef>
                <a:spcPts val="0"/>
              </a:spcBef>
              <a:spcAft>
                <a:spcPts val="0"/>
              </a:spcAft>
              <a:buNone/>
            </a:pPr>
            <a:r>
              <a:t/>
            </a:r>
            <a:endParaRPr sz="1200">
              <a:latin typeface="Consolas"/>
              <a:ea typeface="Consolas"/>
              <a:cs typeface="Consolas"/>
              <a:sym typeface="Consolas"/>
            </a:endParaRPr>
          </a:p>
          <a:p>
            <a:pPr indent="0" lvl="0" marL="0" rtl="0" algn="l">
              <a:spcBef>
                <a:spcPts val="0"/>
              </a:spcBef>
              <a:spcAft>
                <a:spcPts val="0"/>
              </a:spcAft>
              <a:buNone/>
            </a:pPr>
            <a:r>
              <a:t/>
            </a:r>
            <a:endParaRPr sz="1200">
              <a:latin typeface="Consolas"/>
              <a:ea typeface="Consolas"/>
              <a:cs typeface="Consolas"/>
              <a:sym typeface="Consolas"/>
            </a:endParaRPr>
          </a:p>
          <a:p>
            <a:pPr indent="0" lvl="0" marL="0" rtl="0" algn="l">
              <a:spcBef>
                <a:spcPts val="0"/>
              </a:spcBef>
              <a:spcAft>
                <a:spcPts val="0"/>
              </a:spcAft>
              <a:buNone/>
            </a:pPr>
            <a:r>
              <a:t/>
            </a:r>
            <a:endParaRPr sz="1200">
              <a:latin typeface="Consolas"/>
              <a:ea typeface="Consolas"/>
              <a:cs typeface="Consolas"/>
              <a:sym typeface="Consola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05" name="Google Shape;105;p19"/>
          <p:cNvSpPr txBox="1"/>
          <p:nvPr/>
        </p:nvSpPr>
        <p:spPr>
          <a:xfrm>
            <a:off x="347550" y="1055181"/>
            <a:ext cx="8448900" cy="35094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lang="it" sz="1200">
                <a:latin typeface="Consolas"/>
                <a:ea typeface="Consolas"/>
                <a:cs typeface="Consolas"/>
                <a:sym typeface="Consolas"/>
              </a:rPr>
              <a:t>impl&lt;'a&gt; Iterator for WordsIter&lt;'a&gt;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type Item = &amp;'a str;</a:t>
            </a:r>
            <a:endParaRPr sz="1200">
              <a:latin typeface="Consolas"/>
              <a:ea typeface="Consolas"/>
              <a:cs typeface="Consolas"/>
              <a:sym typeface="Consolas"/>
            </a:endParaRPr>
          </a:p>
          <a:p>
            <a:pPr indent="0" lvl="0" marL="0" rtl="0" algn="l">
              <a:spcBef>
                <a:spcPts val="0"/>
              </a:spcBef>
              <a:spcAft>
                <a:spcPts val="0"/>
              </a:spcAft>
              <a:buNone/>
            </a:pPr>
            <a:r>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fn next(&amp;mut self) -&gt; Option&lt;Self::Item&gt;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let bytes = self.text.as_bytes();</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let len = bytes.len();</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 elimino gli spazi iniziali</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while self.pos &lt; len &amp;&amp; bytes[self.pos].is_ascii_whitespace() { self.pos += 1;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if self.pos &gt;= len { return None; }</a:t>
            </a:r>
            <a:endParaRPr sz="1200">
              <a:latin typeface="Consolas"/>
              <a:ea typeface="Consolas"/>
              <a:cs typeface="Consolas"/>
              <a:sym typeface="Consolas"/>
            </a:endParaRPr>
          </a:p>
          <a:p>
            <a:pPr indent="0" lvl="0" marL="0" rtl="0" algn="l">
              <a:spcBef>
                <a:spcPts val="0"/>
              </a:spcBef>
              <a:spcAft>
                <a:spcPts val="0"/>
              </a:spcAft>
              <a:buNone/>
            </a:pPr>
            <a:r>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let start = self.pos;</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 estraggo tutto il contenuto non bianco</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while self.pos &lt; len &amp;&amp; !bytes[self.pos].is_ascii_whitespace() { self.pos += 1; }</a:t>
            </a:r>
            <a:endParaRPr sz="1200">
              <a:latin typeface="Consolas"/>
              <a:ea typeface="Consolas"/>
              <a:cs typeface="Consolas"/>
              <a:sym typeface="Consolas"/>
            </a:endParaRPr>
          </a:p>
          <a:p>
            <a:pPr indent="0" lvl="0" marL="0" rtl="0" algn="l">
              <a:spcBef>
                <a:spcPts val="0"/>
              </a:spcBef>
              <a:spcAft>
                <a:spcPts val="0"/>
              </a:spcAft>
              <a:buNone/>
            </a:pPr>
            <a:r>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Some(&amp;self.text[start..self.pos])</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a:t>
            </a:r>
            <a:endParaRPr sz="1200">
              <a:latin typeface="Consolas"/>
              <a:ea typeface="Consolas"/>
              <a:cs typeface="Consolas"/>
              <a:sym typeface="Consolas"/>
            </a:endParaRPr>
          </a:p>
        </p:txBody>
      </p:sp>
      <p:sp>
        <p:nvSpPr>
          <p:cNvPr id="106" name="Google Shape;10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Implementare un iteratore in Rust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12" name="Google Shape;112;p20"/>
          <p:cNvSpPr txBox="1"/>
          <p:nvPr/>
        </p:nvSpPr>
        <p:spPr>
          <a:xfrm>
            <a:off x="3855850" y="1121375"/>
            <a:ext cx="4976400" cy="18471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it" sz="1200">
                <a:latin typeface="Consolas"/>
                <a:ea typeface="Consolas"/>
                <a:cs typeface="Consolas"/>
                <a:sym typeface="Consolas"/>
              </a:rPr>
              <a:t>fn main() {</a:t>
            </a:r>
            <a:endParaRPr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sz="1200">
                <a:latin typeface="Consolas"/>
                <a:ea typeface="Consolas"/>
                <a:cs typeface="Consolas"/>
                <a:sym typeface="Consolas"/>
              </a:rPr>
              <a:t>    let line = "INFO 2025-05-10 user=alice action=login";</a:t>
            </a:r>
            <a:endParaRPr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sz="1200">
                <a:latin typeface="Consolas"/>
                <a:ea typeface="Consolas"/>
                <a:cs typeface="Consolas"/>
                <a:sym typeface="Consolas"/>
              </a:rPr>
              <a:t>    let words = Words::new(line);</a:t>
            </a:r>
            <a:endParaRPr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sz="1200">
                <a:latin typeface="Consolas"/>
                <a:ea typeface="Consolas"/>
                <a:cs typeface="Consolas"/>
                <a:sym typeface="Consolas"/>
              </a:rPr>
              <a:t>    for w in words {</a:t>
            </a:r>
            <a:endParaRPr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sz="1200">
                <a:latin typeface="Consolas"/>
                <a:ea typeface="Consolas"/>
                <a:cs typeface="Consolas"/>
                <a:sym typeface="Consolas"/>
              </a:rPr>
              <a:t>        println!("{}", w);</a:t>
            </a:r>
            <a:endParaRPr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sz="1200">
                <a:latin typeface="Consolas"/>
                <a:ea typeface="Consolas"/>
                <a:cs typeface="Consolas"/>
                <a:sym typeface="Consolas"/>
              </a:rPr>
              <a:t>    }</a:t>
            </a:r>
            <a:endParaRPr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sz="1200">
                <a:latin typeface="Consolas"/>
                <a:ea typeface="Consolas"/>
                <a:cs typeface="Consolas"/>
                <a:sym typeface="Consolas"/>
              </a:rPr>
              <a:t>}</a:t>
            </a:r>
            <a:endParaRPr sz="1200">
              <a:latin typeface="Consolas"/>
              <a:ea typeface="Consolas"/>
              <a:cs typeface="Consolas"/>
              <a:sym typeface="Consolas"/>
            </a:endParaRPr>
          </a:p>
          <a:p>
            <a:pPr indent="0" lvl="0" marL="0" rtl="0" algn="l">
              <a:spcBef>
                <a:spcPts val="0"/>
              </a:spcBef>
              <a:spcAft>
                <a:spcPts val="0"/>
              </a:spcAft>
              <a:buNone/>
            </a:pPr>
            <a:r>
              <a:t/>
            </a:r>
            <a:endParaRPr sz="1200">
              <a:latin typeface="Consolas"/>
              <a:ea typeface="Consolas"/>
              <a:cs typeface="Consolas"/>
              <a:sym typeface="Consolas"/>
            </a:endParaRPr>
          </a:p>
        </p:txBody>
      </p:sp>
      <p:sp>
        <p:nvSpPr>
          <p:cNvPr id="113" name="Google Shape;11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Implementare un iteratore in Rust</a:t>
            </a:r>
            <a:endParaRPr/>
          </a:p>
        </p:txBody>
      </p:sp>
      <p:sp>
        <p:nvSpPr>
          <p:cNvPr id="114" name="Google Shape;114;p20"/>
          <p:cNvSpPr txBox="1"/>
          <p:nvPr/>
        </p:nvSpPr>
        <p:spPr>
          <a:xfrm>
            <a:off x="5661600" y="3645425"/>
            <a:ext cx="3170700" cy="923400"/>
          </a:xfrm>
          <a:prstGeom prst="rect">
            <a:avLst/>
          </a:prstGeom>
          <a:solidFill>
            <a:srgbClr val="EFEFEF"/>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lang="it" sz="1200">
                <a:latin typeface="Consolas"/>
                <a:ea typeface="Consolas"/>
                <a:cs typeface="Consolas"/>
                <a:sym typeface="Consolas"/>
              </a:rPr>
              <a:t>INFO</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2025-05-10</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user=alice</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action=login</a:t>
            </a:r>
            <a:endParaRPr sz="1200">
              <a:latin typeface="Consolas"/>
              <a:ea typeface="Consolas"/>
              <a:cs typeface="Consolas"/>
              <a:sym typeface="Consolas"/>
            </a:endParaRPr>
          </a:p>
        </p:txBody>
      </p:sp>
      <p:sp>
        <p:nvSpPr>
          <p:cNvPr id="115" name="Google Shape;115;p20"/>
          <p:cNvSpPr txBox="1"/>
          <p:nvPr>
            <p:ph idx="1" type="body"/>
          </p:nvPr>
        </p:nvSpPr>
        <p:spPr>
          <a:xfrm>
            <a:off x="311700" y="1121400"/>
            <a:ext cx="3644400" cy="3447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Caratteristiche:</a:t>
            </a:r>
            <a:endParaRPr/>
          </a:p>
          <a:p>
            <a:pPr indent="-317500" lvl="1" marL="914400" rtl="0" algn="l">
              <a:spcBef>
                <a:spcPts val="0"/>
              </a:spcBef>
              <a:spcAft>
                <a:spcPts val="0"/>
              </a:spcAft>
              <a:buSzPts val="1400"/>
              <a:buChar char="○"/>
            </a:pPr>
            <a:r>
              <a:rPr lang="it"/>
              <a:t>L'iteratore è pigro: viene generato</a:t>
            </a:r>
            <a:br>
              <a:rPr lang="it"/>
            </a:br>
            <a:r>
              <a:rPr lang="it"/>
              <a:t>un nuovo valore solo quando</a:t>
            </a:r>
            <a:br>
              <a:rPr lang="it"/>
            </a:br>
            <a:r>
              <a:rPr lang="it"/>
              <a:t>viene chiamato </a:t>
            </a:r>
            <a:r>
              <a:rPr b="1" lang="it">
                <a:solidFill>
                  <a:srgbClr val="0B5394"/>
                </a:solidFill>
                <a:latin typeface="Consolas"/>
                <a:ea typeface="Consolas"/>
                <a:cs typeface="Consolas"/>
                <a:sym typeface="Consolas"/>
              </a:rPr>
              <a:t>next()</a:t>
            </a:r>
            <a:r>
              <a:rPr lang="it"/>
              <a:t> </a:t>
            </a:r>
            <a:endParaRPr/>
          </a:p>
          <a:p>
            <a:pPr indent="-317500" lvl="1" marL="914400" rtl="0" algn="l">
              <a:spcBef>
                <a:spcPts val="0"/>
              </a:spcBef>
              <a:spcAft>
                <a:spcPts val="0"/>
              </a:spcAft>
              <a:buSzPts val="1400"/>
              <a:buChar char="○"/>
            </a:pPr>
            <a:r>
              <a:rPr lang="it"/>
              <a:t>Non esegue allocazioni</a:t>
            </a:r>
            <a:endParaRPr/>
          </a:p>
          <a:p>
            <a:pPr indent="-317500" lvl="1" marL="914400" rtl="0" algn="l">
              <a:spcBef>
                <a:spcPts val="0"/>
              </a:spcBef>
              <a:spcAft>
                <a:spcPts val="0"/>
              </a:spcAft>
              <a:buSzPts val="1400"/>
              <a:buChar char="○"/>
            </a:pPr>
            <a:r>
              <a:rPr lang="it"/>
              <a:t>Il risultato ha un tempo di vita</a:t>
            </a:r>
            <a:br>
              <a:rPr lang="it"/>
            </a:br>
            <a:r>
              <a:rPr lang="it"/>
              <a:t>collegato al tempo di vita del </a:t>
            </a:r>
            <a:br>
              <a:rPr lang="it"/>
            </a:br>
            <a:r>
              <a:rPr lang="it"/>
              <a:t>valore iniziale</a:t>
            </a:r>
            <a:endParaRPr/>
          </a:p>
          <a:p>
            <a:pPr indent="-317500" lvl="1" marL="914400" marR="0" rtl="0" algn="l">
              <a:lnSpc>
                <a:spcPct val="115000"/>
              </a:lnSpc>
              <a:spcBef>
                <a:spcPts val="0"/>
              </a:spcBef>
              <a:spcAft>
                <a:spcPts val="0"/>
              </a:spcAft>
              <a:buSzPts val="1400"/>
              <a:buChar char="○"/>
            </a:pPr>
            <a:r>
              <a:rPr b="1" lang="it">
                <a:solidFill>
                  <a:srgbClr val="0B5394"/>
                </a:solidFill>
                <a:latin typeface="Consolas"/>
                <a:ea typeface="Consolas"/>
                <a:cs typeface="Consolas"/>
                <a:sym typeface="Consolas"/>
              </a:rPr>
              <a:t>pos</a:t>
            </a:r>
            <a:r>
              <a:rPr lang="it"/>
              <a:t> rappresenta </a:t>
            </a:r>
            <a:r>
              <a:rPr lang="it"/>
              <a:t>la posizione </a:t>
            </a:r>
            <a:br>
              <a:rPr lang="it"/>
            </a:br>
            <a:r>
              <a:rPr lang="it"/>
              <a:t>corrente nell'analisi</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Iteratori e possesso</a:t>
            </a:r>
            <a:endParaRPr/>
          </a:p>
        </p:txBody>
      </p:sp>
      <p:sp>
        <p:nvSpPr>
          <p:cNvPr id="121" name="Google Shape;121;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it"/>
              <a:t>I contenitori presenti nella libreria standard mettono normalmente a disposizione tre metodi per ricavare un iteratore ai dati contenuti al loro interno</a:t>
            </a:r>
            <a:endParaRPr/>
          </a:p>
          <a:p>
            <a:pPr indent="-317500" lvl="1" marL="914400" rtl="0" algn="l">
              <a:spcBef>
                <a:spcPts val="0"/>
              </a:spcBef>
              <a:spcAft>
                <a:spcPts val="0"/>
              </a:spcAft>
              <a:buSzPts val="1400"/>
              <a:buChar char="○"/>
            </a:pPr>
            <a:r>
              <a:rPr b="1" lang="it">
                <a:solidFill>
                  <a:srgbClr val="0B5394"/>
                </a:solidFill>
                <a:latin typeface="Consolas"/>
                <a:ea typeface="Consolas"/>
                <a:cs typeface="Consolas"/>
                <a:sym typeface="Consolas"/>
              </a:rPr>
              <a:t>iter()</a:t>
            </a:r>
            <a:r>
              <a:rPr lang="it"/>
              <a:t>, che restituisce oggetti di tipo </a:t>
            </a:r>
            <a:r>
              <a:rPr b="1" lang="it">
                <a:solidFill>
                  <a:srgbClr val="0B5394"/>
                </a:solidFill>
                <a:latin typeface="Consolas"/>
                <a:ea typeface="Consolas"/>
                <a:cs typeface="Consolas"/>
                <a:sym typeface="Consolas"/>
              </a:rPr>
              <a:t>&amp;Item</a:t>
            </a:r>
            <a:r>
              <a:rPr lang="it"/>
              <a:t> e non consuma il contenuto del contenitore</a:t>
            </a:r>
            <a:endParaRPr b="1">
              <a:solidFill>
                <a:srgbClr val="0B5394"/>
              </a:solidFill>
              <a:latin typeface="Consolas"/>
              <a:ea typeface="Consolas"/>
              <a:cs typeface="Consolas"/>
              <a:sym typeface="Consolas"/>
            </a:endParaRPr>
          </a:p>
          <a:p>
            <a:pPr indent="-317500" lvl="1" marL="914400" rtl="0" algn="l">
              <a:spcBef>
                <a:spcPts val="0"/>
              </a:spcBef>
              <a:spcAft>
                <a:spcPts val="0"/>
              </a:spcAft>
              <a:buSzPts val="1400"/>
              <a:buChar char="○"/>
            </a:pPr>
            <a:r>
              <a:rPr b="1" lang="it">
                <a:solidFill>
                  <a:srgbClr val="0B5394"/>
                </a:solidFill>
                <a:latin typeface="Consolas"/>
                <a:ea typeface="Consolas"/>
                <a:cs typeface="Consolas"/>
                <a:sym typeface="Consolas"/>
              </a:rPr>
              <a:t>iter_mut()</a:t>
            </a:r>
            <a:r>
              <a:rPr lang="it"/>
              <a:t>, che restituisce oggetti di tipo </a:t>
            </a:r>
            <a:r>
              <a:rPr b="1" lang="it">
                <a:solidFill>
                  <a:srgbClr val="0B5394"/>
                </a:solidFill>
                <a:latin typeface="Consolas"/>
                <a:ea typeface="Consolas"/>
                <a:cs typeface="Consolas"/>
                <a:sym typeface="Consolas"/>
              </a:rPr>
              <a:t>&amp;mut Item </a:t>
            </a:r>
            <a:r>
              <a:rPr lang="it"/>
              <a:t>e permette di modificare gli elementi all’interno del contenitore</a:t>
            </a:r>
            <a:endParaRPr b="1">
              <a:solidFill>
                <a:srgbClr val="0B5394"/>
              </a:solidFill>
              <a:latin typeface="Consolas"/>
              <a:ea typeface="Consolas"/>
              <a:cs typeface="Consolas"/>
              <a:sym typeface="Consolas"/>
            </a:endParaRPr>
          </a:p>
          <a:p>
            <a:pPr indent="-317500" lvl="1" marL="914400" rtl="0" algn="l">
              <a:spcBef>
                <a:spcPts val="0"/>
              </a:spcBef>
              <a:spcAft>
                <a:spcPts val="0"/>
              </a:spcAft>
              <a:buSzPts val="1400"/>
              <a:buChar char="○"/>
            </a:pPr>
            <a:r>
              <a:rPr b="1" lang="it">
                <a:solidFill>
                  <a:srgbClr val="0B5394"/>
                </a:solidFill>
                <a:latin typeface="Consolas"/>
                <a:ea typeface="Consolas"/>
                <a:cs typeface="Consolas"/>
                <a:sym typeface="Consolas"/>
              </a:rPr>
              <a:t>into_iter()</a:t>
            </a:r>
            <a:r>
              <a:rPr lang="it"/>
              <a:t>, che prende possesso del contenitore e restituisce oggetti di tipo Item estraendoli dal contenitore</a:t>
            </a:r>
            <a:endParaRPr/>
          </a:p>
          <a:p>
            <a:pPr indent="-342900" lvl="0" marL="457200" rtl="0" algn="l">
              <a:spcBef>
                <a:spcPts val="0"/>
              </a:spcBef>
              <a:spcAft>
                <a:spcPts val="0"/>
              </a:spcAft>
              <a:buSzPts val="1800"/>
              <a:buChar char="●"/>
            </a:pPr>
            <a:r>
              <a:rPr lang="it"/>
              <a:t>E’ comune, per tali contenitori, dichiarare tre implementazioni distinte del tratto </a:t>
            </a:r>
            <a:r>
              <a:rPr b="1" lang="it">
                <a:solidFill>
                  <a:srgbClr val="0B5394"/>
                </a:solidFill>
                <a:latin typeface="Consolas"/>
                <a:ea typeface="Consolas"/>
                <a:cs typeface="Consolas"/>
                <a:sym typeface="Consolas"/>
              </a:rPr>
              <a:t>IntoIterator</a:t>
            </a:r>
            <a:endParaRPr b="1">
              <a:solidFill>
                <a:srgbClr val="0B5394"/>
              </a:solidFill>
              <a:latin typeface="Consolas"/>
              <a:ea typeface="Consolas"/>
              <a:cs typeface="Consolas"/>
              <a:sym typeface="Consolas"/>
            </a:endParaRPr>
          </a:p>
          <a:p>
            <a:pPr indent="-317500" lvl="1" marL="914400" rtl="0" algn="l">
              <a:spcBef>
                <a:spcPts val="0"/>
              </a:spcBef>
              <a:spcAft>
                <a:spcPts val="0"/>
              </a:spcAft>
              <a:buSzPts val="1400"/>
              <a:buChar char="○"/>
            </a:pPr>
            <a:r>
              <a:rPr lang="it"/>
              <a:t>Una per il tipo </a:t>
            </a:r>
            <a:r>
              <a:rPr b="1" i="1" lang="it">
                <a:solidFill>
                  <a:srgbClr val="0B5394"/>
                </a:solidFill>
              </a:rPr>
              <a:t>Container</a:t>
            </a:r>
            <a:r>
              <a:rPr lang="it"/>
              <a:t> vero e proprio, che richiama il metodo </a:t>
            </a:r>
            <a:r>
              <a:rPr b="1" lang="it">
                <a:solidFill>
                  <a:srgbClr val="0B5394"/>
                </a:solidFill>
                <a:latin typeface="Consolas"/>
                <a:ea typeface="Consolas"/>
                <a:cs typeface="Consolas"/>
                <a:sym typeface="Consolas"/>
              </a:rPr>
              <a:t>into_iter()</a:t>
            </a:r>
            <a:endParaRPr/>
          </a:p>
          <a:p>
            <a:pPr indent="-317500" lvl="1" marL="914400" rtl="0" algn="l">
              <a:spcBef>
                <a:spcPts val="0"/>
              </a:spcBef>
              <a:spcAft>
                <a:spcPts val="0"/>
              </a:spcAft>
              <a:buSzPts val="1400"/>
              <a:buChar char="○"/>
            </a:pPr>
            <a:r>
              <a:rPr lang="it"/>
              <a:t>Una per il tipo </a:t>
            </a:r>
            <a:r>
              <a:rPr b="1" i="1" lang="it">
                <a:solidFill>
                  <a:srgbClr val="0B5394"/>
                </a:solidFill>
              </a:rPr>
              <a:t>&amp;Container</a:t>
            </a:r>
            <a:r>
              <a:rPr lang="it"/>
              <a:t>, che richiama </a:t>
            </a:r>
            <a:r>
              <a:rPr b="1" lang="it">
                <a:solidFill>
                  <a:srgbClr val="0B5394"/>
                </a:solidFill>
                <a:latin typeface="Consolas"/>
                <a:ea typeface="Consolas"/>
                <a:cs typeface="Consolas"/>
                <a:sym typeface="Consolas"/>
              </a:rPr>
              <a:t>iter()</a:t>
            </a:r>
            <a:endParaRPr/>
          </a:p>
          <a:p>
            <a:pPr indent="-317500" lvl="1" marL="914400" rtl="0" algn="l">
              <a:spcBef>
                <a:spcPts val="0"/>
              </a:spcBef>
              <a:spcAft>
                <a:spcPts val="0"/>
              </a:spcAft>
              <a:buSzPts val="1400"/>
              <a:buChar char="○"/>
            </a:pPr>
            <a:r>
              <a:rPr lang="it"/>
              <a:t>Una per il tipo </a:t>
            </a:r>
            <a:r>
              <a:rPr b="1" i="1" lang="it">
                <a:solidFill>
                  <a:srgbClr val="0B5394"/>
                </a:solidFill>
              </a:rPr>
              <a:t>&amp;mut Container</a:t>
            </a:r>
            <a:r>
              <a:rPr lang="it"/>
              <a:t>, che richiama </a:t>
            </a:r>
            <a:r>
              <a:rPr b="1" lang="it">
                <a:solidFill>
                  <a:srgbClr val="0B5394"/>
                </a:solidFill>
                <a:latin typeface="Consolas"/>
                <a:ea typeface="Consolas"/>
                <a:cs typeface="Consolas"/>
                <a:sym typeface="Consolas"/>
              </a:rPr>
              <a:t>iter_mut()</a:t>
            </a:r>
            <a:endParaRPr b="1">
              <a:solidFill>
                <a:srgbClr val="0B5394"/>
              </a:solidFill>
              <a:latin typeface="Consolas"/>
              <a:ea typeface="Consolas"/>
              <a:cs typeface="Consolas"/>
              <a:sym typeface="Consolas"/>
            </a:endParaRPr>
          </a:p>
          <a:p>
            <a:pPr indent="-317500" lvl="1" marL="914400" marR="0" rtl="0" algn="l">
              <a:lnSpc>
                <a:spcPct val="115000"/>
              </a:lnSpc>
              <a:spcBef>
                <a:spcPts val="0"/>
              </a:spcBef>
              <a:spcAft>
                <a:spcPts val="0"/>
              </a:spcAft>
              <a:buSzPts val="1400"/>
              <a:buChar char="○"/>
            </a:pPr>
            <a:r>
              <a:rPr lang="it"/>
              <a:t>Non tutte le collezioni espongono tutte le forme di iterazione mutabile nello stesso modo: in particolare, la possibilità di mutare gli elementi dipende dalle garanzie che la struttura deve preservare </a:t>
            </a:r>
            <a:endParaRPr b="1">
              <a:solidFill>
                <a:srgbClr val="0B5394"/>
              </a:solidFill>
              <a:latin typeface="Consolas"/>
              <a:ea typeface="Consolas"/>
              <a:cs typeface="Consolas"/>
              <a:sym typeface="Consolas"/>
            </a:endParaRPr>
          </a:p>
        </p:txBody>
      </p:sp>
      <p:sp>
        <p:nvSpPr>
          <p:cNvPr id="122" name="Google Shape;122;p21"/>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Iteratori e possesso</a:t>
            </a:r>
            <a:endParaRPr/>
          </a:p>
        </p:txBody>
      </p:sp>
      <p:sp>
        <p:nvSpPr>
          <p:cNvPr id="128" name="Google Shape;128;p2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29" name="Google Shape;129;p22"/>
          <p:cNvSpPr txBox="1"/>
          <p:nvPr/>
        </p:nvSpPr>
        <p:spPr>
          <a:xfrm>
            <a:off x="445325" y="1180103"/>
            <a:ext cx="8263200" cy="34170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sz="1500">
                <a:latin typeface="Consolas"/>
                <a:ea typeface="Consolas"/>
                <a:cs typeface="Consolas"/>
                <a:sym typeface="Consolas"/>
              </a:rPr>
              <a:t>let mut v = vec![String::from("a"), String::from("b"), String::from("c")];</a:t>
            </a:r>
            <a:endParaRPr b="1" sz="1500">
              <a:latin typeface="Consolas"/>
              <a:ea typeface="Consolas"/>
              <a:cs typeface="Consolas"/>
              <a:sym typeface="Consolas"/>
            </a:endParaRPr>
          </a:p>
          <a:p>
            <a:pPr indent="0" lvl="0" marL="0" rtl="0" algn="l">
              <a:spcBef>
                <a:spcPts val="0"/>
              </a:spcBef>
              <a:spcAft>
                <a:spcPts val="0"/>
              </a:spcAft>
              <a:buNone/>
            </a:pPr>
            <a:r>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for s in </a:t>
            </a:r>
            <a:r>
              <a:rPr b="1" lang="it" sz="1500">
                <a:solidFill>
                  <a:srgbClr val="0B5394"/>
                </a:solidFill>
                <a:highlight>
                  <a:schemeClr val="accent6"/>
                </a:highlight>
                <a:latin typeface="Consolas"/>
                <a:ea typeface="Consolas"/>
                <a:cs typeface="Consolas"/>
                <a:sym typeface="Consolas"/>
              </a:rPr>
              <a:t>&amp;v</a:t>
            </a:r>
            <a:r>
              <a:rPr b="1" lang="it" sz="1500">
                <a:latin typeface="Consolas"/>
                <a:ea typeface="Consolas"/>
                <a:cs typeface="Consolas"/>
                <a:sym typeface="Consolas"/>
              </a:rPr>
              <a:t>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println!("{}", s);	// s: &amp;String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a:t>
            </a:r>
            <a:endParaRPr b="1" sz="1500">
              <a:latin typeface="Consolas"/>
              <a:ea typeface="Consolas"/>
              <a:cs typeface="Consolas"/>
              <a:sym typeface="Consolas"/>
            </a:endParaRPr>
          </a:p>
          <a:p>
            <a:pPr indent="0" lvl="0" marL="0" rtl="0" algn="l">
              <a:spcBef>
                <a:spcPts val="0"/>
              </a:spcBef>
              <a:spcAft>
                <a:spcPts val="0"/>
              </a:spcAft>
              <a:buNone/>
            </a:pPr>
            <a:r>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for s in </a:t>
            </a:r>
            <a:r>
              <a:rPr b="1" lang="it" sz="1500">
                <a:solidFill>
                  <a:srgbClr val="0B5394"/>
                </a:solidFill>
                <a:highlight>
                  <a:schemeClr val="accent6"/>
                </a:highlight>
                <a:latin typeface="Consolas"/>
                <a:ea typeface="Consolas"/>
                <a:cs typeface="Consolas"/>
                <a:sym typeface="Consolas"/>
              </a:rPr>
              <a:t>&amp;mut v</a:t>
            </a:r>
            <a:r>
              <a:rPr b="1" lang="it" sz="1500">
                <a:latin typeface="Consolas"/>
                <a:ea typeface="Consolas"/>
                <a:cs typeface="Consolas"/>
                <a:sym typeface="Consolas"/>
              </a:rPr>
              <a:t>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s.push_str("1") ;	// s: &amp;mut String - Modifico il contenuto del vettore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a:t>
            </a:r>
            <a:endParaRPr b="1" sz="1500">
              <a:latin typeface="Consolas"/>
              <a:ea typeface="Consolas"/>
              <a:cs typeface="Consolas"/>
              <a:sym typeface="Consolas"/>
            </a:endParaRPr>
          </a:p>
          <a:p>
            <a:pPr indent="0" lvl="0" marL="0" rtl="0" algn="l">
              <a:spcBef>
                <a:spcPts val="0"/>
              </a:spcBef>
              <a:spcAft>
                <a:spcPts val="0"/>
              </a:spcAft>
              <a:buNone/>
            </a:pPr>
            <a:r>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for s in </a:t>
            </a:r>
            <a:r>
              <a:rPr b="1" lang="it" sz="1500">
                <a:solidFill>
                  <a:srgbClr val="0B5394"/>
                </a:solidFill>
                <a:highlight>
                  <a:schemeClr val="accent6"/>
                </a:highlight>
                <a:latin typeface="Consolas"/>
                <a:ea typeface="Consolas"/>
                <a:cs typeface="Consolas"/>
                <a:sym typeface="Consolas"/>
              </a:rPr>
              <a:t>v</a:t>
            </a:r>
            <a:r>
              <a:rPr b="1" lang="it" sz="1500">
                <a:latin typeface="Consolas"/>
                <a:ea typeface="Consolas"/>
                <a:cs typeface="Consolas"/>
                <a:sym typeface="Consolas"/>
              </a:rPr>
              <a:t>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println!("{}", s); // s: String - gli elementi vengono mossi fuori dal   </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                       // vettore, che non è più utilizzabile dopo il ciclo</a:t>
            </a:r>
            <a:endParaRPr b="1" sz="1500">
              <a:latin typeface="Consolas"/>
              <a:ea typeface="Consolas"/>
              <a:cs typeface="Consolas"/>
              <a:sym typeface="Consolas"/>
            </a:endParaRPr>
          </a:p>
          <a:p>
            <a:pPr indent="0" lvl="0" marL="0" rtl="0" algn="l">
              <a:spcBef>
                <a:spcPts val="0"/>
              </a:spcBef>
              <a:spcAft>
                <a:spcPts val="0"/>
              </a:spcAft>
              <a:buNone/>
            </a:pPr>
            <a:r>
              <a:rPr b="1" lang="it" sz="1500">
                <a:latin typeface="Consolas"/>
                <a:ea typeface="Consolas"/>
                <a:cs typeface="Consolas"/>
                <a:sym typeface="Consolas"/>
              </a:rPr>
              <a:t>}</a:t>
            </a:r>
            <a:endParaRPr b="1" sz="1500">
              <a:latin typeface="Consolas"/>
              <a:ea typeface="Consolas"/>
              <a:cs typeface="Consolas"/>
              <a:sym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Cicli for e iteratori</a:t>
            </a:r>
            <a:endParaRPr/>
          </a:p>
        </p:txBody>
      </p:sp>
      <p:sp>
        <p:nvSpPr>
          <p:cNvPr id="135" name="Google Shape;135;p23"/>
          <p:cNvSpPr txBox="1"/>
          <p:nvPr>
            <p:ph idx="1" type="body"/>
          </p:nvPr>
        </p:nvSpPr>
        <p:spPr>
          <a:xfrm>
            <a:off x="311700" y="1152472"/>
            <a:ext cx="8520600" cy="1319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Ogni iteratore implementa </a:t>
            </a:r>
            <a:r>
              <a:rPr b="1" lang="it">
                <a:solidFill>
                  <a:srgbClr val="0B5394"/>
                </a:solidFill>
                <a:latin typeface="Consolas"/>
                <a:ea typeface="Consolas"/>
                <a:cs typeface="Consolas"/>
                <a:sym typeface="Consolas"/>
              </a:rPr>
              <a:t>IntoIterator</a:t>
            </a:r>
            <a:r>
              <a:rPr lang="it"/>
              <a:t> restituendo sé stesso</a:t>
            </a:r>
            <a:endParaRPr/>
          </a:p>
          <a:p>
            <a:pPr indent="-317500" lvl="1" marL="914400" rtl="0" algn="l">
              <a:spcBef>
                <a:spcPts val="0"/>
              </a:spcBef>
              <a:spcAft>
                <a:spcPts val="0"/>
              </a:spcAft>
              <a:buSzPts val="1400"/>
              <a:buChar char="○"/>
            </a:pPr>
            <a:r>
              <a:rPr lang="it"/>
              <a:t>Per questo motivo un iteratore può essere usato direttamente in un ciclo </a:t>
            </a:r>
            <a:r>
              <a:rPr b="1" lang="it">
                <a:solidFill>
                  <a:srgbClr val="0B5394"/>
                </a:solidFill>
                <a:latin typeface="Consolas"/>
                <a:ea typeface="Consolas"/>
                <a:cs typeface="Consolas"/>
                <a:sym typeface="Consolas"/>
              </a:rPr>
              <a:t>for</a:t>
            </a:r>
            <a:r>
              <a:rPr lang="it"/>
              <a:t> </a:t>
            </a:r>
            <a:endParaRPr/>
          </a:p>
        </p:txBody>
      </p:sp>
      <p:sp>
        <p:nvSpPr>
          <p:cNvPr id="136" name="Google Shape;136;p23"/>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37" name="Google Shape;137;p23"/>
          <p:cNvSpPr txBox="1"/>
          <p:nvPr/>
        </p:nvSpPr>
        <p:spPr>
          <a:xfrm>
            <a:off x="760650" y="2471575"/>
            <a:ext cx="7622700" cy="16932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a:latin typeface="Consolas"/>
                <a:ea typeface="Consolas"/>
                <a:cs typeface="Consolas"/>
                <a:sym typeface="Consolas"/>
              </a:rPr>
              <a:t>let v = vec![String::from("a"), String::from("b"), String::from("c")];</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let it = v.iter_mut();</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for s in it { // it.into_iter() -&gt; it</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 qui s ha tipo &amp;mut String e opera sui valori contenuti in v</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a:t>
            </a:r>
            <a:endParaRPr b="1">
              <a:latin typeface="Consolas"/>
              <a:ea typeface="Consolas"/>
              <a:cs typeface="Consolas"/>
              <a:sym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Adattatori</a:t>
            </a:r>
            <a:endParaRPr/>
          </a:p>
        </p:txBody>
      </p:sp>
      <p:sp>
        <p:nvSpPr>
          <p:cNvPr id="143" name="Google Shape;143;p24"/>
          <p:cNvSpPr txBox="1"/>
          <p:nvPr>
            <p:ph idx="1" type="body"/>
          </p:nvPr>
        </p:nvSpPr>
        <p:spPr>
          <a:xfrm>
            <a:off x="311700" y="1152474"/>
            <a:ext cx="8520600" cy="1619700"/>
          </a:xfrm>
          <a:prstGeom prst="rect">
            <a:avLst/>
          </a:prstGeom>
        </p:spPr>
        <p:txBody>
          <a:bodyPr anchorCtr="0" anchor="t" bIns="91425" lIns="91425" spcFirstLastPara="1" rIns="91425" wrap="square" tIns="91425">
            <a:normAutofit lnSpcReduction="20000"/>
          </a:bodyPr>
          <a:lstStyle/>
          <a:p>
            <a:pPr indent="-342900" lvl="0" marL="457200" marR="0" rtl="0" algn="l">
              <a:lnSpc>
                <a:spcPct val="115000"/>
              </a:lnSpc>
              <a:spcBef>
                <a:spcPts val="0"/>
              </a:spcBef>
              <a:spcAft>
                <a:spcPts val="0"/>
              </a:spcAft>
              <a:buSzPts val="1800"/>
              <a:buChar char="●"/>
            </a:pPr>
            <a:r>
              <a:rPr lang="it"/>
              <a:t>Il tratto </a:t>
            </a:r>
            <a:r>
              <a:rPr b="1" lang="it">
                <a:solidFill>
                  <a:srgbClr val="0B5394"/>
                </a:solidFill>
                <a:latin typeface="Consolas"/>
                <a:ea typeface="Consolas"/>
                <a:cs typeface="Consolas"/>
                <a:sym typeface="Consolas"/>
              </a:rPr>
              <a:t>Iterator</a:t>
            </a:r>
            <a:r>
              <a:rPr lang="it"/>
              <a:t> definisce molti metodi che utilizzano l'iteratore corrente e costruiscono un nuovo iteratore derivato</a:t>
            </a:r>
            <a:endParaRPr/>
          </a:p>
          <a:p>
            <a:pPr indent="-317500" lvl="1" marL="914400" rtl="0" algn="l">
              <a:spcBef>
                <a:spcPts val="0"/>
              </a:spcBef>
              <a:spcAft>
                <a:spcPts val="0"/>
              </a:spcAft>
              <a:buSzPts val="1400"/>
              <a:buChar char="○"/>
            </a:pPr>
            <a:r>
              <a:rPr lang="it"/>
              <a:t>Possono essere combinati in catene più o meno lunghe al termine delle quali occorre porre un consumatore finale</a:t>
            </a:r>
            <a:endParaRPr/>
          </a:p>
          <a:p>
            <a:pPr indent="-317500" lvl="1" marL="914400" rtl="0" algn="l">
              <a:spcBef>
                <a:spcPts val="0"/>
              </a:spcBef>
              <a:spcAft>
                <a:spcPts val="0"/>
              </a:spcAft>
              <a:buSzPts val="1400"/>
              <a:buChar char="○"/>
            </a:pPr>
            <a:r>
              <a:rPr lang="it"/>
              <a:t>Tutti gli adattatori sono infatti pigri (lazy) e non invocano il metodo </a:t>
            </a:r>
            <a:r>
              <a:rPr b="1" lang="it">
                <a:solidFill>
                  <a:srgbClr val="0B5394"/>
                </a:solidFill>
                <a:latin typeface="Consolas"/>
                <a:ea typeface="Consolas"/>
                <a:cs typeface="Consolas"/>
                <a:sym typeface="Consolas"/>
              </a:rPr>
              <a:t>next()</a:t>
            </a:r>
            <a:r>
              <a:rPr lang="it"/>
              <a:t> dell’oggetto a monte se non a seguito di una richiesta proveniente da un loro consumatore</a:t>
            </a:r>
            <a:endParaRPr/>
          </a:p>
        </p:txBody>
      </p:sp>
      <p:sp>
        <p:nvSpPr>
          <p:cNvPr id="144" name="Google Shape;144;p2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45" name="Google Shape;145;p24"/>
          <p:cNvSpPr txBox="1"/>
          <p:nvPr/>
        </p:nvSpPr>
        <p:spPr>
          <a:xfrm>
            <a:off x="311700" y="2984918"/>
            <a:ext cx="2709000" cy="12621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lang="it">
                <a:latin typeface="Consolas"/>
                <a:ea typeface="Consolas"/>
                <a:cs typeface="Consolas"/>
                <a:sym typeface="Consolas"/>
              </a:rPr>
              <a:t>let v: Vec&lt;String&gt; = … ;</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a:latin typeface="Consolas"/>
                <a:ea typeface="Consolas"/>
                <a:cs typeface="Consolas"/>
                <a:sym typeface="Consolas"/>
              </a:rPr>
              <a:t>v.iter()</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a:latin typeface="Consolas"/>
                <a:ea typeface="Consolas"/>
                <a:cs typeface="Consolas"/>
                <a:sym typeface="Consolas"/>
              </a:rPr>
              <a:t>   .filter(|x| x.len()&lt;4)</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a:latin typeface="Consolas"/>
                <a:ea typeface="Consolas"/>
                <a:cs typeface="Consolas"/>
                <a:sym typeface="Consolas"/>
              </a:rPr>
              <a:t>   .map(|x|x.len())</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   .sum();</a:t>
            </a:r>
            <a:endParaRPr>
              <a:latin typeface="Consolas"/>
              <a:ea typeface="Consolas"/>
              <a:cs typeface="Consolas"/>
              <a:sym typeface="Consolas"/>
            </a:endParaRPr>
          </a:p>
        </p:txBody>
      </p:sp>
      <p:grpSp>
        <p:nvGrpSpPr>
          <p:cNvPr id="146" name="Google Shape;146;p24"/>
          <p:cNvGrpSpPr/>
          <p:nvPr/>
        </p:nvGrpSpPr>
        <p:grpSpPr>
          <a:xfrm>
            <a:off x="3142024" y="2838893"/>
            <a:ext cx="5879329" cy="1606770"/>
            <a:chOff x="789525" y="3154325"/>
            <a:chExt cx="5851825" cy="1785300"/>
          </a:xfrm>
        </p:grpSpPr>
        <p:sp>
          <p:nvSpPr>
            <p:cNvPr id="147" name="Google Shape;147;p24"/>
            <p:cNvSpPr/>
            <p:nvPr/>
          </p:nvSpPr>
          <p:spPr>
            <a:xfrm rot="-5400000">
              <a:off x="115575" y="3828275"/>
              <a:ext cx="1785300" cy="437400"/>
            </a:xfrm>
            <a:prstGeom prst="roundRect">
              <a:avLst>
                <a:gd fmla="val 16667" name="adj"/>
              </a:avLst>
            </a:prstGeom>
            <a:solidFill>
              <a:srgbClr val="EA9999"/>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Vec&lt;String&gt;</a:t>
              </a:r>
              <a:endParaRPr/>
            </a:p>
          </p:txBody>
        </p:sp>
        <p:sp>
          <p:nvSpPr>
            <p:cNvPr id="148" name="Google Shape;148;p24"/>
            <p:cNvSpPr/>
            <p:nvPr/>
          </p:nvSpPr>
          <p:spPr>
            <a:xfrm rot="-5400000">
              <a:off x="1469181" y="3828275"/>
              <a:ext cx="1785300" cy="437400"/>
            </a:xfrm>
            <a:prstGeom prst="roundRect">
              <a:avLst>
                <a:gd fmla="val 16667" name="adj"/>
              </a:avLst>
            </a:prstGeom>
            <a:solidFill>
              <a:srgbClr val="F9CB9C"/>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Iterator</a:t>
              </a:r>
              <a:r>
                <a:rPr lang="it"/>
                <a:t>&lt;&amp;String&gt;</a:t>
              </a:r>
              <a:endParaRPr/>
            </a:p>
          </p:txBody>
        </p:sp>
        <p:sp>
          <p:nvSpPr>
            <p:cNvPr id="149" name="Google Shape;149;p24"/>
            <p:cNvSpPr/>
            <p:nvPr/>
          </p:nvSpPr>
          <p:spPr>
            <a:xfrm>
              <a:off x="1316928" y="3828275"/>
              <a:ext cx="736200" cy="437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4"/>
            <p:cNvSpPr txBox="1"/>
            <p:nvPr/>
          </p:nvSpPr>
          <p:spPr>
            <a:xfrm>
              <a:off x="1225872" y="3474275"/>
              <a:ext cx="903000" cy="39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sz="1100">
                  <a:latin typeface="Consolas"/>
                  <a:ea typeface="Consolas"/>
                  <a:cs typeface="Consolas"/>
                  <a:sym typeface="Consolas"/>
                </a:rPr>
                <a:t>.</a:t>
              </a:r>
              <a:r>
                <a:rPr b="1" lang="it" sz="1100">
                  <a:latin typeface="Consolas"/>
                  <a:ea typeface="Consolas"/>
                  <a:cs typeface="Consolas"/>
                  <a:sym typeface="Consolas"/>
                </a:rPr>
                <a:t>iter()</a:t>
              </a:r>
              <a:endParaRPr b="1" sz="1100">
                <a:latin typeface="Consolas"/>
                <a:ea typeface="Consolas"/>
                <a:cs typeface="Consolas"/>
                <a:sym typeface="Consolas"/>
              </a:endParaRPr>
            </a:p>
          </p:txBody>
        </p:sp>
        <p:sp>
          <p:nvSpPr>
            <p:cNvPr id="151" name="Google Shape;151;p24"/>
            <p:cNvSpPr/>
            <p:nvPr/>
          </p:nvSpPr>
          <p:spPr>
            <a:xfrm rot="-5400000">
              <a:off x="2822788" y="3828275"/>
              <a:ext cx="1785300" cy="437400"/>
            </a:xfrm>
            <a:prstGeom prst="roundRect">
              <a:avLst>
                <a:gd fmla="val 16667" name="adj"/>
              </a:avLst>
            </a:prstGeom>
            <a:solidFill>
              <a:srgbClr val="F9CB9C"/>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Iterator&lt;&amp;String&gt;</a:t>
              </a:r>
              <a:endParaRPr/>
            </a:p>
          </p:txBody>
        </p:sp>
        <p:sp>
          <p:nvSpPr>
            <p:cNvPr id="152" name="Google Shape;152;p24"/>
            <p:cNvSpPr txBox="1"/>
            <p:nvPr/>
          </p:nvSpPr>
          <p:spPr>
            <a:xfrm>
              <a:off x="2448900" y="3474275"/>
              <a:ext cx="1179000" cy="39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sz="1100">
                  <a:latin typeface="Consolas"/>
                  <a:ea typeface="Consolas"/>
                  <a:cs typeface="Consolas"/>
                  <a:sym typeface="Consolas"/>
                </a:rPr>
                <a:t>.filter</a:t>
              </a:r>
              <a:r>
                <a:rPr b="1" lang="it" sz="1100">
                  <a:latin typeface="Consolas"/>
                  <a:ea typeface="Consolas"/>
                  <a:cs typeface="Consolas"/>
                  <a:sym typeface="Consolas"/>
                </a:rPr>
                <a:t>(...)</a:t>
              </a:r>
              <a:endParaRPr b="1" sz="1100">
                <a:latin typeface="Consolas"/>
                <a:ea typeface="Consolas"/>
                <a:cs typeface="Consolas"/>
                <a:sym typeface="Consolas"/>
              </a:endParaRPr>
            </a:p>
          </p:txBody>
        </p:sp>
        <p:sp>
          <p:nvSpPr>
            <p:cNvPr id="153" name="Google Shape;153;p24"/>
            <p:cNvSpPr/>
            <p:nvPr/>
          </p:nvSpPr>
          <p:spPr>
            <a:xfrm rot="-5400000">
              <a:off x="4176394" y="3828275"/>
              <a:ext cx="1785300" cy="437400"/>
            </a:xfrm>
            <a:prstGeom prst="roundRect">
              <a:avLst>
                <a:gd fmla="val 16667" name="adj"/>
              </a:avLst>
            </a:prstGeom>
            <a:solidFill>
              <a:srgbClr val="B6D7A8"/>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Iterator&lt;usize&gt;</a:t>
              </a:r>
              <a:endParaRPr/>
            </a:p>
          </p:txBody>
        </p:sp>
        <p:sp>
          <p:nvSpPr>
            <p:cNvPr id="154" name="Google Shape;154;p24"/>
            <p:cNvSpPr txBox="1"/>
            <p:nvPr/>
          </p:nvSpPr>
          <p:spPr>
            <a:xfrm>
              <a:off x="3856199" y="3474275"/>
              <a:ext cx="1013100" cy="39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sz="1100">
                  <a:latin typeface="Consolas"/>
                  <a:ea typeface="Consolas"/>
                  <a:cs typeface="Consolas"/>
                  <a:sym typeface="Consolas"/>
                </a:rPr>
                <a:t>.map</a:t>
              </a:r>
              <a:r>
                <a:rPr b="1" lang="it" sz="1100">
                  <a:latin typeface="Consolas"/>
                  <a:ea typeface="Consolas"/>
                  <a:cs typeface="Consolas"/>
                  <a:sym typeface="Consolas"/>
                </a:rPr>
                <a:t>(...)</a:t>
              </a:r>
              <a:endParaRPr b="1" sz="1100">
                <a:latin typeface="Consolas"/>
                <a:ea typeface="Consolas"/>
                <a:cs typeface="Consolas"/>
                <a:sym typeface="Consolas"/>
              </a:endParaRPr>
            </a:p>
          </p:txBody>
        </p:sp>
        <p:sp>
          <p:nvSpPr>
            <p:cNvPr id="155" name="Google Shape;155;p24"/>
            <p:cNvSpPr txBox="1"/>
            <p:nvPr/>
          </p:nvSpPr>
          <p:spPr>
            <a:xfrm>
              <a:off x="5265223" y="3474275"/>
              <a:ext cx="736200" cy="39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sz="1100">
                  <a:latin typeface="Consolas"/>
                  <a:ea typeface="Consolas"/>
                  <a:cs typeface="Consolas"/>
                  <a:sym typeface="Consolas"/>
                </a:rPr>
                <a:t>.sum</a:t>
              </a:r>
              <a:r>
                <a:rPr b="1" lang="it" sz="1100">
                  <a:latin typeface="Consolas"/>
                  <a:ea typeface="Consolas"/>
                  <a:cs typeface="Consolas"/>
                  <a:sym typeface="Consolas"/>
                </a:rPr>
                <a:t>()</a:t>
              </a:r>
              <a:endParaRPr b="1" sz="1100">
                <a:latin typeface="Consolas"/>
                <a:ea typeface="Consolas"/>
                <a:cs typeface="Consolas"/>
                <a:sym typeface="Consolas"/>
              </a:endParaRPr>
            </a:p>
          </p:txBody>
        </p:sp>
        <p:sp>
          <p:nvSpPr>
            <p:cNvPr id="156" name="Google Shape;156;p24"/>
            <p:cNvSpPr/>
            <p:nvPr/>
          </p:nvSpPr>
          <p:spPr>
            <a:xfrm rot="-5400000">
              <a:off x="5530000" y="3828275"/>
              <a:ext cx="1785300" cy="437400"/>
            </a:xfrm>
            <a:prstGeom prst="roundRect">
              <a:avLst>
                <a:gd fmla="val 16667" name="adj"/>
              </a:avLst>
            </a:prstGeom>
            <a:solidFill>
              <a:srgbClr val="A2C4C9"/>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usize</a:t>
              </a:r>
              <a:endParaRPr/>
            </a:p>
          </p:txBody>
        </p:sp>
        <p:sp>
          <p:nvSpPr>
            <p:cNvPr id="157" name="Google Shape;157;p24"/>
            <p:cNvSpPr/>
            <p:nvPr/>
          </p:nvSpPr>
          <p:spPr>
            <a:xfrm>
              <a:off x="2670534" y="3828275"/>
              <a:ext cx="736200" cy="437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4"/>
            <p:cNvSpPr/>
            <p:nvPr/>
          </p:nvSpPr>
          <p:spPr>
            <a:xfrm>
              <a:off x="4024141" y="3828275"/>
              <a:ext cx="736200" cy="437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4"/>
            <p:cNvSpPr/>
            <p:nvPr/>
          </p:nvSpPr>
          <p:spPr>
            <a:xfrm>
              <a:off x="5377747" y="3828275"/>
              <a:ext cx="736200" cy="437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0" name="Google Shape;160;p24"/>
          <p:cNvSpPr txBox="1"/>
          <p:nvPr/>
        </p:nvSpPr>
        <p:spPr>
          <a:xfrm>
            <a:off x="3505750" y="4308503"/>
            <a:ext cx="10536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it"/>
              <a:t>iteratore</a:t>
            </a:r>
            <a:br>
              <a:rPr i="1" lang="it"/>
            </a:br>
            <a:r>
              <a:rPr i="1" lang="it"/>
              <a:t>iniziale</a:t>
            </a:r>
            <a:endParaRPr i="1"/>
          </a:p>
        </p:txBody>
      </p:sp>
      <p:sp>
        <p:nvSpPr>
          <p:cNvPr id="161" name="Google Shape;161;p24"/>
          <p:cNvSpPr txBox="1"/>
          <p:nvPr/>
        </p:nvSpPr>
        <p:spPr>
          <a:xfrm>
            <a:off x="5552025" y="4502363"/>
            <a:ext cx="1053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it"/>
              <a:t>adattatori</a:t>
            </a:r>
            <a:endParaRPr i="1"/>
          </a:p>
        </p:txBody>
      </p:sp>
      <p:sp>
        <p:nvSpPr>
          <p:cNvPr id="162" name="Google Shape;162;p24"/>
          <p:cNvSpPr/>
          <p:nvPr/>
        </p:nvSpPr>
        <p:spPr>
          <a:xfrm rot="-5400000">
            <a:off x="6022947" y="3545872"/>
            <a:ext cx="127800" cy="1927200"/>
          </a:xfrm>
          <a:prstGeom prst="lef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4"/>
          <p:cNvSpPr txBox="1"/>
          <p:nvPr/>
        </p:nvSpPr>
        <p:spPr>
          <a:xfrm>
            <a:off x="7421775" y="4502363"/>
            <a:ext cx="1365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it"/>
              <a:t>consumatore</a:t>
            </a:r>
            <a:endParaRPr i="1"/>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Adattatori: trasformare gli elementi</a:t>
            </a:r>
            <a:endParaRPr/>
          </a:p>
        </p:txBody>
      </p:sp>
      <p:sp>
        <p:nvSpPr>
          <p:cNvPr id="169" name="Google Shape;169;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8" lvl="0" marL="457200" rtl="0" algn="l">
              <a:spcBef>
                <a:spcPts val="0"/>
              </a:spcBef>
              <a:spcAft>
                <a:spcPts val="0"/>
              </a:spcAft>
              <a:buSzPct val="100000"/>
              <a:buFont typeface="Consolas"/>
              <a:buChar char="●"/>
            </a:pPr>
            <a:r>
              <a:rPr b="1" lang="it">
                <a:solidFill>
                  <a:srgbClr val="0B5394"/>
                </a:solidFill>
                <a:latin typeface="Consolas"/>
                <a:ea typeface="Consolas"/>
                <a:cs typeface="Consolas"/>
                <a:sym typeface="Consolas"/>
              </a:rPr>
              <a:t>map&lt;V, F&gt;(self, f: F) -&gt; Map&lt;Self, F&gt; </a:t>
            </a:r>
            <a:br>
              <a:rPr b="1" lang="it">
                <a:solidFill>
                  <a:srgbClr val="0B5394"/>
                </a:solidFill>
                <a:latin typeface="Consolas"/>
                <a:ea typeface="Consolas"/>
                <a:cs typeface="Consolas"/>
                <a:sym typeface="Consolas"/>
              </a:rPr>
            </a:br>
            <a:r>
              <a:rPr b="1" lang="it">
                <a:solidFill>
                  <a:srgbClr val="0B5394"/>
                </a:solidFill>
                <a:latin typeface="Consolas"/>
                <a:ea typeface="Consolas"/>
                <a:cs typeface="Consolas"/>
                <a:sym typeface="Consolas"/>
              </a:rPr>
              <a:t>							where F:FnMut(Self::Item) -&gt; V</a:t>
            </a:r>
            <a:endParaRPr b="1">
              <a:solidFill>
                <a:srgbClr val="0B5394"/>
              </a:solidFill>
              <a:latin typeface="Consolas"/>
              <a:ea typeface="Consolas"/>
              <a:cs typeface="Consolas"/>
              <a:sym typeface="Consolas"/>
            </a:endParaRPr>
          </a:p>
          <a:p>
            <a:pPr indent="-310832" lvl="1" marL="914400" rtl="0" algn="l">
              <a:spcBef>
                <a:spcPts val="0"/>
              </a:spcBef>
              <a:spcAft>
                <a:spcPts val="0"/>
              </a:spcAft>
              <a:buSzPct val="100000"/>
              <a:buFont typeface="Consolas"/>
              <a:buChar char="○"/>
            </a:pPr>
            <a:r>
              <a:rPr lang="it"/>
              <a:t>Trasforma ogni elemento in ingresso con la chiusura </a:t>
            </a:r>
            <a:r>
              <a:rPr b="1" lang="it">
                <a:solidFill>
                  <a:srgbClr val="0B5394"/>
                </a:solidFill>
                <a:latin typeface="Consolas"/>
                <a:ea typeface="Consolas"/>
                <a:cs typeface="Consolas"/>
                <a:sym typeface="Consolas"/>
              </a:rPr>
              <a:t>f</a:t>
            </a:r>
            <a:r>
              <a:rPr lang="it"/>
              <a:t>  e produce un nuovo iteratore dei valori trasformati</a:t>
            </a:r>
            <a:endParaRPr/>
          </a:p>
          <a:p>
            <a:pPr indent="-334328" lvl="0" marL="457200" rtl="0" algn="l">
              <a:spcBef>
                <a:spcPts val="0"/>
              </a:spcBef>
              <a:spcAft>
                <a:spcPts val="0"/>
              </a:spcAft>
              <a:buSzPct val="100000"/>
              <a:buFont typeface="Consolas"/>
              <a:buChar char="●"/>
            </a:pPr>
            <a:r>
              <a:rPr b="1" lang="it">
                <a:solidFill>
                  <a:srgbClr val="0B5394"/>
                </a:solidFill>
                <a:latin typeface="Consolas"/>
                <a:ea typeface="Consolas"/>
                <a:cs typeface="Consolas"/>
                <a:sym typeface="Consolas"/>
              </a:rPr>
              <a:t>enumerate(self) -&gt; Enumerate&lt;Self&gt;</a:t>
            </a:r>
            <a:endParaRPr b="1">
              <a:solidFill>
                <a:srgbClr val="0B5394"/>
              </a:solidFill>
              <a:latin typeface="Consolas"/>
              <a:ea typeface="Consolas"/>
              <a:cs typeface="Consolas"/>
              <a:sym typeface="Consolas"/>
            </a:endParaRPr>
          </a:p>
          <a:p>
            <a:pPr indent="-310832" lvl="1" marL="914400" rtl="0" algn="l">
              <a:spcBef>
                <a:spcPts val="0"/>
              </a:spcBef>
              <a:spcAft>
                <a:spcPts val="0"/>
              </a:spcAft>
              <a:buSzPct val="100000"/>
              <a:buFont typeface="Consolas"/>
              <a:buChar char="○"/>
            </a:pPr>
            <a:r>
              <a:rPr lang="it"/>
              <a:t>Ritorna un iteratore che restituisce una tupla formata dall’indice dell’iterazione e dal valore </a:t>
            </a:r>
            <a:r>
              <a:rPr lang="it">
                <a:solidFill>
                  <a:srgbClr val="0B5394"/>
                </a:solidFill>
              </a:rPr>
              <a:t>(i,val)</a:t>
            </a:r>
            <a:endParaRPr>
              <a:solidFill>
                <a:srgbClr val="0B5394"/>
              </a:solidFill>
            </a:endParaRPr>
          </a:p>
          <a:p>
            <a:pPr indent="-334328" lvl="0" marL="457200" rtl="0" algn="l">
              <a:spcBef>
                <a:spcPts val="0"/>
              </a:spcBef>
              <a:spcAft>
                <a:spcPts val="0"/>
              </a:spcAft>
              <a:buSzPct val="100000"/>
              <a:buFont typeface="Consolas"/>
              <a:buChar char="●"/>
            </a:pPr>
            <a:r>
              <a:rPr b="1" lang="it">
                <a:solidFill>
                  <a:srgbClr val="0B5394"/>
                </a:solidFill>
                <a:latin typeface="Consolas"/>
                <a:ea typeface="Consolas"/>
                <a:cs typeface="Consolas"/>
                <a:sym typeface="Consolas"/>
              </a:rPr>
              <a:t>copied&lt;'a, T&gt;(self) -&gt; Copied&lt;Self&gt;</a:t>
            </a:r>
            <a:endParaRPr b="1">
              <a:solidFill>
                <a:srgbClr val="0B5394"/>
              </a:solidFill>
              <a:latin typeface="Consolas"/>
              <a:ea typeface="Consolas"/>
              <a:cs typeface="Consolas"/>
              <a:sym typeface="Consolas"/>
            </a:endParaRPr>
          </a:p>
          <a:p>
            <a:pPr indent="-310832" lvl="1" marL="914400" rtl="0" algn="l">
              <a:spcBef>
                <a:spcPts val="0"/>
              </a:spcBef>
              <a:spcAft>
                <a:spcPts val="0"/>
              </a:spcAft>
              <a:buSzPct val="100000"/>
              <a:buFont typeface="Consolas"/>
              <a:buChar char="○"/>
            </a:pPr>
            <a:r>
              <a:rPr lang="it"/>
              <a:t>Ritorna un nuovo iteratore, tutti gli elementi dell’iteratore originale verranno </a:t>
            </a:r>
            <a:r>
              <a:rPr b="1" lang="it"/>
              <a:t>copiati</a:t>
            </a:r>
            <a:r>
              <a:rPr lang="it"/>
              <a:t> quando l'iteratore sarà consumato</a:t>
            </a:r>
            <a:endParaRPr b="1">
              <a:solidFill>
                <a:srgbClr val="0B5394"/>
              </a:solidFill>
              <a:latin typeface="Consolas"/>
              <a:ea typeface="Consolas"/>
              <a:cs typeface="Consolas"/>
              <a:sym typeface="Consolas"/>
            </a:endParaRPr>
          </a:p>
          <a:p>
            <a:pPr indent="-334328" lvl="0" marL="457200" rtl="0" algn="l">
              <a:spcBef>
                <a:spcPts val="0"/>
              </a:spcBef>
              <a:spcAft>
                <a:spcPts val="0"/>
              </a:spcAft>
              <a:buSzPct val="100000"/>
              <a:buFont typeface="Consolas"/>
              <a:buChar char="●"/>
            </a:pPr>
            <a:r>
              <a:rPr b="1" lang="it">
                <a:solidFill>
                  <a:srgbClr val="0B5394"/>
                </a:solidFill>
                <a:latin typeface="Consolas"/>
                <a:ea typeface="Consolas"/>
                <a:cs typeface="Consolas"/>
                <a:sym typeface="Consolas"/>
              </a:rPr>
              <a:t>cloned&lt;'a, T&gt;(self) -&gt; Cloned&lt;Self&gt;</a:t>
            </a:r>
            <a:endParaRPr b="1">
              <a:solidFill>
                <a:srgbClr val="0B5394"/>
              </a:solidFill>
              <a:latin typeface="Consolas"/>
              <a:ea typeface="Consolas"/>
              <a:cs typeface="Consolas"/>
              <a:sym typeface="Consolas"/>
            </a:endParaRPr>
          </a:p>
          <a:p>
            <a:pPr indent="-310832" lvl="1" marL="914400" rtl="0" algn="l">
              <a:spcBef>
                <a:spcPts val="0"/>
              </a:spcBef>
              <a:spcAft>
                <a:spcPts val="0"/>
              </a:spcAft>
              <a:buSzPct val="100000"/>
              <a:buFont typeface="Consolas"/>
              <a:buChar char="○"/>
            </a:pPr>
            <a:r>
              <a:rPr lang="it"/>
              <a:t>Ritorna un nuovo iteratore, tutti gli elementi dell’iteratore originale verranno </a:t>
            </a:r>
            <a:r>
              <a:rPr b="1" lang="it"/>
              <a:t>clonati</a:t>
            </a:r>
            <a:r>
              <a:rPr lang="it"/>
              <a:t> quando l'iteratore sarà consumato</a:t>
            </a:r>
            <a:endParaRPr b="1">
              <a:solidFill>
                <a:srgbClr val="0B5394"/>
              </a:solidFill>
              <a:latin typeface="Consolas"/>
              <a:ea typeface="Consolas"/>
              <a:cs typeface="Consolas"/>
              <a:sym typeface="Consolas"/>
            </a:endParaRPr>
          </a:p>
          <a:p>
            <a:pPr indent="-334328" lvl="0" marL="457200" rtl="0" algn="l">
              <a:spcBef>
                <a:spcPts val="0"/>
              </a:spcBef>
              <a:spcAft>
                <a:spcPts val="0"/>
              </a:spcAft>
              <a:buSzPct val="100000"/>
              <a:buFont typeface="Consolas"/>
              <a:buChar char="●"/>
            </a:pPr>
            <a:r>
              <a:rPr b="1" lang="it">
                <a:solidFill>
                  <a:srgbClr val="0B5394"/>
                </a:solidFill>
                <a:latin typeface="Consolas"/>
                <a:ea typeface="Consolas"/>
                <a:cs typeface="Consolas"/>
                <a:sym typeface="Consolas"/>
              </a:rPr>
              <a:t>inspect&lt;F&gt;(self, f: F) -&gt; Inspect&lt;Self, F&gt; </a:t>
            </a:r>
            <a:br>
              <a:rPr b="1" lang="it">
                <a:solidFill>
                  <a:srgbClr val="0B5394"/>
                </a:solidFill>
                <a:latin typeface="Consolas"/>
                <a:ea typeface="Consolas"/>
                <a:cs typeface="Consolas"/>
                <a:sym typeface="Consolas"/>
              </a:rPr>
            </a:br>
            <a:r>
              <a:rPr b="1" lang="it">
                <a:solidFill>
                  <a:srgbClr val="0B5394"/>
                </a:solidFill>
                <a:latin typeface="Consolas"/>
                <a:ea typeface="Consolas"/>
                <a:cs typeface="Consolas"/>
                <a:sym typeface="Consolas"/>
              </a:rPr>
              <a:t>							where F: FnMut(&amp;Self::Item)</a:t>
            </a:r>
            <a:endParaRPr b="1">
              <a:solidFill>
                <a:srgbClr val="0B5394"/>
              </a:solidFill>
              <a:latin typeface="Consolas"/>
              <a:ea typeface="Consolas"/>
              <a:cs typeface="Consolas"/>
              <a:sym typeface="Consolas"/>
            </a:endParaRPr>
          </a:p>
          <a:p>
            <a:pPr indent="-310832" lvl="1" marL="914400" rtl="0" algn="l">
              <a:spcBef>
                <a:spcPts val="0"/>
              </a:spcBef>
              <a:spcAft>
                <a:spcPts val="0"/>
              </a:spcAft>
              <a:buSzPct val="100000"/>
              <a:buFont typeface="Consolas"/>
              <a:buChar char="○"/>
            </a:pPr>
            <a:r>
              <a:rPr lang="it"/>
              <a:t>Ogni volta che riceve una richiesta, preleva un elemento dall’iteratore a monte e la passa sia alla funzione, che ha possibilità di ispezionarlo, che al consumatore a valle</a:t>
            </a:r>
            <a:endParaRPr/>
          </a:p>
        </p:txBody>
      </p:sp>
      <p:sp>
        <p:nvSpPr>
          <p:cNvPr id="170" name="Google Shape;170;p2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Adattatori: filtrare</a:t>
            </a:r>
            <a:endParaRPr/>
          </a:p>
        </p:txBody>
      </p:sp>
      <p:sp>
        <p:nvSpPr>
          <p:cNvPr id="176" name="Google Shape;176;p26"/>
          <p:cNvSpPr txBox="1"/>
          <p:nvPr>
            <p:ph idx="1" type="body"/>
          </p:nvPr>
        </p:nvSpPr>
        <p:spPr>
          <a:xfrm>
            <a:off x="311700" y="1152475"/>
            <a:ext cx="8520600" cy="36159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Font typeface="Consolas"/>
              <a:buChar char="●"/>
            </a:pPr>
            <a:r>
              <a:rPr b="1" lang="it">
                <a:solidFill>
                  <a:srgbClr val="0B5394"/>
                </a:solidFill>
                <a:latin typeface="Consolas"/>
                <a:ea typeface="Consolas"/>
                <a:cs typeface="Consolas"/>
                <a:sym typeface="Consolas"/>
              </a:rPr>
              <a:t>filter&lt;P&gt;(self, predicate: P) -&gt; Filter&lt;Self, P&gt; </a:t>
            </a:r>
            <a:br>
              <a:rPr b="1" lang="it">
                <a:solidFill>
                  <a:srgbClr val="0B5394"/>
                </a:solidFill>
                <a:latin typeface="Consolas"/>
                <a:ea typeface="Consolas"/>
                <a:cs typeface="Consolas"/>
                <a:sym typeface="Consolas"/>
              </a:rPr>
            </a:br>
            <a:r>
              <a:rPr b="1" lang="it">
                <a:solidFill>
                  <a:srgbClr val="0B5394"/>
                </a:solidFill>
                <a:latin typeface="Consolas"/>
                <a:ea typeface="Consolas"/>
                <a:cs typeface="Consolas"/>
                <a:sym typeface="Consolas"/>
              </a:rPr>
              <a:t>								where P: FnMut(&amp;Self::Item) -&gt; bool</a:t>
            </a:r>
            <a:endParaRPr b="1">
              <a:solidFill>
                <a:srgbClr val="0B5394"/>
              </a:solidFill>
              <a:latin typeface="Consolas"/>
              <a:ea typeface="Consolas"/>
              <a:cs typeface="Consolas"/>
              <a:sym typeface="Consolas"/>
            </a:endParaRPr>
          </a:p>
          <a:p>
            <a:pPr indent="-304165" lvl="1" marL="914400" rtl="0" algn="l">
              <a:spcBef>
                <a:spcPts val="0"/>
              </a:spcBef>
              <a:spcAft>
                <a:spcPts val="0"/>
              </a:spcAft>
              <a:buSzPct val="100000"/>
              <a:buFont typeface="Consolas"/>
              <a:buChar char="○"/>
            </a:pPr>
            <a:r>
              <a:rPr lang="it"/>
              <a:t>Seleziona gli elementi per i quali l’esecuzione della chiusura </a:t>
            </a:r>
            <a:r>
              <a:rPr b="1" lang="it">
                <a:solidFill>
                  <a:srgbClr val="0B5394"/>
                </a:solidFill>
                <a:latin typeface="Consolas"/>
                <a:ea typeface="Consolas"/>
                <a:cs typeface="Consolas"/>
                <a:sym typeface="Consolas"/>
              </a:rPr>
              <a:t>predicate</a:t>
            </a:r>
            <a:r>
              <a:rPr lang="it"/>
              <a:t> ritorna true</a:t>
            </a:r>
            <a:endParaRPr/>
          </a:p>
          <a:p>
            <a:pPr indent="-325755" lvl="0" marL="457200" rtl="0" algn="l">
              <a:spcBef>
                <a:spcPts val="0"/>
              </a:spcBef>
              <a:spcAft>
                <a:spcPts val="0"/>
              </a:spcAft>
              <a:buSzPct val="100000"/>
              <a:buFont typeface="Consolas"/>
              <a:buChar char="●"/>
            </a:pPr>
            <a:r>
              <a:rPr b="1" lang="it">
                <a:solidFill>
                  <a:srgbClr val="0B5394"/>
                </a:solidFill>
                <a:latin typeface="Consolas"/>
                <a:ea typeface="Consolas"/>
                <a:cs typeface="Consolas"/>
                <a:sym typeface="Consolas"/>
              </a:rPr>
              <a:t>take(self, n: usize) -&gt; Take&lt;Self&gt;</a:t>
            </a:r>
            <a:endParaRPr b="1">
              <a:solidFill>
                <a:srgbClr val="0B5394"/>
              </a:solidFill>
              <a:latin typeface="Consolas"/>
              <a:ea typeface="Consolas"/>
              <a:cs typeface="Consolas"/>
              <a:sym typeface="Consolas"/>
            </a:endParaRPr>
          </a:p>
          <a:p>
            <a:pPr indent="-304165" lvl="1" marL="914400" rtl="0" algn="l">
              <a:spcBef>
                <a:spcPts val="0"/>
              </a:spcBef>
              <a:spcAft>
                <a:spcPts val="0"/>
              </a:spcAft>
              <a:buSzPct val="100000"/>
              <a:buFont typeface="Consolas"/>
              <a:buChar char="○"/>
            </a:pPr>
            <a:r>
              <a:rPr lang="it"/>
              <a:t>Ritorna un iteratore che contiene al più i primi n elementi dell’iteratore su cui viene eseguito (meno, se l’iteratore originale non contiene abbastanza elementi)</a:t>
            </a:r>
            <a:endParaRPr/>
          </a:p>
          <a:p>
            <a:pPr indent="-325755" lvl="0" marL="457200" rtl="0" algn="l">
              <a:spcBef>
                <a:spcPts val="0"/>
              </a:spcBef>
              <a:spcAft>
                <a:spcPts val="0"/>
              </a:spcAft>
              <a:buSzPct val="100000"/>
              <a:buFont typeface="Consolas"/>
              <a:buChar char="●"/>
            </a:pPr>
            <a:r>
              <a:rPr b="1" lang="it">
                <a:solidFill>
                  <a:srgbClr val="0B5394"/>
                </a:solidFill>
                <a:latin typeface="Consolas"/>
                <a:ea typeface="Consolas"/>
                <a:cs typeface="Consolas"/>
                <a:sym typeface="Consolas"/>
              </a:rPr>
              <a:t>take_while&lt;P&gt;(self, predicate: P) -&gt; TakeWhile&lt;Self, P&gt; </a:t>
            </a:r>
            <a:br>
              <a:rPr b="1" lang="it">
                <a:solidFill>
                  <a:srgbClr val="0B5394"/>
                </a:solidFill>
                <a:latin typeface="Consolas"/>
                <a:ea typeface="Consolas"/>
                <a:cs typeface="Consolas"/>
                <a:sym typeface="Consolas"/>
              </a:rPr>
            </a:br>
            <a:r>
              <a:rPr b="1" lang="it">
                <a:solidFill>
                  <a:srgbClr val="0B5394"/>
                </a:solidFill>
                <a:latin typeface="Consolas"/>
                <a:ea typeface="Consolas"/>
                <a:cs typeface="Consolas"/>
                <a:sym typeface="Consolas"/>
              </a:rPr>
              <a:t>								where P: FnMut(&amp;Self::Item)-&gt;bool</a:t>
            </a:r>
            <a:endParaRPr b="1">
              <a:solidFill>
                <a:srgbClr val="0B5394"/>
              </a:solidFill>
              <a:latin typeface="Consolas"/>
              <a:ea typeface="Consolas"/>
              <a:cs typeface="Consolas"/>
              <a:sym typeface="Consolas"/>
            </a:endParaRPr>
          </a:p>
          <a:p>
            <a:pPr indent="-304165" lvl="1" marL="914400" rtl="0" algn="l">
              <a:spcBef>
                <a:spcPts val="0"/>
              </a:spcBef>
              <a:spcAft>
                <a:spcPts val="0"/>
              </a:spcAft>
              <a:buSzPct val="100000"/>
              <a:buFont typeface="Consolas"/>
              <a:buChar char="○"/>
            </a:pPr>
            <a:r>
              <a:rPr lang="it"/>
              <a:t>Esegue la funzione ricevuta su tutti gli elementi dell’iteratore originale, conserva tutti gli elementi fino a quando la funzione ritorna true; dal momento in cui diventa false, scarta tutti i valori rimanenti</a:t>
            </a:r>
            <a:endParaRPr b="1">
              <a:solidFill>
                <a:srgbClr val="0B5394"/>
              </a:solidFill>
              <a:latin typeface="Consolas"/>
              <a:ea typeface="Consolas"/>
              <a:cs typeface="Consolas"/>
              <a:sym typeface="Consolas"/>
            </a:endParaRPr>
          </a:p>
          <a:p>
            <a:pPr indent="-325755" lvl="0" marL="457200" rtl="0" algn="l">
              <a:spcBef>
                <a:spcPts val="0"/>
              </a:spcBef>
              <a:spcAft>
                <a:spcPts val="0"/>
              </a:spcAft>
              <a:buSzPct val="100000"/>
              <a:buFont typeface="Consolas"/>
              <a:buChar char="●"/>
            </a:pPr>
            <a:r>
              <a:rPr b="1" lang="it">
                <a:solidFill>
                  <a:srgbClr val="0B5394"/>
                </a:solidFill>
                <a:latin typeface="Consolas"/>
                <a:ea typeface="Consolas"/>
                <a:cs typeface="Consolas"/>
                <a:sym typeface="Consolas"/>
              </a:rPr>
              <a:t>skip(self, n: usize) -&gt; Skip&lt;Self&gt;</a:t>
            </a:r>
            <a:endParaRPr b="1">
              <a:solidFill>
                <a:srgbClr val="0B5394"/>
              </a:solidFill>
              <a:latin typeface="Consolas"/>
              <a:ea typeface="Consolas"/>
              <a:cs typeface="Consolas"/>
              <a:sym typeface="Consolas"/>
            </a:endParaRPr>
          </a:p>
          <a:p>
            <a:pPr indent="-304165" lvl="1" marL="914400" rtl="0" algn="l">
              <a:spcBef>
                <a:spcPts val="0"/>
              </a:spcBef>
              <a:spcAft>
                <a:spcPts val="0"/>
              </a:spcAft>
              <a:buSzPct val="100000"/>
              <a:buFont typeface="Consolas"/>
              <a:buChar char="○"/>
            </a:pPr>
            <a:r>
              <a:rPr lang="it"/>
              <a:t>Ritorna un iteratore che esclude i primi n elementi dell’iteratore su cui viene eseguito, se si raggiunge la fine ritorna un iteratore vuoto</a:t>
            </a:r>
            <a:endParaRPr/>
          </a:p>
          <a:p>
            <a:pPr indent="-325755" lvl="0" marL="457200" rtl="0" algn="l">
              <a:spcBef>
                <a:spcPts val="0"/>
              </a:spcBef>
              <a:spcAft>
                <a:spcPts val="0"/>
              </a:spcAft>
              <a:buSzPct val="100000"/>
              <a:buFont typeface="Consolas"/>
              <a:buChar char="●"/>
            </a:pPr>
            <a:r>
              <a:rPr b="1" lang="it">
                <a:solidFill>
                  <a:srgbClr val="0B5394"/>
                </a:solidFill>
                <a:latin typeface="Consolas"/>
                <a:ea typeface="Consolas"/>
                <a:cs typeface="Consolas"/>
                <a:sym typeface="Consolas"/>
              </a:rPr>
              <a:t>skip_while&lt;P&gt;(self, predicate: P) -&gt; SkipWhile&lt;Self, P&gt; </a:t>
            </a:r>
            <a:br>
              <a:rPr b="1" lang="it">
                <a:solidFill>
                  <a:srgbClr val="0B5394"/>
                </a:solidFill>
                <a:latin typeface="Consolas"/>
                <a:ea typeface="Consolas"/>
                <a:cs typeface="Consolas"/>
                <a:sym typeface="Consolas"/>
              </a:rPr>
            </a:br>
            <a:r>
              <a:rPr b="1" lang="it">
                <a:solidFill>
                  <a:srgbClr val="0B5394"/>
                </a:solidFill>
                <a:latin typeface="Consolas"/>
                <a:ea typeface="Consolas"/>
                <a:cs typeface="Consolas"/>
                <a:sym typeface="Consolas"/>
              </a:rPr>
              <a:t>								where P: FnMut(&amp;Self::Item)-&gt;bool</a:t>
            </a:r>
            <a:endParaRPr b="1">
              <a:solidFill>
                <a:srgbClr val="0B5394"/>
              </a:solidFill>
              <a:latin typeface="Consolas"/>
              <a:ea typeface="Consolas"/>
              <a:cs typeface="Consolas"/>
              <a:sym typeface="Consolas"/>
            </a:endParaRPr>
          </a:p>
          <a:p>
            <a:pPr indent="-304165" lvl="1" marL="914400" rtl="0" algn="l">
              <a:spcBef>
                <a:spcPts val="0"/>
              </a:spcBef>
              <a:spcAft>
                <a:spcPts val="0"/>
              </a:spcAft>
              <a:buSzPct val="100000"/>
              <a:buFont typeface="Consolas"/>
              <a:buChar char="○"/>
            </a:pPr>
            <a:r>
              <a:rPr lang="it"/>
              <a:t>Esegue la funzione ricevuta su tutti gli elementi dell’iteratore originale, esclude tutti gli elementi fino a quando la funzione ritorna true, dal momento in cui diventa false conserva tutti i valori rimanenti</a:t>
            </a:r>
            <a:endParaRPr b="1">
              <a:solidFill>
                <a:srgbClr val="0B5394"/>
              </a:solidFill>
              <a:latin typeface="Consolas"/>
              <a:ea typeface="Consolas"/>
              <a:cs typeface="Consolas"/>
              <a:sym typeface="Consolas"/>
            </a:endParaRPr>
          </a:p>
        </p:txBody>
      </p:sp>
      <p:sp>
        <p:nvSpPr>
          <p:cNvPr id="177" name="Google Shape;177;p2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Adattatori: combinare</a:t>
            </a:r>
            <a:endParaRPr/>
          </a:p>
        </p:txBody>
      </p:sp>
      <p:sp>
        <p:nvSpPr>
          <p:cNvPr id="183" name="Google Shape;183;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Consolas"/>
              <a:buChar char="●"/>
            </a:pPr>
            <a:r>
              <a:rPr b="1" lang="it">
                <a:solidFill>
                  <a:srgbClr val="0B5394"/>
                </a:solidFill>
                <a:latin typeface="Consolas"/>
                <a:ea typeface="Consolas"/>
                <a:cs typeface="Consolas"/>
                <a:sym typeface="Consolas"/>
              </a:rPr>
              <a:t>chain&lt;U&gt;(self, other: U) -&gt; </a:t>
            </a:r>
            <a:r>
              <a:rPr b="1" lang="it" sz="1400">
                <a:solidFill>
                  <a:srgbClr val="0B5394"/>
                </a:solidFill>
                <a:latin typeface="Consolas"/>
                <a:ea typeface="Consolas"/>
                <a:cs typeface="Consolas"/>
                <a:sym typeface="Consolas"/>
              </a:rPr>
              <a:t>Chain&lt;Self, &lt;U as IntoIterator&gt;::IntoIter&gt;</a:t>
            </a:r>
            <a:endParaRPr b="1" sz="1400">
              <a:solidFill>
                <a:srgbClr val="0B5394"/>
              </a:solidFill>
              <a:latin typeface="Consolas"/>
              <a:ea typeface="Consolas"/>
              <a:cs typeface="Consolas"/>
              <a:sym typeface="Consolas"/>
            </a:endParaRPr>
          </a:p>
          <a:p>
            <a:pPr indent="-317500" lvl="1" marL="914400" rtl="0" algn="l">
              <a:spcBef>
                <a:spcPts val="0"/>
              </a:spcBef>
              <a:spcAft>
                <a:spcPts val="0"/>
              </a:spcAft>
              <a:buSzPts val="1400"/>
              <a:buFont typeface="Consolas"/>
              <a:buChar char="○"/>
            </a:pPr>
            <a:r>
              <a:rPr lang="it"/>
              <a:t>Prende come argomento un valore iterabile e ne concatena gli elementi all’originale, ritornando uno nuovo iteratore</a:t>
            </a:r>
            <a:endParaRPr b="1">
              <a:solidFill>
                <a:srgbClr val="0B5394"/>
              </a:solidFill>
              <a:latin typeface="Consolas"/>
              <a:ea typeface="Consolas"/>
              <a:cs typeface="Consolas"/>
              <a:sym typeface="Consolas"/>
            </a:endParaRPr>
          </a:p>
          <a:p>
            <a:pPr indent="-342900" lvl="0" marL="457200" rtl="0" algn="l">
              <a:spcBef>
                <a:spcPts val="0"/>
              </a:spcBef>
              <a:spcAft>
                <a:spcPts val="0"/>
              </a:spcAft>
              <a:buSzPts val="1800"/>
              <a:buFont typeface="Consolas"/>
              <a:buChar char="●"/>
            </a:pPr>
            <a:r>
              <a:rPr b="1" lang="it">
                <a:solidFill>
                  <a:srgbClr val="0B5394"/>
                </a:solidFill>
                <a:latin typeface="Consolas"/>
                <a:ea typeface="Consolas"/>
                <a:cs typeface="Consolas"/>
                <a:sym typeface="Consolas"/>
              </a:rPr>
              <a:t>zip&lt;U&gt;(self, other: U) -&gt; </a:t>
            </a:r>
            <a:r>
              <a:rPr b="1" lang="it" sz="1400">
                <a:solidFill>
                  <a:srgbClr val="0B5394"/>
                </a:solidFill>
                <a:latin typeface="Consolas"/>
                <a:ea typeface="Consolas"/>
                <a:cs typeface="Consolas"/>
                <a:sym typeface="Consolas"/>
              </a:rPr>
              <a:t>Zip&lt;Self, &lt;U as IntoIterator&gt; ::IntoIter&gt;</a:t>
            </a:r>
            <a:endParaRPr b="1" sz="1400">
              <a:solidFill>
                <a:srgbClr val="0B5394"/>
              </a:solidFill>
              <a:latin typeface="Consolas"/>
              <a:ea typeface="Consolas"/>
              <a:cs typeface="Consolas"/>
              <a:sym typeface="Consolas"/>
            </a:endParaRPr>
          </a:p>
          <a:p>
            <a:pPr indent="-317500" lvl="1" marL="914400" rtl="0" algn="l">
              <a:spcBef>
                <a:spcPts val="0"/>
              </a:spcBef>
              <a:spcAft>
                <a:spcPts val="0"/>
              </a:spcAft>
              <a:buSzPts val="1400"/>
              <a:buFont typeface="Consolas"/>
              <a:buChar char="○"/>
            </a:pPr>
            <a:r>
              <a:rPr lang="it"/>
              <a:t>Combina due iteratori per ritornare un nuovo iteratore che ha come elementi le coppie composte dai valori dei primi due iteratori</a:t>
            </a:r>
            <a:endParaRPr/>
          </a:p>
          <a:p>
            <a:pPr indent="-342900" lvl="0" marL="457200" rtl="0" algn="l">
              <a:spcBef>
                <a:spcPts val="0"/>
              </a:spcBef>
              <a:spcAft>
                <a:spcPts val="0"/>
              </a:spcAft>
              <a:buSzPts val="1800"/>
              <a:buFont typeface="Consolas"/>
              <a:buChar char="●"/>
            </a:pPr>
            <a:r>
              <a:rPr b="1" lang="it">
                <a:solidFill>
                  <a:srgbClr val="0B5394"/>
                </a:solidFill>
                <a:latin typeface="Consolas"/>
                <a:ea typeface="Consolas"/>
                <a:cs typeface="Consolas"/>
                <a:sym typeface="Consolas"/>
              </a:rPr>
              <a:t>cycle(self) -&gt; Cycle&lt;Self&gt;</a:t>
            </a:r>
            <a:endParaRPr b="1">
              <a:solidFill>
                <a:srgbClr val="0B5394"/>
              </a:solidFill>
              <a:latin typeface="Consolas"/>
              <a:ea typeface="Consolas"/>
              <a:cs typeface="Consolas"/>
              <a:sym typeface="Consolas"/>
            </a:endParaRPr>
          </a:p>
          <a:p>
            <a:pPr indent="-317500" lvl="1" marL="914400" rtl="0" algn="l">
              <a:spcBef>
                <a:spcPts val="0"/>
              </a:spcBef>
              <a:spcAft>
                <a:spcPts val="0"/>
              </a:spcAft>
              <a:buSzPts val="1400"/>
              <a:buFont typeface="Consolas"/>
              <a:buChar char="○"/>
            </a:pPr>
            <a:r>
              <a:rPr lang="it"/>
              <a:t>Raggiunta la fine di un iteratore riparte dall’inizio, ciclando all’infinito</a:t>
            </a:r>
            <a:endParaRPr/>
          </a:p>
          <a:p>
            <a:pPr indent="-342900" lvl="0" marL="457200" rtl="0" algn="l">
              <a:spcBef>
                <a:spcPts val="0"/>
              </a:spcBef>
              <a:spcAft>
                <a:spcPts val="0"/>
              </a:spcAft>
              <a:buSzPts val="1800"/>
              <a:buFont typeface="Consolas"/>
              <a:buChar char="●"/>
            </a:pPr>
            <a:r>
              <a:rPr b="1" lang="it">
                <a:solidFill>
                  <a:srgbClr val="0B5394"/>
                </a:solidFill>
                <a:latin typeface="Consolas"/>
                <a:ea typeface="Consolas"/>
                <a:cs typeface="Consolas"/>
                <a:sym typeface="Consolas"/>
              </a:rPr>
              <a:t>rev(self) -&gt; Rev&lt;Self&gt;</a:t>
            </a:r>
            <a:endParaRPr b="1">
              <a:solidFill>
                <a:srgbClr val="0B5394"/>
              </a:solidFill>
              <a:latin typeface="Consolas"/>
              <a:ea typeface="Consolas"/>
              <a:cs typeface="Consolas"/>
              <a:sym typeface="Consolas"/>
            </a:endParaRPr>
          </a:p>
          <a:p>
            <a:pPr indent="-317500" lvl="1" marL="914400" rtl="0" algn="l">
              <a:spcBef>
                <a:spcPts val="0"/>
              </a:spcBef>
              <a:spcAft>
                <a:spcPts val="0"/>
              </a:spcAft>
              <a:buSzPts val="1400"/>
              <a:buFont typeface="Consolas"/>
              <a:buChar char="○"/>
            </a:pPr>
            <a:r>
              <a:rPr lang="it"/>
              <a:t>Ritorna un iteratore con la direzione invertita</a:t>
            </a:r>
            <a:endParaRPr/>
          </a:p>
        </p:txBody>
      </p:sp>
      <p:sp>
        <p:nvSpPr>
          <p:cNvPr id="184" name="Google Shape;184;p2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Adattatori: funzionalità ulteriori</a:t>
            </a:r>
            <a:endParaRPr/>
          </a:p>
        </p:txBody>
      </p:sp>
      <p:sp>
        <p:nvSpPr>
          <p:cNvPr id="190" name="Google Shape;190;p28"/>
          <p:cNvSpPr txBox="1"/>
          <p:nvPr>
            <p:ph idx="1" type="body"/>
          </p:nvPr>
        </p:nvSpPr>
        <p:spPr>
          <a:xfrm>
            <a:off x="311700" y="1152475"/>
            <a:ext cx="8520600" cy="3615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Consolas"/>
              <a:buChar char="●"/>
            </a:pPr>
            <a:r>
              <a:rPr b="1" lang="it">
                <a:solidFill>
                  <a:srgbClr val="0B5394"/>
                </a:solidFill>
                <a:latin typeface="Consolas"/>
                <a:ea typeface="Consolas"/>
                <a:cs typeface="Consolas"/>
                <a:sym typeface="Consolas"/>
              </a:rPr>
              <a:t>flatten(self) -&gt; Flatten&lt;Self&gt; </a:t>
            </a:r>
            <a:r>
              <a:rPr b="1" lang="it" sz="1400">
                <a:solidFill>
                  <a:srgbClr val="0B5394"/>
                </a:solidFill>
                <a:latin typeface="Consolas"/>
                <a:ea typeface="Consolas"/>
                <a:cs typeface="Consolas"/>
                <a:sym typeface="Consolas"/>
              </a:rPr>
              <a:t>where Self::Item: IntoIterator</a:t>
            </a:r>
            <a:endParaRPr b="1" sz="1400">
              <a:solidFill>
                <a:srgbClr val="0B5394"/>
              </a:solidFill>
              <a:latin typeface="Consolas"/>
              <a:ea typeface="Consolas"/>
              <a:cs typeface="Consolas"/>
              <a:sym typeface="Consolas"/>
            </a:endParaRPr>
          </a:p>
          <a:p>
            <a:pPr indent="-317500" lvl="1" marL="914400" rtl="0" algn="l">
              <a:spcBef>
                <a:spcPts val="0"/>
              </a:spcBef>
              <a:spcAft>
                <a:spcPts val="0"/>
              </a:spcAft>
              <a:buSzPts val="1400"/>
              <a:buFont typeface="Consolas"/>
              <a:buChar char="○"/>
            </a:pPr>
            <a:r>
              <a:rPr lang="it"/>
              <a:t>Ritorna un iteratore dal quale sono state rimosse le strutture annidate</a:t>
            </a:r>
            <a:endParaRPr/>
          </a:p>
          <a:p>
            <a:pPr indent="-342900" lvl="0" marL="457200" rtl="0" algn="l">
              <a:spcBef>
                <a:spcPts val="0"/>
              </a:spcBef>
              <a:spcAft>
                <a:spcPts val="0"/>
              </a:spcAft>
              <a:buSzPts val="1800"/>
              <a:buFont typeface="Consolas"/>
              <a:buChar char="●"/>
            </a:pPr>
            <a:r>
              <a:rPr b="1" lang="it">
                <a:solidFill>
                  <a:srgbClr val="0B5394"/>
                </a:solidFill>
                <a:latin typeface="Consolas"/>
                <a:ea typeface="Consolas"/>
                <a:cs typeface="Consolas"/>
                <a:sym typeface="Consolas"/>
              </a:rPr>
              <a:t>flat_map&lt;U, F&gt;(self, f: F) -&gt; FlatMap&lt;Self, U, F&gt; </a:t>
            </a:r>
            <a:br>
              <a:rPr b="1" lang="it">
                <a:solidFill>
                  <a:srgbClr val="0B5394"/>
                </a:solidFill>
                <a:latin typeface="Consolas"/>
                <a:ea typeface="Consolas"/>
                <a:cs typeface="Consolas"/>
                <a:sym typeface="Consolas"/>
              </a:rPr>
            </a:br>
            <a:r>
              <a:rPr b="1" lang="it">
                <a:solidFill>
                  <a:srgbClr val="0B5394"/>
                </a:solidFill>
                <a:latin typeface="Consolas"/>
                <a:ea typeface="Consolas"/>
                <a:cs typeface="Consolas"/>
                <a:sym typeface="Consolas"/>
              </a:rPr>
              <a:t>					</a:t>
            </a:r>
            <a:r>
              <a:rPr b="1" lang="it" sz="1400">
                <a:solidFill>
                  <a:srgbClr val="0B5394"/>
                </a:solidFill>
                <a:latin typeface="Consolas"/>
                <a:ea typeface="Consolas"/>
                <a:cs typeface="Consolas"/>
                <a:sym typeface="Consolas"/>
              </a:rPr>
              <a:t>where F: FnMut(Self::Item)-&gt; U, U: IntoIterator</a:t>
            </a:r>
            <a:endParaRPr b="1" sz="1400">
              <a:solidFill>
                <a:srgbClr val="0B5394"/>
              </a:solidFill>
              <a:latin typeface="Consolas"/>
              <a:ea typeface="Consolas"/>
              <a:cs typeface="Consolas"/>
              <a:sym typeface="Consolas"/>
            </a:endParaRPr>
          </a:p>
          <a:p>
            <a:pPr indent="-317500" lvl="1" marL="914400" rtl="0" algn="l">
              <a:spcBef>
                <a:spcPts val="0"/>
              </a:spcBef>
              <a:spcAft>
                <a:spcPts val="0"/>
              </a:spcAft>
              <a:buSzPts val="1400"/>
              <a:buFont typeface="Consolas"/>
              <a:buChar char="○"/>
            </a:pPr>
            <a:r>
              <a:rPr lang="it"/>
              <a:t>Concatena in maniera concisa </a:t>
            </a:r>
            <a:r>
              <a:rPr b="1" lang="it">
                <a:solidFill>
                  <a:srgbClr val="0B5394"/>
                </a:solidFill>
                <a:latin typeface="Consolas"/>
                <a:ea typeface="Consolas"/>
                <a:cs typeface="Consolas"/>
                <a:sym typeface="Consolas"/>
              </a:rPr>
              <a:t>map</a:t>
            </a:r>
            <a:r>
              <a:rPr lang="it"/>
              <a:t> e </a:t>
            </a:r>
            <a:r>
              <a:rPr b="1" lang="it">
                <a:solidFill>
                  <a:srgbClr val="0B5394"/>
                </a:solidFill>
                <a:latin typeface="Consolas"/>
                <a:ea typeface="Consolas"/>
                <a:cs typeface="Consolas"/>
                <a:sym typeface="Consolas"/>
              </a:rPr>
              <a:t>flatten</a:t>
            </a:r>
            <a:r>
              <a:rPr lang="it"/>
              <a:t>, eseguendo la chiusura </a:t>
            </a:r>
            <a:r>
              <a:rPr b="1" lang="it">
                <a:solidFill>
                  <a:srgbClr val="0B5394"/>
                </a:solidFill>
                <a:latin typeface="Consolas"/>
                <a:ea typeface="Consolas"/>
                <a:cs typeface="Consolas"/>
                <a:sym typeface="Consolas"/>
              </a:rPr>
              <a:t>f</a:t>
            </a:r>
            <a:r>
              <a:rPr lang="it"/>
              <a:t> e rimuovendo le strutture annidate </a:t>
            </a:r>
            <a:endParaRPr/>
          </a:p>
          <a:p>
            <a:pPr indent="-342900" lvl="0" marL="457200" rtl="0" algn="l">
              <a:spcBef>
                <a:spcPts val="0"/>
              </a:spcBef>
              <a:spcAft>
                <a:spcPts val="0"/>
              </a:spcAft>
              <a:buSzPts val="1800"/>
              <a:buFont typeface="Consolas"/>
              <a:buChar char="●"/>
            </a:pPr>
            <a:r>
              <a:rPr b="1" lang="it">
                <a:solidFill>
                  <a:srgbClr val="0B5394"/>
                </a:solidFill>
                <a:latin typeface="Consolas"/>
                <a:ea typeface="Consolas"/>
                <a:cs typeface="Consolas"/>
                <a:sym typeface="Consolas"/>
              </a:rPr>
              <a:t>filter_map&lt;V, F&gt;(self, f: F) -&gt; FilterMap&lt;Self, F&gt; </a:t>
            </a:r>
            <a:br>
              <a:rPr b="1" lang="it">
                <a:solidFill>
                  <a:srgbClr val="0B5394"/>
                </a:solidFill>
                <a:latin typeface="Consolas"/>
                <a:ea typeface="Consolas"/>
                <a:cs typeface="Consolas"/>
                <a:sym typeface="Consolas"/>
              </a:rPr>
            </a:br>
            <a:r>
              <a:rPr b="1" lang="it">
                <a:solidFill>
                  <a:srgbClr val="0B5394"/>
                </a:solidFill>
                <a:latin typeface="Consolas"/>
                <a:ea typeface="Consolas"/>
                <a:cs typeface="Consolas"/>
                <a:sym typeface="Consolas"/>
              </a:rPr>
              <a:t>					</a:t>
            </a:r>
            <a:r>
              <a:rPr b="1" lang="it" sz="1400">
                <a:solidFill>
                  <a:srgbClr val="0B5394"/>
                </a:solidFill>
                <a:latin typeface="Consolas"/>
                <a:ea typeface="Consolas"/>
                <a:cs typeface="Consolas"/>
                <a:sym typeface="Consolas"/>
              </a:rPr>
              <a:t>where F: FnMut(Self::Item) -&gt; Option(V)</a:t>
            </a:r>
            <a:endParaRPr b="1">
              <a:solidFill>
                <a:srgbClr val="0B5394"/>
              </a:solidFill>
              <a:latin typeface="Consolas"/>
              <a:ea typeface="Consolas"/>
              <a:cs typeface="Consolas"/>
              <a:sym typeface="Consolas"/>
            </a:endParaRPr>
          </a:p>
          <a:p>
            <a:pPr indent="-317500" lvl="1" marL="914400" rtl="0" algn="l">
              <a:spcBef>
                <a:spcPts val="0"/>
              </a:spcBef>
              <a:spcAft>
                <a:spcPts val="0"/>
              </a:spcAft>
              <a:buSzPts val="1400"/>
              <a:buFont typeface="Consolas"/>
              <a:buChar char="○"/>
            </a:pPr>
            <a:r>
              <a:rPr lang="it"/>
              <a:t>Concatena in maniera concisa </a:t>
            </a:r>
            <a:r>
              <a:rPr b="1" lang="it">
                <a:solidFill>
                  <a:srgbClr val="0B5394"/>
                </a:solidFill>
                <a:latin typeface="Consolas"/>
                <a:ea typeface="Consolas"/>
                <a:cs typeface="Consolas"/>
                <a:sym typeface="Consolas"/>
              </a:rPr>
              <a:t>filter</a:t>
            </a:r>
            <a:r>
              <a:rPr lang="it"/>
              <a:t> e </a:t>
            </a:r>
            <a:r>
              <a:rPr b="1" lang="it">
                <a:solidFill>
                  <a:srgbClr val="0B5394"/>
                </a:solidFill>
                <a:latin typeface="Consolas"/>
                <a:ea typeface="Consolas"/>
                <a:cs typeface="Consolas"/>
                <a:sym typeface="Consolas"/>
              </a:rPr>
              <a:t>map</a:t>
            </a:r>
            <a:r>
              <a:rPr lang="it"/>
              <a:t>, l’iteratore risultante conterrà solo elementi per i quali la chiusura ritorna </a:t>
            </a:r>
            <a:r>
              <a:rPr b="1" lang="it">
                <a:solidFill>
                  <a:srgbClr val="0B5394"/>
                </a:solidFill>
                <a:latin typeface="Consolas"/>
                <a:ea typeface="Consolas"/>
                <a:cs typeface="Consolas"/>
                <a:sym typeface="Consolas"/>
              </a:rPr>
              <a:t>Some(V)</a:t>
            </a:r>
            <a:endParaRPr b="1">
              <a:solidFill>
                <a:srgbClr val="0B5394"/>
              </a:solidFill>
              <a:latin typeface="Consolas"/>
              <a:ea typeface="Consolas"/>
              <a:cs typeface="Consolas"/>
              <a:sym typeface="Consolas"/>
            </a:endParaRPr>
          </a:p>
          <a:p>
            <a:pPr indent="-342900" lvl="0" marL="457200" rtl="0" algn="l">
              <a:spcBef>
                <a:spcPts val="0"/>
              </a:spcBef>
              <a:spcAft>
                <a:spcPts val="0"/>
              </a:spcAft>
              <a:buSzPts val="1800"/>
              <a:buFont typeface="Consolas"/>
              <a:buChar char="●"/>
            </a:pPr>
            <a:r>
              <a:rPr b="1" lang="it">
                <a:solidFill>
                  <a:srgbClr val="0B5394"/>
                </a:solidFill>
                <a:latin typeface="Consolas"/>
                <a:ea typeface="Consolas"/>
                <a:cs typeface="Consolas"/>
                <a:sym typeface="Consolas"/>
              </a:rPr>
              <a:t>fuse(self) -&gt; Fuse&lt;Self&gt;</a:t>
            </a:r>
            <a:endParaRPr b="1">
              <a:solidFill>
                <a:srgbClr val="0B5394"/>
              </a:solidFill>
              <a:latin typeface="Consolas"/>
              <a:ea typeface="Consolas"/>
              <a:cs typeface="Consolas"/>
              <a:sym typeface="Consolas"/>
            </a:endParaRPr>
          </a:p>
          <a:p>
            <a:pPr indent="-317500" lvl="1" marL="914400" marR="0" rtl="0" algn="l">
              <a:lnSpc>
                <a:spcPct val="115000"/>
              </a:lnSpc>
              <a:spcBef>
                <a:spcPts val="0"/>
              </a:spcBef>
              <a:spcAft>
                <a:spcPts val="0"/>
              </a:spcAft>
              <a:buSzPts val="1400"/>
              <a:buFont typeface="Consolas"/>
              <a:buChar char="○"/>
            </a:pPr>
            <a:r>
              <a:rPr lang="it"/>
              <a:t>Ritorna un iteratore che termina dopo il primo </a:t>
            </a:r>
            <a:r>
              <a:rPr b="1" lang="it">
                <a:solidFill>
                  <a:srgbClr val="0B5394"/>
                </a:solidFill>
                <a:latin typeface="Consolas"/>
                <a:ea typeface="Consolas"/>
                <a:cs typeface="Consolas"/>
                <a:sym typeface="Consolas"/>
              </a:rPr>
              <a:t>None</a:t>
            </a:r>
            <a:r>
              <a:rPr lang="it"/>
              <a:t> </a:t>
            </a:r>
            <a:endParaRPr b="1">
              <a:solidFill>
                <a:srgbClr val="0B5394"/>
              </a:solidFill>
              <a:latin typeface="Consolas"/>
              <a:ea typeface="Consolas"/>
              <a:cs typeface="Consolas"/>
              <a:sym typeface="Consolas"/>
            </a:endParaRPr>
          </a:p>
        </p:txBody>
      </p:sp>
      <p:sp>
        <p:nvSpPr>
          <p:cNvPr id="191" name="Google Shape;191;p28"/>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latin typeface="Consolas"/>
                <a:ea typeface="Consolas"/>
                <a:cs typeface="Consolas"/>
                <a:sym typeface="Consolas"/>
              </a:rPr>
              <a:t>fold(…)</a:t>
            </a:r>
            <a:r>
              <a:rPr lang="it"/>
              <a:t>: riduzione esplicita di un iteratore</a:t>
            </a:r>
            <a:endParaRPr/>
          </a:p>
        </p:txBody>
      </p:sp>
      <p:sp>
        <p:nvSpPr>
          <p:cNvPr id="197" name="Google Shape;197;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it">
                <a:solidFill>
                  <a:srgbClr val="0B5394"/>
                </a:solidFill>
                <a:latin typeface="Consolas"/>
                <a:ea typeface="Consolas"/>
                <a:cs typeface="Consolas"/>
                <a:sym typeface="Consolas"/>
              </a:rPr>
              <a:t>fold(init, f)</a:t>
            </a:r>
            <a:r>
              <a:rPr lang="it"/>
              <a:t> è un consumatore finale che attraversa l'iteratore mantenendo un accumulatore</a:t>
            </a:r>
            <a:endParaRPr/>
          </a:p>
          <a:p>
            <a:pPr indent="-317500" lvl="1" marL="914400" rtl="0" algn="l">
              <a:spcBef>
                <a:spcPts val="0"/>
              </a:spcBef>
              <a:spcAft>
                <a:spcPts val="0"/>
              </a:spcAft>
              <a:buSzPts val="1400"/>
              <a:buChar char="○"/>
            </a:pPr>
            <a:r>
              <a:rPr lang="it"/>
              <a:t>L'accumulatore viene inizializzato con il valore </a:t>
            </a:r>
            <a:r>
              <a:rPr b="1" lang="it">
                <a:solidFill>
                  <a:srgbClr val="0B5394"/>
                </a:solidFill>
                <a:latin typeface="Consolas"/>
                <a:ea typeface="Consolas"/>
                <a:cs typeface="Consolas"/>
                <a:sym typeface="Consolas"/>
              </a:rPr>
              <a:t>init</a:t>
            </a:r>
            <a:r>
              <a:rPr lang="it"/>
              <a:t> </a:t>
            </a:r>
            <a:endParaRPr/>
          </a:p>
          <a:p>
            <a:pPr indent="-317500" lvl="1" marL="914400" rtl="0" algn="l">
              <a:spcBef>
                <a:spcPts val="0"/>
              </a:spcBef>
              <a:spcAft>
                <a:spcPts val="0"/>
              </a:spcAft>
              <a:buSzPts val="1400"/>
              <a:buChar char="○"/>
            </a:pPr>
            <a:r>
              <a:rPr lang="it"/>
              <a:t>Ad ogni passo applica </a:t>
            </a:r>
            <a:r>
              <a:rPr b="1" lang="it">
                <a:solidFill>
                  <a:srgbClr val="0B5394"/>
                </a:solidFill>
                <a:latin typeface="Consolas"/>
                <a:ea typeface="Consolas"/>
                <a:cs typeface="Consolas"/>
                <a:sym typeface="Consolas"/>
              </a:rPr>
              <a:t>f(acc, item)</a:t>
            </a:r>
            <a:r>
              <a:rPr lang="it"/>
              <a:t> e produce un nuovo accumulatore</a:t>
            </a:r>
            <a:endParaRPr/>
          </a:p>
          <a:p>
            <a:pPr indent="-317500" lvl="1" marL="914400" rtl="0" algn="l">
              <a:spcBef>
                <a:spcPts val="0"/>
              </a:spcBef>
              <a:spcAft>
                <a:spcPts val="0"/>
              </a:spcAft>
              <a:buSzPts val="1400"/>
              <a:buChar char="○"/>
            </a:pPr>
            <a:r>
              <a:rPr lang="it"/>
              <a:t>Al termine restituisce il valore finale dell'accumulatore</a:t>
            </a:r>
            <a:endParaRPr/>
          </a:p>
          <a:p>
            <a:pPr indent="-342900" lvl="0" marL="457200" rtl="0" algn="l">
              <a:spcBef>
                <a:spcPts val="0"/>
              </a:spcBef>
              <a:spcAft>
                <a:spcPts val="0"/>
              </a:spcAft>
              <a:buSzPts val="1800"/>
              <a:buChar char="●"/>
            </a:pPr>
            <a:r>
              <a:rPr lang="it"/>
              <a:t>Molte aggregazioni possono essere espresse con </a:t>
            </a:r>
            <a:r>
              <a:rPr b="1" lang="it">
                <a:solidFill>
                  <a:srgbClr val="0B5394"/>
                </a:solidFill>
                <a:latin typeface="Consolas"/>
                <a:ea typeface="Consolas"/>
                <a:cs typeface="Consolas"/>
                <a:sym typeface="Consolas"/>
              </a:rPr>
              <a:t>fold(…)</a:t>
            </a:r>
            <a:r>
              <a:rPr lang="it"/>
              <a:t> </a:t>
            </a:r>
            <a:endParaRPr/>
          </a:p>
          <a:p>
            <a:pPr indent="-317500" lvl="1" marL="914400" rtl="0" algn="l">
              <a:spcBef>
                <a:spcPts val="0"/>
              </a:spcBef>
              <a:spcAft>
                <a:spcPts val="0"/>
              </a:spcAft>
              <a:buSzPts val="1400"/>
              <a:buChar char="○"/>
            </a:pPr>
            <a:r>
              <a:rPr lang="it"/>
              <a:t>Somma, prodotto, conteggio, concatenazione, costruzione di strutture, … </a:t>
            </a:r>
            <a:endParaRPr/>
          </a:p>
          <a:p>
            <a:pPr indent="0" lvl="0" marL="914400" rtl="0" algn="l">
              <a:spcBef>
                <a:spcPts val="1200"/>
              </a:spcBef>
              <a:spcAft>
                <a:spcPts val="1200"/>
              </a:spcAft>
              <a:buNone/>
            </a:pPr>
            <a:r>
              <a:t/>
            </a:r>
            <a:endParaRPr/>
          </a:p>
        </p:txBody>
      </p:sp>
      <p:sp>
        <p:nvSpPr>
          <p:cNvPr id="198" name="Google Shape;198;p2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99" name="Google Shape;199;p29"/>
          <p:cNvSpPr txBox="1"/>
          <p:nvPr/>
        </p:nvSpPr>
        <p:spPr>
          <a:xfrm>
            <a:off x="522550" y="3261200"/>
            <a:ext cx="7879500" cy="12621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it">
                <a:solidFill>
                  <a:schemeClr val="dk2"/>
                </a:solidFill>
                <a:latin typeface="Consolas"/>
                <a:ea typeface="Consolas"/>
                <a:cs typeface="Consolas"/>
                <a:sym typeface="Consolas"/>
              </a:rPr>
              <a:t>let v = vec![1, 2, 3, 4];</a:t>
            </a:r>
            <a:endParaRPr>
              <a:solidFill>
                <a:schemeClr val="dk2"/>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a:solidFill>
                <a:schemeClr val="dk2"/>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a:solidFill>
                  <a:schemeClr val="dk2"/>
                </a:solidFill>
                <a:latin typeface="Consolas"/>
                <a:ea typeface="Consolas"/>
                <a:cs typeface="Consolas"/>
                <a:sym typeface="Consolas"/>
              </a:rPr>
              <a:t>let sum = v.iter().fold(0, |acc, x| acc + x);</a:t>
            </a:r>
            <a:endParaRPr>
              <a:solidFill>
                <a:schemeClr val="dk2"/>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a:solidFill>
                  <a:schemeClr val="dk2"/>
                </a:solidFill>
                <a:latin typeface="Consolas"/>
                <a:ea typeface="Consolas"/>
                <a:cs typeface="Consolas"/>
                <a:sym typeface="Consolas"/>
              </a:rPr>
              <a:t>let count = v.iter().fold(0, |acc, _| acc + 1);</a:t>
            </a:r>
            <a:endParaRPr>
              <a:solidFill>
                <a:schemeClr val="dk2"/>
              </a:solidFill>
              <a:latin typeface="Consolas"/>
              <a:ea typeface="Consolas"/>
              <a:cs typeface="Consolas"/>
              <a:sym typeface="Consolas"/>
            </a:endParaRPr>
          </a:p>
          <a:p>
            <a:pPr indent="0" lvl="0" marL="0" rtl="0" algn="l">
              <a:spcBef>
                <a:spcPts val="0"/>
              </a:spcBef>
              <a:spcAft>
                <a:spcPts val="0"/>
              </a:spcAft>
              <a:buNone/>
            </a:pPr>
            <a:r>
              <a:rPr lang="it">
                <a:solidFill>
                  <a:schemeClr val="dk2"/>
                </a:solidFill>
                <a:latin typeface="Consolas"/>
                <a:ea typeface="Consolas"/>
                <a:cs typeface="Consolas"/>
                <a:sym typeface="Consolas"/>
              </a:rPr>
              <a:t>let product = v.iter().fold(1, |acc, x| acc * x);</a:t>
            </a:r>
            <a:endParaRPr>
              <a:solidFill>
                <a:schemeClr val="dk2"/>
              </a:solidFill>
              <a:latin typeface="Consolas"/>
              <a:ea typeface="Consolas"/>
              <a:cs typeface="Consolas"/>
              <a:sym typeface="Consola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0"/>
          <p:cNvSpPr/>
          <p:nvPr/>
        </p:nvSpPr>
        <p:spPr>
          <a:xfrm>
            <a:off x="1506650" y="1157275"/>
            <a:ext cx="5835000" cy="572700"/>
          </a:xfrm>
          <a:prstGeom prst="roundRect">
            <a:avLst>
              <a:gd fmla="val 16667" name="adj"/>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5" name="Google Shape;205;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it">
                <a:latin typeface="Consolas"/>
                <a:ea typeface="Consolas"/>
                <a:cs typeface="Consolas"/>
                <a:sym typeface="Consolas"/>
              </a:rPr>
              <a:t>fold(…)</a:t>
            </a:r>
            <a:r>
              <a:rPr lang="it"/>
              <a:t>: riduzione esplicita di un iteratore</a:t>
            </a:r>
            <a:endParaRPr/>
          </a:p>
          <a:p>
            <a:pPr indent="0" lvl="0" marL="0" rtl="0" algn="l">
              <a:spcBef>
                <a:spcPts val="0"/>
              </a:spcBef>
              <a:spcAft>
                <a:spcPts val="0"/>
              </a:spcAft>
              <a:buNone/>
            </a:pPr>
            <a:r>
              <a:t/>
            </a:r>
            <a:endParaRPr/>
          </a:p>
        </p:txBody>
      </p:sp>
      <p:sp>
        <p:nvSpPr>
          <p:cNvPr id="206" name="Google Shape;206;p30"/>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207" name="Google Shape;207;p30"/>
          <p:cNvSpPr/>
          <p:nvPr/>
        </p:nvSpPr>
        <p:spPr>
          <a:xfrm>
            <a:off x="578575" y="1876158"/>
            <a:ext cx="727800" cy="3936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latin typeface="Consolas"/>
                <a:ea typeface="Consolas"/>
                <a:cs typeface="Consolas"/>
                <a:sym typeface="Consolas"/>
              </a:rPr>
              <a:t>init</a:t>
            </a:r>
            <a:endParaRPr>
              <a:latin typeface="Consolas"/>
              <a:ea typeface="Consolas"/>
              <a:cs typeface="Consolas"/>
              <a:sym typeface="Consolas"/>
            </a:endParaRPr>
          </a:p>
        </p:txBody>
      </p:sp>
      <p:sp>
        <p:nvSpPr>
          <p:cNvPr id="208" name="Google Shape;208;p30"/>
          <p:cNvSpPr/>
          <p:nvPr/>
        </p:nvSpPr>
        <p:spPr>
          <a:xfrm>
            <a:off x="1798125" y="1246958"/>
            <a:ext cx="454200" cy="3936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latin typeface="Consolas"/>
                <a:ea typeface="Consolas"/>
                <a:cs typeface="Consolas"/>
                <a:sym typeface="Consolas"/>
              </a:rPr>
              <a:t>i</a:t>
            </a:r>
            <a:r>
              <a:rPr baseline="-25000" lang="it">
                <a:latin typeface="Consolas"/>
                <a:ea typeface="Consolas"/>
                <a:cs typeface="Consolas"/>
                <a:sym typeface="Consolas"/>
              </a:rPr>
              <a:t>0</a:t>
            </a:r>
            <a:endParaRPr baseline="-25000">
              <a:latin typeface="Consolas"/>
              <a:ea typeface="Consolas"/>
              <a:cs typeface="Consolas"/>
              <a:sym typeface="Consolas"/>
            </a:endParaRPr>
          </a:p>
        </p:txBody>
      </p:sp>
      <p:sp>
        <p:nvSpPr>
          <p:cNvPr id="209" name="Google Shape;209;p30"/>
          <p:cNvSpPr/>
          <p:nvPr/>
        </p:nvSpPr>
        <p:spPr>
          <a:xfrm>
            <a:off x="2968900" y="1228208"/>
            <a:ext cx="454200" cy="3936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latin typeface="Consolas"/>
                <a:ea typeface="Consolas"/>
                <a:cs typeface="Consolas"/>
                <a:sym typeface="Consolas"/>
              </a:rPr>
              <a:t>i</a:t>
            </a:r>
            <a:r>
              <a:rPr baseline="-25000" lang="it">
                <a:latin typeface="Consolas"/>
                <a:ea typeface="Consolas"/>
                <a:cs typeface="Consolas"/>
                <a:sym typeface="Consolas"/>
              </a:rPr>
              <a:t>1</a:t>
            </a:r>
            <a:endParaRPr baseline="-25000">
              <a:latin typeface="Consolas"/>
              <a:ea typeface="Consolas"/>
              <a:cs typeface="Consolas"/>
              <a:sym typeface="Consolas"/>
            </a:endParaRPr>
          </a:p>
        </p:txBody>
      </p:sp>
      <p:sp>
        <p:nvSpPr>
          <p:cNvPr id="210" name="Google Shape;210;p30"/>
          <p:cNvSpPr/>
          <p:nvPr/>
        </p:nvSpPr>
        <p:spPr>
          <a:xfrm>
            <a:off x="4139675" y="1228208"/>
            <a:ext cx="454200" cy="3936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latin typeface="Consolas"/>
                <a:ea typeface="Consolas"/>
                <a:cs typeface="Consolas"/>
                <a:sym typeface="Consolas"/>
              </a:rPr>
              <a:t>i</a:t>
            </a:r>
            <a:r>
              <a:rPr baseline="-25000" lang="it">
                <a:latin typeface="Consolas"/>
                <a:ea typeface="Consolas"/>
                <a:cs typeface="Consolas"/>
                <a:sym typeface="Consolas"/>
              </a:rPr>
              <a:t>2</a:t>
            </a:r>
            <a:endParaRPr baseline="-25000">
              <a:latin typeface="Consolas"/>
              <a:ea typeface="Consolas"/>
              <a:cs typeface="Consolas"/>
              <a:sym typeface="Consolas"/>
            </a:endParaRPr>
          </a:p>
        </p:txBody>
      </p:sp>
      <p:sp>
        <p:nvSpPr>
          <p:cNvPr id="211" name="Google Shape;211;p30"/>
          <p:cNvSpPr/>
          <p:nvPr/>
        </p:nvSpPr>
        <p:spPr>
          <a:xfrm>
            <a:off x="5395650" y="1228208"/>
            <a:ext cx="454200" cy="3936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latin typeface="Consolas"/>
                <a:ea typeface="Consolas"/>
                <a:cs typeface="Consolas"/>
                <a:sym typeface="Consolas"/>
              </a:rPr>
              <a:t>…</a:t>
            </a:r>
            <a:endParaRPr baseline="-25000">
              <a:latin typeface="Consolas"/>
              <a:ea typeface="Consolas"/>
              <a:cs typeface="Consolas"/>
              <a:sym typeface="Consolas"/>
            </a:endParaRPr>
          </a:p>
        </p:txBody>
      </p:sp>
      <p:sp>
        <p:nvSpPr>
          <p:cNvPr id="212" name="Google Shape;212;p30"/>
          <p:cNvSpPr/>
          <p:nvPr/>
        </p:nvSpPr>
        <p:spPr>
          <a:xfrm>
            <a:off x="6651625" y="1246958"/>
            <a:ext cx="454200" cy="3936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latin typeface="Consolas"/>
                <a:ea typeface="Consolas"/>
                <a:cs typeface="Consolas"/>
                <a:sym typeface="Consolas"/>
              </a:rPr>
              <a:t>i</a:t>
            </a:r>
            <a:r>
              <a:rPr baseline="-25000" lang="it">
                <a:latin typeface="Consolas"/>
                <a:ea typeface="Consolas"/>
                <a:cs typeface="Consolas"/>
                <a:sym typeface="Consolas"/>
              </a:rPr>
              <a:t>n</a:t>
            </a:r>
            <a:endParaRPr baseline="-25000">
              <a:latin typeface="Consolas"/>
              <a:ea typeface="Consolas"/>
              <a:cs typeface="Consolas"/>
              <a:sym typeface="Consolas"/>
            </a:endParaRPr>
          </a:p>
        </p:txBody>
      </p:sp>
      <p:sp>
        <p:nvSpPr>
          <p:cNvPr id="213" name="Google Shape;213;p30"/>
          <p:cNvSpPr/>
          <p:nvPr/>
        </p:nvSpPr>
        <p:spPr>
          <a:xfrm>
            <a:off x="1473225" y="1883533"/>
            <a:ext cx="1104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latin typeface="Consolas"/>
                <a:ea typeface="Consolas"/>
                <a:cs typeface="Consolas"/>
                <a:sym typeface="Consolas"/>
              </a:rPr>
              <a:t>f(acc,i</a:t>
            </a:r>
            <a:r>
              <a:rPr lang="it">
                <a:latin typeface="Consolas"/>
                <a:ea typeface="Consolas"/>
                <a:cs typeface="Consolas"/>
                <a:sym typeface="Consolas"/>
              </a:rPr>
              <a:t>)</a:t>
            </a:r>
            <a:endParaRPr>
              <a:latin typeface="Consolas"/>
              <a:ea typeface="Consolas"/>
              <a:cs typeface="Consolas"/>
              <a:sym typeface="Consolas"/>
            </a:endParaRPr>
          </a:p>
        </p:txBody>
      </p:sp>
      <p:sp>
        <p:nvSpPr>
          <p:cNvPr id="214" name="Google Shape;214;p30"/>
          <p:cNvSpPr/>
          <p:nvPr/>
        </p:nvSpPr>
        <p:spPr>
          <a:xfrm>
            <a:off x="1661625" y="2447322"/>
            <a:ext cx="727800" cy="3936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latin typeface="Consolas"/>
                <a:ea typeface="Consolas"/>
                <a:cs typeface="Consolas"/>
                <a:sym typeface="Consolas"/>
              </a:rPr>
              <a:t>a</a:t>
            </a:r>
            <a:r>
              <a:rPr baseline="-25000" lang="it">
                <a:latin typeface="Consolas"/>
                <a:ea typeface="Consolas"/>
                <a:cs typeface="Consolas"/>
                <a:sym typeface="Consolas"/>
              </a:rPr>
              <a:t>0</a:t>
            </a:r>
            <a:endParaRPr baseline="-25000">
              <a:latin typeface="Consolas"/>
              <a:ea typeface="Consolas"/>
              <a:cs typeface="Consolas"/>
              <a:sym typeface="Consolas"/>
            </a:endParaRPr>
          </a:p>
        </p:txBody>
      </p:sp>
      <p:cxnSp>
        <p:nvCxnSpPr>
          <p:cNvPr id="215" name="Google Shape;215;p30"/>
          <p:cNvCxnSpPr>
            <a:stCxn id="207" idx="3"/>
            <a:endCxn id="213" idx="1"/>
          </p:cNvCxnSpPr>
          <p:nvPr/>
        </p:nvCxnSpPr>
        <p:spPr>
          <a:xfrm>
            <a:off x="1306375" y="2072958"/>
            <a:ext cx="166800" cy="7500"/>
          </a:xfrm>
          <a:prstGeom prst="curvedConnector3">
            <a:avLst>
              <a:gd fmla="val 50015" name="adj1"/>
            </a:avLst>
          </a:prstGeom>
          <a:noFill/>
          <a:ln cap="flat" cmpd="sng" w="19050">
            <a:solidFill>
              <a:schemeClr val="dk2"/>
            </a:solidFill>
            <a:prstDash val="solid"/>
            <a:round/>
            <a:headEnd len="med" w="med" type="none"/>
            <a:tailEnd len="med" w="med" type="triangle"/>
          </a:ln>
        </p:spPr>
      </p:cxnSp>
      <p:cxnSp>
        <p:nvCxnSpPr>
          <p:cNvPr id="216" name="Google Shape;216;p30"/>
          <p:cNvCxnSpPr>
            <a:stCxn id="208" idx="2"/>
            <a:endCxn id="213" idx="0"/>
          </p:cNvCxnSpPr>
          <p:nvPr/>
        </p:nvCxnSpPr>
        <p:spPr>
          <a:xfrm flipH="1" rot="-5400000">
            <a:off x="1904025" y="1761758"/>
            <a:ext cx="243000" cy="600"/>
          </a:xfrm>
          <a:prstGeom prst="curvedConnector3">
            <a:avLst>
              <a:gd fmla="val 49995" name="adj1"/>
            </a:avLst>
          </a:prstGeom>
          <a:noFill/>
          <a:ln cap="flat" cmpd="sng" w="19050">
            <a:solidFill>
              <a:schemeClr val="dk2"/>
            </a:solidFill>
            <a:prstDash val="solid"/>
            <a:round/>
            <a:headEnd len="med" w="med" type="none"/>
            <a:tailEnd len="med" w="med" type="triangle"/>
          </a:ln>
        </p:spPr>
      </p:cxnSp>
      <p:cxnSp>
        <p:nvCxnSpPr>
          <p:cNvPr id="217" name="Google Shape;217;p30"/>
          <p:cNvCxnSpPr>
            <a:stCxn id="213" idx="2"/>
            <a:endCxn id="214" idx="0"/>
          </p:cNvCxnSpPr>
          <p:nvPr/>
        </p:nvCxnSpPr>
        <p:spPr>
          <a:xfrm flipH="1" rot="-5400000">
            <a:off x="1940475" y="2361883"/>
            <a:ext cx="170100" cy="600"/>
          </a:xfrm>
          <a:prstGeom prst="curvedConnector3">
            <a:avLst>
              <a:gd fmla="val 49995" name="adj1"/>
            </a:avLst>
          </a:prstGeom>
          <a:noFill/>
          <a:ln cap="flat" cmpd="sng" w="19050">
            <a:solidFill>
              <a:schemeClr val="dk2"/>
            </a:solidFill>
            <a:prstDash val="solid"/>
            <a:round/>
            <a:headEnd len="med" w="med" type="none"/>
            <a:tailEnd len="med" w="med" type="triangle"/>
          </a:ln>
        </p:spPr>
      </p:cxnSp>
      <p:sp>
        <p:nvSpPr>
          <p:cNvPr id="218" name="Google Shape;218;p30"/>
          <p:cNvSpPr/>
          <p:nvPr/>
        </p:nvSpPr>
        <p:spPr>
          <a:xfrm>
            <a:off x="2644000" y="2447322"/>
            <a:ext cx="1104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latin typeface="Consolas"/>
                <a:ea typeface="Consolas"/>
                <a:cs typeface="Consolas"/>
                <a:sym typeface="Consolas"/>
              </a:rPr>
              <a:t>f(acc,i)</a:t>
            </a:r>
            <a:endParaRPr>
              <a:latin typeface="Consolas"/>
              <a:ea typeface="Consolas"/>
              <a:cs typeface="Consolas"/>
              <a:sym typeface="Consolas"/>
            </a:endParaRPr>
          </a:p>
        </p:txBody>
      </p:sp>
      <p:cxnSp>
        <p:nvCxnSpPr>
          <p:cNvPr id="219" name="Google Shape;219;p30"/>
          <p:cNvCxnSpPr>
            <a:stCxn id="214" idx="3"/>
            <a:endCxn id="218" idx="1"/>
          </p:cNvCxnSpPr>
          <p:nvPr/>
        </p:nvCxnSpPr>
        <p:spPr>
          <a:xfrm>
            <a:off x="2389425" y="2644122"/>
            <a:ext cx="254700" cy="600"/>
          </a:xfrm>
          <a:prstGeom prst="curvedConnector3">
            <a:avLst>
              <a:gd fmla="val 49975" name="adj1"/>
            </a:avLst>
          </a:prstGeom>
          <a:noFill/>
          <a:ln cap="flat" cmpd="sng" w="19050">
            <a:solidFill>
              <a:schemeClr val="dk2"/>
            </a:solidFill>
            <a:prstDash val="solid"/>
            <a:round/>
            <a:headEnd len="med" w="med" type="none"/>
            <a:tailEnd len="med" w="med" type="triangle"/>
          </a:ln>
        </p:spPr>
      </p:cxnSp>
      <p:cxnSp>
        <p:nvCxnSpPr>
          <p:cNvPr id="220" name="Google Shape;220;p30"/>
          <p:cNvCxnSpPr>
            <a:stCxn id="209" idx="2"/>
            <a:endCxn id="218" idx="0"/>
          </p:cNvCxnSpPr>
          <p:nvPr/>
        </p:nvCxnSpPr>
        <p:spPr>
          <a:xfrm flipH="1" rot="-5400000">
            <a:off x="2783500" y="2034308"/>
            <a:ext cx="825600" cy="600"/>
          </a:xfrm>
          <a:prstGeom prst="curvedConnector3">
            <a:avLst>
              <a:gd fmla="val 49995" name="adj1"/>
            </a:avLst>
          </a:prstGeom>
          <a:noFill/>
          <a:ln cap="flat" cmpd="sng" w="19050">
            <a:solidFill>
              <a:schemeClr val="dk2"/>
            </a:solidFill>
            <a:prstDash val="solid"/>
            <a:round/>
            <a:headEnd len="med" w="med" type="none"/>
            <a:tailEnd len="med" w="med" type="triangle"/>
          </a:ln>
        </p:spPr>
      </p:cxnSp>
      <p:sp>
        <p:nvSpPr>
          <p:cNvPr id="221" name="Google Shape;221;p30"/>
          <p:cNvSpPr/>
          <p:nvPr/>
        </p:nvSpPr>
        <p:spPr>
          <a:xfrm>
            <a:off x="2832100" y="3022287"/>
            <a:ext cx="727800" cy="3936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latin typeface="Consolas"/>
                <a:ea typeface="Consolas"/>
                <a:cs typeface="Consolas"/>
                <a:sym typeface="Consolas"/>
              </a:rPr>
              <a:t>a</a:t>
            </a:r>
            <a:r>
              <a:rPr baseline="-25000" lang="it">
                <a:latin typeface="Consolas"/>
                <a:ea typeface="Consolas"/>
                <a:cs typeface="Consolas"/>
                <a:sym typeface="Consolas"/>
              </a:rPr>
              <a:t>1</a:t>
            </a:r>
            <a:endParaRPr baseline="-25000">
              <a:latin typeface="Consolas"/>
              <a:ea typeface="Consolas"/>
              <a:cs typeface="Consolas"/>
              <a:sym typeface="Consolas"/>
            </a:endParaRPr>
          </a:p>
        </p:txBody>
      </p:sp>
      <p:sp>
        <p:nvSpPr>
          <p:cNvPr id="222" name="Google Shape;222;p30"/>
          <p:cNvSpPr/>
          <p:nvPr/>
        </p:nvSpPr>
        <p:spPr>
          <a:xfrm>
            <a:off x="3803250" y="3022287"/>
            <a:ext cx="1104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latin typeface="Consolas"/>
                <a:ea typeface="Consolas"/>
                <a:cs typeface="Consolas"/>
                <a:sym typeface="Consolas"/>
              </a:rPr>
              <a:t>f(acc,i)</a:t>
            </a:r>
            <a:endParaRPr>
              <a:latin typeface="Consolas"/>
              <a:ea typeface="Consolas"/>
              <a:cs typeface="Consolas"/>
              <a:sym typeface="Consolas"/>
            </a:endParaRPr>
          </a:p>
        </p:txBody>
      </p:sp>
      <p:cxnSp>
        <p:nvCxnSpPr>
          <p:cNvPr id="223" name="Google Shape;223;p30"/>
          <p:cNvCxnSpPr>
            <a:stCxn id="218" idx="2"/>
            <a:endCxn id="221" idx="0"/>
          </p:cNvCxnSpPr>
          <p:nvPr/>
        </p:nvCxnSpPr>
        <p:spPr>
          <a:xfrm flipH="1" rot="-5400000">
            <a:off x="3105550" y="2931372"/>
            <a:ext cx="181500" cy="600"/>
          </a:xfrm>
          <a:prstGeom prst="curvedConnector3">
            <a:avLst>
              <a:gd fmla="val 49963" name="adj1"/>
            </a:avLst>
          </a:prstGeom>
          <a:noFill/>
          <a:ln cap="flat" cmpd="sng" w="19050">
            <a:solidFill>
              <a:schemeClr val="dk2"/>
            </a:solidFill>
            <a:prstDash val="solid"/>
            <a:round/>
            <a:headEnd len="med" w="med" type="none"/>
            <a:tailEnd len="med" w="med" type="triangle"/>
          </a:ln>
        </p:spPr>
      </p:cxnSp>
      <p:cxnSp>
        <p:nvCxnSpPr>
          <p:cNvPr id="224" name="Google Shape;224;p30"/>
          <p:cNvCxnSpPr>
            <a:stCxn id="221" idx="3"/>
            <a:endCxn id="222" idx="1"/>
          </p:cNvCxnSpPr>
          <p:nvPr/>
        </p:nvCxnSpPr>
        <p:spPr>
          <a:xfrm>
            <a:off x="3559900" y="3219087"/>
            <a:ext cx="243300" cy="600"/>
          </a:xfrm>
          <a:prstGeom prst="curvedConnector3">
            <a:avLst>
              <a:gd fmla="val 50010" name="adj1"/>
            </a:avLst>
          </a:prstGeom>
          <a:noFill/>
          <a:ln cap="flat" cmpd="sng" w="19050">
            <a:solidFill>
              <a:schemeClr val="dk2"/>
            </a:solidFill>
            <a:prstDash val="solid"/>
            <a:round/>
            <a:headEnd len="med" w="med" type="none"/>
            <a:tailEnd len="med" w="med" type="triangle"/>
          </a:ln>
        </p:spPr>
      </p:cxnSp>
      <p:cxnSp>
        <p:nvCxnSpPr>
          <p:cNvPr id="225" name="Google Shape;225;p30"/>
          <p:cNvCxnSpPr>
            <a:stCxn id="210" idx="2"/>
            <a:endCxn id="222" idx="0"/>
          </p:cNvCxnSpPr>
          <p:nvPr/>
        </p:nvCxnSpPr>
        <p:spPr>
          <a:xfrm rot="5400000">
            <a:off x="3660875" y="2316308"/>
            <a:ext cx="1400400" cy="11400"/>
          </a:xfrm>
          <a:prstGeom prst="curvedConnector3">
            <a:avLst>
              <a:gd fmla="val 50003" name="adj1"/>
            </a:avLst>
          </a:prstGeom>
          <a:noFill/>
          <a:ln cap="flat" cmpd="sng" w="19050">
            <a:solidFill>
              <a:schemeClr val="dk2"/>
            </a:solidFill>
            <a:prstDash val="solid"/>
            <a:round/>
            <a:headEnd len="med" w="med" type="none"/>
            <a:tailEnd len="med" w="med" type="triangle"/>
          </a:ln>
        </p:spPr>
      </p:cxnSp>
      <p:sp>
        <p:nvSpPr>
          <p:cNvPr id="226" name="Google Shape;226;p30"/>
          <p:cNvSpPr/>
          <p:nvPr/>
        </p:nvSpPr>
        <p:spPr>
          <a:xfrm>
            <a:off x="3991350" y="3599262"/>
            <a:ext cx="727800" cy="3936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latin typeface="Consolas"/>
                <a:ea typeface="Consolas"/>
                <a:cs typeface="Consolas"/>
                <a:sym typeface="Consolas"/>
              </a:rPr>
              <a:t>a</a:t>
            </a:r>
            <a:r>
              <a:rPr baseline="-25000" lang="it">
                <a:latin typeface="Consolas"/>
                <a:ea typeface="Consolas"/>
                <a:cs typeface="Consolas"/>
                <a:sym typeface="Consolas"/>
              </a:rPr>
              <a:t>2</a:t>
            </a:r>
            <a:endParaRPr baseline="-25000">
              <a:latin typeface="Consolas"/>
              <a:ea typeface="Consolas"/>
              <a:cs typeface="Consolas"/>
              <a:sym typeface="Consolas"/>
            </a:endParaRPr>
          </a:p>
        </p:txBody>
      </p:sp>
      <p:cxnSp>
        <p:nvCxnSpPr>
          <p:cNvPr id="227" name="Google Shape;227;p30"/>
          <p:cNvCxnSpPr>
            <a:stCxn id="222" idx="2"/>
            <a:endCxn id="226" idx="0"/>
          </p:cNvCxnSpPr>
          <p:nvPr/>
        </p:nvCxnSpPr>
        <p:spPr>
          <a:xfrm flipH="1" rot="-5400000">
            <a:off x="4263900" y="3507237"/>
            <a:ext cx="183300" cy="600"/>
          </a:xfrm>
          <a:prstGeom prst="curvedConnector3">
            <a:avLst>
              <a:gd fmla="val 50020" name="adj1"/>
            </a:avLst>
          </a:prstGeom>
          <a:noFill/>
          <a:ln cap="flat" cmpd="sng" w="19050">
            <a:solidFill>
              <a:schemeClr val="dk2"/>
            </a:solidFill>
            <a:prstDash val="solid"/>
            <a:round/>
            <a:headEnd len="med" w="med" type="none"/>
            <a:tailEnd len="med" w="med" type="triangle"/>
          </a:ln>
        </p:spPr>
      </p:cxnSp>
      <p:sp>
        <p:nvSpPr>
          <p:cNvPr id="228" name="Google Shape;228;p30"/>
          <p:cNvSpPr/>
          <p:nvPr/>
        </p:nvSpPr>
        <p:spPr>
          <a:xfrm>
            <a:off x="5070750" y="3599262"/>
            <a:ext cx="1104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latin typeface="Consolas"/>
                <a:ea typeface="Consolas"/>
                <a:cs typeface="Consolas"/>
                <a:sym typeface="Consolas"/>
              </a:rPr>
              <a:t>…</a:t>
            </a:r>
            <a:endParaRPr>
              <a:latin typeface="Consolas"/>
              <a:ea typeface="Consolas"/>
              <a:cs typeface="Consolas"/>
              <a:sym typeface="Consolas"/>
            </a:endParaRPr>
          </a:p>
        </p:txBody>
      </p:sp>
      <p:cxnSp>
        <p:nvCxnSpPr>
          <p:cNvPr id="229" name="Google Shape;229;p30"/>
          <p:cNvCxnSpPr>
            <a:stCxn id="226" idx="3"/>
            <a:endCxn id="228" idx="1"/>
          </p:cNvCxnSpPr>
          <p:nvPr/>
        </p:nvCxnSpPr>
        <p:spPr>
          <a:xfrm>
            <a:off x="4719150" y="3796062"/>
            <a:ext cx="351600" cy="600"/>
          </a:xfrm>
          <a:prstGeom prst="curvedConnector3">
            <a:avLst>
              <a:gd fmla="val 50000" name="adj1"/>
            </a:avLst>
          </a:prstGeom>
          <a:noFill/>
          <a:ln cap="flat" cmpd="sng" w="19050">
            <a:solidFill>
              <a:schemeClr val="dk2"/>
            </a:solidFill>
            <a:prstDash val="solid"/>
            <a:round/>
            <a:headEnd len="med" w="med" type="none"/>
            <a:tailEnd len="med" w="med" type="triangle"/>
          </a:ln>
        </p:spPr>
      </p:cxnSp>
      <p:cxnSp>
        <p:nvCxnSpPr>
          <p:cNvPr id="230" name="Google Shape;230;p30"/>
          <p:cNvCxnSpPr>
            <a:stCxn id="211" idx="2"/>
            <a:endCxn id="228" idx="0"/>
          </p:cNvCxnSpPr>
          <p:nvPr/>
        </p:nvCxnSpPr>
        <p:spPr>
          <a:xfrm flipH="1" rot="-5400000">
            <a:off x="4634250" y="2610308"/>
            <a:ext cx="1977600" cy="600"/>
          </a:xfrm>
          <a:prstGeom prst="curvedConnector3">
            <a:avLst>
              <a:gd fmla="val 49996" name="adj1"/>
            </a:avLst>
          </a:prstGeom>
          <a:noFill/>
          <a:ln cap="flat" cmpd="sng" w="19050">
            <a:solidFill>
              <a:schemeClr val="dk2"/>
            </a:solidFill>
            <a:prstDash val="solid"/>
            <a:round/>
            <a:headEnd len="med" w="med" type="none"/>
            <a:tailEnd len="med" w="med" type="triangle"/>
          </a:ln>
        </p:spPr>
      </p:cxnSp>
      <p:sp>
        <p:nvSpPr>
          <p:cNvPr id="231" name="Google Shape;231;p30"/>
          <p:cNvSpPr/>
          <p:nvPr/>
        </p:nvSpPr>
        <p:spPr>
          <a:xfrm>
            <a:off x="5259150" y="4164112"/>
            <a:ext cx="727800" cy="3936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latin typeface="Consolas"/>
                <a:ea typeface="Consolas"/>
                <a:cs typeface="Consolas"/>
                <a:sym typeface="Consolas"/>
              </a:rPr>
              <a:t>a</a:t>
            </a:r>
            <a:r>
              <a:rPr baseline="-25000" lang="it">
                <a:latin typeface="Consolas"/>
                <a:ea typeface="Consolas"/>
                <a:cs typeface="Consolas"/>
                <a:sym typeface="Consolas"/>
              </a:rPr>
              <a:t>n-1</a:t>
            </a:r>
            <a:endParaRPr baseline="-25000">
              <a:latin typeface="Consolas"/>
              <a:ea typeface="Consolas"/>
              <a:cs typeface="Consolas"/>
              <a:sym typeface="Consolas"/>
            </a:endParaRPr>
          </a:p>
        </p:txBody>
      </p:sp>
      <p:cxnSp>
        <p:nvCxnSpPr>
          <p:cNvPr id="232" name="Google Shape;232;p30"/>
          <p:cNvCxnSpPr>
            <a:stCxn id="228" idx="2"/>
            <a:endCxn id="231" idx="0"/>
          </p:cNvCxnSpPr>
          <p:nvPr/>
        </p:nvCxnSpPr>
        <p:spPr>
          <a:xfrm flipH="1" rot="-5400000">
            <a:off x="5537400" y="4078212"/>
            <a:ext cx="171300" cy="600"/>
          </a:xfrm>
          <a:prstGeom prst="curvedConnector3">
            <a:avLst>
              <a:gd fmla="val 49985" name="adj1"/>
            </a:avLst>
          </a:prstGeom>
          <a:noFill/>
          <a:ln cap="flat" cmpd="sng" w="19050">
            <a:solidFill>
              <a:schemeClr val="dk2"/>
            </a:solidFill>
            <a:prstDash val="solid"/>
            <a:round/>
            <a:headEnd len="med" w="med" type="none"/>
            <a:tailEnd len="med" w="med" type="triangle"/>
          </a:ln>
        </p:spPr>
      </p:cxnSp>
      <p:sp>
        <p:nvSpPr>
          <p:cNvPr id="233" name="Google Shape;233;p30"/>
          <p:cNvSpPr/>
          <p:nvPr/>
        </p:nvSpPr>
        <p:spPr>
          <a:xfrm>
            <a:off x="6326725" y="4164112"/>
            <a:ext cx="1104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latin typeface="Consolas"/>
                <a:ea typeface="Consolas"/>
                <a:cs typeface="Consolas"/>
                <a:sym typeface="Consolas"/>
              </a:rPr>
              <a:t>f(acc,i)</a:t>
            </a:r>
            <a:endParaRPr>
              <a:latin typeface="Consolas"/>
              <a:ea typeface="Consolas"/>
              <a:cs typeface="Consolas"/>
              <a:sym typeface="Consolas"/>
            </a:endParaRPr>
          </a:p>
        </p:txBody>
      </p:sp>
      <p:cxnSp>
        <p:nvCxnSpPr>
          <p:cNvPr id="234" name="Google Shape;234;p30"/>
          <p:cNvCxnSpPr>
            <a:stCxn id="231" idx="3"/>
            <a:endCxn id="233" idx="1"/>
          </p:cNvCxnSpPr>
          <p:nvPr/>
        </p:nvCxnSpPr>
        <p:spPr>
          <a:xfrm>
            <a:off x="5986950" y="4360912"/>
            <a:ext cx="339900" cy="600"/>
          </a:xfrm>
          <a:prstGeom prst="curvedConnector3">
            <a:avLst>
              <a:gd fmla="val 49982" name="adj1"/>
            </a:avLst>
          </a:prstGeom>
          <a:noFill/>
          <a:ln cap="flat" cmpd="sng" w="19050">
            <a:solidFill>
              <a:schemeClr val="dk2"/>
            </a:solidFill>
            <a:prstDash val="solid"/>
            <a:round/>
            <a:headEnd len="med" w="med" type="none"/>
            <a:tailEnd len="med" w="med" type="triangle"/>
          </a:ln>
        </p:spPr>
      </p:cxnSp>
      <p:sp>
        <p:nvSpPr>
          <p:cNvPr id="235" name="Google Shape;235;p30"/>
          <p:cNvSpPr/>
          <p:nvPr/>
        </p:nvSpPr>
        <p:spPr>
          <a:xfrm>
            <a:off x="7744650" y="4164112"/>
            <a:ext cx="727800" cy="3936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latin typeface="Consolas"/>
                <a:ea typeface="Consolas"/>
                <a:cs typeface="Consolas"/>
                <a:sym typeface="Consolas"/>
              </a:rPr>
              <a:t>a</a:t>
            </a:r>
            <a:r>
              <a:rPr baseline="-25000" lang="it">
                <a:latin typeface="Consolas"/>
                <a:ea typeface="Consolas"/>
                <a:cs typeface="Consolas"/>
                <a:sym typeface="Consolas"/>
              </a:rPr>
              <a:t>n</a:t>
            </a:r>
            <a:endParaRPr baseline="-25000">
              <a:latin typeface="Consolas"/>
              <a:ea typeface="Consolas"/>
              <a:cs typeface="Consolas"/>
              <a:sym typeface="Consolas"/>
            </a:endParaRPr>
          </a:p>
        </p:txBody>
      </p:sp>
      <p:cxnSp>
        <p:nvCxnSpPr>
          <p:cNvPr id="236" name="Google Shape;236;p30"/>
          <p:cNvCxnSpPr>
            <a:stCxn id="233" idx="3"/>
            <a:endCxn id="235" idx="1"/>
          </p:cNvCxnSpPr>
          <p:nvPr/>
        </p:nvCxnSpPr>
        <p:spPr>
          <a:xfrm>
            <a:off x="7430725" y="4360912"/>
            <a:ext cx="313800" cy="600"/>
          </a:xfrm>
          <a:prstGeom prst="curvedConnector3">
            <a:avLst>
              <a:gd fmla="val 50020" name="adj1"/>
            </a:avLst>
          </a:prstGeom>
          <a:noFill/>
          <a:ln cap="flat" cmpd="sng" w="19050">
            <a:solidFill>
              <a:schemeClr val="dk2"/>
            </a:solidFill>
            <a:prstDash val="solid"/>
            <a:round/>
            <a:headEnd len="med" w="med" type="none"/>
            <a:tailEnd len="med" w="med" type="triangle"/>
          </a:ln>
        </p:spPr>
      </p:cxnSp>
      <p:cxnSp>
        <p:nvCxnSpPr>
          <p:cNvPr id="237" name="Google Shape;237;p30"/>
          <p:cNvCxnSpPr>
            <a:stCxn id="212" idx="2"/>
            <a:endCxn id="233" idx="0"/>
          </p:cNvCxnSpPr>
          <p:nvPr/>
        </p:nvCxnSpPr>
        <p:spPr>
          <a:xfrm flipH="1" rot="-5400000">
            <a:off x="5617225" y="2902058"/>
            <a:ext cx="2523600" cy="600"/>
          </a:xfrm>
          <a:prstGeom prst="curvedConnector3">
            <a:avLst>
              <a:gd fmla="val 49999" name="adj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Consumatori: aggregare</a:t>
            </a:r>
            <a:endParaRPr/>
          </a:p>
        </p:txBody>
      </p:sp>
      <p:sp>
        <p:nvSpPr>
          <p:cNvPr id="243" name="Google Shape;243;p31"/>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244" name="Google Shape;244;p31"/>
          <p:cNvSpPr txBox="1"/>
          <p:nvPr>
            <p:ph idx="1" type="body"/>
          </p:nvPr>
        </p:nvSpPr>
        <p:spPr>
          <a:xfrm>
            <a:off x="311700" y="1152475"/>
            <a:ext cx="8520600" cy="3513300"/>
          </a:xfrm>
          <a:prstGeom prst="rect">
            <a:avLst/>
          </a:prstGeom>
        </p:spPr>
        <p:txBody>
          <a:bodyPr anchorCtr="0" anchor="t" bIns="91425" lIns="91425" spcFirstLastPara="1" rIns="91425" wrap="square" tIns="91425">
            <a:normAutofit lnSpcReduction="20000"/>
          </a:bodyPr>
          <a:lstStyle/>
          <a:p>
            <a:pPr indent="-330200" lvl="0" marL="457200" rtl="0" algn="l">
              <a:spcBef>
                <a:spcPts val="0"/>
              </a:spcBef>
              <a:spcAft>
                <a:spcPts val="0"/>
              </a:spcAft>
              <a:buSzPts val="1600"/>
              <a:buFont typeface="Consolas"/>
              <a:buChar char="●"/>
            </a:pPr>
            <a:r>
              <a:rPr b="1" lang="it" sz="1626">
                <a:solidFill>
                  <a:srgbClr val="0B5394"/>
                </a:solidFill>
                <a:latin typeface="Consolas"/>
                <a:ea typeface="Consolas"/>
                <a:cs typeface="Consolas"/>
                <a:sym typeface="Consolas"/>
              </a:rPr>
              <a:t>fold&lt;B, F&gt;(self, init: B, f: F) -&gt; B</a:t>
            </a:r>
            <a:endParaRPr b="1" sz="1626">
              <a:solidFill>
                <a:srgbClr val="0B5394"/>
              </a:solidFill>
              <a:latin typeface="Consolas"/>
              <a:ea typeface="Consolas"/>
              <a:cs typeface="Consolas"/>
              <a:sym typeface="Consolas"/>
            </a:endParaRPr>
          </a:p>
          <a:p>
            <a:pPr indent="-324971" lvl="1" marL="914400" rtl="0" algn="l">
              <a:spcBef>
                <a:spcPts val="0"/>
              </a:spcBef>
              <a:spcAft>
                <a:spcPts val="0"/>
              </a:spcAft>
              <a:buSzPts val="1518"/>
              <a:buFont typeface="Consolas"/>
              <a:buChar char="○"/>
            </a:pPr>
            <a:r>
              <a:rPr lang="it"/>
              <a:t>Esegue la chiusura ricevuta accumulando i risultati sul primo argomento ricevuto</a:t>
            </a:r>
            <a:endParaRPr b="1">
              <a:solidFill>
                <a:srgbClr val="0B5394"/>
              </a:solidFill>
              <a:latin typeface="Consolas"/>
              <a:ea typeface="Consolas"/>
              <a:cs typeface="Consolas"/>
              <a:sym typeface="Consolas"/>
            </a:endParaRPr>
          </a:p>
          <a:p>
            <a:pPr indent="-330200" lvl="0" marL="457200" rtl="0" algn="l">
              <a:spcBef>
                <a:spcPts val="0"/>
              </a:spcBef>
              <a:spcAft>
                <a:spcPts val="0"/>
              </a:spcAft>
              <a:buSzPts val="1600"/>
              <a:buFont typeface="Consolas"/>
              <a:buChar char="●"/>
            </a:pPr>
            <a:r>
              <a:rPr b="1" lang="it" sz="1642">
                <a:solidFill>
                  <a:srgbClr val="0B5394"/>
                </a:solidFill>
                <a:latin typeface="Consolas"/>
                <a:ea typeface="Consolas"/>
                <a:cs typeface="Consolas"/>
                <a:sym typeface="Consolas"/>
              </a:rPr>
              <a:t>try_fold&lt;B, F, R&gt;(&amp;mut self, init: B, f: F) -&gt; R</a:t>
            </a:r>
            <a:endParaRPr b="1" sz="1642">
              <a:solidFill>
                <a:srgbClr val="0B5394"/>
              </a:solidFill>
              <a:latin typeface="Consolas"/>
              <a:ea typeface="Consolas"/>
              <a:cs typeface="Consolas"/>
              <a:sym typeface="Consolas"/>
            </a:endParaRPr>
          </a:p>
          <a:p>
            <a:pPr indent="-324971" lvl="1" marL="914400" rtl="0" algn="l">
              <a:spcBef>
                <a:spcPts val="0"/>
              </a:spcBef>
              <a:spcAft>
                <a:spcPts val="0"/>
              </a:spcAft>
              <a:buSzPts val="1518"/>
              <a:buFont typeface="Consolas"/>
              <a:buChar char="○"/>
            </a:pPr>
            <a:r>
              <a:rPr lang="it"/>
              <a:t>Esegue la chiusura ricevuta fino a quando ritorna con successo, accumulando i risultati sul primo argomento ricevuto</a:t>
            </a:r>
            <a:endParaRPr/>
          </a:p>
          <a:p>
            <a:pPr indent="-330200" lvl="0" marL="457200" rtl="0" algn="l">
              <a:spcBef>
                <a:spcPts val="0"/>
              </a:spcBef>
              <a:spcAft>
                <a:spcPts val="0"/>
              </a:spcAft>
              <a:buSzPts val="1600"/>
              <a:buFont typeface="Consolas"/>
              <a:buChar char="●"/>
            </a:pPr>
            <a:r>
              <a:rPr b="1" lang="it" sz="1600">
                <a:solidFill>
                  <a:srgbClr val="0B5394"/>
                </a:solidFill>
                <a:latin typeface="Consolas"/>
                <a:ea typeface="Consolas"/>
                <a:cs typeface="Consolas"/>
                <a:sym typeface="Consolas"/>
              </a:rPr>
              <a:t>reduce&lt;F&gt;(self, f: F) -&gt; Option&lt;Self::Item&gt;</a:t>
            </a:r>
            <a:endParaRPr b="1" sz="1600">
              <a:solidFill>
                <a:srgbClr val="0B5394"/>
              </a:solidFill>
              <a:latin typeface="Consolas"/>
              <a:ea typeface="Consolas"/>
              <a:cs typeface="Consolas"/>
              <a:sym typeface="Consolas"/>
            </a:endParaRPr>
          </a:p>
          <a:p>
            <a:pPr indent="-323850" lvl="1" marL="914400" rtl="0" algn="l">
              <a:spcBef>
                <a:spcPts val="0"/>
              </a:spcBef>
              <a:spcAft>
                <a:spcPts val="0"/>
              </a:spcAft>
              <a:buSzPts val="1500"/>
              <a:buFont typeface="Consolas"/>
              <a:buChar char="○"/>
            </a:pPr>
            <a:r>
              <a:rPr lang="it" sz="1382"/>
              <a:t>Riduce l’iteratore ad un singolo elemento eseguendo la funzione ricevuta</a:t>
            </a:r>
            <a:endParaRPr sz="1382"/>
          </a:p>
          <a:p>
            <a:pPr indent="-330200" lvl="0" marL="457200" rtl="0" algn="l">
              <a:spcBef>
                <a:spcPts val="0"/>
              </a:spcBef>
              <a:spcAft>
                <a:spcPts val="0"/>
              </a:spcAft>
              <a:buSzPts val="1600"/>
              <a:buFont typeface="Consolas"/>
              <a:buChar char="●"/>
            </a:pPr>
            <a:r>
              <a:rPr b="1" lang="it" sz="1600">
                <a:solidFill>
                  <a:srgbClr val="0B5394"/>
                </a:solidFill>
                <a:latin typeface="Consolas"/>
                <a:ea typeface="Consolas"/>
                <a:cs typeface="Consolas"/>
                <a:sym typeface="Consolas"/>
              </a:rPr>
              <a:t>sum&lt;S&gt;(self) -&gt; S</a:t>
            </a:r>
            <a:endParaRPr b="1" sz="1600">
              <a:solidFill>
                <a:srgbClr val="0B5394"/>
              </a:solidFill>
              <a:latin typeface="Consolas"/>
              <a:ea typeface="Consolas"/>
              <a:cs typeface="Consolas"/>
              <a:sym typeface="Consolas"/>
            </a:endParaRPr>
          </a:p>
          <a:p>
            <a:pPr indent="-323850" lvl="1" marL="914400" rtl="0" algn="l">
              <a:spcBef>
                <a:spcPts val="0"/>
              </a:spcBef>
              <a:spcAft>
                <a:spcPts val="0"/>
              </a:spcAft>
              <a:buSzPts val="1500"/>
              <a:buFont typeface="Consolas"/>
              <a:buChar char="○"/>
            </a:pPr>
            <a:r>
              <a:rPr lang="it"/>
              <a:t>Somma tutti gli elementi di un iteratore e ritorna il valore ottenuto</a:t>
            </a:r>
            <a:endParaRPr/>
          </a:p>
          <a:p>
            <a:pPr indent="-330200" lvl="0" marL="457200" rtl="0" algn="l">
              <a:spcBef>
                <a:spcPts val="0"/>
              </a:spcBef>
              <a:spcAft>
                <a:spcPts val="0"/>
              </a:spcAft>
              <a:buSzPts val="1600"/>
              <a:buFont typeface="Consolas"/>
              <a:buChar char="●"/>
            </a:pPr>
            <a:r>
              <a:rPr b="1" lang="it" sz="1600">
                <a:solidFill>
                  <a:srgbClr val="0B5394"/>
                </a:solidFill>
                <a:latin typeface="Consolas"/>
                <a:ea typeface="Consolas"/>
                <a:cs typeface="Consolas"/>
                <a:sym typeface="Consolas"/>
              </a:rPr>
              <a:t>product&lt;P&gt;(self) -&gt; P</a:t>
            </a:r>
            <a:endParaRPr b="1" sz="1600">
              <a:solidFill>
                <a:srgbClr val="0B5394"/>
              </a:solidFill>
              <a:latin typeface="Consolas"/>
              <a:ea typeface="Consolas"/>
              <a:cs typeface="Consolas"/>
              <a:sym typeface="Consolas"/>
            </a:endParaRPr>
          </a:p>
          <a:p>
            <a:pPr indent="-314325" lvl="1" marL="914400" rtl="0" algn="l">
              <a:spcBef>
                <a:spcPts val="0"/>
              </a:spcBef>
              <a:spcAft>
                <a:spcPts val="0"/>
              </a:spcAft>
              <a:buSzPts val="1350"/>
              <a:buFont typeface="Consolas"/>
              <a:buChar char="○"/>
            </a:pPr>
            <a:r>
              <a:rPr lang="it"/>
              <a:t>Moltiplica tutti gli elementi di un iteratore e ritorna il valore ottenuto</a:t>
            </a:r>
            <a:endParaRPr b="1" sz="1518">
              <a:solidFill>
                <a:srgbClr val="0B5394"/>
              </a:solidFill>
              <a:latin typeface="Consolas"/>
              <a:ea typeface="Consolas"/>
              <a:cs typeface="Consolas"/>
              <a:sym typeface="Consolas"/>
            </a:endParaRPr>
          </a:p>
          <a:p>
            <a:pPr indent="-330200" lvl="0" marL="457200" rtl="0" algn="l">
              <a:spcBef>
                <a:spcPts val="0"/>
              </a:spcBef>
              <a:spcAft>
                <a:spcPts val="0"/>
              </a:spcAft>
              <a:buSzPts val="1600"/>
              <a:buFont typeface="Consolas"/>
              <a:buChar char="●"/>
            </a:pPr>
            <a:r>
              <a:rPr b="1" lang="it" sz="1600">
                <a:solidFill>
                  <a:srgbClr val="0B5394"/>
                </a:solidFill>
                <a:latin typeface="Consolas"/>
                <a:ea typeface="Consolas"/>
                <a:cs typeface="Consolas"/>
                <a:sym typeface="Consolas"/>
              </a:rPr>
              <a:t>count(self) -&gt; usize</a:t>
            </a:r>
            <a:endParaRPr b="1" sz="1600">
              <a:solidFill>
                <a:srgbClr val="0B5394"/>
              </a:solidFill>
              <a:latin typeface="Consolas"/>
              <a:ea typeface="Consolas"/>
              <a:cs typeface="Consolas"/>
              <a:sym typeface="Consolas"/>
            </a:endParaRPr>
          </a:p>
          <a:p>
            <a:pPr indent="-314325" lvl="1" marL="914400" rtl="0" algn="l">
              <a:spcBef>
                <a:spcPts val="0"/>
              </a:spcBef>
              <a:spcAft>
                <a:spcPts val="0"/>
              </a:spcAft>
              <a:buSzPts val="1350"/>
              <a:buFont typeface="Consolas"/>
              <a:buChar char="○"/>
            </a:pPr>
            <a:r>
              <a:rPr lang="it"/>
              <a:t>Ritorna il numero di elementi dell’iteratore</a:t>
            </a:r>
            <a:endParaRPr/>
          </a:p>
          <a:p>
            <a:pPr indent="-330200" lvl="0" marL="457200" rtl="0" algn="l">
              <a:spcBef>
                <a:spcPts val="0"/>
              </a:spcBef>
              <a:spcAft>
                <a:spcPts val="0"/>
              </a:spcAft>
              <a:buSzPts val="1600"/>
              <a:buFont typeface="Consolas"/>
              <a:buChar char="●"/>
            </a:pPr>
            <a:r>
              <a:rPr b="1" lang="it" sz="1600">
                <a:solidFill>
                  <a:srgbClr val="0B5394"/>
                </a:solidFill>
                <a:latin typeface="Consolas"/>
                <a:ea typeface="Consolas"/>
                <a:cs typeface="Consolas"/>
                <a:sym typeface="Consolas"/>
              </a:rPr>
              <a:t>collect&lt;B&gt;(self) -&gt; B where B: FromIterator&lt;Self::Item&gt;</a:t>
            </a:r>
            <a:endParaRPr b="1" sz="1600">
              <a:solidFill>
                <a:srgbClr val="0B5394"/>
              </a:solidFill>
              <a:latin typeface="Consolas"/>
              <a:ea typeface="Consolas"/>
              <a:cs typeface="Consolas"/>
              <a:sym typeface="Consolas"/>
            </a:endParaRPr>
          </a:p>
          <a:p>
            <a:pPr indent="-314325" lvl="1" marL="914400" rtl="0" algn="l">
              <a:spcBef>
                <a:spcPts val="0"/>
              </a:spcBef>
              <a:spcAft>
                <a:spcPts val="0"/>
              </a:spcAft>
              <a:buSzPts val="1350"/>
              <a:buFont typeface="Consolas"/>
              <a:buChar char="○"/>
            </a:pPr>
            <a:r>
              <a:rPr lang="it"/>
              <a:t>Trasforma un iteratore in una collezione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Consumatori: aggregare</a:t>
            </a:r>
            <a:endParaRPr/>
          </a:p>
        </p:txBody>
      </p:sp>
      <p:sp>
        <p:nvSpPr>
          <p:cNvPr id="250" name="Google Shape;250;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23850" lvl="0" marL="457200" rtl="0" algn="l">
              <a:spcBef>
                <a:spcPts val="0"/>
              </a:spcBef>
              <a:spcAft>
                <a:spcPts val="0"/>
              </a:spcAft>
              <a:buSzPts val="1500"/>
              <a:buFont typeface="Consolas"/>
              <a:buChar char="●"/>
            </a:pPr>
            <a:r>
              <a:rPr b="1" lang="it" sz="1500">
                <a:solidFill>
                  <a:srgbClr val="0B5394"/>
                </a:solidFill>
                <a:latin typeface="Consolas"/>
                <a:ea typeface="Consolas"/>
                <a:cs typeface="Consolas"/>
                <a:sym typeface="Consolas"/>
              </a:rPr>
              <a:t>partition&lt;B, F&gt;(self, f: F) -&gt; (B, B)</a:t>
            </a:r>
            <a:endParaRPr b="1" sz="1500">
              <a:solidFill>
                <a:srgbClr val="0B5394"/>
              </a:solidFill>
              <a:latin typeface="Consolas"/>
              <a:ea typeface="Consolas"/>
              <a:cs typeface="Consolas"/>
              <a:sym typeface="Consolas"/>
            </a:endParaRPr>
          </a:p>
          <a:p>
            <a:pPr indent="-323850" lvl="1" marL="914400" rtl="0" algn="l">
              <a:spcBef>
                <a:spcPts val="0"/>
              </a:spcBef>
              <a:spcAft>
                <a:spcPts val="0"/>
              </a:spcAft>
              <a:buSzPts val="1500"/>
              <a:buFont typeface="Consolas"/>
              <a:buChar char="○"/>
            </a:pPr>
            <a:r>
              <a:rPr lang="it" sz="1382"/>
              <a:t>Consuma un iteratore e ritorna due collezioni sulla base del predicato ricevuto</a:t>
            </a:r>
            <a:endParaRPr sz="1382"/>
          </a:p>
          <a:p>
            <a:pPr indent="-323850" lvl="0" marL="457200" rtl="0" algn="l">
              <a:spcBef>
                <a:spcPts val="0"/>
              </a:spcBef>
              <a:spcAft>
                <a:spcPts val="0"/>
              </a:spcAft>
              <a:buSzPts val="1500"/>
              <a:buFont typeface="Consolas"/>
              <a:buChar char="●"/>
            </a:pPr>
            <a:r>
              <a:rPr b="1" lang="it" sz="1500">
                <a:solidFill>
                  <a:srgbClr val="0B5394"/>
                </a:solidFill>
                <a:latin typeface="Consolas"/>
                <a:ea typeface="Consolas"/>
                <a:cs typeface="Consolas"/>
                <a:sym typeface="Consolas"/>
              </a:rPr>
              <a:t>for_each&lt;F&gt;(self, f: F) where F: FnMut(Item)</a:t>
            </a:r>
            <a:endParaRPr b="1" sz="1500">
              <a:solidFill>
                <a:srgbClr val="0B5394"/>
              </a:solidFill>
              <a:latin typeface="Consolas"/>
              <a:ea typeface="Consolas"/>
              <a:cs typeface="Consolas"/>
              <a:sym typeface="Consolas"/>
            </a:endParaRPr>
          </a:p>
          <a:p>
            <a:pPr indent="-323850" lvl="1" marL="914400" rtl="0" algn="l">
              <a:spcBef>
                <a:spcPts val="0"/>
              </a:spcBef>
              <a:spcAft>
                <a:spcPts val="0"/>
              </a:spcAft>
              <a:buSzPts val="1500"/>
              <a:buFont typeface="Consolas"/>
              <a:buChar char="○"/>
            </a:pPr>
            <a:r>
              <a:rPr lang="it"/>
              <a:t>Esegue la chiusura ricevuta su tutti gli elementi dell’iteratore</a:t>
            </a:r>
            <a:endParaRPr/>
          </a:p>
          <a:p>
            <a:pPr indent="-323850" lvl="0" marL="457200" rtl="0" algn="l">
              <a:spcBef>
                <a:spcPts val="0"/>
              </a:spcBef>
              <a:spcAft>
                <a:spcPts val="0"/>
              </a:spcAft>
              <a:buSzPts val="1500"/>
              <a:buFont typeface="Consolas"/>
              <a:buChar char="●"/>
            </a:pPr>
            <a:r>
              <a:rPr b="1" lang="it" sz="1500">
                <a:solidFill>
                  <a:srgbClr val="0B5394"/>
                </a:solidFill>
                <a:latin typeface="Consolas"/>
                <a:ea typeface="Consolas"/>
                <a:cs typeface="Consolas"/>
                <a:sym typeface="Consolas"/>
              </a:rPr>
              <a:t>try_for_each&lt;F, R&gt;(&amp;mut self, f: F) -&gt; R </a:t>
            </a:r>
            <a:br>
              <a:rPr b="1" lang="it" sz="1500">
                <a:solidFill>
                  <a:srgbClr val="0B5394"/>
                </a:solidFill>
                <a:latin typeface="Consolas"/>
                <a:ea typeface="Consolas"/>
                <a:cs typeface="Consolas"/>
                <a:sym typeface="Consolas"/>
              </a:rPr>
            </a:br>
            <a:r>
              <a:rPr b="1" lang="it" sz="1500">
                <a:solidFill>
                  <a:srgbClr val="0B5394"/>
                </a:solidFill>
                <a:latin typeface="Consolas"/>
                <a:ea typeface="Consolas"/>
                <a:cs typeface="Consolas"/>
                <a:sym typeface="Consolas"/>
              </a:rPr>
              <a:t>				where F: FnMut(Item) -&gt; R, R: Try&lt;Output=()&gt;</a:t>
            </a:r>
            <a:endParaRPr b="1" sz="1500">
              <a:solidFill>
                <a:srgbClr val="0B5394"/>
              </a:solidFill>
              <a:latin typeface="Consolas"/>
              <a:ea typeface="Consolas"/>
              <a:cs typeface="Consolas"/>
              <a:sym typeface="Consolas"/>
            </a:endParaRPr>
          </a:p>
          <a:p>
            <a:pPr indent="-313719" lvl="1" marL="914400" rtl="0" algn="l">
              <a:spcBef>
                <a:spcPts val="0"/>
              </a:spcBef>
              <a:spcAft>
                <a:spcPts val="0"/>
              </a:spcAft>
              <a:buSzPts val="1340"/>
              <a:buFont typeface="Consolas"/>
              <a:buChar char="○"/>
            </a:pPr>
            <a:r>
              <a:rPr lang="it"/>
              <a:t>Esegue una chiusura che può fallire su tutti gli elementi dell’iteratore, si ferma dopo il primo fallimento</a:t>
            </a:r>
            <a:endParaRPr b="1" sz="1358">
              <a:solidFill>
                <a:srgbClr val="0B5394"/>
              </a:solidFill>
              <a:latin typeface="Consolas"/>
              <a:ea typeface="Consolas"/>
              <a:cs typeface="Consolas"/>
              <a:sym typeface="Consolas"/>
            </a:endParaRPr>
          </a:p>
          <a:p>
            <a:pPr indent="-323850" lvl="0" marL="457200" rtl="0" algn="l">
              <a:spcBef>
                <a:spcPts val="0"/>
              </a:spcBef>
              <a:spcAft>
                <a:spcPts val="0"/>
              </a:spcAft>
              <a:buSzPts val="1500"/>
              <a:buFont typeface="Consolas"/>
              <a:buChar char="●"/>
            </a:pPr>
            <a:r>
              <a:rPr b="1" lang="it" sz="1518">
                <a:solidFill>
                  <a:srgbClr val="0B5394"/>
                </a:solidFill>
                <a:latin typeface="Consolas"/>
                <a:ea typeface="Consolas"/>
                <a:cs typeface="Consolas"/>
                <a:sym typeface="Consolas"/>
              </a:rPr>
              <a:t>max*(self) -&gt; Option&lt;Self::Item&gt;</a:t>
            </a:r>
            <a:endParaRPr b="1" sz="1518">
              <a:solidFill>
                <a:srgbClr val="0B5394"/>
              </a:solidFill>
              <a:latin typeface="Consolas"/>
              <a:ea typeface="Consolas"/>
              <a:cs typeface="Consolas"/>
              <a:sym typeface="Consolas"/>
            </a:endParaRPr>
          </a:p>
          <a:p>
            <a:pPr indent="-324971" lvl="1" marL="914400" rtl="0" algn="l">
              <a:spcBef>
                <a:spcPts val="0"/>
              </a:spcBef>
              <a:spcAft>
                <a:spcPts val="0"/>
              </a:spcAft>
              <a:buSzPts val="1518"/>
              <a:buFont typeface="Consolas"/>
              <a:buChar char="○"/>
            </a:pPr>
            <a:r>
              <a:rPr lang="it"/>
              <a:t>Ritorna il massimo tra gli elementi dell’iteratore, se trova due massimi equivalenti torna l’ultimo, se l’iteratore è vuoto viene ritornato None </a:t>
            </a:r>
            <a:endParaRPr b="1">
              <a:solidFill>
                <a:srgbClr val="0B5394"/>
              </a:solidFill>
              <a:latin typeface="Consolas"/>
              <a:ea typeface="Consolas"/>
              <a:cs typeface="Consolas"/>
              <a:sym typeface="Consolas"/>
            </a:endParaRPr>
          </a:p>
          <a:p>
            <a:pPr indent="-323850" lvl="0" marL="457200" rtl="0" algn="l">
              <a:spcBef>
                <a:spcPts val="0"/>
              </a:spcBef>
              <a:spcAft>
                <a:spcPts val="0"/>
              </a:spcAft>
              <a:buSzPts val="1500"/>
              <a:buFont typeface="Consolas"/>
              <a:buChar char="●"/>
            </a:pPr>
            <a:r>
              <a:rPr b="1" lang="it" sz="1518">
                <a:solidFill>
                  <a:srgbClr val="0B5394"/>
                </a:solidFill>
                <a:latin typeface="Consolas"/>
                <a:ea typeface="Consolas"/>
                <a:cs typeface="Consolas"/>
                <a:sym typeface="Consolas"/>
              </a:rPr>
              <a:t>min*(self) -&gt; Option&lt;Self::Item&gt;</a:t>
            </a:r>
            <a:endParaRPr b="1" sz="1518">
              <a:solidFill>
                <a:srgbClr val="0B5394"/>
              </a:solidFill>
              <a:latin typeface="Consolas"/>
              <a:ea typeface="Consolas"/>
              <a:cs typeface="Consolas"/>
              <a:sym typeface="Consolas"/>
            </a:endParaRPr>
          </a:p>
          <a:p>
            <a:pPr indent="-324971" lvl="1" marL="914400" rtl="0" algn="l">
              <a:spcBef>
                <a:spcPts val="0"/>
              </a:spcBef>
              <a:spcAft>
                <a:spcPts val="0"/>
              </a:spcAft>
              <a:buSzPts val="1518"/>
              <a:buFont typeface="Consolas"/>
              <a:buChar char="○"/>
            </a:pPr>
            <a:r>
              <a:rPr lang="it"/>
              <a:t>Ritorna il minimo tra gli elementi dell’iteratore, se trova due minimi equivalenti torna l’ultimo, se l’iteratore è vuoto viene ritornato None </a:t>
            </a:r>
            <a:endParaRPr/>
          </a:p>
        </p:txBody>
      </p:sp>
      <p:sp>
        <p:nvSpPr>
          <p:cNvPr id="251" name="Google Shape;251;p3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Consumatori: cercare e verificare</a:t>
            </a:r>
            <a:endParaRPr/>
          </a:p>
        </p:txBody>
      </p:sp>
      <p:sp>
        <p:nvSpPr>
          <p:cNvPr id="257" name="Google Shape;257;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317183" lvl="0" marL="457200" rtl="0" algn="l">
              <a:spcBef>
                <a:spcPts val="0"/>
              </a:spcBef>
              <a:spcAft>
                <a:spcPts val="0"/>
              </a:spcAft>
              <a:buSzPct val="100000"/>
              <a:buFont typeface="Consolas"/>
              <a:buChar char="●"/>
            </a:pPr>
            <a:r>
              <a:rPr b="1" lang="it">
                <a:solidFill>
                  <a:srgbClr val="0B5394"/>
                </a:solidFill>
                <a:latin typeface="Consolas"/>
                <a:ea typeface="Consolas"/>
                <a:cs typeface="Consolas"/>
                <a:sym typeface="Consolas"/>
              </a:rPr>
              <a:t>find&lt;P&gt;(&amp;mut self, predicate: P) -&gt; Option&lt;Self::Item&gt; where P: FnMut(&amp;Item) -&gt; bool</a:t>
            </a:r>
            <a:endParaRPr b="1">
              <a:solidFill>
                <a:srgbClr val="0B5394"/>
              </a:solidFill>
              <a:latin typeface="Consolas"/>
              <a:ea typeface="Consolas"/>
              <a:cs typeface="Consolas"/>
              <a:sym typeface="Consolas"/>
            </a:endParaRPr>
          </a:p>
          <a:p>
            <a:pPr indent="-295037" lvl="1" marL="914400" rtl="0" algn="l">
              <a:spcBef>
                <a:spcPts val="0"/>
              </a:spcBef>
              <a:spcAft>
                <a:spcPts val="0"/>
              </a:spcAft>
              <a:buSzPct val="96429"/>
              <a:buFont typeface="Consolas"/>
              <a:buChar char="○"/>
            </a:pPr>
            <a:r>
              <a:rPr lang="it"/>
              <a:t>Cerca un elemento sulla base della chiusura ricevuta come argomento e lo ritorna</a:t>
            </a:r>
            <a:endParaRPr/>
          </a:p>
          <a:p>
            <a:pPr indent="-317183" lvl="0" marL="457200" rtl="0" algn="l">
              <a:spcBef>
                <a:spcPts val="0"/>
              </a:spcBef>
              <a:spcAft>
                <a:spcPts val="0"/>
              </a:spcAft>
              <a:buSzPct val="118604"/>
              <a:buFont typeface="Consolas"/>
              <a:buChar char="●"/>
            </a:pPr>
            <a:r>
              <a:rPr b="1" lang="it" sz="1518">
                <a:solidFill>
                  <a:srgbClr val="0B5394"/>
                </a:solidFill>
                <a:latin typeface="Consolas"/>
                <a:ea typeface="Consolas"/>
                <a:cs typeface="Consolas"/>
                <a:sym typeface="Consolas"/>
              </a:rPr>
              <a:t>find_map&lt;B, F&gt;(&amp;mut self, f: F) -&gt; Option&lt;B&gt;</a:t>
            </a:r>
            <a:endParaRPr b="1" sz="1518">
              <a:solidFill>
                <a:srgbClr val="0B5394"/>
              </a:solidFill>
              <a:latin typeface="Consolas"/>
              <a:ea typeface="Consolas"/>
              <a:cs typeface="Consolas"/>
              <a:sym typeface="Consolas"/>
            </a:endParaRPr>
          </a:p>
          <a:p>
            <a:pPr indent="-303287" lvl="1" marL="914400" rtl="0" algn="l">
              <a:spcBef>
                <a:spcPts val="0"/>
              </a:spcBef>
              <a:spcAft>
                <a:spcPts val="0"/>
              </a:spcAft>
              <a:buSzPct val="108404"/>
              <a:buFont typeface="Consolas"/>
              <a:buChar char="○"/>
            </a:pPr>
            <a:r>
              <a:rPr lang="it"/>
              <a:t>Esegue la chiusura ricevuta su tutti gli elementi e ritorna il primo risultato valido</a:t>
            </a:r>
            <a:endParaRPr/>
          </a:p>
          <a:p>
            <a:pPr indent="-317183" lvl="0" marL="457200" rtl="0" algn="l">
              <a:spcBef>
                <a:spcPts val="0"/>
              </a:spcBef>
              <a:spcAft>
                <a:spcPts val="0"/>
              </a:spcAft>
              <a:buSzPct val="118604"/>
              <a:buFont typeface="Consolas"/>
              <a:buChar char="●"/>
            </a:pPr>
            <a:r>
              <a:rPr b="1" lang="it" sz="1518">
                <a:solidFill>
                  <a:srgbClr val="0B5394"/>
                </a:solidFill>
                <a:latin typeface="Consolas"/>
                <a:ea typeface="Consolas"/>
                <a:cs typeface="Consolas"/>
                <a:sym typeface="Consolas"/>
              </a:rPr>
              <a:t>position&lt;P&gt;(&amp;mut self, predicate: P) -&gt; Option&lt;usize&gt;</a:t>
            </a:r>
            <a:endParaRPr b="1" sz="1518">
              <a:solidFill>
                <a:srgbClr val="0B5394"/>
              </a:solidFill>
              <a:latin typeface="Consolas"/>
              <a:ea typeface="Consolas"/>
              <a:cs typeface="Consolas"/>
              <a:sym typeface="Consolas"/>
            </a:endParaRPr>
          </a:p>
          <a:p>
            <a:pPr indent="-303287" lvl="1" marL="914400" rtl="0" algn="l">
              <a:spcBef>
                <a:spcPts val="0"/>
              </a:spcBef>
              <a:spcAft>
                <a:spcPts val="0"/>
              </a:spcAft>
              <a:buSzPct val="100000"/>
              <a:buFont typeface="Consolas"/>
              <a:buChar char="○"/>
            </a:pPr>
            <a:r>
              <a:rPr lang="it"/>
              <a:t>Cerca un elemento sulla base della chiusura ricevuta come argomento e ritorna la posizione</a:t>
            </a:r>
            <a:endParaRPr b="1" sz="1518">
              <a:solidFill>
                <a:srgbClr val="0B5394"/>
              </a:solidFill>
              <a:latin typeface="Consolas"/>
              <a:ea typeface="Consolas"/>
              <a:cs typeface="Consolas"/>
              <a:sym typeface="Consolas"/>
            </a:endParaRPr>
          </a:p>
          <a:p>
            <a:pPr indent="-317183" lvl="0" marL="457200" rtl="0" algn="l">
              <a:spcBef>
                <a:spcPts val="0"/>
              </a:spcBef>
              <a:spcAft>
                <a:spcPts val="0"/>
              </a:spcAft>
              <a:buSzPct val="118604"/>
              <a:buFont typeface="Consolas"/>
              <a:buChar char="●"/>
            </a:pPr>
            <a:r>
              <a:rPr b="1" lang="it" sz="1518">
                <a:solidFill>
                  <a:srgbClr val="0B5394"/>
                </a:solidFill>
                <a:latin typeface="Consolas"/>
                <a:ea typeface="Consolas"/>
                <a:cs typeface="Consolas"/>
                <a:sym typeface="Consolas"/>
              </a:rPr>
              <a:t>rposition&lt;P&gt;(&amp;mut self, predicate: P) -&gt; Option&lt;usize&gt;</a:t>
            </a:r>
            <a:endParaRPr b="1" sz="1518">
              <a:solidFill>
                <a:srgbClr val="0B5394"/>
              </a:solidFill>
              <a:latin typeface="Consolas"/>
              <a:ea typeface="Consolas"/>
              <a:cs typeface="Consolas"/>
              <a:sym typeface="Consolas"/>
            </a:endParaRPr>
          </a:p>
          <a:p>
            <a:pPr indent="-303287" lvl="1" marL="914400" rtl="0" algn="l">
              <a:spcBef>
                <a:spcPts val="0"/>
              </a:spcBef>
              <a:spcAft>
                <a:spcPts val="0"/>
              </a:spcAft>
              <a:buSzPct val="108404"/>
              <a:buFont typeface="Consolas"/>
              <a:buChar char="○"/>
            </a:pPr>
            <a:r>
              <a:rPr lang="it"/>
              <a:t>Cerca un elemento sulla base della chiusura ricevuta come argomento, partendo da destra e ritornando la posizione</a:t>
            </a:r>
            <a:endParaRPr>
              <a:solidFill>
                <a:srgbClr val="0B5394"/>
              </a:solidFill>
              <a:latin typeface="Consolas"/>
              <a:ea typeface="Consolas"/>
              <a:cs typeface="Consolas"/>
              <a:sym typeface="Consolas"/>
            </a:endParaRPr>
          </a:p>
          <a:p>
            <a:pPr indent="-317183" lvl="0" marL="457200" rtl="0" algn="l">
              <a:spcBef>
                <a:spcPts val="0"/>
              </a:spcBef>
              <a:spcAft>
                <a:spcPts val="0"/>
              </a:spcAft>
              <a:buSzPct val="118604"/>
              <a:buFont typeface="Consolas"/>
              <a:buChar char="●"/>
            </a:pPr>
            <a:r>
              <a:rPr b="1" lang="it" sz="1518">
                <a:solidFill>
                  <a:srgbClr val="0B5394"/>
                </a:solidFill>
                <a:latin typeface="Consolas"/>
                <a:ea typeface="Consolas"/>
                <a:cs typeface="Consolas"/>
                <a:sym typeface="Consolas"/>
              </a:rPr>
              <a:t>last(self) -&gt; Option&lt;Self::Item&gt;</a:t>
            </a:r>
            <a:endParaRPr b="1" sz="1518">
              <a:solidFill>
                <a:srgbClr val="0B5394"/>
              </a:solidFill>
              <a:latin typeface="Consolas"/>
              <a:ea typeface="Consolas"/>
              <a:cs typeface="Consolas"/>
              <a:sym typeface="Consolas"/>
            </a:endParaRPr>
          </a:p>
          <a:p>
            <a:pPr indent="-303287" lvl="1" marL="914400" rtl="0" algn="l">
              <a:spcBef>
                <a:spcPts val="0"/>
              </a:spcBef>
              <a:spcAft>
                <a:spcPts val="0"/>
              </a:spcAft>
              <a:buSzPct val="108404"/>
              <a:buFont typeface="Consolas"/>
              <a:buChar char="○"/>
            </a:pPr>
            <a:r>
              <a:rPr lang="it"/>
              <a:t>Ritorna l’ultimo elemento dell’iteratore</a:t>
            </a:r>
            <a:endParaRPr/>
          </a:p>
          <a:p>
            <a:pPr indent="-317183" lvl="0" marL="457200" rtl="0" algn="l">
              <a:spcBef>
                <a:spcPts val="0"/>
              </a:spcBef>
              <a:spcAft>
                <a:spcPts val="0"/>
              </a:spcAft>
              <a:buSzPct val="100000"/>
              <a:buFont typeface="Consolas"/>
              <a:buChar char="●"/>
            </a:pPr>
            <a:r>
              <a:rPr b="1" lang="it">
                <a:solidFill>
                  <a:srgbClr val="0B5394"/>
                </a:solidFill>
                <a:latin typeface="Consolas"/>
                <a:ea typeface="Consolas"/>
                <a:cs typeface="Consolas"/>
                <a:sym typeface="Consolas"/>
              </a:rPr>
              <a:t>nth(&amp;mut self, n: usize) -&gt; Option&lt;Self::Item&gt;</a:t>
            </a:r>
            <a:endParaRPr b="1">
              <a:solidFill>
                <a:srgbClr val="0B5394"/>
              </a:solidFill>
              <a:latin typeface="Consolas"/>
              <a:ea typeface="Consolas"/>
              <a:cs typeface="Consolas"/>
              <a:sym typeface="Consolas"/>
            </a:endParaRPr>
          </a:p>
          <a:p>
            <a:pPr indent="-295037" lvl="1" marL="914400" rtl="0" algn="l">
              <a:spcBef>
                <a:spcPts val="0"/>
              </a:spcBef>
              <a:spcAft>
                <a:spcPts val="0"/>
              </a:spcAft>
              <a:buSzPct val="96429"/>
              <a:buFont typeface="Consolas"/>
              <a:buChar char="○"/>
            </a:pPr>
            <a:r>
              <a:rPr lang="it"/>
              <a:t>Ritorna l’ennesimo elemento dell’iteratore, consumando i precedenti</a:t>
            </a:r>
            <a:endParaRPr b="1">
              <a:solidFill>
                <a:srgbClr val="0B5394"/>
              </a:solidFill>
              <a:latin typeface="Consolas"/>
              <a:ea typeface="Consolas"/>
              <a:cs typeface="Consolas"/>
              <a:sym typeface="Consolas"/>
            </a:endParaRPr>
          </a:p>
          <a:p>
            <a:pPr indent="-317183" lvl="0" marL="457200" rtl="0" algn="l">
              <a:spcBef>
                <a:spcPts val="0"/>
              </a:spcBef>
              <a:spcAft>
                <a:spcPts val="0"/>
              </a:spcAft>
              <a:buSzPct val="100000"/>
              <a:buFont typeface="Consolas"/>
              <a:buChar char="●"/>
            </a:pPr>
            <a:r>
              <a:rPr b="1" lang="it">
                <a:solidFill>
                  <a:srgbClr val="0B5394"/>
                </a:solidFill>
                <a:latin typeface="Consolas"/>
                <a:ea typeface="Consolas"/>
                <a:cs typeface="Consolas"/>
                <a:sym typeface="Consolas"/>
              </a:rPr>
              <a:t>all&lt;F&gt;(&amp;mut self, f: F) -&gt; bool where F: FnMut(Item) -&gt; bool</a:t>
            </a:r>
            <a:endParaRPr b="1">
              <a:solidFill>
                <a:srgbClr val="0B5394"/>
              </a:solidFill>
              <a:latin typeface="Consolas"/>
              <a:ea typeface="Consolas"/>
              <a:cs typeface="Consolas"/>
              <a:sym typeface="Consolas"/>
            </a:endParaRPr>
          </a:p>
          <a:p>
            <a:pPr indent="-295037" lvl="1" marL="914400" rtl="0" algn="l">
              <a:spcBef>
                <a:spcPts val="0"/>
              </a:spcBef>
              <a:spcAft>
                <a:spcPts val="0"/>
              </a:spcAft>
              <a:buSzPct val="96429"/>
              <a:buFont typeface="Consolas"/>
              <a:buChar char="○"/>
            </a:pPr>
            <a:r>
              <a:rPr lang="it"/>
              <a:t>Verifica che la chiusura ricevuta restituisca true per tutti gli elementi restituiti dall’iteratore</a:t>
            </a:r>
            <a:endParaRPr>
              <a:solidFill>
                <a:srgbClr val="0B5394"/>
              </a:solidFill>
              <a:latin typeface="Consolas"/>
              <a:ea typeface="Consolas"/>
              <a:cs typeface="Consolas"/>
              <a:sym typeface="Consolas"/>
            </a:endParaRPr>
          </a:p>
          <a:p>
            <a:pPr indent="-317183" lvl="0" marL="457200" rtl="0" algn="l">
              <a:spcBef>
                <a:spcPts val="0"/>
              </a:spcBef>
              <a:spcAft>
                <a:spcPts val="0"/>
              </a:spcAft>
              <a:buSzPct val="100000"/>
              <a:buFont typeface="Consolas"/>
              <a:buChar char="●"/>
            </a:pPr>
            <a:r>
              <a:rPr b="1" lang="it">
                <a:solidFill>
                  <a:srgbClr val="0B5394"/>
                </a:solidFill>
                <a:latin typeface="Consolas"/>
                <a:ea typeface="Consolas"/>
                <a:cs typeface="Consolas"/>
                <a:sym typeface="Consolas"/>
              </a:rPr>
              <a:t>any&lt;F&gt;(&amp;mut self, f: F) -&gt; bool where F: FnMut(Item) -&gt; bool</a:t>
            </a:r>
            <a:endParaRPr b="1">
              <a:solidFill>
                <a:srgbClr val="0B5394"/>
              </a:solidFill>
              <a:latin typeface="Consolas"/>
              <a:ea typeface="Consolas"/>
              <a:cs typeface="Consolas"/>
              <a:sym typeface="Consolas"/>
            </a:endParaRPr>
          </a:p>
          <a:p>
            <a:pPr indent="-295037" lvl="1" marL="914400" rtl="0" algn="l">
              <a:spcBef>
                <a:spcPts val="0"/>
              </a:spcBef>
              <a:spcAft>
                <a:spcPts val="0"/>
              </a:spcAft>
              <a:buSzPct val="96429"/>
              <a:buFont typeface="Consolas"/>
              <a:buChar char="○"/>
            </a:pPr>
            <a:r>
              <a:rPr lang="it"/>
              <a:t>Verifica che la chiusura ricevuta restituisca true per almeno un elemento restituito dall’iteratore</a:t>
            </a:r>
            <a:endParaRPr/>
          </a:p>
        </p:txBody>
      </p:sp>
      <p:sp>
        <p:nvSpPr>
          <p:cNvPr id="258" name="Google Shape;258;p33"/>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Consumatori: confrontare</a:t>
            </a:r>
            <a:endParaRPr/>
          </a:p>
        </p:txBody>
      </p:sp>
      <p:sp>
        <p:nvSpPr>
          <p:cNvPr id="264" name="Google Shape;264;p34"/>
          <p:cNvSpPr txBox="1"/>
          <p:nvPr>
            <p:ph idx="1" type="body"/>
          </p:nvPr>
        </p:nvSpPr>
        <p:spPr>
          <a:xfrm>
            <a:off x="311700" y="1152475"/>
            <a:ext cx="8520600" cy="3615900"/>
          </a:xfrm>
          <a:prstGeom prst="rect">
            <a:avLst/>
          </a:prstGeom>
        </p:spPr>
        <p:txBody>
          <a:bodyPr anchorCtr="0" anchor="t" bIns="91425" lIns="91425" spcFirstLastPara="1" rIns="91425" wrap="square" tIns="91425">
            <a:noAutofit/>
          </a:bodyPr>
          <a:lstStyle/>
          <a:p>
            <a:pPr indent="-322337" lvl="0" marL="457200" rtl="0" algn="l">
              <a:spcBef>
                <a:spcPts val="0"/>
              </a:spcBef>
              <a:spcAft>
                <a:spcPts val="0"/>
              </a:spcAft>
              <a:buSzPts val="1476"/>
              <a:buFont typeface="Consolas"/>
              <a:buChar char="●"/>
            </a:pPr>
            <a:r>
              <a:rPr b="1" lang="it" sz="1476">
                <a:solidFill>
                  <a:srgbClr val="0B5394"/>
                </a:solidFill>
                <a:latin typeface="Consolas"/>
                <a:ea typeface="Consolas"/>
                <a:cs typeface="Consolas"/>
                <a:sym typeface="Consolas"/>
              </a:rPr>
              <a:t>cmp&lt;I&gt;(self, other: I) -&gt; Ordering</a:t>
            </a:r>
            <a:endParaRPr b="1" sz="1476">
              <a:solidFill>
                <a:srgbClr val="0B5394"/>
              </a:solidFill>
              <a:latin typeface="Consolas"/>
              <a:ea typeface="Consolas"/>
              <a:cs typeface="Consolas"/>
              <a:sym typeface="Consolas"/>
            </a:endParaRPr>
          </a:p>
          <a:p>
            <a:pPr indent="-316548" lvl="1" marL="914400" rtl="0" algn="l">
              <a:spcBef>
                <a:spcPts val="0"/>
              </a:spcBef>
              <a:spcAft>
                <a:spcPts val="0"/>
              </a:spcAft>
              <a:buSzPts val="1385"/>
              <a:buChar char="○"/>
            </a:pPr>
            <a:r>
              <a:rPr lang="it" sz="1385"/>
              <a:t>Confronta</a:t>
            </a:r>
            <a:r>
              <a:rPr lang="it" sz="1385"/>
              <a:t> gli elementi di due iteratori</a:t>
            </a:r>
            <a:endParaRPr sz="1385"/>
          </a:p>
          <a:p>
            <a:pPr indent="-322337" lvl="0" marL="457200" rtl="0" algn="l">
              <a:spcBef>
                <a:spcPts val="0"/>
              </a:spcBef>
              <a:spcAft>
                <a:spcPts val="0"/>
              </a:spcAft>
              <a:buSzPts val="1476"/>
              <a:buFont typeface="Consolas"/>
              <a:buChar char="●"/>
            </a:pPr>
            <a:r>
              <a:rPr b="1" lang="it" sz="1476">
                <a:solidFill>
                  <a:srgbClr val="0B5394"/>
                </a:solidFill>
                <a:latin typeface="Consolas"/>
                <a:ea typeface="Consolas"/>
                <a:cs typeface="Consolas"/>
                <a:sym typeface="Consolas"/>
              </a:rPr>
              <a:t>eq&lt;I&gt;(self, other: I) -&gt; bool</a:t>
            </a:r>
            <a:endParaRPr b="1" sz="1476">
              <a:solidFill>
                <a:srgbClr val="0B5394"/>
              </a:solidFill>
              <a:latin typeface="Consolas"/>
              <a:ea typeface="Consolas"/>
              <a:cs typeface="Consolas"/>
              <a:sym typeface="Consolas"/>
            </a:endParaRPr>
          </a:p>
          <a:p>
            <a:pPr indent="-316548" lvl="1" marL="914400" rtl="0" algn="l">
              <a:spcBef>
                <a:spcPts val="0"/>
              </a:spcBef>
              <a:spcAft>
                <a:spcPts val="0"/>
              </a:spcAft>
              <a:buSzPts val="1385"/>
              <a:buChar char="○"/>
            </a:pPr>
            <a:r>
              <a:rPr lang="it" sz="1385"/>
              <a:t>Verifica se gli elementi di due iteratori sono uguali</a:t>
            </a:r>
            <a:endParaRPr b="1" sz="1385">
              <a:solidFill>
                <a:srgbClr val="0B5394"/>
              </a:solidFill>
              <a:latin typeface="Consolas"/>
              <a:ea typeface="Consolas"/>
              <a:cs typeface="Consolas"/>
              <a:sym typeface="Consolas"/>
            </a:endParaRPr>
          </a:p>
          <a:p>
            <a:pPr indent="-322337" lvl="0" marL="457200" rtl="0" algn="l">
              <a:spcBef>
                <a:spcPts val="0"/>
              </a:spcBef>
              <a:spcAft>
                <a:spcPts val="0"/>
              </a:spcAft>
              <a:buSzPts val="1476"/>
              <a:buFont typeface="Consolas"/>
              <a:buChar char="●"/>
            </a:pPr>
            <a:r>
              <a:rPr b="1" lang="it" sz="1476">
                <a:solidFill>
                  <a:srgbClr val="0B5394"/>
                </a:solidFill>
                <a:latin typeface="Consolas"/>
                <a:ea typeface="Consolas"/>
                <a:cs typeface="Consolas"/>
                <a:sym typeface="Consolas"/>
              </a:rPr>
              <a:t>ne&lt;I&gt;(self, other: I) -&gt; bool</a:t>
            </a:r>
            <a:endParaRPr b="1" sz="1476">
              <a:solidFill>
                <a:srgbClr val="0B5394"/>
              </a:solidFill>
              <a:latin typeface="Consolas"/>
              <a:ea typeface="Consolas"/>
              <a:cs typeface="Consolas"/>
              <a:sym typeface="Consolas"/>
            </a:endParaRPr>
          </a:p>
          <a:p>
            <a:pPr indent="-316548" lvl="1" marL="914400" rtl="0" algn="l">
              <a:spcBef>
                <a:spcPts val="0"/>
              </a:spcBef>
              <a:spcAft>
                <a:spcPts val="0"/>
              </a:spcAft>
              <a:buSzPts val="1385"/>
              <a:buChar char="○"/>
            </a:pPr>
            <a:r>
              <a:rPr lang="it" sz="1385"/>
              <a:t>Verifica se gli elementi di due iteratori sono diversi</a:t>
            </a:r>
            <a:endParaRPr b="1" sz="1385">
              <a:solidFill>
                <a:srgbClr val="0B5394"/>
              </a:solidFill>
              <a:latin typeface="Consolas"/>
              <a:ea typeface="Consolas"/>
              <a:cs typeface="Consolas"/>
              <a:sym typeface="Consolas"/>
            </a:endParaRPr>
          </a:p>
          <a:p>
            <a:pPr indent="-322337" lvl="0" marL="457200" rtl="0" algn="l">
              <a:spcBef>
                <a:spcPts val="0"/>
              </a:spcBef>
              <a:spcAft>
                <a:spcPts val="0"/>
              </a:spcAft>
              <a:buSzPts val="1476"/>
              <a:buFont typeface="Consolas"/>
              <a:buChar char="●"/>
            </a:pPr>
            <a:r>
              <a:rPr b="1" lang="it" sz="1476">
                <a:solidFill>
                  <a:srgbClr val="0B5394"/>
                </a:solidFill>
                <a:latin typeface="Consolas"/>
                <a:ea typeface="Consolas"/>
                <a:cs typeface="Consolas"/>
                <a:sym typeface="Consolas"/>
              </a:rPr>
              <a:t>lt&lt;I&gt;(self, other: I) -&gt; bool</a:t>
            </a:r>
            <a:endParaRPr b="1" sz="1476">
              <a:solidFill>
                <a:srgbClr val="0B5394"/>
              </a:solidFill>
              <a:latin typeface="Consolas"/>
              <a:ea typeface="Consolas"/>
              <a:cs typeface="Consolas"/>
              <a:sym typeface="Consolas"/>
            </a:endParaRPr>
          </a:p>
          <a:p>
            <a:pPr indent="-316548" lvl="1" marL="914400" rtl="0" algn="l">
              <a:spcBef>
                <a:spcPts val="0"/>
              </a:spcBef>
              <a:spcAft>
                <a:spcPts val="0"/>
              </a:spcAft>
              <a:buSzPts val="1385"/>
              <a:buChar char="○"/>
            </a:pPr>
            <a:r>
              <a:rPr lang="it" sz="1385"/>
              <a:t>Verifica se gli elementi di un iteratore sono minori rispetto a quelli di un secondo iteratore</a:t>
            </a:r>
            <a:endParaRPr sz="1385"/>
          </a:p>
          <a:p>
            <a:pPr indent="-322337" lvl="0" marL="457200" rtl="0" algn="l">
              <a:spcBef>
                <a:spcPts val="0"/>
              </a:spcBef>
              <a:spcAft>
                <a:spcPts val="0"/>
              </a:spcAft>
              <a:buSzPts val="1476"/>
              <a:buFont typeface="Consolas"/>
              <a:buChar char="●"/>
            </a:pPr>
            <a:r>
              <a:rPr b="1" lang="it" sz="1476">
                <a:solidFill>
                  <a:srgbClr val="0B5394"/>
                </a:solidFill>
                <a:latin typeface="Consolas"/>
                <a:ea typeface="Consolas"/>
                <a:cs typeface="Consolas"/>
                <a:sym typeface="Consolas"/>
              </a:rPr>
              <a:t>le&lt;I&gt;(self, other: I) -&gt; bool</a:t>
            </a:r>
            <a:endParaRPr b="1" sz="1476">
              <a:solidFill>
                <a:srgbClr val="0B5394"/>
              </a:solidFill>
              <a:latin typeface="Consolas"/>
              <a:ea typeface="Consolas"/>
              <a:cs typeface="Consolas"/>
              <a:sym typeface="Consolas"/>
            </a:endParaRPr>
          </a:p>
          <a:p>
            <a:pPr indent="-316548" lvl="1" marL="914400" rtl="0" algn="l">
              <a:spcBef>
                <a:spcPts val="0"/>
              </a:spcBef>
              <a:spcAft>
                <a:spcPts val="0"/>
              </a:spcAft>
              <a:buSzPts val="1385"/>
              <a:buChar char="○"/>
            </a:pPr>
            <a:r>
              <a:rPr lang="it" sz="1385"/>
              <a:t>Verifica se gli elementi di un iteratore sono minori o uguali rispetto a quelli di un secondo iteratore</a:t>
            </a:r>
            <a:endParaRPr sz="1385"/>
          </a:p>
          <a:p>
            <a:pPr indent="-322337" lvl="0" marL="457200" rtl="0" algn="l">
              <a:spcBef>
                <a:spcPts val="0"/>
              </a:spcBef>
              <a:spcAft>
                <a:spcPts val="0"/>
              </a:spcAft>
              <a:buSzPts val="1476"/>
              <a:buFont typeface="Consolas"/>
              <a:buChar char="●"/>
            </a:pPr>
            <a:r>
              <a:rPr b="1" lang="it" sz="1476">
                <a:solidFill>
                  <a:srgbClr val="0B5394"/>
                </a:solidFill>
                <a:latin typeface="Consolas"/>
                <a:ea typeface="Consolas"/>
                <a:cs typeface="Consolas"/>
                <a:sym typeface="Consolas"/>
              </a:rPr>
              <a:t>gt&lt;I&gt;(self, other: I) -&gt; bool</a:t>
            </a:r>
            <a:endParaRPr b="1" sz="1476">
              <a:solidFill>
                <a:srgbClr val="0B5394"/>
              </a:solidFill>
              <a:latin typeface="Consolas"/>
              <a:ea typeface="Consolas"/>
              <a:cs typeface="Consolas"/>
              <a:sym typeface="Consolas"/>
            </a:endParaRPr>
          </a:p>
          <a:p>
            <a:pPr indent="-316548" lvl="1" marL="914400" rtl="0" algn="l">
              <a:spcBef>
                <a:spcPts val="0"/>
              </a:spcBef>
              <a:spcAft>
                <a:spcPts val="0"/>
              </a:spcAft>
              <a:buSzPts val="1385"/>
              <a:buChar char="○"/>
            </a:pPr>
            <a:r>
              <a:rPr lang="it" sz="1385"/>
              <a:t>Verifica se gli elementi di un iteratore sono maggiori  rispetto a quelli di un secondo iteratore</a:t>
            </a:r>
            <a:endParaRPr sz="1385"/>
          </a:p>
          <a:p>
            <a:pPr indent="-322337" lvl="0" marL="457200" rtl="0" algn="l">
              <a:spcBef>
                <a:spcPts val="0"/>
              </a:spcBef>
              <a:spcAft>
                <a:spcPts val="0"/>
              </a:spcAft>
              <a:buSzPts val="1476"/>
              <a:buFont typeface="Consolas"/>
              <a:buChar char="●"/>
            </a:pPr>
            <a:r>
              <a:rPr b="1" lang="it" sz="1476">
                <a:solidFill>
                  <a:srgbClr val="0B5394"/>
                </a:solidFill>
                <a:latin typeface="Consolas"/>
                <a:ea typeface="Consolas"/>
                <a:cs typeface="Consolas"/>
                <a:sym typeface="Consolas"/>
              </a:rPr>
              <a:t>ge&lt;I&gt;(self, other: I) -&gt; bool</a:t>
            </a:r>
            <a:endParaRPr b="1" sz="1476">
              <a:solidFill>
                <a:srgbClr val="0B5394"/>
              </a:solidFill>
              <a:latin typeface="Consolas"/>
              <a:ea typeface="Consolas"/>
              <a:cs typeface="Consolas"/>
              <a:sym typeface="Consolas"/>
            </a:endParaRPr>
          </a:p>
          <a:p>
            <a:pPr indent="-316548" lvl="1" marL="914400" rtl="0" algn="l">
              <a:spcBef>
                <a:spcPts val="0"/>
              </a:spcBef>
              <a:spcAft>
                <a:spcPts val="0"/>
              </a:spcAft>
              <a:buSzPts val="1385"/>
              <a:buChar char="○"/>
            </a:pPr>
            <a:r>
              <a:rPr lang="it" sz="1385"/>
              <a:t>Verifica se gli elementi di un iteratore sono maggiori o uguali rispetto a quelli di un secondo iteratore</a:t>
            </a:r>
            <a:endParaRPr sz="1450"/>
          </a:p>
        </p:txBody>
      </p:sp>
      <p:sp>
        <p:nvSpPr>
          <p:cNvPr id="265" name="Google Shape;265;p3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Per saperne di più</a:t>
            </a:r>
            <a:endParaRPr/>
          </a:p>
        </p:txBody>
      </p:sp>
      <p:sp>
        <p:nvSpPr>
          <p:cNvPr id="271" name="Google Shape;271;p35"/>
          <p:cNvSpPr txBox="1"/>
          <p:nvPr>
            <p:ph idx="1" type="body"/>
          </p:nvPr>
        </p:nvSpPr>
        <p:spPr>
          <a:xfrm>
            <a:off x="311700" y="128963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The Rust Programming Language book - Chapter 13: "Functional Language Features: Iterators and Closures" </a:t>
            </a:r>
            <a:endParaRPr/>
          </a:p>
          <a:p>
            <a:pPr indent="-317500" lvl="1" marL="914400" rtl="0" algn="l">
              <a:spcBef>
                <a:spcPts val="0"/>
              </a:spcBef>
              <a:spcAft>
                <a:spcPts val="0"/>
              </a:spcAft>
              <a:buSzPts val="1400"/>
              <a:buChar char="○"/>
            </a:pPr>
            <a:r>
              <a:rPr lang="it" u="sng">
                <a:solidFill>
                  <a:schemeClr val="hlink"/>
                </a:solidFill>
                <a:hlinkClick r:id="rId3"/>
              </a:rPr>
              <a:t>https://doc.rust-lang.org/book/ch13-00-functional-features.html</a:t>
            </a:r>
            <a:r>
              <a:rPr lang="it"/>
              <a:t> </a:t>
            </a:r>
            <a:endParaRPr/>
          </a:p>
          <a:p>
            <a:pPr indent="-342900" lvl="0" marL="457200" rtl="0" algn="l">
              <a:spcBef>
                <a:spcPts val="0"/>
              </a:spcBef>
              <a:spcAft>
                <a:spcPts val="0"/>
              </a:spcAft>
              <a:buSzPts val="1800"/>
              <a:buChar char="●"/>
            </a:pPr>
            <a:r>
              <a:rPr lang="it"/>
              <a:t>Rust by Example - Iterators </a:t>
            </a:r>
            <a:endParaRPr/>
          </a:p>
          <a:p>
            <a:pPr indent="-317500" lvl="1" marL="914400" rtl="0" algn="l">
              <a:spcBef>
                <a:spcPts val="0"/>
              </a:spcBef>
              <a:spcAft>
                <a:spcPts val="0"/>
              </a:spcAft>
              <a:buSzPts val="1400"/>
              <a:buChar char="○"/>
            </a:pPr>
            <a:r>
              <a:rPr lang="it" u="sng">
                <a:solidFill>
                  <a:schemeClr val="hlink"/>
                </a:solidFill>
                <a:hlinkClick r:id="rId4"/>
              </a:rPr>
              <a:t>https://doc.rust-lang.org/rust-by-example/trait/iter.html</a:t>
            </a:r>
            <a:r>
              <a:rPr lang="it"/>
              <a:t> </a:t>
            </a:r>
            <a:endParaRPr/>
          </a:p>
          <a:p>
            <a:pPr indent="-342900" lvl="0" marL="457200" rtl="0" algn="l">
              <a:spcBef>
                <a:spcPts val="0"/>
              </a:spcBef>
              <a:spcAft>
                <a:spcPts val="0"/>
              </a:spcAft>
              <a:buSzPts val="1800"/>
              <a:buChar char="●"/>
            </a:pPr>
            <a:r>
              <a:rPr lang="it"/>
              <a:t>Rust Iterators: A Guide</a:t>
            </a:r>
            <a:endParaRPr/>
          </a:p>
          <a:p>
            <a:pPr indent="-317500" lvl="1" marL="914400" rtl="0" algn="l">
              <a:spcBef>
                <a:spcPts val="0"/>
              </a:spcBef>
              <a:spcAft>
                <a:spcPts val="0"/>
              </a:spcAft>
              <a:buSzPts val="1400"/>
              <a:buChar char="○"/>
            </a:pPr>
            <a:r>
              <a:rPr lang="it" u="sng">
                <a:solidFill>
                  <a:schemeClr val="hlink"/>
                </a:solidFill>
                <a:hlinkClick r:id="rId5"/>
              </a:rPr>
              <a:t>https://www.newline.co/@uint/rust-iterators-a-guide--80e35528</a:t>
            </a:r>
            <a:r>
              <a:rPr lang="it"/>
              <a:t> </a:t>
            </a:r>
            <a:endParaRPr/>
          </a:p>
          <a:p>
            <a:pPr indent="-342900" lvl="0" marL="457200" rtl="0" algn="l">
              <a:spcBef>
                <a:spcPts val="0"/>
              </a:spcBef>
              <a:spcAft>
                <a:spcPts val="0"/>
              </a:spcAft>
              <a:buSzPts val="1800"/>
              <a:buChar char="●"/>
            </a:pPr>
            <a:r>
              <a:rPr lang="it"/>
              <a:t>Daily Rust: Iterators</a:t>
            </a:r>
            <a:endParaRPr/>
          </a:p>
          <a:p>
            <a:pPr indent="-317500" lvl="1" marL="914400" rtl="0" algn="l">
              <a:spcBef>
                <a:spcPts val="0"/>
              </a:spcBef>
              <a:spcAft>
                <a:spcPts val="0"/>
              </a:spcAft>
              <a:buSzPts val="1400"/>
              <a:buChar char="○"/>
            </a:pPr>
            <a:r>
              <a:rPr lang="it" u="sng">
                <a:solidFill>
                  <a:schemeClr val="hlink"/>
                </a:solidFill>
                <a:hlinkClick r:id="rId6"/>
              </a:rPr>
              <a:t>https://adventures.michaelfbryan.com/posts/daily/iterators/</a:t>
            </a:r>
            <a:r>
              <a:rPr lang="it"/>
              <a:t> </a:t>
            </a:r>
            <a:endParaRPr/>
          </a:p>
        </p:txBody>
      </p:sp>
      <p:sp>
        <p:nvSpPr>
          <p:cNvPr id="272" name="Google Shape;272;p3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273" name="Google Shape;273;p35"/>
          <p:cNvPicPr preferRelativeResize="0"/>
          <p:nvPr/>
        </p:nvPicPr>
        <p:blipFill rotWithShape="1">
          <a:blip r:embed="rId7">
            <a:alphaModFix/>
          </a:blip>
          <a:srcRect b="18806" l="17235" r="17235" t="18800"/>
          <a:stretch/>
        </p:blipFill>
        <p:spPr>
          <a:xfrm>
            <a:off x="7771925" y="105703"/>
            <a:ext cx="1249224" cy="100790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olito">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