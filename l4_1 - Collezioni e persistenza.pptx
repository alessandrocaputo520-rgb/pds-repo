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76" r:id="rId5"/>
    <p:sldMasterId id="2147483677" r:id="rId6"/>
    <p:sldMasterId id="214748367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FFD481-5C53-4943-9D6E-F0DE1F5FBB42}">
  <a:tblStyle styleId="{ECFFD481-5C53-4943-9D6E-F0DE1F5FBB4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430277862_0_32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430277862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430277862_0_33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430277862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3dcd00ba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3dcd00ba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3dcd00ba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3dcd00ba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430277862_0_34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430277862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430277862_0_35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430277862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654b240bb_0_16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654b240b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430277862_0_37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430277862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430277862_0_37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430277862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728a36ec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728a36ec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430277862_0_38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c430277862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728a36e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728a36e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430277862_0_39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430277862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728a36ec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9728a36ec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c430277862_0_39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c430277862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728a36ec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9728a36ec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728a36ec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9728a36ec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430277862_0_40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c430277862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430277862_0_41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c430277862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c430277862_0_41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c430277862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430277862_0_42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c430277862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9728a36ec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9728a36ec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728a36ec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728a36ec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430277862_0_42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430277862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728a36ec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728a36ec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430277862_0_43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c430277862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430277862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c430277862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430277862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c430277862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c430277862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c430277862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c430277862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c430277862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430277862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c430277862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430277862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c430277862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430277862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430277862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c430277862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c430277862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c430277862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c430277862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c430277862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c430277862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c430277862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c430277862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c430277862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c430277862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c430277862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c430277862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430277862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c430277862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c430277862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c430277862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c430277862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c430277862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430277862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c430277862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3dcd00ba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d3dcd00ba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d3dcd00ba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d3dcd00ba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d3dcd00ba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d3dcd00ba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70200fa9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870200fa9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870200fa9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870200fa9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870200fa9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870200fa9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430277862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430277862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 name="Google Shape;17;p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 name="Google Shape;18;p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 name="Shape 27"/>
        <p:cNvGrpSpPr/>
        <p:nvPr/>
      </p:nvGrpSpPr>
      <p:grpSpPr>
        <a:xfrm>
          <a:off x="0" y="0"/>
          <a:ext cx="0" cy="0"/>
          <a:chOff x="0" y="0"/>
          <a:chExt cx="0" cy="0"/>
        </a:xfrm>
      </p:grpSpPr>
      <p:sp>
        <p:nvSpPr>
          <p:cNvPr id="28" name="Google Shape;28;p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163611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0" name="Google Shape;40;p9"/>
          <p:cNvSpPr txBox="1"/>
          <p:nvPr>
            <p:ph idx="1" type="subTitle"/>
          </p:nvPr>
        </p:nvSpPr>
        <p:spPr>
          <a:xfrm>
            <a:off x="311700" y="372566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1" name="Google Shape;41;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1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4" name="Google Shape;44;p10"/>
          <p:cNvSpPr txBox="1"/>
          <p:nvPr>
            <p:ph idx="12" type="sldNum"/>
          </p:nvPr>
        </p:nvSpPr>
        <p:spPr>
          <a:xfrm>
            <a:off x="8595308" y="476850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1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 name="Google Shape;47;p1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p1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 name="Google Shape;51;p1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 name="Google Shape;52;p1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 name="Google Shape;53;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7" name="Shape 57"/>
        <p:cNvGrpSpPr/>
        <p:nvPr/>
      </p:nvGrpSpPr>
      <p:grpSpPr>
        <a:xfrm>
          <a:off x="0" y="0"/>
          <a:ext cx="0" cy="0"/>
          <a:chOff x="0" y="0"/>
          <a:chExt cx="0" cy="0"/>
        </a:xfrm>
      </p:grpSpPr>
      <p:sp>
        <p:nvSpPr>
          <p:cNvPr id="58" name="Google Shape;58;p14"/>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9" name="Google Shape;59;p1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 name="Google Shape;60;p1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 name="Shape 61"/>
        <p:cNvGrpSpPr/>
        <p:nvPr/>
      </p:nvGrpSpPr>
      <p:grpSpPr>
        <a:xfrm>
          <a:off x="0" y="0"/>
          <a:ext cx="0" cy="0"/>
          <a:chOff x="0" y="0"/>
          <a:chExt cx="0" cy="0"/>
        </a:xfrm>
      </p:grpSpPr>
      <p:sp>
        <p:nvSpPr>
          <p:cNvPr id="62" name="Google Shape;62;p1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3" name="Google Shape;63;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4" name="Shape 64"/>
        <p:cNvGrpSpPr/>
        <p:nvPr/>
      </p:nvGrpSpPr>
      <p:grpSpPr>
        <a:xfrm>
          <a:off x="0" y="0"/>
          <a:ext cx="0" cy="0"/>
          <a:chOff x="0" y="0"/>
          <a:chExt cx="0" cy="0"/>
        </a:xfrm>
      </p:grpSpPr>
      <p:sp>
        <p:nvSpPr>
          <p:cNvPr id="65" name="Google Shape;65;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7" name="Google Shape;67;p1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8" name="Google Shape;68;p1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7"/>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72" name="Google Shape;72;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1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5" name="Google Shape;75;p1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76" name="Google Shape;76;p1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sp>
        <p:nvSpPr>
          <p:cNvPr id="86" name="Google Shape;86;p21"/>
          <p:cNvSpPr txBox="1"/>
          <p:nvPr>
            <p:ph type="ctrTitle"/>
          </p:nvPr>
        </p:nvSpPr>
        <p:spPr>
          <a:xfrm>
            <a:off x="311708" y="17351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7" name="Google Shape;87;p21"/>
          <p:cNvSpPr txBox="1"/>
          <p:nvPr>
            <p:ph idx="1" type="subTitle"/>
          </p:nvPr>
        </p:nvSpPr>
        <p:spPr>
          <a:xfrm>
            <a:off x="311700" y="38247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8" name="Google Shape;88;p2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sp>
        <p:nvSpPr>
          <p:cNvPr id="90" name="Google Shape;90;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1" name="Google Shape;91;p22"/>
          <p:cNvSpPr txBox="1"/>
          <p:nvPr>
            <p:ph idx="12" type="sldNum"/>
          </p:nvPr>
        </p:nvSpPr>
        <p:spPr>
          <a:xfrm>
            <a:off x="8595308" y="476850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sp>
        <p:nvSpPr>
          <p:cNvPr id="93" name="Google Shape;93;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 name="Google Shape;9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5" name="Google Shape;95;p2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sp>
        <p:nvSpPr>
          <p:cNvPr id="97" name="Google Shape;97;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2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9" name="Google Shape;99;p2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2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sp>
        <p:nvSpPr>
          <p:cNvPr id="102" name="Google Shape;10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 name="Google Shape;103;p2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6" name="Google Shape;106;p2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2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8" name="Shape 108"/>
        <p:cNvGrpSpPr/>
        <p:nvPr/>
      </p:nvGrpSpPr>
      <p:grpSpPr>
        <a:xfrm>
          <a:off x="0" y="0"/>
          <a:ext cx="0" cy="0"/>
          <a:chOff x="0" y="0"/>
          <a:chExt cx="0" cy="0"/>
        </a:xfrm>
      </p:grpSpPr>
      <p:sp>
        <p:nvSpPr>
          <p:cNvPr id="109" name="Google Shape;109;p2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0" name="Google Shape;110;p2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4" name="Google Shape;114;p2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5" name="Google Shape;115;p2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6" name="Google Shape;116;p2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2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19" name="Google Shape;119;p2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0" name="Shape 120"/>
        <p:cNvGrpSpPr/>
        <p:nvPr/>
      </p:nvGrpSpPr>
      <p:grpSpPr>
        <a:xfrm>
          <a:off x="0" y="0"/>
          <a:ext cx="0" cy="0"/>
          <a:chOff x="0" y="0"/>
          <a:chExt cx="0" cy="0"/>
        </a:xfrm>
      </p:grpSpPr>
      <p:sp>
        <p:nvSpPr>
          <p:cNvPr id="121" name="Google Shape;121;p3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2" name="Google Shape;122;p3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23" name="Google Shape;123;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 name="Shape 124"/>
        <p:cNvGrpSpPr/>
        <p:nvPr/>
      </p:nvGrpSpPr>
      <p:grpSpPr>
        <a:xfrm>
          <a:off x="0" y="0"/>
          <a:ext cx="0" cy="0"/>
          <a:chOff x="0" y="0"/>
          <a:chExt cx="0" cy="0"/>
        </a:xfrm>
      </p:grpSpPr>
      <p:sp>
        <p:nvSpPr>
          <p:cNvPr id="125" name="Google Shape;125;p3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0" Type="http://schemas.openxmlformats.org/officeDocument/2006/relationships/slideLayout" Target="../slideLayouts/slideLayout15.xml"/><Relationship Id="rId13" Type="http://schemas.openxmlformats.org/officeDocument/2006/relationships/theme" Target="../theme/theme1.xml"/><Relationship Id="rId12" Type="http://schemas.openxmlformats.org/officeDocument/2006/relationships/slideLayout" Target="../slideLayouts/slideLayout17.xml"/><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4.xml"/><Relationship Id="rId12" Type="http://schemas.openxmlformats.org/officeDocument/2006/relationships/slideLayout" Target="../slideLayouts/slideLayout28.xml"/><Relationship Id="rId1" Type="http://schemas.openxmlformats.org/officeDocument/2006/relationships/image" Target="../media/image2.pn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 name="Shape 32"/>
        <p:cNvGrpSpPr/>
        <p:nvPr/>
      </p:nvGrpSpPr>
      <p:grpSpPr>
        <a:xfrm>
          <a:off x="0" y="0"/>
          <a:ext cx="0" cy="0"/>
          <a:chOff x="0" y="0"/>
          <a:chExt cx="0" cy="0"/>
        </a:xfrm>
      </p:grpSpPr>
      <p:pic>
        <p:nvPicPr>
          <p:cNvPr id="33" name="Google Shape;33;p8"/>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34" name="Google Shape;3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35" name="Google Shape;3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36" name="Google Shape;36;p8"/>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37" name="Google Shape;37;p8"/>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G. Liaci, A. Savino,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 name="Shape 79"/>
        <p:cNvGrpSpPr/>
        <p:nvPr/>
      </p:nvGrpSpPr>
      <p:grpSpPr>
        <a:xfrm>
          <a:off x="0" y="0"/>
          <a:ext cx="0" cy="0"/>
          <a:chOff x="0" y="0"/>
          <a:chExt cx="0" cy="0"/>
        </a:xfrm>
      </p:grpSpPr>
      <p:pic>
        <p:nvPicPr>
          <p:cNvPr id="80" name="Google Shape;80;p20"/>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81" name="Google Shape;8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2pPr>
            <a:lvl3pPr lvl="2">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3pPr>
            <a:lvl4pPr lvl="3">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4pPr>
            <a:lvl5pPr lvl="4">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5pPr>
            <a:lvl6pPr lvl="5">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6pPr>
            <a:lvl7pPr lvl="6">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7pPr>
            <a:lvl8pPr lvl="7">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8pPr>
            <a:lvl9pPr lvl="8">
              <a:spcBef>
                <a:spcPts val="0"/>
              </a:spcBef>
              <a:spcAft>
                <a:spcPts val="0"/>
              </a:spcAft>
              <a:buClr>
                <a:srgbClr val="0B5394"/>
              </a:buClr>
              <a:buSzPts val="2800"/>
              <a:buFont typeface="Consolas"/>
              <a:buNone/>
              <a:defRPr b="1" sz="2800">
                <a:solidFill>
                  <a:srgbClr val="0B5394"/>
                </a:solidFill>
                <a:latin typeface="Consolas"/>
                <a:ea typeface="Consolas"/>
                <a:cs typeface="Consolas"/>
                <a:sym typeface="Consolas"/>
              </a:defRPr>
            </a:lvl9pPr>
          </a:lstStyle>
          <a:p/>
        </p:txBody>
      </p:sp>
      <p:sp>
        <p:nvSpPr>
          <p:cNvPr id="82" name="Google Shape;82;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83" name="Google Shape;83;p20"/>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84" name="Google Shape;84;p20"/>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G. Liaci, A. Savino,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doc.rust-lang.org/std/vec/struct.Vec.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hyperlink" Target="https://medium.com/@tzutoo/rust-collections-56359d50df28" TargetMode="External"/><Relationship Id="rId4" Type="http://schemas.openxmlformats.org/officeDocument/2006/relationships/hyperlink" Target="https://doc.rust-lang.org/book/ch08-00-common-collections.html" TargetMode="External"/><Relationship Id="rId5" Type="http://schemas.openxmlformats.org/officeDocument/2006/relationships/hyperlink" Target="https://doc.rust-lang.org/std/collections/index.html" TargetMode="External"/><Relationship Id="rId6"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 Id="rId3" Type="http://schemas.openxmlformats.org/officeDocument/2006/relationships/hyperlink" Target="https://docs.rs/serde/latest/serde/"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0.xml"/><Relationship Id="rId3" Type="http://schemas.openxmlformats.org/officeDocument/2006/relationships/hyperlink" Target="https://rustjobs.dev/blog/reading-and-writing-files-in-rust/" TargetMode="External"/><Relationship Id="rId4" Type="http://schemas.openxmlformats.org/officeDocument/2006/relationships/hyperlink" Target="https://dev.to/oliverjumpertz/how-to-read-files-in-rust-525d" TargetMode="External"/><Relationship Id="rId5" Type="http://schemas.openxmlformats.org/officeDocument/2006/relationships/hyperlink" Target="https://sensepost.com/blog/2023/reading-large-files-and-perf/" TargetMode="External"/><Relationship Id="rId6" Type="http://schemas.openxmlformats.org/officeDocument/2006/relationships/hyperlink" Target="https://medium.com/@2018.itsuki/detail-guide-to-serialization-and-deserialization-with-serde-in-rust-4fa70a6a8c4b" TargetMode="External"/><Relationship Id="rId7"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2"/>
          <p:cNvSpPr txBox="1"/>
          <p:nvPr>
            <p:ph type="ctrTitle"/>
          </p:nvPr>
        </p:nvSpPr>
        <p:spPr>
          <a:xfrm>
            <a:off x="311708" y="163611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Collezioni di dati</a:t>
            </a:r>
            <a:endParaRPr/>
          </a:p>
        </p:txBody>
      </p:sp>
      <p:sp>
        <p:nvSpPr>
          <p:cNvPr id="131" name="Google Shape;131;p32"/>
          <p:cNvSpPr txBox="1"/>
          <p:nvPr>
            <p:ph idx="1" type="subTitle"/>
          </p:nvPr>
        </p:nvSpPr>
        <p:spPr>
          <a:xfrm>
            <a:off x="311700" y="372566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Algoritmi e contenitori</a:t>
            </a:r>
            <a:endParaRPr/>
          </a:p>
        </p:txBody>
      </p:sp>
      <p:pic>
        <p:nvPicPr>
          <p:cNvPr id="132" name="Google Shape;132;p32"/>
          <p:cNvPicPr preferRelativeResize="0"/>
          <p:nvPr/>
        </p:nvPicPr>
        <p:blipFill>
          <a:blip r:embed="rId3">
            <a:alphaModFix/>
          </a:blip>
          <a:stretch>
            <a:fillRect/>
          </a:stretch>
        </p:blipFill>
        <p:spPr>
          <a:xfrm>
            <a:off x="3619500" y="686317"/>
            <a:ext cx="1714500" cy="1714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Collezioni di dati</a:t>
            </a:r>
            <a:endParaRPr/>
          </a:p>
        </p:txBody>
      </p:sp>
      <p:sp>
        <p:nvSpPr>
          <p:cNvPr id="138" name="Google Shape;13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Tutti i linguaggi offrono, nella propria libreria standard, un insieme di strutture dati </a:t>
            </a:r>
            <a:r>
              <a:rPr lang="it"/>
              <a:t>volte a semplificare la vita ai programmatori fornendo implementazioni efficienti e general-purpose per gestire problemi comuni</a:t>
            </a:r>
            <a:endParaRPr/>
          </a:p>
          <a:p>
            <a:pPr indent="-317500" lvl="1" marL="914400" rtl="0" algn="l">
              <a:spcBef>
                <a:spcPts val="0"/>
              </a:spcBef>
              <a:spcAft>
                <a:spcPts val="0"/>
              </a:spcAft>
              <a:buSzPts val="1400"/>
              <a:buChar char="○"/>
            </a:pPr>
            <a:r>
              <a:rPr lang="it"/>
              <a:t>Liste ordinate</a:t>
            </a:r>
            <a:endParaRPr/>
          </a:p>
          <a:p>
            <a:pPr indent="-317500" lvl="1" marL="914400" rtl="0" algn="l">
              <a:spcBef>
                <a:spcPts val="0"/>
              </a:spcBef>
              <a:spcAft>
                <a:spcPts val="0"/>
              </a:spcAft>
              <a:buSzPts val="1400"/>
              <a:buChar char="○"/>
            </a:pPr>
            <a:r>
              <a:rPr lang="it"/>
              <a:t>Insiemi di elementi univoci</a:t>
            </a:r>
            <a:endParaRPr/>
          </a:p>
          <a:p>
            <a:pPr indent="-317500" lvl="1" marL="914400" rtl="0" algn="l">
              <a:spcBef>
                <a:spcPts val="0"/>
              </a:spcBef>
              <a:spcAft>
                <a:spcPts val="0"/>
              </a:spcAft>
              <a:buSzPts val="1400"/>
              <a:buChar char="○"/>
            </a:pPr>
            <a:r>
              <a:rPr lang="it"/>
              <a:t>Mappe chiave-valore</a:t>
            </a:r>
            <a:endParaRPr/>
          </a:p>
          <a:p>
            <a:pPr indent="-342900" lvl="0" marL="457200" rtl="0" algn="l">
              <a:spcBef>
                <a:spcPts val="0"/>
              </a:spcBef>
              <a:spcAft>
                <a:spcPts val="0"/>
              </a:spcAft>
              <a:buSzPts val="1800"/>
              <a:buChar char="●"/>
            </a:pPr>
            <a:r>
              <a:rPr lang="it"/>
              <a:t>Se esistono strategie diverse di implementazione, spesso sono presenti versioni alternative con diverse caratteristiche in termini di prestazioni</a:t>
            </a:r>
            <a:endParaRPr/>
          </a:p>
          <a:p>
            <a:pPr indent="-317500" lvl="1" marL="914400" rtl="0" algn="l">
              <a:spcBef>
                <a:spcPts val="0"/>
              </a:spcBef>
              <a:spcAft>
                <a:spcPts val="0"/>
              </a:spcAft>
              <a:buSzPts val="1400"/>
              <a:buChar char="○"/>
            </a:pPr>
            <a:r>
              <a:rPr lang="it"/>
              <a:t>È responsabilità del programmatore conoscere proprietà semantiche e costi computazionali delle diverse strutture dati, per scegliere quella adatta al caso d’uso</a:t>
            </a:r>
            <a:endParaRPr/>
          </a:p>
          <a:p>
            <a:pPr indent="-342900" lvl="0" marL="457200" rtl="0" algn="l">
              <a:spcBef>
                <a:spcPts val="0"/>
              </a:spcBef>
              <a:spcAft>
                <a:spcPts val="0"/>
              </a:spcAft>
              <a:buSzPts val="1800"/>
              <a:buChar char="●"/>
            </a:pPr>
            <a:r>
              <a:rPr lang="it"/>
              <a:t>La scelta del contenitore deve tener conto anche di vincoli legati al possesso, località della memoria e pattern di accesso</a:t>
            </a:r>
            <a:endParaRPr/>
          </a:p>
        </p:txBody>
      </p:sp>
      <p:sp>
        <p:nvSpPr>
          <p:cNvPr id="139" name="Google Shape;139;p3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34"/>
          <p:cNvGraphicFramePr/>
          <p:nvPr/>
        </p:nvGraphicFramePr>
        <p:xfrm>
          <a:off x="311750" y="796175"/>
          <a:ext cx="3000000" cy="3000000"/>
        </p:xfrm>
        <a:graphic>
          <a:graphicData uri="http://schemas.openxmlformats.org/drawingml/2006/table">
            <a:tbl>
              <a:tblPr>
                <a:noFill/>
                <a:tableStyleId>{ECFFD481-5C53-4943-9D6E-F0DE1F5FBB42}</a:tableStyleId>
              </a:tblPr>
              <a:tblGrid>
                <a:gridCol w="1704125"/>
                <a:gridCol w="1704125"/>
                <a:gridCol w="1704125"/>
                <a:gridCol w="1704125"/>
                <a:gridCol w="1704125"/>
              </a:tblGrid>
              <a:tr h="381000">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Descrizione</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Rust</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C++</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Java</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Python</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r>
              <a:tr h="381000">
                <a:tc>
                  <a:txBody>
                    <a:bodyPr/>
                    <a:lstStyle/>
                    <a:p>
                      <a:pPr indent="0" lvl="0" marL="0" rtl="0" algn="l">
                        <a:spcBef>
                          <a:spcPts val="0"/>
                        </a:spcBef>
                        <a:spcAft>
                          <a:spcPts val="0"/>
                        </a:spcAft>
                        <a:buNone/>
                      </a:pPr>
                      <a:r>
                        <a:rPr lang="it" sz="1200">
                          <a:latin typeface="Calibri"/>
                          <a:ea typeface="Calibri"/>
                          <a:cs typeface="Calibri"/>
                          <a:sym typeface="Calibri"/>
                        </a:rPr>
                        <a:t>Vettore / </a:t>
                      </a:r>
                      <a:r>
                        <a:rPr lang="it" sz="1200">
                          <a:latin typeface="Calibri"/>
                          <a:ea typeface="Calibri"/>
                          <a:cs typeface="Calibri"/>
                          <a:sym typeface="Calibri"/>
                        </a:rPr>
                        <a:t>Array dinamico</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it" sz="900">
                          <a:latin typeface="Calibri"/>
                          <a:ea typeface="Calibri"/>
                          <a:cs typeface="Calibri"/>
                          <a:sym typeface="Calibri"/>
                        </a:rPr>
                        <a:t>std::</a:t>
                      </a:r>
                      <a:r>
                        <a:rPr lang="it" sz="1200">
                          <a:latin typeface="Calibri"/>
                          <a:ea typeface="Calibri"/>
                          <a:cs typeface="Calibri"/>
                          <a:sym typeface="Calibri"/>
                        </a:rPr>
                        <a:t>Vec&lt;T&gt;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latin typeface="Calibri"/>
                          <a:ea typeface="Calibri"/>
                          <a:cs typeface="Calibri"/>
                          <a:sym typeface="Calibri"/>
                        </a:rPr>
                        <a:t>std::</a:t>
                      </a:r>
                      <a:r>
                        <a:rPr lang="it" sz="1200">
                          <a:latin typeface="Calibri"/>
                          <a:ea typeface="Calibri"/>
                          <a:cs typeface="Calibri"/>
                          <a:sym typeface="Calibri"/>
                        </a:rPr>
                        <a:t>vector&lt;T&gt;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latin typeface="Calibri"/>
                          <a:ea typeface="Calibri"/>
                          <a:cs typeface="Calibri"/>
                          <a:sym typeface="Calibri"/>
                        </a:rPr>
                        <a:t>java.util.</a:t>
                      </a:r>
                      <a:br>
                        <a:rPr lang="it" sz="900">
                          <a:latin typeface="Calibri"/>
                          <a:ea typeface="Calibri"/>
                          <a:cs typeface="Calibri"/>
                          <a:sym typeface="Calibri"/>
                        </a:rPr>
                      </a:br>
                      <a:r>
                        <a:rPr lang="it" sz="1200">
                          <a:latin typeface="Calibri"/>
                          <a:ea typeface="Calibri"/>
                          <a:cs typeface="Calibri"/>
                          <a:sym typeface="Calibri"/>
                        </a:rPr>
                        <a:t>ArrayList&lt;T&gt;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list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Coda a doppia entrata</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it" sz="900">
                          <a:latin typeface="Calibri"/>
                          <a:ea typeface="Calibri"/>
                          <a:cs typeface="Calibri"/>
                          <a:sym typeface="Calibri"/>
                        </a:rPr>
                        <a:t>std::</a:t>
                      </a:r>
                      <a:r>
                        <a:rPr lang="it" sz="1200">
                          <a:latin typeface="Calibri"/>
                          <a:ea typeface="Calibri"/>
                          <a:cs typeface="Calibri"/>
                          <a:sym typeface="Calibri"/>
                        </a:rPr>
                        <a:t>VecDeque&lt;T&gt;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deque&lt;T&gt;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ArrayDeque&lt;T&gt;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latin typeface="Calibri"/>
                          <a:ea typeface="Calibri"/>
                          <a:cs typeface="Calibri"/>
                          <a:sym typeface="Calibri"/>
                        </a:rPr>
                        <a:t>collections.</a:t>
                      </a:r>
                      <a:br>
                        <a:rPr lang="it" sz="1200">
                          <a:latin typeface="Calibri"/>
                          <a:ea typeface="Calibri"/>
                          <a:cs typeface="Calibri"/>
                          <a:sym typeface="Calibri"/>
                        </a:rPr>
                      </a:br>
                      <a:r>
                        <a:rPr lang="it" sz="1200">
                          <a:latin typeface="Calibri"/>
                          <a:ea typeface="Calibri"/>
                          <a:cs typeface="Calibri"/>
                          <a:sym typeface="Calibri"/>
                        </a:rPr>
                        <a:t>deque</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Lista doppiamente collegata</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LinkedList&lt;T&gt;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list&lt;T&gt;*</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000"/>
                        <a:buFont typeface="Arial"/>
                        <a:buNone/>
                      </a:pPr>
                      <a:r>
                        <a:rPr lang="it" sz="800">
                          <a:solidFill>
                            <a:schemeClr val="dk1"/>
                          </a:solidFill>
                          <a:latin typeface="Calibri"/>
                          <a:ea typeface="Calibri"/>
                          <a:cs typeface="Calibri"/>
                          <a:sym typeface="Calibri"/>
                        </a:rPr>
                        <a:t>*esiste anche collegata solo in avanti (forward_list)</a:t>
                      </a:r>
                      <a:endParaRPr sz="800">
                        <a:solidFill>
                          <a:schemeClr val="dk1"/>
                        </a:solidFill>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LinkedList&lt;T&gt;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_</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Coda a priorità</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BinaryHeap&lt;T&gt;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solidFill>
                            <a:schemeClr val="dk1"/>
                          </a:solidFill>
                          <a:latin typeface="Calibri"/>
                          <a:ea typeface="Calibri"/>
                          <a:cs typeface="Calibri"/>
                          <a:sym typeface="Calibri"/>
                        </a:rPr>
                        <a:t>std::</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priority_queue&lt;T&gt;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PriorityQueue&lt;T&gt;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list + </a:t>
                      </a:r>
                      <a:r>
                        <a:rPr lang="it" sz="1200">
                          <a:latin typeface="Calibri"/>
                          <a:ea typeface="Calibri"/>
                          <a:cs typeface="Calibri"/>
                          <a:sym typeface="Calibri"/>
                        </a:rPr>
                        <a:t>heapq</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Tabella hash</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HashMap&lt;K,V&gt;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unordered</a:t>
                      </a:r>
                      <a:br>
                        <a:rPr lang="it" sz="12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_map&lt;K,V&gt;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HashMap&lt;K,V&gt;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dict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Mappa ordinata</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BTreeMap&lt;K,V&gt;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TreeMap&lt;K,V&gt;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_</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Insieme Hash</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HashSet&lt;T&gt;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unordered</a:t>
                      </a:r>
                      <a:br>
                        <a:rPr lang="it" sz="12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_set&lt;T&gt;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HashSet&lt;T&gt;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set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1200">
                          <a:latin typeface="Calibri"/>
                          <a:ea typeface="Calibri"/>
                          <a:cs typeface="Calibri"/>
                          <a:sym typeface="Calibri"/>
                        </a:rPr>
                        <a:t>Insieme ordinato</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BTreeSet&lt;T&gt;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java.util.</a:t>
                      </a:r>
                      <a:br>
                        <a:rPr lang="it" sz="900">
                          <a:solidFill>
                            <a:schemeClr val="dk1"/>
                          </a:solidFill>
                          <a:latin typeface="Calibri"/>
                          <a:ea typeface="Calibri"/>
                          <a:cs typeface="Calibri"/>
                          <a:sym typeface="Calibri"/>
                        </a:rPr>
                      </a:br>
                      <a:r>
                        <a:rPr lang="it" sz="1200">
                          <a:solidFill>
                            <a:schemeClr val="dk1"/>
                          </a:solidFill>
                          <a:latin typeface="Calibri"/>
                          <a:ea typeface="Calibri"/>
                          <a:cs typeface="Calibri"/>
                          <a:sym typeface="Calibri"/>
                        </a:rPr>
                        <a:t>TreeSet&lt;T&gt;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it" sz="1200">
                          <a:latin typeface="Calibri"/>
                          <a:ea typeface="Calibri"/>
                          <a:cs typeface="Calibri"/>
                          <a:sym typeface="Calibri"/>
                        </a:rPr>
                        <a:t>_</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34"/>
          <p:cNvSpPr txBox="1"/>
          <p:nvPr>
            <p:ph type="title"/>
          </p:nvPr>
        </p:nvSpPr>
        <p:spPr>
          <a:xfrm>
            <a:off x="311700" y="223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Corrispondenze approssimative</a:t>
            </a:r>
            <a:endParaRPr/>
          </a:p>
        </p:txBody>
      </p:sp>
      <p:sp>
        <p:nvSpPr>
          <p:cNvPr id="146" name="Google Shape;146;p3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aphicFrame>
        <p:nvGraphicFramePr>
          <p:cNvPr id="151" name="Google Shape;151;p35"/>
          <p:cNvGraphicFramePr/>
          <p:nvPr/>
        </p:nvGraphicFramePr>
        <p:xfrm>
          <a:off x="311625" y="796175"/>
          <a:ext cx="3000000" cy="3000000"/>
        </p:xfrm>
        <a:graphic>
          <a:graphicData uri="http://schemas.openxmlformats.org/drawingml/2006/table">
            <a:tbl>
              <a:tblPr>
                <a:noFill/>
                <a:tableStyleId>{ECFFD481-5C53-4943-9D6E-F0DE1F5FBB42}</a:tableStyleId>
              </a:tblPr>
              <a:tblGrid>
                <a:gridCol w="1704125"/>
                <a:gridCol w="1704125"/>
                <a:gridCol w="1704125"/>
                <a:gridCol w="1704125"/>
                <a:gridCol w="1704125"/>
              </a:tblGrid>
              <a:tr h="381000">
                <a:tc>
                  <a:txBody>
                    <a:bodyPr/>
                    <a:lstStyle/>
                    <a:p>
                      <a:pPr indent="0" lvl="0" marL="0" rtl="0" algn="l">
                        <a:spcBef>
                          <a:spcPts val="0"/>
                        </a:spcBef>
                        <a:spcAft>
                          <a:spcPts val="0"/>
                        </a:spcAft>
                        <a:buNone/>
                      </a:pPr>
                      <a:r>
                        <a:rPr b="1" lang="it">
                          <a:solidFill>
                            <a:schemeClr val="lt1"/>
                          </a:solidFill>
                          <a:latin typeface="Calibri"/>
                          <a:ea typeface="Calibri"/>
                          <a:cs typeface="Calibri"/>
                          <a:sym typeface="Calibri"/>
                        </a:rPr>
                        <a:t>Descrizione</a:t>
                      </a:r>
                      <a:endParaRPr b="1">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None/>
                      </a:pPr>
                      <a:r>
                        <a:rPr lang="it" sz="1300">
                          <a:solidFill>
                            <a:schemeClr val="lt1"/>
                          </a:solidFill>
                          <a:latin typeface="Calibri"/>
                          <a:ea typeface="Calibri"/>
                          <a:cs typeface="Calibri"/>
                          <a:sym typeface="Calibri"/>
                        </a:rPr>
                        <a:t>Accesso per indice</a:t>
                      </a:r>
                      <a:endParaRPr sz="1300">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None/>
                      </a:pPr>
                      <a:r>
                        <a:rPr lang="it" sz="1300">
                          <a:solidFill>
                            <a:schemeClr val="lt1"/>
                          </a:solidFill>
                          <a:latin typeface="Calibri"/>
                          <a:ea typeface="Calibri"/>
                          <a:cs typeface="Calibri"/>
                          <a:sym typeface="Calibri"/>
                        </a:rPr>
                        <a:t>Ricerca</a:t>
                      </a:r>
                      <a:endParaRPr sz="1300">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Clr>
                          <a:schemeClr val="dk1"/>
                        </a:buClr>
                        <a:buSzPts val="1000"/>
                        <a:buFont typeface="Arial"/>
                        <a:buNone/>
                      </a:pPr>
                      <a:r>
                        <a:rPr lang="it" sz="1300">
                          <a:solidFill>
                            <a:schemeClr val="lt1"/>
                          </a:solidFill>
                          <a:latin typeface="Calibri"/>
                          <a:ea typeface="Calibri"/>
                          <a:cs typeface="Calibri"/>
                          <a:sym typeface="Calibri"/>
                        </a:rPr>
                        <a:t>Inserimento </a:t>
                      </a:r>
                      <a:endParaRPr sz="1300">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None/>
                      </a:pPr>
                      <a:r>
                        <a:rPr lang="it" sz="1300">
                          <a:solidFill>
                            <a:schemeClr val="lt1"/>
                          </a:solidFill>
                          <a:latin typeface="Calibri"/>
                          <a:ea typeface="Calibri"/>
                          <a:cs typeface="Calibri"/>
                          <a:sym typeface="Calibri"/>
                        </a:rPr>
                        <a:t>Cancellazione</a:t>
                      </a:r>
                      <a:endParaRPr sz="1300">
                        <a:solidFill>
                          <a:schemeClr val="lt1"/>
                        </a:solidFill>
                        <a:latin typeface="Calibri"/>
                        <a:ea typeface="Calibri"/>
                        <a:cs typeface="Calibri"/>
                        <a:sym typeface="Calibri"/>
                      </a:endParaRPr>
                    </a:p>
                  </a:txBody>
                  <a:tcPr marT="82275" marB="8227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5394"/>
                    </a:solidFill>
                  </a:tcPr>
                </a:tc>
              </a:tr>
              <a:tr h="381000">
                <a:tc>
                  <a:txBody>
                    <a:bodyPr/>
                    <a:lstStyle/>
                    <a:p>
                      <a:pPr indent="0" lvl="0" marL="0" rtl="0" algn="l">
                        <a:spcBef>
                          <a:spcPts val="0"/>
                        </a:spcBef>
                        <a:spcAft>
                          <a:spcPts val="0"/>
                        </a:spcAft>
                        <a:buNone/>
                      </a:pPr>
                      <a:r>
                        <a:rPr lang="it" sz="900">
                          <a:latin typeface="Calibri"/>
                          <a:ea typeface="Calibri"/>
                          <a:cs typeface="Calibri"/>
                          <a:sym typeface="Calibri"/>
                        </a:rPr>
                        <a:t>std::</a:t>
                      </a:r>
                      <a:r>
                        <a:rPr lang="it" sz="1200">
                          <a:latin typeface="Calibri"/>
                          <a:ea typeface="Calibri"/>
                          <a:cs typeface="Calibri"/>
                          <a:sym typeface="Calibri"/>
                        </a:rPr>
                        <a:t>Vec&lt;T&gt;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sz="1100">
                          <a:latin typeface="Calibri"/>
                          <a:ea typeface="Calibri"/>
                          <a:cs typeface="Calibri"/>
                          <a:sym typeface="Calibri"/>
                        </a:rPr>
                        <a:t>fine:</a:t>
                      </a:r>
                      <a:r>
                        <a:rPr lang="it">
                          <a:latin typeface="Calibri"/>
                          <a:ea typeface="Calibri"/>
                          <a:cs typeface="Calibri"/>
                          <a:sym typeface="Calibri"/>
                        </a:rPr>
                        <a:t> O(1) amm. </a:t>
                      </a:r>
                      <a:endParaRPr>
                        <a:latin typeface="Calibri"/>
                        <a:ea typeface="Calibri"/>
                        <a:cs typeface="Calibri"/>
                        <a:sym typeface="Calibri"/>
                      </a:endParaRPr>
                    </a:p>
                    <a:p>
                      <a:pPr indent="0" lvl="0" marL="0" rtl="0" algn="ctr">
                        <a:spcBef>
                          <a:spcPts val="0"/>
                        </a:spcBef>
                        <a:spcAft>
                          <a:spcPts val="0"/>
                        </a:spcAft>
                        <a:buNone/>
                      </a:pPr>
                      <a:r>
                        <a:rPr lang="it" sz="1100">
                          <a:latin typeface="Calibri"/>
                          <a:ea typeface="Calibri"/>
                          <a:cs typeface="Calibri"/>
                          <a:sym typeface="Calibri"/>
                        </a:rPr>
                        <a:t>posizionale: </a:t>
                      </a: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fine:</a:t>
                      </a:r>
                      <a:r>
                        <a:rPr lang="it">
                          <a:solidFill>
                            <a:schemeClr val="dk1"/>
                          </a:solidFill>
                          <a:latin typeface="Calibri"/>
                          <a:ea typeface="Calibri"/>
                          <a:cs typeface="Calibri"/>
                          <a:sym typeface="Calibri"/>
                        </a:rPr>
                        <a:t> O(1) amm.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it" sz="1100">
                          <a:solidFill>
                            <a:schemeClr val="dk1"/>
                          </a:solidFill>
                          <a:latin typeface="Calibri"/>
                          <a:ea typeface="Calibri"/>
                          <a:cs typeface="Calibri"/>
                          <a:sym typeface="Calibri"/>
                        </a:rPr>
                        <a:t>posizionale: </a:t>
                      </a:r>
                      <a:r>
                        <a:rPr lang="it">
                          <a:solidFill>
                            <a:schemeClr val="dk1"/>
                          </a:solidFill>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900">
                          <a:latin typeface="Calibri"/>
                          <a:ea typeface="Calibri"/>
                          <a:cs typeface="Calibri"/>
                          <a:sym typeface="Calibri"/>
                        </a:rPr>
                        <a:t>std::</a:t>
                      </a:r>
                      <a:r>
                        <a:rPr lang="it" sz="1200">
                          <a:latin typeface="Calibri"/>
                          <a:ea typeface="Calibri"/>
                          <a:cs typeface="Calibri"/>
                          <a:sym typeface="Calibri"/>
                        </a:rPr>
                        <a:t>VecDeque&lt;T&gt;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estremi</a:t>
                      </a:r>
                      <a:r>
                        <a:rPr lang="it" sz="1100">
                          <a:solidFill>
                            <a:schemeClr val="dk1"/>
                          </a:solidFill>
                          <a:latin typeface="Calibri"/>
                          <a:ea typeface="Calibri"/>
                          <a:cs typeface="Calibri"/>
                          <a:sym typeface="Calibri"/>
                        </a:rPr>
                        <a:t>:</a:t>
                      </a:r>
                      <a:r>
                        <a:rPr lang="it">
                          <a:solidFill>
                            <a:schemeClr val="dk1"/>
                          </a:solidFill>
                          <a:latin typeface="Calibri"/>
                          <a:ea typeface="Calibri"/>
                          <a:cs typeface="Calibri"/>
                          <a:sym typeface="Calibri"/>
                        </a:rPr>
                        <a:t> O(1)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it" sz="1100">
                          <a:solidFill>
                            <a:schemeClr val="dk1"/>
                          </a:solidFill>
                          <a:latin typeface="Calibri"/>
                          <a:ea typeface="Calibri"/>
                          <a:cs typeface="Calibri"/>
                          <a:sym typeface="Calibri"/>
                        </a:rPr>
                        <a:t>interno: </a:t>
                      </a:r>
                      <a:r>
                        <a:rPr lang="it">
                          <a:solidFill>
                            <a:schemeClr val="dk1"/>
                          </a:solidFill>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estremi:</a:t>
                      </a:r>
                      <a:r>
                        <a:rPr lang="it">
                          <a:solidFill>
                            <a:schemeClr val="dk1"/>
                          </a:solidFill>
                          <a:latin typeface="Calibri"/>
                          <a:ea typeface="Calibri"/>
                          <a:cs typeface="Calibri"/>
                          <a:sym typeface="Calibri"/>
                        </a:rPr>
                        <a:t> O(1)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it" sz="1100">
                          <a:solidFill>
                            <a:schemeClr val="dk1"/>
                          </a:solidFill>
                          <a:latin typeface="Calibri"/>
                          <a:ea typeface="Calibri"/>
                          <a:cs typeface="Calibri"/>
                          <a:sym typeface="Calibri"/>
                        </a:rPr>
                        <a:t>interno: </a:t>
                      </a:r>
                      <a:r>
                        <a:rPr lang="it">
                          <a:solidFill>
                            <a:schemeClr val="dk1"/>
                          </a:solidFill>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LinkedList&lt;T&gt;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sz="1100">
                          <a:solidFill>
                            <a:schemeClr val="dk1"/>
                          </a:solidFill>
                          <a:latin typeface="Calibri"/>
                          <a:ea typeface="Calibri"/>
                          <a:cs typeface="Calibri"/>
                          <a:sym typeface="Calibri"/>
                        </a:rPr>
                        <a:t>dato il nodo/estremi</a:t>
                      </a:r>
                      <a:r>
                        <a:rPr lang="it" sz="1100">
                          <a:solidFill>
                            <a:schemeClr val="dk1"/>
                          </a:solidFill>
                          <a:latin typeface="Calibri"/>
                          <a:ea typeface="Calibri"/>
                          <a:cs typeface="Calibri"/>
                          <a:sym typeface="Calibri"/>
                        </a:rPr>
                        <a:t>:</a:t>
                      </a:r>
                      <a:r>
                        <a:rPr lang="it">
                          <a:solidFill>
                            <a:schemeClr val="dk1"/>
                          </a:solidFill>
                          <a:latin typeface="Calibri"/>
                          <a:ea typeface="Calibri"/>
                          <a:cs typeface="Calibri"/>
                          <a:sym typeface="Calibri"/>
                        </a:rPr>
                        <a:t> O(1) </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dato il nodo/estremi:</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BinaryHeap&lt;T&gt;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max/min: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pop</a:t>
                      </a:r>
                      <a:r>
                        <a:rPr lang="it" sz="1100">
                          <a:solidFill>
                            <a:schemeClr val="dk1"/>
                          </a:solidFill>
                          <a:latin typeface="Calibri"/>
                          <a:ea typeface="Calibri"/>
                          <a:cs typeface="Calibri"/>
                          <a:sym typeface="Calibri"/>
                        </a:rPr>
                        <a:t>:</a:t>
                      </a:r>
                      <a:r>
                        <a:rPr lang="it">
                          <a:solidFill>
                            <a:schemeClr val="dk1"/>
                          </a:solidFill>
                          <a:latin typeface="Calibri"/>
                          <a:ea typeface="Calibri"/>
                          <a:cs typeface="Calibri"/>
                          <a:sym typeface="Calibri"/>
                        </a:rPr>
                        <a:t> 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HashMap&lt;K,V&gt;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sz="1100">
                          <a:solidFill>
                            <a:schemeClr val="dk1"/>
                          </a:solidFill>
                          <a:latin typeface="Calibri"/>
                          <a:ea typeface="Calibri"/>
                          <a:cs typeface="Calibri"/>
                          <a:sym typeface="Calibri"/>
                        </a:rPr>
                        <a:t>medio</a:t>
                      </a:r>
                      <a:r>
                        <a:rPr lang="it" sz="1100">
                          <a:solidFill>
                            <a:schemeClr val="dk1"/>
                          </a:solidFill>
                          <a:latin typeface="Calibri"/>
                          <a:ea typeface="Calibri"/>
                          <a:cs typeface="Calibri"/>
                          <a:sym typeface="Calibri"/>
                        </a:rPr>
                        <a:t>:</a:t>
                      </a:r>
                      <a:r>
                        <a:rPr lang="it">
                          <a:solidFill>
                            <a:schemeClr val="dk1"/>
                          </a:solidFill>
                          <a:latin typeface="Calibri"/>
                          <a:ea typeface="Calibri"/>
                          <a:cs typeface="Calibri"/>
                          <a:sym typeface="Calibri"/>
                        </a:rPr>
                        <a:t> </a:t>
                      </a:r>
                      <a:r>
                        <a:rPr lang="it">
                          <a:latin typeface="Calibri"/>
                          <a:ea typeface="Calibri"/>
                          <a:cs typeface="Calibri"/>
                          <a:sym typeface="Calibri"/>
                        </a:rPr>
                        <a:t>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medio:</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sz="1100">
                          <a:solidFill>
                            <a:schemeClr val="dk1"/>
                          </a:solidFill>
                          <a:latin typeface="Calibri"/>
                          <a:ea typeface="Calibri"/>
                          <a:cs typeface="Calibri"/>
                          <a:sym typeface="Calibri"/>
                        </a:rPr>
                        <a:t>medio:</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BTreeMap&lt;K,V&gt;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HashSet&lt;T&gt;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sz="1100">
                          <a:solidFill>
                            <a:schemeClr val="dk1"/>
                          </a:solidFill>
                          <a:latin typeface="Calibri"/>
                          <a:ea typeface="Calibri"/>
                          <a:cs typeface="Calibri"/>
                          <a:sym typeface="Calibri"/>
                        </a:rPr>
                        <a:t>medio:</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medio:</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it" sz="1100">
                          <a:solidFill>
                            <a:schemeClr val="dk1"/>
                          </a:solidFill>
                          <a:latin typeface="Calibri"/>
                          <a:ea typeface="Calibri"/>
                          <a:cs typeface="Calibri"/>
                          <a:sym typeface="Calibri"/>
                        </a:rPr>
                        <a:t>medio:</a:t>
                      </a:r>
                      <a:r>
                        <a:rPr lang="it">
                          <a:solidFill>
                            <a:schemeClr val="dk1"/>
                          </a:solidFill>
                          <a:latin typeface="Calibri"/>
                          <a:ea typeface="Calibri"/>
                          <a:cs typeface="Calibri"/>
                          <a:sym typeface="Calibri"/>
                        </a:rPr>
                        <a:t> O(1)</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000"/>
                        <a:buFont typeface="Arial"/>
                        <a:buNone/>
                      </a:pPr>
                      <a:r>
                        <a:rPr lang="it" sz="900">
                          <a:solidFill>
                            <a:schemeClr val="dk1"/>
                          </a:solidFill>
                          <a:latin typeface="Calibri"/>
                          <a:ea typeface="Calibri"/>
                          <a:cs typeface="Calibri"/>
                          <a:sym typeface="Calibri"/>
                        </a:rPr>
                        <a:t>std::</a:t>
                      </a:r>
                      <a:r>
                        <a:rPr lang="it" sz="1200">
                          <a:solidFill>
                            <a:schemeClr val="dk1"/>
                          </a:solidFill>
                          <a:latin typeface="Calibri"/>
                          <a:ea typeface="Calibri"/>
                          <a:cs typeface="Calibri"/>
                          <a:sym typeface="Calibri"/>
                        </a:rPr>
                        <a:t>BTreeSet&lt;T&gt;</a:t>
                      </a:r>
                      <a:endParaRPr sz="1200">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it">
                          <a:latin typeface="Calibri"/>
                          <a:ea typeface="Calibri"/>
                          <a:cs typeface="Calibri"/>
                          <a:sym typeface="Calibri"/>
                        </a:rPr>
                        <a:t>-</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it">
                          <a:latin typeface="Calibri"/>
                          <a:ea typeface="Calibri"/>
                          <a:cs typeface="Calibri"/>
                          <a:sym typeface="Calibri"/>
                        </a:rPr>
                        <a:t>O(log(n))</a:t>
                      </a:r>
                      <a:endParaRPr>
                        <a:latin typeface="Calibri"/>
                        <a:ea typeface="Calibri"/>
                        <a:cs typeface="Calibri"/>
                        <a:sym typeface="Calibri"/>
                      </a:endParaRPr>
                    </a:p>
                  </a:txBody>
                  <a:tcPr marT="36000" marB="36000" marR="54000" marL="54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2" name="Google Shape;152;p35"/>
          <p:cNvSpPr txBox="1"/>
          <p:nvPr>
            <p:ph type="title"/>
          </p:nvPr>
        </p:nvSpPr>
        <p:spPr>
          <a:xfrm>
            <a:off x="311700" y="223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Complessità nel tempo</a:t>
            </a:r>
            <a:endParaRPr/>
          </a:p>
        </p:txBody>
      </p:sp>
      <p:sp>
        <p:nvSpPr>
          <p:cNvPr id="153" name="Google Shape;153;p3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Complessità</a:t>
            </a:r>
            <a:endParaRPr/>
          </a:p>
        </p:txBody>
      </p:sp>
      <p:sp>
        <p:nvSpPr>
          <p:cNvPr id="159" name="Google Shape;159;p3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60" name="Google Shape;160;p36"/>
          <p:cNvPicPr preferRelativeResize="0"/>
          <p:nvPr/>
        </p:nvPicPr>
        <p:blipFill>
          <a:blip r:embed="rId3">
            <a:alphaModFix/>
          </a:blip>
          <a:stretch>
            <a:fillRect/>
          </a:stretch>
        </p:blipFill>
        <p:spPr>
          <a:xfrm>
            <a:off x="1369500" y="900425"/>
            <a:ext cx="6404991" cy="38209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 comuni a tutte le collezioni</a:t>
            </a:r>
            <a:endParaRPr/>
          </a:p>
        </p:txBody>
      </p:sp>
      <p:sp>
        <p:nvSpPr>
          <p:cNvPr id="166" name="Google Shape;16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Molte collezioni della standard library di Rust espongono un insieme di metodi e tratti comuni</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new()</a:t>
            </a:r>
            <a:r>
              <a:rPr lang="it"/>
              <a:t> alloca una nuova collezione </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with_capacity(capacity: usize)</a:t>
            </a:r>
            <a:r>
              <a:rPr lang="it"/>
              <a:t> alloca una nuova collezione con capacità iniziale fissata</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len()</a:t>
            </a:r>
            <a:r>
              <a:rPr lang="it"/>
              <a:t> permette di conoscere l’attuale dimensione della collezione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clear()</a:t>
            </a:r>
            <a:r>
              <a:rPr lang="it"/>
              <a:t> rimuove tutti gli elementi della collezione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is_empty()</a:t>
            </a:r>
            <a:r>
              <a:rPr lang="it"/>
              <a:t> ritorna true se la collezione è vuota</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iter()</a:t>
            </a:r>
            <a:r>
              <a:rPr lang="it"/>
              <a:t>  per iterare sui valori della </a:t>
            </a:r>
            <a:r>
              <a:rPr lang="it"/>
              <a:t>collezione</a:t>
            </a:r>
            <a:endParaRPr/>
          </a:p>
          <a:p>
            <a:pPr indent="-342900" lvl="0" marL="457200" rtl="0" algn="l">
              <a:spcBef>
                <a:spcPts val="0"/>
              </a:spcBef>
              <a:spcAft>
                <a:spcPts val="0"/>
              </a:spcAft>
              <a:buSzPts val="1800"/>
              <a:buChar char="●"/>
            </a:pPr>
            <a:r>
              <a:rPr lang="it"/>
              <a:t>Inoltre, molte collezioni implementano i tratti </a:t>
            </a:r>
            <a:r>
              <a:rPr b="1" lang="it">
                <a:solidFill>
                  <a:srgbClr val="0B5394"/>
                </a:solidFill>
                <a:latin typeface="Consolas"/>
                <a:ea typeface="Consolas"/>
                <a:cs typeface="Consolas"/>
                <a:sym typeface="Consolas"/>
              </a:rPr>
              <a:t>IntoIterator</a:t>
            </a:r>
            <a:r>
              <a:rPr lang="it"/>
              <a:t> e </a:t>
            </a:r>
            <a:r>
              <a:rPr b="1" lang="it">
                <a:solidFill>
                  <a:srgbClr val="0B5394"/>
                </a:solidFill>
                <a:latin typeface="Consolas"/>
                <a:ea typeface="Consolas"/>
                <a:cs typeface="Consolas"/>
                <a:sym typeface="Consolas"/>
              </a:rPr>
              <a:t>FromIterator</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IntoIterator::into_iter()</a:t>
            </a:r>
            <a:r>
              <a:rPr lang="it"/>
              <a:t> permette di convertire qualsiasi collezione in un iteratore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FromIterator::</a:t>
            </a:r>
            <a:r>
              <a:rPr b="1" lang="it">
                <a:solidFill>
                  <a:srgbClr val="0B5394"/>
                </a:solidFill>
                <a:latin typeface="Consolas"/>
                <a:ea typeface="Consolas"/>
                <a:cs typeface="Consolas"/>
                <a:sym typeface="Consolas"/>
              </a:rPr>
              <a:t>collect()</a:t>
            </a:r>
            <a:r>
              <a:rPr lang="it"/>
              <a:t> permette di ottenere una collezione partendo da un iteratore</a:t>
            </a:r>
            <a:endParaRPr/>
          </a:p>
        </p:txBody>
      </p:sp>
      <p:sp>
        <p:nvSpPr>
          <p:cNvPr id="167" name="Google Shape;167;p3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Vec&lt;T&gt;</a:t>
            </a:r>
            <a:endParaRPr/>
          </a:p>
        </p:txBody>
      </p:sp>
      <p:sp>
        <p:nvSpPr>
          <p:cNvPr id="173" name="Google Shape;17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it"/>
              <a:t>Il tipo </a:t>
            </a:r>
            <a:r>
              <a:rPr b="1" lang="it">
                <a:solidFill>
                  <a:srgbClr val="0B5394"/>
                </a:solidFill>
                <a:latin typeface="Consolas"/>
                <a:ea typeface="Consolas"/>
                <a:cs typeface="Consolas"/>
                <a:sym typeface="Consolas"/>
              </a:rPr>
              <a:t>Vec&lt;T&gt;</a:t>
            </a:r>
            <a:r>
              <a:rPr lang="it"/>
              <a:t> rappresenta una sequenza ridimensionabile di elementi di tipo </a:t>
            </a:r>
            <a:r>
              <a:rPr b="1" lang="it">
                <a:solidFill>
                  <a:srgbClr val="0B5394"/>
                </a:solidFill>
                <a:latin typeface="Consolas"/>
                <a:ea typeface="Consolas"/>
                <a:cs typeface="Consolas"/>
                <a:sym typeface="Consolas"/>
              </a:rPr>
              <a:t>T</a:t>
            </a:r>
            <a:r>
              <a:rPr lang="it"/>
              <a:t>, allocati sullo heap</a:t>
            </a:r>
            <a:endParaRPr/>
          </a:p>
          <a:p>
            <a:pPr indent="-304165" lvl="1" marL="914400" rtl="0" algn="l">
              <a:spcBef>
                <a:spcPts val="0"/>
              </a:spcBef>
              <a:spcAft>
                <a:spcPts val="0"/>
              </a:spcAft>
              <a:buSzPct val="100000"/>
              <a:buChar char="○"/>
            </a:pPr>
            <a:r>
              <a:rPr lang="it"/>
              <a:t>Offre una serie di metodi per accedere al suo contenuto e per inserire/togliere valori al suo interno</a:t>
            </a:r>
            <a:endParaRPr/>
          </a:p>
          <a:p>
            <a:pPr indent="-325755" lvl="0" marL="457200" rtl="0" algn="l">
              <a:spcBef>
                <a:spcPts val="0"/>
              </a:spcBef>
              <a:spcAft>
                <a:spcPts val="0"/>
              </a:spcAft>
              <a:buSzPct val="100000"/>
              <a:buChar char="●"/>
            </a:pPr>
            <a:r>
              <a:rPr lang="it"/>
              <a:t>Un valore di tipo</a:t>
            </a:r>
            <a:r>
              <a:rPr b="1" lang="it">
                <a:solidFill>
                  <a:srgbClr val="0B5394"/>
                </a:solidFill>
                <a:latin typeface="Consolas"/>
                <a:ea typeface="Consolas"/>
                <a:cs typeface="Consolas"/>
                <a:sym typeface="Consolas"/>
              </a:rPr>
              <a:t> Vec&lt;T&gt;</a:t>
            </a:r>
            <a:r>
              <a:rPr lang="it"/>
              <a:t> è rappresentato internamente da tre campi logici: </a:t>
            </a:r>
            <a:endParaRPr/>
          </a:p>
          <a:p>
            <a:pPr indent="-304165" lvl="1" marL="914400" rtl="0" algn="l">
              <a:spcBef>
                <a:spcPts val="0"/>
              </a:spcBef>
              <a:spcAft>
                <a:spcPts val="0"/>
              </a:spcAft>
              <a:buSzPct val="100000"/>
              <a:buChar char="○"/>
            </a:pPr>
            <a:r>
              <a:rPr lang="it"/>
              <a:t>Un puntatore ad un buffer allocato sullo heap nel quale sono memorizzati gli elementi</a:t>
            </a:r>
            <a:endParaRPr/>
          </a:p>
          <a:p>
            <a:pPr indent="-304165" lvl="1" marL="914400" rtl="0" algn="l">
              <a:spcBef>
                <a:spcPts val="0"/>
              </a:spcBef>
              <a:spcAft>
                <a:spcPts val="0"/>
              </a:spcAft>
              <a:buSzPct val="100000"/>
              <a:buChar char="○"/>
            </a:pPr>
            <a:r>
              <a:rPr lang="it"/>
              <a:t>Un intero privo di segno che indica la dimensione complessiva del buffer</a:t>
            </a:r>
            <a:endParaRPr/>
          </a:p>
          <a:p>
            <a:pPr indent="-304165" lvl="1" marL="914400" rtl="0" algn="l">
              <a:spcBef>
                <a:spcPts val="0"/>
              </a:spcBef>
              <a:spcAft>
                <a:spcPts val="0"/>
              </a:spcAft>
              <a:buSzPct val="100000"/>
              <a:buChar char="○"/>
            </a:pPr>
            <a:r>
              <a:rPr lang="it"/>
              <a:t>Un intero privo di segno che indica quanti elementi sono valorizzati nel buffer</a:t>
            </a:r>
            <a:endParaRPr/>
          </a:p>
          <a:p>
            <a:pPr indent="-325755" lvl="0" marL="457200" rtl="0" algn="l">
              <a:spcBef>
                <a:spcPts val="0"/>
              </a:spcBef>
              <a:spcAft>
                <a:spcPts val="0"/>
              </a:spcAft>
              <a:buSzPct val="100000"/>
              <a:buChar char="●"/>
            </a:pPr>
            <a:r>
              <a:rPr lang="it"/>
              <a:t>Se si richiede ad un oggetto di tipo </a:t>
            </a:r>
            <a:r>
              <a:rPr b="1" lang="it">
                <a:solidFill>
                  <a:srgbClr val="0B5394"/>
                </a:solidFill>
                <a:latin typeface="Consolas"/>
                <a:ea typeface="Consolas"/>
                <a:cs typeface="Consolas"/>
                <a:sym typeface="Consolas"/>
              </a:rPr>
              <a:t>Vec&lt;T&gt;</a:t>
            </a:r>
            <a:r>
              <a:rPr lang="it"/>
              <a:t> di inserire un nuovo elemento, questo verrà memorizzato nel buffer nella prima posizione libera</a:t>
            </a:r>
            <a:endParaRPr/>
          </a:p>
          <a:p>
            <a:pPr indent="-304165" lvl="1" marL="914400" rtl="0" algn="l">
              <a:spcBef>
                <a:spcPts val="0"/>
              </a:spcBef>
              <a:spcAft>
                <a:spcPts val="0"/>
              </a:spcAft>
              <a:buSzPct val="100000"/>
              <a:buChar char="○"/>
            </a:pPr>
            <a:r>
              <a:rPr lang="it"/>
              <a:t>E verrà incrementato l’intero che indica il numero di elementi effettivamente presenti</a:t>
            </a:r>
            <a:endParaRPr/>
          </a:p>
          <a:p>
            <a:pPr indent="-325755" lvl="0" marL="457200" rtl="0" algn="l">
              <a:spcBef>
                <a:spcPts val="0"/>
              </a:spcBef>
              <a:spcAft>
                <a:spcPts val="0"/>
              </a:spcAft>
              <a:buSzPct val="100000"/>
              <a:buChar char="●"/>
            </a:pPr>
            <a:r>
              <a:rPr lang="it"/>
              <a:t>Nel caso in cui il buffer fosse già completo, verrà allocato un nuovo buffer di dimensioni maggiori</a:t>
            </a:r>
            <a:endParaRPr/>
          </a:p>
          <a:p>
            <a:pPr indent="-304165" lvl="1" marL="914400" rtl="0" algn="l">
              <a:spcBef>
                <a:spcPts val="0"/>
              </a:spcBef>
              <a:spcAft>
                <a:spcPts val="0"/>
              </a:spcAft>
              <a:buSzPct val="100000"/>
              <a:buChar char="○"/>
            </a:pPr>
            <a:r>
              <a:rPr lang="it"/>
              <a:t>E il contenuto del buffer precedente sarà riversato in quello nuovo, dove verrà poi anche inserito il nuovo elemento</a:t>
            </a:r>
            <a:endParaRPr/>
          </a:p>
          <a:p>
            <a:pPr indent="-304165" lvl="1" marL="914400" rtl="0" algn="l">
              <a:spcBef>
                <a:spcPts val="0"/>
              </a:spcBef>
              <a:spcAft>
                <a:spcPts val="0"/>
              </a:spcAft>
              <a:buSzPct val="100000"/>
              <a:buChar char="○"/>
            </a:pPr>
            <a:r>
              <a:rPr lang="it"/>
              <a:t>Dopodiché il buffer precedente sarà de-allocato</a:t>
            </a:r>
            <a:endParaRPr/>
          </a:p>
          <a:p>
            <a:pPr indent="0" lvl="0" marL="0" rtl="0" algn="l">
              <a:spcBef>
                <a:spcPts val="1200"/>
              </a:spcBef>
              <a:spcAft>
                <a:spcPts val="1200"/>
              </a:spcAft>
              <a:buNone/>
            </a:pPr>
            <a:r>
              <a:t/>
            </a:r>
            <a:endParaRPr/>
          </a:p>
        </p:txBody>
      </p:sp>
      <p:sp>
        <p:nvSpPr>
          <p:cNvPr id="174" name="Google Shape;174;p3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Vec&lt;T&gt;</a:t>
            </a:r>
            <a:endParaRPr/>
          </a:p>
        </p:txBody>
      </p:sp>
      <p:sp>
        <p:nvSpPr>
          <p:cNvPr id="180" name="Google Shape;180;p39"/>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Font typeface="Calibri"/>
              <a:buChar char="●"/>
            </a:pPr>
            <a:r>
              <a:rPr lang="it" sz="1800">
                <a:solidFill>
                  <a:srgbClr val="595959"/>
                </a:solidFill>
                <a:latin typeface="Calibri"/>
                <a:ea typeface="Calibri"/>
                <a:cs typeface="Calibri"/>
                <a:sym typeface="Calibri"/>
              </a:rPr>
              <a:t>Offre una vasta serie di metodi per accedere al suo contenuto e per inserire/togliere valori al suo interno</a:t>
            </a:r>
            <a:endParaRPr sz="1800">
              <a:solidFill>
                <a:srgbClr val="595959"/>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Char char="○"/>
            </a:pPr>
            <a:r>
              <a:rPr b="1" lang="it">
                <a:solidFill>
                  <a:srgbClr val="0B5394"/>
                </a:solidFill>
                <a:latin typeface="Consolas"/>
                <a:ea typeface="Consolas"/>
                <a:cs typeface="Consolas"/>
                <a:sym typeface="Consolas"/>
              </a:rPr>
              <a:t>Vec::with_capacity(n)</a:t>
            </a:r>
            <a:r>
              <a:rPr lang="it">
                <a:solidFill>
                  <a:srgbClr val="595959"/>
                </a:solidFill>
                <a:latin typeface="Calibri"/>
                <a:ea typeface="Calibri"/>
                <a:cs typeface="Calibri"/>
                <a:sym typeface="Calibri"/>
              </a:rPr>
              <a:t> alloca un vettore con capacità iniziale </a:t>
            </a:r>
            <a:r>
              <a:rPr b="1" lang="it">
                <a:solidFill>
                  <a:srgbClr val="0B5394"/>
                </a:solidFill>
                <a:latin typeface="Consolas"/>
                <a:ea typeface="Consolas"/>
                <a:cs typeface="Consolas"/>
                <a:sym typeface="Consolas"/>
              </a:rPr>
              <a:t>n</a:t>
            </a:r>
            <a:r>
              <a:rPr lang="it">
                <a:solidFill>
                  <a:srgbClr val="595959"/>
                </a:solidFill>
                <a:latin typeface="Calibri"/>
                <a:ea typeface="Calibri"/>
                <a:cs typeface="Calibri"/>
                <a:sym typeface="Calibri"/>
              </a:rPr>
              <a:t> </a:t>
            </a:r>
            <a:endParaRPr>
              <a:solidFill>
                <a:schemeClr val="dk2"/>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Char char="○"/>
            </a:pPr>
            <a:r>
              <a:rPr b="1" lang="it">
                <a:solidFill>
                  <a:srgbClr val="0B5394"/>
                </a:solidFill>
                <a:latin typeface="Consolas"/>
                <a:ea typeface="Consolas"/>
                <a:cs typeface="Consolas"/>
                <a:sym typeface="Consolas"/>
              </a:rPr>
              <a:t>capacity()</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ritorna la capacità attualmente allocata</a:t>
            </a:r>
            <a:endParaRPr>
              <a:solidFill>
                <a:schemeClr val="dk2"/>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Char char="○"/>
            </a:pPr>
            <a:r>
              <a:rPr b="1" lang="it">
                <a:solidFill>
                  <a:srgbClr val="0B5394"/>
                </a:solidFill>
                <a:latin typeface="Consolas"/>
                <a:ea typeface="Consolas"/>
                <a:cs typeface="Consolas"/>
                <a:sym typeface="Consolas"/>
              </a:rPr>
              <a:t>len()</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ritorna il numero di elementi effettivamente presenti nel vettore</a:t>
            </a:r>
            <a:endParaRPr>
              <a:solidFill>
                <a:schemeClr val="dk2"/>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Char char="○"/>
            </a:pPr>
            <a:r>
              <a:rPr b="1" lang="it">
                <a:solidFill>
                  <a:srgbClr val="0B5394"/>
                </a:solidFill>
                <a:latin typeface="Consolas"/>
                <a:ea typeface="Consolas"/>
                <a:cs typeface="Consolas"/>
                <a:sym typeface="Consolas"/>
              </a:rPr>
              <a:t>push(value)</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aggiunge un elemento in coda</a:t>
            </a:r>
            <a:endParaRPr>
              <a:solidFill>
                <a:srgbClr val="0B5394"/>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Font typeface="Consolas"/>
              <a:buChar char="○"/>
            </a:pPr>
            <a:r>
              <a:rPr b="1" lang="it">
                <a:solidFill>
                  <a:srgbClr val="0B5394"/>
                </a:solidFill>
                <a:latin typeface="Consolas"/>
                <a:ea typeface="Consolas"/>
                <a:cs typeface="Consolas"/>
                <a:sym typeface="Consolas"/>
              </a:rPr>
              <a:t>pop()</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rimuove e restituisce l’ultimo elemento del vettore, se esistente</a:t>
            </a:r>
            <a:endParaRPr>
              <a:solidFill>
                <a:schemeClr val="dk2"/>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Char char="○"/>
            </a:pPr>
            <a:r>
              <a:rPr b="1" lang="it">
                <a:solidFill>
                  <a:srgbClr val="0B5394"/>
                </a:solidFill>
                <a:latin typeface="Consolas"/>
                <a:ea typeface="Consolas"/>
                <a:cs typeface="Consolas"/>
                <a:sym typeface="Consolas"/>
              </a:rPr>
              <a:t>insert(index, value)</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aggiunge un elemento alla posizione ricevuta in argomento</a:t>
            </a:r>
            <a:endParaRPr>
              <a:solidFill>
                <a:srgbClr val="0B5394"/>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Font typeface="Consolas"/>
              <a:buChar char="○"/>
            </a:pPr>
            <a:r>
              <a:rPr b="1" lang="it">
                <a:solidFill>
                  <a:srgbClr val="0B5394"/>
                </a:solidFill>
                <a:latin typeface="Consolas"/>
                <a:ea typeface="Consolas"/>
                <a:cs typeface="Consolas"/>
                <a:sym typeface="Consolas"/>
              </a:rPr>
              <a:t>remove(index)</a:t>
            </a:r>
            <a:r>
              <a:rPr lang="it">
                <a:solidFill>
                  <a:srgbClr val="0B5394"/>
                </a:solidFill>
                <a:latin typeface="Calibri"/>
                <a:ea typeface="Calibri"/>
                <a:cs typeface="Calibri"/>
                <a:sym typeface="Calibri"/>
              </a:rPr>
              <a:t> </a:t>
            </a:r>
            <a:r>
              <a:rPr lang="it">
                <a:solidFill>
                  <a:schemeClr val="dk2"/>
                </a:solidFill>
                <a:latin typeface="Calibri"/>
                <a:ea typeface="Calibri"/>
                <a:cs typeface="Calibri"/>
                <a:sym typeface="Calibri"/>
              </a:rPr>
              <a:t>rimuove e ritorna l’elemento alla posizione ricevuta in argomento</a:t>
            </a:r>
            <a:endParaRPr>
              <a:solidFill>
                <a:schemeClr val="dk2"/>
              </a:solidFill>
              <a:latin typeface="Calibri"/>
              <a:ea typeface="Calibri"/>
              <a:cs typeface="Calibri"/>
              <a:sym typeface="Calibri"/>
            </a:endParaRPr>
          </a:p>
          <a:p>
            <a:pPr indent="-317500" lvl="1" marL="914400" rtl="0" algn="l">
              <a:lnSpc>
                <a:spcPct val="115000"/>
              </a:lnSpc>
              <a:spcBef>
                <a:spcPts val="0"/>
              </a:spcBef>
              <a:spcAft>
                <a:spcPts val="0"/>
              </a:spcAft>
              <a:buClr>
                <a:schemeClr val="dk2"/>
              </a:buClr>
              <a:buSzPts val="1400"/>
              <a:buFont typeface="Calibri"/>
              <a:buChar char="○"/>
            </a:pPr>
            <a:r>
              <a:rPr lang="it">
                <a:solidFill>
                  <a:schemeClr val="dk2"/>
                </a:solidFill>
                <a:latin typeface="Calibri"/>
                <a:ea typeface="Calibri"/>
                <a:cs typeface="Calibri"/>
                <a:sym typeface="Calibri"/>
              </a:rPr>
              <a:t>… molti altri</a:t>
            </a:r>
            <a:endParaRPr>
              <a:solidFill>
                <a:schemeClr val="dk2"/>
              </a:solidFill>
              <a:latin typeface="Calibri"/>
              <a:ea typeface="Calibri"/>
              <a:cs typeface="Calibri"/>
              <a:sym typeface="Calibri"/>
            </a:endParaRPr>
          </a:p>
        </p:txBody>
      </p:sp>
      <p:sp>
        <p:nvSpPr>
          <p:cNvPr id="181" name="Google Shape;181;p3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82" name="Google Shape;182;p39"/>
          <p:cNvSpPr txBox="1"/>
          <p:nvPr/>
        </p:nvSpPr>
        <p:spPr>
          <a:xfrm>
            <a:off x="2090700" y="4035375"/>
            <a:ext cx="4962600" cy="393600"/>
          </a:xfrm>
          <a:prstGeom prst="rect">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u="sng">
                <a:solidFill>
                  <a:schemeClr val="hlink"/>
                </a:solidFill>
                <a:latin typeface="Calibri"/>
                <a:ea typeface="Calibri"/>
                <a:cs typeface="Calibri"/>
                <a:sym typeface="Calibri"/>
                <a:hlinkClick r:id="rId3"/>
              </a:rPr>
              <a:t>https://doc.rust-lang.org/std/vec/struct.Vec.html</a:t>
            </a:r>
            <a:r>
              <a:rPr lang="it"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Vec&lt;T&gt;</a:t>
            </a:r>
            <a:endParaRPr/>
          </a:p>
        </p:txBody>
      </p:sp>
      <p:sp>
        <p:nvSpPr>
          <p:cNvPr id="188" name="Google Shape;18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 dati contenuti in un vettore devono essere omogenei</a:t>
            </a:r>
            <a:endParaRPr/>
          </a:p>
          <a:p>
            <a:pPr indent="-317500" lvl="1" marL="914400" rtl="0" algn="l">
              <a:spcBef>
                <a:spcPts val="0"/>
              </a:spcBef>
              <a:spcAft>
                <a:spcPts val="0"/>
              </a:spcAft>
              <a:buSzPts val="1400"/>
              <a:buChar char="○"/>
            </a:pPr>
            <a:r>
              <a:rPr lang="it"/>
              <a:t>Se occorre rappresentare elementi logicamente eterogenei, è possibile usare un </a:t>
            </a:r>
            <a:r>
              <a:rPr b="1" lang="it">
                <a:solidFill>
                  <a:srgbClr val="0B5394"/>
                </a:solidFill>
                <a:latin typeface="Consolas"/>
                <a:ea typeface="Consolas"/>
                <a:cs typeface="Consolas"/>
                <a:sym typeface="Consolas"/>
              </a:rPr>
              <a:t>enum</a:t>
            </a:r>
            <a:r>
              <a:rPr lang="it"/>
              <a:t> come somma disgiunta dei casi ammessi</a:t>
            </a:r>
            <a:endParaRPr/>
          </a:p>
        </p:txBody>
      </p:sp>
      <p:sp>
        <p:nvSpPr>
          <p:cNvPr id="189" name="Google Shape;189;p40"/>
          <p:cNvSpPr txBox="1"/>
          <p:nvPr/>
        </p:nvSpPr>
        <p:spPr>
          <a:xfrm>
            <a:off x="772300" y="2151923"/>
            <a:ext cx="7758600" cy="25551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enum SpreadsheetCell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Int(i32),</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Float(f64),</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Text(String),</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let row = vec![</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SpreadsheetCell::Int(3),</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SpreadsheetCell::Text(String::from("blue")),</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    SpreadsheetCell::Float(10.12),</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
        <p:nvSpPr>
          <p:cNvPr id="190" name="Google Shape;190;p4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Vec&lt;T&gt;</a:t>
            </a:r>
            <a:endParaRPr/>
          </a:p>
        </p:txBody>
      </p:sp>
      <p:sp>
        <p:nvSpPr>
          <p:cNvPr id="196" name="Google Shape;19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usarlo</a:t>
            </a:r>
            <a:endParaRPr/>
          </a:p>
          <a:p>
            <a:pPr indent="-317500" lvl="1" marL="914400" rtl="0" algn="l">
              <a:spcBef>
                <a:spcPts val="0"/>
              </a:spcBef>
              <a:spcAft>
                <a:spcPts val="0"/>
              </a:spcAft>
              <a:buSzPts val="1400"/>
              <a:buChar char="○"/>
            </a:pPr>
            <a:r>
              <a:rPr lang="it"/>
              <a:t>Serve tenere i dati in una sequenza ordinata ccon accesso casuale veloce</a:t>
            </a:r>
            <a:endParaRPr/>
          </a:p>
          <a:p>
            <a:pPr indent="-317500" lvl="1" marL="914400" rtl="0" algn="l">
              <a:spcBef>
                <a:spcPts val="0"/>
              </a:spcBef>
              <a:spcAft>
                <a:spcPts val="0"/>
              </a:spcAft>
              <a:buSzPts val="1400"/>
              <a:buChar char="○"/>
            </a:pPr>
            <a:r>
              <a:rPr lang="it"/>
              <a:t>Serve prevalentemente inserire/rimuovere in coda</a:t>
            </a:r>
            <a:endParaRPr/>
          </a:p>
          <a:p>
            <a:pPr indent="-317500" lvl="1" marL="914400" rtl="0" algn="l">
              <a:spcBef>
                <a:spcPts val="0"/>
              </a:spcBef>
              <a:spcAft>
                <a:spcPts val="0"/>
              </a:spcAft>
              <a:buSzPts val="1400"/>
              <a:buChar char="○"/>
            </a:pPr>
            <a:r>
              <a:rPr lang="it"/>
              <a:t>Serve ordinare, deduplicare, suddividere in blocchi contigui i dati</a:t>
            </a:r>
            <a:endParaRPr/>
          </a:p>
          <a:p>
            <a:pPr indent="-317500" lvl="1" marL="914400" rtl="0" algn="l">
              <a:spcBef>
                <a:spcPts val="0"/>
              </a:spcBef>
              <a:spcAft>
                <a:spcPts val="0"/>
              </a:spcAft>
              <a:buSzPts val="1400"/>
              <a:buChar char="○"/>
            </a:pPr>
            <a:r>
              <a:rPr lang="it"/>
              <a:t>Occorre un buffer elastico per gestire volumi di dati variabili</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Eccellente località dei dati che favorisce l'uso della cache</a:t>
            </a:r>
            <a:endParaRPr/>
          </a:p>
          <a:p>
            <a:pPr indent="-317500" lvl="1" marL="914400" rtl="0" algn="l">
              <a:spcBef>
                <a:spcPts val="0"/>
              </a:spcBef>
              <a:spcAft>
                <a:spcPts val="0"/>
              </a:spcAft>
              <a:buSzPts val="1400"/>
              <a:buChar char="○"/>
            </a:pPr>
            <a:r>
              <a:rPr lang="it"/>
              <a:t>Accedere ad un elemento ha costo unitario, inserire al fondo ha costo unitario ammortizzato</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Inserire/rimuovere all'inizio o al centro richiede lo spostamento di tutti gli elementi successivi</a:t>
            </a:r>
            <a:endParaRPr/>
          </a:p>
        </p:txBody>
      </p:sp>
      <p:sp>
        <p:nvSpPr>
          <p:cNvPr id="197" name="Google Shape;197;p4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VecDeque&lt;T&gt;</a:t>
            </a:r>
            <a:endParaRPr/>
          </a:p>
        </p:txBody>
      </p:sp>
      <p:sp>
        <p:nvSpPr>
          <p:cNvPr id="203" name="Google Shape;203;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tipo </a:t>
            </a:r>
            <a:r>
              <a:rPr b="1" lang="it">
                <a:solidFill>
                  <a:srgbClr val="0B5394"/>
                </a:solidFill>
                <a:latin typeface="Consolas"/>
                <a:ea typeface="Consolas"/>
                <a:cs typeface="Consolas"/>
                <a:sym typeface="Consolas"/>
              </a:rPr>
              <a:t>VecDeque&lt;T&gt;</a:t>
            </a:r>
            <a:r>
              <a:rPr lang="it"/>
              <a:t> modella una coda a doppia entrata: esso alloca sullo heap una serie di elementi di tipo T</a:t>
            </a:r>
            <a:endParaRPr/>
          </a:p>
          <a:p>
            <a:pPr indent="-317500" lvl="1" marL="914400" rtl="0" algn="l">
              <a:spcBef>
                <a:spcPts val="0"/>
              </a:spcBef>
              <a:spcAft>
                <a:spcPts val="0"/>
              </a:spcAft>
              <a:buSzPts val="1400"/>
              <a:buChar char="○"/>
            </a:pPr>
            <a:r>
              <a:rPr lang="it"/>
              <a:t>A differenza di </a:t>
            </a:r>
            <a:r>
              <a:rPr b="1" lang="it">
                <a:solidFill>
                  <a:srgbClr val="0B5394"/>
                </a:solidFill>
                <a:latin typeface="Consolas"/>
                <a:ea typeface="Consolas"/>
                <a:cs typeface="Consolas"/>
                <a:sym typeface="Consolas"/>
              </a:rPr>
              <a:t>Vec&lt;T&gt;</a:t>
            </a:r>
            <a:r>
              <a:rPr lang="it"/>
              <a:t> permette l’inserimento e la rimozione, con costo unitario, sia all’inizio che alla fine del vettore, tramite i metodi </a:t>
            </a:r>
            <a:r>
              <a:rPr b="1" lang="it">
                <a:solidFill>
                  <a:srgbClr val="0B5394"/>
                </a:solidFill>
                <a:latin typeface="Consolas"/>
                <a:ea typeface="Consolas"/>
                <a:cs typeface="Consolas"/>
                <a:sym typeface="Consolas"/>
              </a:rPr>
              <a:t>push_back()</a:t>
            </a:r>
            <a:r>
              <a:rPr lang="it"/>
              <a:t>, </a:t>
            </a:r>
            <a:r>
              <a:rPr b="1" lang="it">
                <a:solidFill>
                  <a:srgbClr val="0B5394"/>
                </a:solidFill>
                <a:latin typeface="Consolas"/>
                <a:ea typeface="Consolas"/>
                <a:cs typeface="Consolas"/>
                <a:sym typeface="Consolas"/>
              </a:rPr>
              <a:t>push_front()</a:t>
            </a:r>
            <a:r>
              <a:rPr lang="it"/>
              <a:t>, </a:t>
            </a:r>
            <a:r>
              <a:rPr b="1" lang="it">
                <a:solidFill>
                  <a:srgbClr val="0B5394"/>
                </a:solidFill>
                <a:latin typeface="Consolas"/>
                <a:ea typeface="Consolas"/>
                <a:cs typeface="Consolas"/>
                <a:sym typeface="Consolas"/>
              </a:rPr>
              <a:t>pop_back()</a:t>
            </a:r>
            <a:r>
              <a:rPr lang="it"/>
              <a:t>, </a:t>
            </a:r>
            <a:r>
              <a:rPr b="1" lang="it">
                <a:solidFill>
                  <a:srgbClr val="0B5394"/>
                </a:solidFill>
                <a:latin typeface="Consolas"/>
                <a:ea typeface="Consolas"/>
                <a:cs typeface="Consolas"/>
                <a:sym typeface="Consolas"/>
              </a:rPr>
              <a:t>pop_front()</a:t>
            </a:r>
            <a:endParaRPr b="1" sz="1800"/>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VecDeque&lt;T&gt;</a:t>
            </a:r>
            <a:r>
              <a:rPr lang="it"/>
              <a:t> è preferibile quando servono inserimenti/rimozioni efficienti a entrambi gli estremi; </a:t>
            </a:r>
            <a:br>
              <a:rPr lang="it"/>
            </a:br>
            <a:r>
              <a:rPr lang="it"/>
              <a:t>in molti altri casi </a:t>
            </a:r>
            <a:r>
              <a:rPr b="1" lang="it">
                <a:solidFill>
                  <a:srgbClr val="0B5394"/>
                </a:solidFill>
                <a:latin typeface="Consolas"/>
                <a:ea typeface="Consolas"/>
                <a:cs typeface="Consolas"/>
                <a:sym typeface="Consolas"/>
              </a:rPr>
              <a:t>Vec&lt;T&gt;</a:t>
            </a:r>
            <a:r>
              <a:rPr lang="it"/>
              <a:t> resta la scelta più semplice ed efficiente in pratica</a:t>
            </a:r>
            <a:endParaRPr b="1"/>
          </a:p>
          <a:p>
            <a:pPr indent="-342900" lvl="0" marL="457200" rtl="0" algn="l">
              <a:spcBef>
                <a:spcPts val="0"/>
              </a:spcBef>
              <a:spcAft>
                <a:spcPts val="0"/>
              </a:spcAft>
              <a:buSzPts val="1800"/>
              <a:buChar char="●"/>
            </a:pPr>
            <a:r>
              <a:rPr lang="it"/>
              <a:t>Viene implementato come un buffer circolare e non garantisce che gli elementi siano contigui in memoria</a:t>
            </a:r>
            <a:endParaRPr/>
          </a:p>
          <a:p>
            <a:pPr indent="-317500" lvl="1" marL="914400" rtl="0" algn="l">
              <a:spcBef>
                <a:spcPts val="0"/>
              </a:spcBef>
              <a:spcAft>
                <a:spcPts val="0"/>
              </a:spcAft>
              <a:buSzPts val="1400"/>
              <a:buChar char="○"/>
            </a:pPr>
            <a:r>
              <a:rPr lang="it"/>
              <a:t>E’ possibile rendere gli elementi contigui in memoria utilizzando il metodo </a:t>
            </a:r>
            <a:r>
              <a:rPr b="1" lang="it">
                <a:solidFill>
                  <a:srgbClr val="0B5394"/>
                </a:solidFill>
                <a:latin typeface="Consolas"/>
                <a:ea typeface="Consolas"/>
                <a:cs typeface="Consolas"/>
                <a:sym typeface="Consolas"/>
              </a:rPr>
              <a:t>make_contiguous()</a:t>
            </a:r>
            <a:endParaRPr b="1">
              <a:solidFill>
                <a:srgbClr val="0B5394"/>
              </a:solidFill>
              <a:latin typeface="Consolas"/>
              <a:ea typeface="Consolas"/>
              <a:cs typeface="Consolas"/>
              <a:sym typeface="Consolas"/>
            </a:endParaRPr>
          </a:p>
        </p:txBody>
      </p:sp>
      <p:sp>
        <p:nvSpPr>
          <p:cNvPr id="204" name="Google Shape;204;p4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05" name="Google Shape;205;p42"/>
          <p:cNvSpPr/>
          <p:nvPr/>
        </p:nvSpPr>
        <p:spPr>
          <a:xfrm>
            <a:off x="984400" y="3991508"/>
            <a:ext cx="7281900" cy="34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it">
                <a:latin typeface="Calibri"/>
                <a:ea typeface="Calibri"/>
                <a:cs typeface="Calibri"/>
                <a:sym typeface="Calibri"/>
              </a:rPr>
              <a:t>buffer circolare</a:t>
            </a:r>
            <a:endParaRPr i="1">
              <a:latin typeface="Calibri"/>
              <a:ea typeface="Calibri"/>
              <a:cs typeface="Calibri"/>
              <a:sym typeface="Calibri"/>
            </a:endParaRPr>
          </a:p>
        </p:txBody>
      </p:sp>
      <p:sp>
        <p:nvSpPr>
          <p:cNvPr id="206" name="Google Shape;206;p42"/>
          <p:cNvSpPr/>
          <p:nvPr/>
        </p:nvSpPr>
        <p:spPr>
          <a:xfrm>
            <a:off x="1032550" y="4039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v5</a:t>
            </a:r>
            <a:endParaRPr sz="1200">
              <a:latin typeface="Calibri"/>
              <a:ea typeface="Calibri"/>
              <a:cs typeface="Calibri"/>
              <a:sym typeface="Calibri"/>
            </a:endParaRPr>
          </a:p>
        </p:txBody>
      </p:sp>
      <p:sp>
        <p:nvSpPr>
          <p:cNvPr id="207" name="Google Shape;207;p42"/>
          <p:cNvSpPr/>
          <p:nvPr/>
        </p:nvSpPr>
        <p:spPr>
          <a:xfrm>
            <a:off x="1348700"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v6</a:t>
            </a:r>
            <a:endParaRPr sz="1200">
              <a:latin typeface="Calibri"/>
              <a:ea typeface="Calibri"/>
              <a:cs typeface="Calibri"/>
              <a:sym typeface="Calibri"/>
            </a:endParaRPr>
          </a:p>
        </p:txBody>
      </p:sp>
      <p:sp>
        <p:nvSpPr>
          <p:cNvPr id="208" name="Google Shape;208;p42"/>
          <p:cNvSpPr/>
          <p:nvPr/>
        </p:nvSpPr>
        <p:spPr>
          <a:xfrm>
            <a:off x="1664850"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v7</a:t>
            </a:r>
            <a:endParaRPr sz="1200">
              <a:latin typeface="Calibri"/>
              <a:ea typeface="Calibri"/>
              <a:cs typeface="Calibri"/>
              <a:sym typeface="Calibri"/>
            </a:endParaRPr>
          </a:p>
        </p:txBody>
      </p:sp>
      <p:sp>
        <p:nvSpPr>
          <p:cNvPr id="209" name="Google Shape;209;p42"/>
          <p:cNvSpPr/>
          <p:nvPr/>
        </p:nvSpPr>
        <p:spPr>
          <a:xfrm>
            <a:off x="1981000"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v8</a:t>
            </a:r>
            <a:endParaRPr sz="1200">
              <a:latin typeface="Calibri"/>
              <a:ea typeface="Calibri"/>
              <a:cs typeface="Calibri"/>
              <a:sym typeface="Calibri"/>
            </a:endParaRPr>
          </a:p>
        </p:txBody>
      </p:sp>
      <p:sp>
        <p:nvSpPr>
          <p:cNvPr id="210" name="Google Shape;210;p42"/>
          <p:cNvSpPr/>
          <p:nvPr/>
        </p:nvSpPr>
        <p:spPr>
          <a:xfrm>
            <a:off x="7970400"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v4</a:t>
            </a:r>
            <a:endParaRPr sz="1200">
              <a:latin typeface="Calibri"/>
              <a:ea typeface="Calibri"/>
              <a:cs typeface="Calibri"/>
              <a:sym typeface="Calibri"/>
            </a:endParaRPr>
          </a:p>
        </p:txBody>
      </p:sp>
      <p:sp>
        <p:nvSpPr>
          <p:cNvPr id="211" name="Google Shape;211;p42"/>
          <p:cNvSpPr/>
          <p:nvPr/>
        </p:nvSpPr>
        <p:spPr>
          <a:xfrm>
            <a:off x="7650825"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v3</a:t>
            </a:r>
            <a:endParaRPr sz="1200">
              <a:latin typeface="Calibri"/>
              <a:ea typeface="Calibri"/>
              <a:cs typeface="Calibri"/>
              <a:sym typeface="Calibri"/>
            </a:endParaRPr>
          </a:p>
        </p:txBody>
      </p:sp>
      <p:sp>
        <p:nvSpPr>
          <p:cNvPr id="212" name="Google Shape;212;p42"/>
          <p:cNvSpPr/>
          <p:nvPr/>
        </p:nvSpPr>
        <p:spPr>
          <a:xfrm>
            <a:off x="7331250"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marR="0" rtl="0" algn="ctr">
              <a:lnSpc>
                <a:spcPct val="100000"/>
              </a:lnSpc>
              <a:spcBef>
                <a:spcPts val="0"/>
              </a:spcBef>
              <a:spcAft>
                <a:spcPts val="0"/>
              </a:spcAft>
              <a:buNone/>
            </a:pPr>
            <a:r>
              <a:rPr lang="it" sz="1200">
                <a:latin typeface="Calibri"/>
                <a:ea typeface="Calibri"/>
                <a:cs typeface="Calibri"/>
                <a:sym typeface="Calibri"/>
              </a:rPr>
              <a:t>v2</a:t>
            </a:r>
            <a:endParaRPr sz="1200">
              <a:latin typeface="Calibri"/>
              <a:ea typeface="Calibri"/>
              <a:cs typeface="Calibri"/>
              <a:sym typeface="Calibri"/>
            </a:endParaRPr>
          </a:p>
        </p:txBody>
      </p:sp>
      <p:sp>
        <p:nvSpPr>
          <p:cNvPr id="213" name="Google Shape;213;p42"/>
          <p:cNvSpPr/>
          <p:nvPr/>
        </p:nvSpPr>
        <p:spPr>
          <a:xfrm>
            <a:off x="7011675" y="4045658"/>
            <a:ext cx="240900" cy="240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it" sz="1200">
                <a:latin typeface="Calibri"/>
                <a:ea typeface="Calibri"/>
                <a:cs typeface="Calibri"/>
                <a:sym typeface="Calibri"/>
              </a:rPr>
              <a:t>v1</a:t>
            </a:r>
            <a:endParaRPr sz="1200">
              <a:latin typeface="Calibri"/>
              <a:ea typeface="Calibri"/>
              <a:cs typeface="Calibri"/>
              <a:sym typeface="Calibri"/>
            </a:endParaRPr>
          </a:p>
        </p:txBody>
      </p:sp>
      <p:sp>
        <p:nvSpPr>
          <p:cNvPr id="214" name="Google Shape;214;p42"/>
          <p:cNvSpPr txBox="1"/>
          <p:nvPr/>
        </p:nvSpPr>
        <p:spPr>
          <a:xfrm>
            <a:off x="5395850" y="4386440"/>
            <a:ext cx="1377300" cy="221100"/>
          </a:xfrm>
          <a:prstGeom prst="rect">
            <a:avLst/>
          </a:prstGeom>
          <a:noFill/>
          <a:ln>
            <a:noFill/>
          </a:ln>
        </p:spPr>
        <p:txBody>
          <a:bodyPr anchorCtr="0" anchor="t" bIns="18000" lIns="54000" spcFirstLastPara="1" rIns="18000" wrap="square" tIns="18000">
            <a:spAutoFit/>
          </a:bodyPr>
          <a:lstStyle/>
          <a:p>
            <a:pPr indent="0" lvl="0" marL="0" rtl="0" algn="r">
              <a:spcBef>
                <a:spcPts val="0"/>
              </a:spcBef>
              <a:spcAft>
                <a:spcPts val="0"/>
              </a:spcAft>
              <a:buNone/>
            </a:pPr>
            <a:r>
              <a:rPr lang="it" sz="1200">
                <a:solidFill>
                  <a:schemeClr val="dk2"/>
                </a:solidFill>
                <a:latin typeface="Calibri"/>
                <a:ea typeface="Calibri"/>
                <a:cs typeface="Calibri"/>
                <a:sym typeface="Calibri"/>
              </a:rPr>
              <a:t>primo elemento</a:t>
            </a:r>
            <a:endParaRPr sz="1200">
              <a:solidFill>
                <a:schemeClr val="dk2"/>
              </a:solidFill>
              <a:latin typeface="Calibri"/>
              <a:ea typeface="Calibri"/>
              <a:cs typeface="Calibri"/>
              <a:sym typeface="Calibri"/>
            </a:endParaRPr>
          </a:p>
        </p:txBody>
      </p:sp>
      <p:sp>
        <p:nvSpPr>
          <p:cNvPr id="215" name="Google Shape;215;p42"/>
          <p:cNvSpPr txBox="1"/>
          <p:nvPr/>
        </p:nvSpPr>
        <p:spPr>
          <a:xfrm>
            <a:off x="2327850" y="4386440"/>
            <a:ext cx="1377300" cy="221100"/>
          </a:xfrm>
          <a:prstGeom prst="rect">
            <a:avLst/>
          </a:prstGeom>
          <a:noFill/>
          <a:ln>
            <a:noFill/>
          </a:ln>
        </p:spPr>
        <p:txBody>
          <a:bodyPr anchorCtr="0" anchor="t" bIns="18000" lIns="54000" spcFirstLastPara="1" rIns="18000" wrap="square" tIns="18000">
            <a:spAutoFit/>
          </a:bodyPr>
          <a:lstStyle/>
          <a:p>
            <a:pPr indent="0" lvl="0" marL="0" rtl="0" algn="l">
              <a:spcBef>
                <a:spcPts val="0"/>
              </a:spcBef>
              <a:spcAft>
                <a:spcPts val="0"/>
              </a:spcAft>
              <a:buNone/>
            </a:pPr>
            <a:r>
              <a:rPr lang="it" sz="1200">
                <a:solidFill>
                  <a:schemeClr val="dk2"/>
                </a:solidFill>
                <a:latin typeface="Calibri"/>
                <a:ea typeface="Calibri"/>
                <a:cs typeface="Calibri"/>
                <a:sym typeface="Calibri"/>
              </a:rPr>
              <a:t>ultimo elemento</a:t>
            </a:r>
            <a:endParaRPr sz="1200">
              <a:solidFill>
                <a:schemeClr val="dk2"/>
              </a:solidFill>
              <a:latin typeface="Calibri"/>
              <a:ea typeface="Calibri"/>
              <a:cs typeface="Calibri"/>
              <a:sym typeface="Calibri"/>
            </a:endParaRPr>
          </a:p>
        </p:txBody>
      </p:sp>
      <p:cxnSp>
        <p:nvCxnSpPr>
          <p:cNvPr id="216" name="Google Shape;216;p42"/>
          <p:cNvCxnSpPr>
            <a:stCxn id="215" idx="1"/>
            <a:endCxn id="209" idx="2"/>
          </p:cNvCxnSpPr>
          <p:nvPr/>
        </p:nvCxnSpPr>
        <p:spPr>
          <a:xfrm rot="10800000">
            <a:off x="2101350" y="4286690"/>
            <a:ext cx="226500" cy="210300"/>
          </a:xfrm>
          <a:prstGeom prst="straightConnector1">
            <a:avLst/>
          </a:prstGeom>
          <a:noFill/>
          <a:ln cap="flat" cmpd="sng" w="9525">
            <a:solidFill>
              <a:schemeClr val="dk2"/>
            </a:solidFill>
            <a:prstDash val="solid"/>
            <a:round/>
            <a:headEnd len="med" w="med" type="none"/>
            <a:tailEnd len="med" w="med" type="triangle"/>
          </a:ln>
        </p:spPr>
      </p:cxnSp>
      <p:cxnSp>
        <p:nvCxnSpPr>
          <p:cNvPr id="217" name="Google Shape;217;p42"/>
          <p:cNvCxnSpPr>
            <a:stCxn id="214" idx="3"/>
            <a:endCxn id="213" idx="2"/>
          </p:cNvCxnSpPr>
          <p:nvPr/>
        </p:nvCxnSpPr>
        <p:spPr>
          <a:xfrm flipH="1" rot="10800000">
            <a:off x="6773150" y="4286690"/>
            <a:ext cx="359100" cy="2103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42"/>
          <p:cNvCxnSpPr>
            <a:stCxn id="210" idx="3"/>
            <a:endCxn id="205" idx="1"/>
          </p:cNvCxnSpPr>
          <p:nvPr/>
        </p:nvCxnSpPr>
        <p:spPr>
          <a:xfrm flipH="1">
            <a:off x="984300" y="4166108"/>
            <a:ext cx="7227000" cy="600"/>
          </a:xfrm>
          <a:prstGeom prst="curvedConnector5">
            <a:avLst>
              <a:gd fmla="val -3295" name="adj1"/>
              <a:gd fmla="val -68787500" name="adj2"/>
              <a:gd fmla="val 103294" name="adj3"/>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VecDeque&lt;T&gt;</a:t>
            </a:r>
            <a:endParaRPr/>
          </a:p>
        </p:txBody>
      </p:sp>
      <p:sp>
        <p:nvSpPr>
          <p:cNvPr id="224" name="Google Shape;224;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usarlo</a:t>
            </a:r>
            <a:endParaRPr/>
          </a:p>
          <a:p>
            <a:pPr indent="-317500" lvl="1" marL="914400" rtl="0" algn="l">
              <a:spcBef>
                <a:spcPts val="0"/>
              </a:spcBef>
              <a:spcAft>
                <a:spcPts val="0"/>
              </a:spcAft>
              <a:buSzPts val="1400"/>
              <a:buChar char="○"/>
            </a:pPr>
            <a:r>
              <a:rPr lang="it"/>
              <a:t>Occorre una coda con comportamento FIFO</a:t>
            </a:r>
            <a:endParaRPr/>
          </a:p>
          <a:p>
            <a:pPr indent="-317500" lvl="1" marL="914400" rtl="0" algn="l">
              <a:spcBef>
                <a:spcPts val="0"/>
              </a:spcBef>
              <a:spcAft>
                <a:spcPts val="0"/>
              </a:spcAft>
              <a:buSzPts val="1400"/>
              <a:buChar char="○"/>
            </a:pPr>
            <a:r>
              <a:rPr lang="it"/>
              <a:t>Serve frequentemente inserire in coda e estrarre dalla testa</a:t>
            </a:r>
            <a:endParaRPr/>
          </a:p>
          <a:p>
            <a:pPr indent="-317500" lvl="1" marL="914400" rtl="0" algn="l">
              <a:spcBef>
                <a:spcPts val="0"/>
              </a:spcBef>
              <a:spcAft>
                <a:spcPts val="0"/>
              </a:spcAft>
              <a:buSzPts val="1400"/>
              <a:buChar char="○"/>
            </a:pPr>
            <a:r>
              <a:rPr lang="it"/>
              <a:t>Occorre implementare una finestra scorrevole o mantenere la lista di N elementi recenti</a:t>
            </a:r>
            <a:endParaRPr/>
          </a:p>
          <a:p>
            <a:pPr indent="-317500" lvl="1" marL="914400" rtl="0" algn="l">
              <a:spcBef>
                <a:spcPts val="0"/>
              </a:spcBef>
              <a:spcAft>
                <a:spcPts val="0"/>
              </a:spcAft>
              <a:buSzPts val="1400"/>
              <a:buChar char="○"/>
            </a:pPr>
            <a:r>
              <a:rPr lang="it"/>
              <a:t>Serve estrarre/inserire sia in testa che in coda</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Le operazioni in testa e in coda sono efficienti</a:t>
            </a:r>
            <a:endParaRPr/>
          </a:p>
          <a:p>
            <a:pPr indent="-317500" lvl="1" marL="914400" rtl="0" algn="l">
              <a:spcBef>
                <a:spcPts val="0"/>
              </a:spcBef>
              <a:spcAft>
                <a:spcPts val="0"/>
              </a:spcAft>
              <a:buSzPts val="1400"/>
              <a:buChar char="○"/>
            </a:pPr>
            <a:r>
              <a:rPr lang="it"/>
              <a:t>Gli elementi sono memorizzati in un array, con accessi efficienti all'i-esimo elemento</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Non tutti gli elementi sono contigui, talora occorre renderli tali invocando </a:t>
            </a:r>
            <a:r>
              <a:rPr b="1" lang="it">
                <a:solidFill>
                  <a:srgbClr val="0B5394"/>
                </a:solidFill>
                <a:latin typeface="Consolas"/>
                <a:ea typeface="Consolas"/>
                <a:cs typeface="Consolas"/>
                <a:sym typeface="Consolas"/>
              </a:rPr>
              <a:t>make_contiguous()</a:t>
            </a:r>
            <a:r>
              <a:rPr lang="it"/>
              <a:t> </a:t>
            </a:r>
            <a:endParaRPr/>
          </a:p>
          <a:p>
            <a:pPr indent="-317500" lvl="1" marL="914400" rtl="0" algn="l">
              <a:spcBef>
                <a:spcPts val="0"/>
              </a:spcBef>
              <a:spcAft>
                <a:spcPts val="0"/>
              </a:spcAft>
              <a:buSzPts val="1400"/>
              <a:buChar char="○"/>
            </a:pPr>
            <a:r>
              <a:rPr lang="it"/>
              <a:t>Inserire nel mezzo ha un costo proporzionale al numero di elementi da spostare</a:t>
            </a:r>
            <a:endParaRPr/>
          </a:p>
        </p:txBody>
      </p:sp>
      <p:sp>
        <p:nvSpPr>
          <p:cNvPr id="225" name="Google Shape;225;p4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LinkedList&lt;T&gt;</a:t>
            </a:r>
            <a:endParaRPr/>
          </a:p>
        </p:txBody>
      </p:sp>
      <p:sp>
        <p:nvSpPr>
          <p:cNvPr id="231" name="Google Shape;23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LinkedList&lt;T&gt;</a:t>
            </a:r>
            <a:r>
              <a:rPr lang="it"/>
              <a:t> rappresenta una lista doppiamente collegata</a:t>
            </a:r>
            <a:endParaRPr/>
          </a:p>
          <a:p>
            <a:pPr indent="-317500" lvl="1" marL="914400" rtl="0" algn="l">
              <a:spcBef>
                <a:spcPts val="0"/>
              </a:spcBef>
              <a:spcAft>
                <a:spcPts val="0"/>
              </a:spcAft>
              <a:buSzPts val="1400"/>
              <a:buChar char="○"/>
            </a:pPr>
            <a:r>
              <a:rPr lang="it"/>
              <a:t>L’accesso per posizione ha complessità O(n), mentre inserimento e rimozione agli estremi o dato il nodo corretto ha complessità O(1)</a:t>
            </a:r>
            <a:endParaRPr/>
          </a:p>
          <a:p>
            <a:pPr indent="-317500" lvl="1" marL="914400" rtl="0" algn="l">
              <a:spcBef>
                <a:spcPts val="0"/>
              </a:spcBef>
              <a:spcAft>
                <a:spcPts val="0"/>
              </a:spcAft>
              <a:buSzPts val="1400"/>
              <a:buChar char="○"/>
            </a:pPr>
            <a:r>
              <a:rPr lang="it"/>
              <a:t>Come </a:t>
            </a:r>
            <a:r>
              <a:rPr b="1" lang="it">
                <a:solidFill>
                  <a:srgbClr val="0B5394"/>
                </a:solidFill>
                <a:latin typeface="Consolas"/>
                <a:ea typeface="Consolas"/>
                <a:cs typeface="Consolas"/>
                <a:sym typeface="Consolas"/>
              </a:rPr>
              <a:t>VecDeque&lt;T&gt;</a:t>
            </a:r>
            <a:r>
              <a:rPr lang="it"/>
              <a:t> permette di inserire e rimuovere elementi da entrambe le estremità della lista </a:t>
            </a:r>
            <a:endParaRPr b="1" sz="1800"/>
          </a:p>
          <a:p>
            <a:pPr indent="-317500" lvl="1" marL="914400" rtl="0" algn="l">
              <a:spcBef>
                <a:spcPts val="0"/>
              </a:spcBef>
              <a:spcAft>
                <a:spcPts val="0"/>
              </a:spcAft>
              <a:buSzPts val="1400"/>
              <a:buChar char="○"/>
            </a:pPr>
            <a:r>
              <a:rPr lang="it"/>
              <a:t>E’ possibile costruire una </a:t>
            </a:r>
            <a:r>
              <a:rPr b="1" lang="it">
                <a:solidFill>
                  <a:srgbClr val="0B5394"/>
                </a:solidFill>
                <a:latin typeface="Consolas"/>
                <a:ea typeface="Consolas"/>
                <a:cs typeface="Consolas"/>
                <a:sym typeface="Consolas"/>
              </a:rPr>
              <a:t>LinkedList&lt;T&gt;</a:t>
            </a:r>
            <a:r>
              <a:rPr lang="it"/>
              <a:t> a partire da un array o da un iteratore, ad esempio tramite </a:t>
            </a:r>
            <a:r>
              <a:rPr b="1" lang="it">
                <a:solidFill>
                  <a:srgbClr val="0B5394"/>
                </a:solidFill>
                <a:latin typeface="Consolas"/>
                <a:ea typeface="Consolas"/>
                <a:cs typeface="Consolas"/>
                <a:sym typeface="Consolas"/>
              </a:rPr>
              <a:t>LinkedList::From([0,1,2])</a:t>
            </a:r>
            <a:endParaRPr b="1"/>
          </a:p>
          <a:p>
            <a:pPr indent="-342900" lvl="0" marL="457200" rtl="0" algn="l">
              <a:spcBef>
                <a:spcPts val="0"/>
              </a:spcBef>
              <a:spcAft>
                <a:spcPts val="0"/>
              </a:spcAft>
              <a:buSzPts val="1800"/>
              <a:buChar char="●"/>
            </a:pPr>
            <a:r>
              <a:rPr lang="it"/>
              <a:t>I metodi attualmente offerti da </a:t>
            </a:r>
            <a:r>
              <a:rPr b="1" lang="it">
                <a:solidFill>
                  <a:srgbClr val="0B5394"/>
                </a:solidFill>
                <a:latin typeface="Consolas"/>
                <a:ea typeface="Consolas"/>
                <a:cs typeface="Consolas"/>
                <a:sym typeface="Consolas"/>
              </a:rPr>
              <a:t>LinkedList&lt;T&gt;</a:t>
            </a:r>
            <a:r>
              <a:rPr lang="it"/>
              <a:t> sono un ristretto sottoinsieme dei metodi di </a:t>
            </a:r>
            <a:r>
              <a:rPr b="1" lang="it">
                <a:solidFill>
                  <a:srgbClr val="0B5394"/>
                </a:solidFill>
                <a:latin typeface="Consolas"/>
                <a:ea typeface="Consolas"/>
                <a:cs typeface="Consolas"/>
                <a:sym typeface="Consolas"/>
              </a:rPr>
              <a:t>VecDeque&lt;T&gt;</a:t>
            </a:r>
            <a:endParaRPr/>
          </a:p>
          <a:p>
            <a:pPr indent="-317500" lvl="1" marL="914400" rtl="0" algn="l">
              <a:spcBef>
                <a:spcPts val="0"/>
              </a:spcBef>
              <a:spcAft>
                <a:spcPts val="0"/>
              </a:spcAft>
              <a:buSzPts val="1400"/>
              <a:buChar char="○"/>
            </a:pPr>
            <a:r>
              <a:rPr lang="it"/>
              <a:t>Tuttavia, è quasi sempre preferibile utilizzare </a:t>
            </a:r>
            <a:r>
              <a:rPr b="1" lang="it">
                <a:solidFill>
                  <a:srgbClr val="0B5394"/>
                </a:solidFill>
                <a:latin typeface="Consolas"/>
                <a:ea typeface="Consolas"/>
                <a:cs typeface="Consolas"/>
                <a:sym typeface="Consolas"/>
              </a:rPr>
              <a:t>Vec&lt;T&gt;</a:t>
            </a:r>
            <a:r>
              <a:rPr lang="it"/>
              <a:t> o </a:t>
            </a:r>
            <a:r>
              <a:rPr b="1" lang="it">
                <a:solidFill>
                  <a:srgbClr val="0B5394"/>
                </a:solidFill>
                <a:latin typeface="Consolas"/>
                <a:ea typeface="Consolas"/>
                <a:cs typeface="Consolas"/>
                <a:sym typeface="Consolas"/>
              </a:rPr>
              <a:t>VecDeque&lt;T&gt;</a:t>
            </a:r>
            <a:r>
              <a:rPr lang="it"/>
              <a:t> poiché superiori in termini di prestazioni ed uso della memoria</a:t>
            </a:r>
            <a:endParaRPr/>
          </a:p>
        </p:txBody>
      </p:sp>
      <p:sp>
        <p:nvSpPr>
          <p:cNvPr id="232" name="Google Shape;232;p4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LinkedList&lt;T&gt;</a:t>
            </a:r>
            <a:endParaRPr/>
          </a:p>
        </p:txBody>
      </p:sp>
      <p:sp>
        <p:nvSpPr>
          <p:cNvPr id="238" name="Google Shape;23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usarla</a:t>
            </a:r>
            <a:endParaRPr/>
          </a:p>
          <a:p>
            <a:pPr indent="-317500" lvl="1" marL="914400" rtl="0" algn="l">
              <a:spcBef>
                <a:spcPts val="0"/>
              </a:spcBef>
              <a:spcAft>
                <a:spcPts val="0"/>
              </a:spcAft>
              <a:buSzPts val="1400"/>
              <a:buChar char="○"/>
            </a:pPr>
            <a:r>
              <a:rPr lang="it"/>
              <a:t>Occorre suddividere una sequenza o concatenare due sequenze in tempo costante</a:t>
            </a:r>
            <a:endParaRPr/>
          </a:p>
          <a:p>
            <a:pPr indent="-317500" lvl="1" marL="914400" rtl="0" algn="l">
              <a:spcBef>
                <a:spcPts val="0"/>
              </a:spcBef>
              <a:spcAft>
                <a:spcPts val="0"/>
              </a:spcAft>
              <a:buSzPts val="1400"/>
              <a:buChar char="○"/>
            </a:pPr>
            <a:r>
              <a:rPr lang="it"/>
              <a:t>Non è tollerabile il comportamento di riallocazione/movimento di elementi a fronte di inserimenti/rimozioni in quanto potrebbe introdurre ritardi variabili</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Concatenazione e suddivisione molto efficienti</a:t>
            </a:r>
            <a:endParaRPr/>
          </a:p>
          <a:p>
            <a:pPr indent="-317500" lvl="1" marL="914400" rtl="0" algn="l">
              <a:spcBef>
                <a:spcPts val="0"/>
              </a:spcBef>
              <a:spcAft>
                <a:spcPts val="0"/>
              </a:spcAft>
              <a:buSzPts val="1400"/>
              <a:buChar char="○"/>
            </a:pPr>
            <a:r>
              <a:rPr lang="it"/>
              <a:t>Le operazioni in testa e coda hanno tempo costante</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Località della cache molto limitata rispetto a </a:t>
            </a:r>
            <a:r>
              <a:rPr b="1" lang="it">
                <a:solidFill>
                  <a:srgbClr val="0B5394"/>
                </a:solidFill>
                <a:latin typeface="Consolas"/>
                <a:ea typeface="Consolas"/>
                <a:cs typeface="Consolas"/>
                <a:sym typeface="Consolas"/>
              </a:rPr>
              <a:t>Vec&lt;T&gt;</a:t>
            </a:r>
            <a:r>
              <a:rPr lang="it"/>
              <a:t> e</a:t>
            </a:r>
            <a:r>
              <a:rPr b="1" lang="it">
                <a:solidFill>
                  <a:srgbClr val="0B5394"/>
                </a:solidFill>
                <a:latin typeface="Consolas"/>
                <a:ea typeface="Consolas"/>
                <a:cs typeface="Consolas"/>
                <a:sym typeface="Consolas"/>
              </a:rPr>
              <a:t> VecDeque&lt;T&gt;</a:t>
            </a:r>
            <a:r>
              <a:rPr lang="it"/>
              <a:t> </a:t>
            </a:r>
            <a:endParaRPr/>
          </a:p>
          <a:p>
            <a:pPr indent="-317500" lvl="1" marL="914400" rtl="0" algn="l">
              <a:spcBef>
                <a:spcPts val="0"/>
              </a:spcBef>
              <a:spcAft>
                <a:spcPts val="0"/>
              </a:spcAft>
              <a:buSzPts val="1400"/>
              <a:buChar char="○"/>
            </a:pPr>
            <a:r>
              <a:rPr lang="it"/>
              <a:t>L'accesso casuale ha costo lineare</a:t>
            </a:r>
            <a:endParaRPr/>
          </a:p>
          <a:p>
            <a:pPr indent="-317500" lvl="1" marL="914400" rtl="0" algn="l">
              <a:spcBef>
                <a:spcPts val="0"/>
              </a:spcBef>
              <a:spcAft>
                <a:spcPts val="0"/>
              </a:spcAft>
              <a:buSzPts val="1400"/>
              <a:buChar char="○"/>
            </a:pPr>
            <a:r>
              <a:rPr lang="it"/>
              <a:t>Nella maggior parte dei casi reali ha comportamento più lento rispetto a </a:t>
            </a:r>
            <a:r>
              <a:rPr b="1" lang="it">
                <a:solidFill>
                  <a:srgbClr val="0B5394"/>
                </a:solidFill>
                <a:latin typeface="Consolas"/>
                <a:ea typeface="Consolas"/>
                <a:cs typeface="Consolas"/>
                <a:sym typeface="Consolas"/>
              </a:rPr>
              <a:t>Vec&lt;T&gt;</a:t>
            </a:r>
            <a:r>
              <a:rPr lang="it"/>
              <a:t> e</a:t>
            </a:r>
            <a:r>
              <a:rPr b="1" lang="it">
                <a:solidFill>
                  <a:srgbClr val="0B5394"/>
                </a:solidFill>
                <a:latin typeface="Consolas"/>
                <a:ea typeface="Consolas"/>
                <a:cs typeface="Consolas"/>
                <a:sym typeface="Consolas"/>
              </a:rPr>
              <a:t> VecDeque&lt;T&gt;</a:t>
            </a:r>
            <a:r>
              <a:rPr lang="it"/>
              <a:t> </a:t>
            </a:r>
            <a:endParaRPr/>
          </a:p>
        </p:txBody>
      </p:sp>
      <p:sp>
        <p:nvSpPr>
          <p:cNvPr id="239" name="Google Shape;239;p4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Mappe</a:t>
            </a:r>
            <a:endParaRPr/>
          </a:p>
        </p:txBody>
      </p:sp>
      <p:sp>
        <p:nvSpPr>
          <p:cNvPr id="245" name="Google Shape;245;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Una </a:t>
            </a:r>
            <a:r>
              <a:rPr b="1" lang="it">
                <a:solidFill>
                  <a:srgbClr val="0B5394"/>
                </a:solidFill>
                <a:latin typeface="Consolas"/>
                <a:ea typeface="Consolas"/>
                <a:cs typeface="Consolas"/>
                <a:sym typeface="Consolas"/>
              </a:rPr>
              <a:t>HashMap&lt;K,V&gt;</a:t>
            </a:r>
            <a:r>
              <a:rPr lang="it"/>
              <a:t> memorizza coppie chiave (</a:t>
            </a:r>
            <a:r>
              <a:rPr lang="it"/>
              <a:t>di tipo </a:t>
            </a:r>
            <a:r>
              <a:rPr b="1" lang="it">
                <a:solidFill>
                  <a:srgbClr val="0B5394"/>
                </a:solidFill>
                <a:latin typeface="Consolas"/>
                <a:ea typeface="Consolas"/>
                <a:cs typeface="Consolas"/>
                <a:sym typeface="Consolas"/>
              </a:rPr>
              <a:t>K: Eq+Hash</a:t>
            </a:r>
            <a:r>
              <a:rPr lang="it"/>
              <a:t>) </a:t>
            </a:r>
            <a:r>
              <a:rPr lang="it"/>
              <a:t>/ valore (</a:t>
            </a:r>
            <a:r>
              <a:rPr lang="it"/>
              <a:t>di tipo </a:t>
            </a:r>
            <a:r>
              <a:rPr b="1" lang="it">
                <a:solidFill>
                  <a:srgbClr val="0B5394"/>
                </a:solidFill>
                <a:latin typeface="Consolas"/>
                <a:ea typeface="Consolas"/>
                <a:cs typeface="Consolas"/>
                <a:sym typeface="Consolas"/>
              </a:rPr>
              <a:t>V</a:t>
            </a:r>
            <a:r>
              <a:rPr lang="it"/>
              <a:t>) usando una struttura hash</a:t>
            </a:r>
            <a:endParaRPr/>
          </a:p>
          <a:p>
            <a:pPr indent="-317500" lvl="1" marL="914400" rtl="0" algn="l">
              <a:spcBef>
                <a:spcPts val="0"/>
              </a:spcBef>
              <a:spcAft>
                <a:spcPts val="0"/>
              </a:spcAft>
              <a:buSzPts val="1400"/>
              <a:buChar char="○"/>
            </a:pPr>
            <a:r>
              <a:rPr lang="it"/>
              <a:t>È indicata quando non serve un ordinamento totale delle chiavi e si vogliono operazioni in tempo medio costante</a:t>
            </a:r>
            <a:endParaRPr/>
          </a:p>
          <a:p>
            <a:pPr indent="-317500" lvl="1" marL="914400" rtl="0" algn="l">
              <a:spcBef>
                <a:spcPts val="0"/>
              </a:spcBef>
              <a:spcAft>
                <a:spcPts val="0"/>
              </a:spcAft>
              <a:buSzPts val="1400"/>
              <a:buChar char="○"/>
            </a:pPr>
            <a:r>
              <a:rPr lang="it"/>
              <a:t>Massimizza la rapidità media di accesso</a:t>
            </a:r>
            <a:endParaRPr/>
          </a:p>
          <a:p>
            <a:pPr indent="-342900" lvl="0" marL="457200" rtl="0" algn="l">
              <a:spcBef>
                <a:spcPts val="0"/>
              </a:spcBef>
              <a:spcAft>
                <a:spcPts val="0"/>
              </a:spcAft>
              <a:buSzPts val="1800"/>
              <a:buChar char="●"/>
            </a:pPr>
            <a:r>
              <a:rPr lang="it"/>
              <a:t>Una </a:t>
            </a:r>
            <a:r>
              <a:rPr b="1" lang="it">
                <a:solidFill>
                  <a:srgbClr val="0B5394"/>
                </a:solidFill>
                <a:latin typeface="Consolas"/>
                <a:ea typeface="Consolas"/>
                <a:cs typeface="Consolas"/>
                <a:sym typeface="Consolas"/>
              </a:rPr>
              <a:t>BTreeMap&lt;K,V&gt;</a:t>
            </a:r>
            <a:r>
              <a:rPr lang="it"/>
              <a:t> memorizza coppie chiave (di tipo </a:t>
            </a:r>
            <a:r>
              <a:rPr b="1" lang="it">
                <a:solidFill>
                  <a:srgbClr val="0B5394"/>
                </a:solidFill>
                <a:latin typeface="Consolas"/>
                <a:ea typeface="Consolas"/>
                <a:cs typeface="Consolas"/>
                <a:sym typeface="Consolas"/>
              </a:rPr>
              <a:t>K: Ord</a:t>
            </a:r>
            <a:r>
              <a:rPr lang="it"/>
              <a:t>)</a:t>
            </a:r>
            <a:r>
              <a:rPr lang="it"/>
              <a:t> / valore </a:t>
            </a:r>
            <a:r>
              <a:rPr lang="it"/>
              <a:t>(di tipo </a:t>
            </a:r>
            <a:r>
              <a:rPr b="1" lang="it">
                <a:solidFill>
                  <a:srgbClr val="0B5394"/>
                </a:solidFill>
                <a:latin typeface="Consolas"/>
                <a:ea typeface="Consolas"/>
                <a:cs typeface="Consolas"/>
                <a:sym typeface="Consolas"/>
              </a:rPr>
              <a:t>V</a:t>
            </a:r>
            <a:r>
              <a:rPr lang="it"/>
              <a:t>) </a:t>
            </a:r>
            <a:r>
              <a:rPr lang="it"/>
              <a:t>mantenendo le chiavi ordinate tramite una struttura di tipo B-tree</a:t>
            </a:r>
            <a:endParaRPr/>
          </a:p>
          <a:p>
            <a:pPr indent="-317500" lvl="1" marL="914400" rtl="0" algn="l">
              <a:spcBef>
                <a:spcPts val="0"/>
              </a:spcBef>
              <a:spcAft>
                <a:spcPts val="0"/>
              </a:spcAft>
              <a:buSzPts val="1400"/>
              <a:buChar char="○"/>
            </a:pPr>
            <a:r>
              <a:rPr lang="it"/>
              <a:t>È indicata quando servono ordinamento delle chiavi, interrogazioni su intervalli e costi prevedibili</a:t>
            </a:r>
            <a:endParaRPr/>
          </a:p>
          <a:p>
            <a:pPr indent="-317500" lvl="1" marL="914400" rtl="0" algn="l">
              <a:spcBef>
                <a:spcPts val="0"/>
              </a:spcBef>
              <a:spcAft>
                <a:spcPts val="0"/>
              </a:spcAft>
              <a:buSzPts val="1400"/>
              <a:buChar char="○"/>
            </a:pPr>
            <a:r>
              <a:rPr lang="it"/>
              <a:t>Garantisce scansioni ordinate per chiave</a:t>
            </a:r>
            <a:endParaRPr/>
          </a:p>
          <a:p>
            <a:pPr indent="-342900" lvl="0" marL="457200" rtl="0" algn="l">
              <a:spcBef>
                <a:spcPts val="0"/>
              </a:spcBef>
              <a:spcAft>
                <a:spcPts val="0"/>
              </a:spcAft>
              <a:buSzPts val="1800"/>
              <a:buChar char="●"/>
            </a:pPr>
            <a:r>
              <a:rPr lang="it"/>
              <a:t>In entrambi i casi, l’inserimento di una nuova coppia può causare la riallocazione ed il movimento dei dati</a:t>
            </a:r>
            <a:endParaRPr b="1">
              <a:solidFill>
                <a:srgbClr val="0B5394"/>
              </a:solidFill>
              <a:latin typeface="Consolas"/>
              <a:ea typeface="Consolas"/>
              <a:cs typeface="Consolas"/>
              <a:sym typeface="Consolas"/>
            </a:endParaRPr>
          </a:p>
        </p:txBody>
      </p:sp>
      <p:sp>
        <p:nvSpPr>
          <p:cNvPr id="246" name="Google Shape;246;p4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HashMap&lt;K,V&gt;</a:t>
            </a:r>
            <a:endParaRPr/>
          </a:p>
        </p:txBody>
      </p:sp>
      <p:sp>
        <p:nvSpPr>
          <p:cNvPr id="252" name="Google Shape;25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usarla</a:t>
            </a:r>
            <a:endParaRPr/>
          </a:p>
          <a:p>
            <a:pPr indent="-317500" lvl="1" marL="914400" rtl="0" algn="l">
              <a:spcBef>
                <a:spcPts val="0"/>
              </a:spcBef>
              <a:spcAft>
                <a:spcPts val="0"/>
              </a:spcAft>
              <a:buSzPts val="1400"/>
              <a:buChar char="○"/>
            </a:pPr>
            <a:r>
              <a:rPr lang="it"/>
              <a:t>Occorre gestire conteggi, indici, cache, raggruppamenti di elementi, unioni basate su chiave</a:t>
            </a:r>
            <a:endParaRPr/>
          </a:p>
          <a:p>
            <a:pPr indent="-317500" lvl="1" marL="914400" rtl="0" algn="l">
              <a:spcBef>
                <a:spcPts val="0"/>
              </a:spcBef>
              <a:spcAft>
                <a:spcPts val="0"/>
              </a:spcAft>
              <a:buSzPts val="1400"/>
              <a:buChar char="○"/>
            </a:pPr>
            <a:r>
              <a:rPr lang="it"/>
              <a:t>S</a:t>
            </a:r>
            <a:r>
              <a:rPr lang="it"/>
              <a:t>erve una ricerca con complessità attesa O(1) e non serve garantire un ordine di iterazione</a:t>
            </a:r>
            <a:endParaRPr/>
          </a:p>
          <a:p>
            <a:pPr indent="-317500" lvl="1" marL="914400" rtl="0" algn="l">
              <a:spcBef>
                <a:spcPts val="0"/>
              </a:spcBef>
              <a:spcAft>
                <a:spcPts val="0"/>
              </a:spcAft>
              <a:buSzPts val="1400"/>
              <a:buChar char="○"/>
            </a:pPr>
            <a:r>
              <a:rPr lang="it"/>
              <a:t>Serve accumulare dati etichettati per poterli elaborare successivamente</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Accesso e modifica con complessità attesa O(1)</a:t>
            </a:r>
            <a:endParaRPr/>
          </a:p>
          <a:p>
            <a:pPr indent="-317500" lvl="1" marL="914400" rtl="0" algn="l">
              <a:spcBef>
                <a:spcPts val="0"/>
              </a:spcBef>
              <a:spcAft>
                <a:spcPts val="0"/>
              </a:spcAft>
              <a:buSzPts val="1400"/>
              <a:buChar char="○"/>
            </a:pPr>
            <a:r>
              <a:rPr lang="it"/>
              <a:t>L'API offerta da Rust è eccellente per la gestione di conteggi e inizializzazione condizionale</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L'ordine di iterazione non è stabile né segue un criterio prevedibile</a:t>
            </a:r>
            <a:endParaRPr/>
          </a:p>
          <a:p>
            <a:pPr indent="-317500" lvl="1" marL="914400" marR="0" rtl="0" algn="l">
              <a:lnSpc>
                <a:spcPct val="115000"/>
              </a:lnSpc>
              <a:spcBef>
                <a:spcPts val="0"/>
              </a:spcBef>
              <a:spcAft>
                <a:spcPts val="0"/>
              </a:spcAft>
              <a:buSzPts val="1400"/>
              <a:buChar char="○"/>
            </a:pPr>
            <a:r>
              <a:rPr lang="it"/>
              <a:t>Le chiavi devono implementare i tratti </a:t>
            </a:r>
            <a:r>
              <a:rPr b="1" lang="it">
                <a:solidFill>
                  <a:srgbClr val="0B5394"/>
                </a:solidFill>
                <a:latin typeface="Consolas"/>
                <a:ea typeface="Consolas"/>
                <a:cs typeface="Consolas"/>
                <a:sym typeface="Consolas"/>
              </a:rPr>
              <a:t>Eq</a:t>
            </a:r>
            <a:r>
              <a:rPr lang="it"/>
              <a:t> e </a:t>
            </a:r>
            <a:r>
              <a:rPr b="1" lang="it">
                <a:solidFill>
                  <a:srgbClr val="0B5394"/>
                </a:solidFill>
                <a:latin typeface="Consolas"/>
                <a:ea typeface="Consolas"/>
                <a:cs typeface="Consolas"/>
                <a:sym typeface="Consolas"/>
              </a:rPr>
              <a:t>Hash</a:t>
            </a:r>
            <a:r>
              <a:rPr lang="it"/>
              <a:t>: se le due implementazioni non sono coerenti o ottimizzate possono nascere errori logici</a:t>
            </a:r>
            <a:endParaRPr/>
          </a:p>
        </p:txBody>
      </p:sp>
      <p:sp>
        <p:nvSpPr>
          <p:cNvPr id="253" name="Google Shape;253;p4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BTreeMap&lt;K,V&gt;</a:t>
            </a:r>
            <a:endParaRPr/>
          </a:p>
        </p:txBody>
      </p:sp>
      <p:sp>
        <p:nvSpPr>
          <p:cNvPr id="259" name="Google Shape;25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usarla</a:t>
            </a:r>
            <a:endParaRPr/>
          </a:p>
          <a:p>
            <a:pPr indent="-317500" lvl="1" marL="914400" rtl="0" algn="l">
              <a:spcBef>
                <a:spcPts val="0"/>
              </a:spcBef>
              <a:spcAft>
                <a:spcPts val="0"/>
              </a:spcAft>
              <a:buSzPts val="1400"/>
              <a:buChar char="○"/>
            </a:pPr>
            <a:r>
              <a:rPr lang="it"/>
              <a:t>Serve iterare sugli elementi in modo ordinato deterministicamente</a:t>
            </a:r>
            <a:endParaRPr/>
          </a:p>
          <a:p>
            <a:pPr indent="-317500" lvl="1" marL="914400" rtl="0" algn="l">
              <a:spcBef>
                <a:spcPts val="0"/>
              </a:spcBef>
              <a:spcAft>
                <a:spcPts val="0"/>
              </a:spcAft>
              <a:buSzPts val="1400"/>
              <a:buChar char="○"/>
            </a:pPr>
            <a:r>
              <a:rPr lang="it"/>
              <a:t>Occorre reperire tutti gli elementi presenti in un intervallo di chiavi</a:t>
            </a:r>
            <a:endParaRPr/>
          </a:p>
          <a:p>
            <a:pPr indent="-317500" lvl="1" marL="914400" rtl="0" algn="l">
              <a:spcBef>
                <a:spcPts val="0"/>
              </a:spcBef>
              <a:spcAft>
                <a:spcPts val="0"/>
              </a:spcAft>
              <a:buSzPts val="1400"/>
              <a:buChar char="○"/>
            </a:pPr>
            <a:r>
              <a:rPr lang="it"/>
              <a:t>Occorre un ordinamento stabile per la creazione di report, API, test</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Iterazione ordinata naturalmente</a:t>
            </a:r>
            <a:endParaRPr/>
          </a:p>
          <a:p>
            <a:pPr indent="-317500" lvl="1" marL="914400" rtl="0" algn="l">
              <a:spcBef>
                <a:spcPts val="0"/>
              </a:spcBef>
              <a:spcAft>
                <a:spcPts val="0"/>
              </a:spcAft>
              <a:buSzPts val="1400"/>
              <a:buChar char="○"/>
            </a:pPr>
            <a:r>
              <a:rPr lang="it"/>
              <a:t>Interrogazioni su intervalli di chiavi</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Il costo di accesso ad un elemento è O(log(n))</a:t>
            </a:r>
            <a:endParaRPr/>
          </a:p>
          <a:p>
            <a:pPr indent="-317500" lvl="1" marL="914400" marR="0" rtl="0" algn="l">
              <a:lnSpc>
                <a:spcPct val="115000"/>
              </a:lnSpc>
              <a:spcBef>
                <a:spcPts val="0"/>
              </a:spcBef>
              <a:spcAft>
                <a:spcPts val="0"/>
              </a:spcAft>
              <a:buSzPts val="1400"/>
              <a:buChar char="○"/>
            </a:pPr>
            <a:r>
              <a:rPr lang="it"/>
              <a:t>Le chiavi devono implementare il tratto </a:t>
            </a:r>
            <a:r>
              <a:rPr b="1" lang="it">
                <a:solidFill>
                  <a:srgbClr val="0B5394"/>
                </a:solidFill>
                <a:latin typeface="Consolas"/>
                <a:ea typeface="Consolas"/>
                <a:cs typeface="Consolas"/>
                <a:sym typeface="Consolas"/>
              </a:rPr>
              <a:t>Ord</a:t>
            </a:r>
            <a:r>
              <a:rPr lang="it"/>
              <a:t> e devono garantire immutabilità di confronto: un eventuale cambio di ordinamento mentre una chiave è parte di una mappa è un errore logico</a:t>
            </a:r>
            <a:endParaRPr/>
          </a:p>
        </p:txBody>
      </p:sp>
      <p:sp>
        <p:nvSpPr>
          <p:cNvPr id="260" name="Google Shape;260;p4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Mappe</a:t>
            </a:r>
            <a:endParaRPr/>
          </a:p>
        </p:txBody>
      </p:sp>
      <p:sp>
        <p:nvSpPr>
          <p:cNvPr id="266" name="Google Shape;266;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Poiché una mappa nella maggior parte dei casi possiede sia le chiavi che i valori presenti al suo interno, le operazioni relative all'inserimento, cancellazione, accesso ai singoli elementi richiedono il rispetto di tale possesso</a:t>
            </a:r>
            <a:endParaRPr/>
          </a:p>
          <a:p>
            <a:pPr indent="-317500" lvl="1" marL="914400" rtl="0" algn="l">
              <a:spcBef>
                <a:spcPts val="0"/>
              </a:spcBef>
              <a:spcAft>
                <a:spcPts val="0"/>
              </a:spcAft>
              <a:buSzPts val="1400"/>
              <a:buChar char="○"/>
            </a:pPr>
            <a:r>
              <a:rPr lang="it"/>
              <a:t>Inoltre, Rust cerca di ottimizzare l'accesso ai dati contenuti evitando di dover navigare più volte la struttura interna alla ricerca del valore associato ad un chiave</a:t>
            </a:r>
            <a:endParaRPr/>
          </a:p>
          <a:p>
            <a:pPr indent="-342900" lvl="0" marL="457200" rtl="0" algn="l">
              <a:spcBef>
                <a:spcPts val="0"/>
              </a:spcBef>
              <a:spcAft>
                <a:spcPts val="0"/>
              </a:spcAft>
              <a:buSzPts val="1800"/>
              <a:buChar char="●"/>
            </a:pPr>
            <a:r>
              <a:rPr lang="it"/>
              <a:t>La conseguenza di ciò è che l'interfaccia applicativa offerta è alquanto differente da quella tipicamente offerta da altri linguaggi, pur avendo lo stesso potere espressivo</a:t>
            </a:r>
            <a:endParaRPr/>
          </a:p>
          <a:p>
            <a:pPr indent="-317500" lvl="1" marL="914400" rtl="0" algn="l">
              <a:spcBef>
                <a:spcPts val="0"/>
              </a:spcBef>
              <a:spcAft>
                <a:spcPts val="0"/>
              </a:spcAft>
              <a:buSzPts val="1400"/>
              <a:buChar char="○"/>
            </a:pPr>
            <a:r>
              <a:rPr lang="it"/>
              <a:t>In particolare, i metodi di accesso (</a:t>
            </a:r>
            <a:r>
              <a:rPr b="1" lang="it">
                <a:solidFill>
                  <a:srgbClr val="0B5394"/>
                </a:solidFill>
                <a:latin typeface="Consolas"/>
                <a:ea typeface="Consolas"/>
                <a:cs typeface="Consolas"/>
                <a:sym typeface="Consolas"/>
              </a:rPr>
              <a:t>get(…)</a:t>
            </a:r>
            <a:r>
              <a:rPr lang="it"/>
              <a:t>, </a:t>
            </a:r>
            <a:r>
              <a:rPr b="1" lang="it">
                <a:solidFill>
                  <a:srgbClr val="0B5394"/>
                </a:solidFill>
                <a:latin typeface="Consolas"/>
                <a:ea typeface="Consolas"/>
                <a:cs typeface="Consolas"/>
                <a:sym typeface="Consolas"/>
              </a:rPr>
              <a:t>get_key_value(…)</a:t>
            </a:r>
            <a:r>
              <a:rPr lang="it"/>
              <a:t>, </a:t>
            </a:r>
            <a:r>
              <a:rPr b="1" lang="it">
                <a:solidFill>
                  <a:srgbClr val="0B5394"/>
                </a:solidFill>
                <a:latin typeface="Consolas"/>
                <a:ea typeface="Consolas"/>
                <a:cs typeface="Consolas"/>
                <a:sym typeface="Consolas"/>
              </a:rPr>
              <a:t>keys(…)</a:t>
            </a:r>
            <a:r>
              <a:rPr lang="it"/>
              <a:t>, …) usano chiavi di tipo </a:t>
            </a:r>
            <a:r>
              <a:rPr b="1" lang="it">
                <a:solidFill>
                  <a:srgbClr val="0B5394"/>
                </a:solidFill>
                <a:latin typeface="Consolas"/>
                <a:ea typeface="Consolas"/>
                <a:cs typeface="Consolas"/>
                <a:sym typeface="Consolas"/>
              </a:rPr>
              <a:t>&amp;K</a:t>
            </a:r>
            <a:r>
              <a:rPr lang="it"/>
              <a:t> e restituiscono valori di tipo </a:t>
            </a:r>
            <a:r>
              <a:rPr b="1" lang="it">
                <a:solidFill>
                  <a:srgbClr val="0B5394"/>
                </a:solidFill>
                <a:latin typeface="Consolas"/>
                <a:ea typeface="Consolas"/>
                <a:cs typeface="Consolas"/>
                <a:sym typeface="Consolas"/>
              </a:rPr>
              <a:t>&amp;V</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Anche i metodi che modificano la mappa tendono ad usare riferimenti a chiavi e valori (</a:t>
            </a:r>
            <a:r>
              <a:rPr b="1" lang="it">
                <a:solidFill>
                  <a:srgbClr val="0B5394"/>
                </a:solidFill>
                <a:latin typeface="Consolas"/>
                <a:ea typeface="Consolas"/>
                <a:cs typeface="Consolas"/>
                <a:sym typeface="Consolas"/>
              </a:rPr>
              <a:t>remove(…)</a:t>
            </a:r>
            <a:r>
              <a:rPr lang="it"/>
              <a:t>, </a:t>
            </a:r>
            <a:r>
              <a:rPr b="1" lang="it">
                <a:solidFill>
                  <a:srgbClr val="0B5394"/>
                </a:solidFill>
                <a:latin typeface="Consolas"/>
                <a:ea typeface="Consolas"/>
                <a:cs typeface="Consolas"/>
                <a:sym typeface="Consolas"/>
              </a:rPr>
              <a:t>retain(…)</a:t>
            </a:r>
            <a:r>
              <a:rPr lang="it"/>
              <a:t>)      </a:t>
            </a:r>
            <a:endParaRPr/>
          </a:p>
          <a:p>
            <a:pPr indent="-317500" lvl="1" marL="914400" rtl="0" algn="l">
              <a:spcBef>
                <a:spcPts val="0"/>
              </a:spcBef>
              <a:spcAft>
                <a:spcPts val="0"/>
              </a:spcAft>
              <a:buSzPts val="1400"/>
              <a:buChar char="○"/>
            </a:pPr>
            <a:r>
              <a:rPr lang="it"/>
              <a:t>I metodi di inserimento richiedono invece il movimento di valori posseduti</a:t>
            </a:r>
            <a:endParaRPr/>
          </a:p>
          <a:p>
            <a:pPr indent="-317500" lvl="1" marL="914400" rtl="0" algn="l">
              <a:spcBef>
                <a:spcPts val="0"/>
              </a:spcBef>
              <a:spcAft>
                <a:spcPts val="0"/>
              </a:spcAft>
              <a:buSzPts val="1400"/>
              <a:buChar char="○"/>
            </a:pPr>
            <a:r>
              <a:rPr lang="it"/>
              <a:t>L’aggiornamento o l’inserimento condizionale di un valore associato a una chiave usa spesso la enum </a:t>
            </a:r>
            <a:r>
              <a:rPr b="1" lang="it">
                <a:solidFill>
                  <a:srgbClr val="0B5394"/>
                </a:solidFill>
                <a:latin typeface="Consolas"/>
                <a:ea typeface="Consolas"/>
                <a:cs typeface="Consolas"/>
                <a:sym typeface="Consolas"/>
              </a:rPr>
              <a:t>Entry</a:t>
            </a:r>
            <a:r>
              <a:rPr lang="it"/>
              <a:t>, che evita ricerche duplicate</a:t>
            </a:r>
            <a:r>
              <a:rPr lang="it"/>
              <a:t> </a:t>
            </a:r>
            <a:endParaRPr/>
          </a:p>
        </p:txBody>
      </p:sp>
      <p:sp>
        <p:nvSpPr>
          <p:cNvPr id="267" name="Google Shape;267;p4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Entry&lt;’a,K,V&gt;</a:t>
            </a:r>
            <a:endParaRPr/>
          </a:p>
        </p:txBody>
      </p:sp>
      <p:sp>
        <p:nvSpPr>
          <p:cNvPr id="273" name="Google Shape;273;p50"/>
          <p:cNvSpPr txBox="1"/>
          <p:nvPr>
            <p:ph idx="1" type="body"/>
          </p:nvPr>
        </p:nvSpPr>
        <p:spPr>
          <a:xfrm>
            <a:off x="311700" y="1152472"/>
            <a:ext cx="8520600" cy="252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offre la possibilità di ottimizzare l’utilizzo delle mappe: in particolare attraverso il metodo </a:t>
            </a:r>
            <a:r>
              <a:rPr b="1" lang="it">
                <a:solidFill>
                  <a:srgbClr val="0B5394"/>
                </a:solidFill>
                <a:latin typeface="Consolas"/>
                <a:ea typeface="Consolas"/>
                <a:cs typeface="Consolas"/>
                <a:sym typeface="Consolas"/>
              </a:rPr>
              <a:t>entry</a:t>
            </a:r>
            <a:r>
              <a:rPr lang="it"/>
              <a:t> che permette di cercare una chiave all’interno di una mappa e ritorna un enum in base al risultato della ricerca</a:t>
            </a:r>
            <a:endParaRPr/>
          </a:p>
          <a:p>
            <a:pPr indent="-317500" lvl="1" marL="914400" rtl="0" algn="l">
              <a:spcBef>
                <a:spcPts val="0"/>
              </a:spcBef>
              <a:spcAft>
                <a:spcPts val="0"/>
              </a:spcAft>
              <a:buClr>
                <a:srgbClr val="0B5394"/>
              </a:buClr>
              <a:buSzPts val="1400"/>
              <a:buFont typeface="Consolas"/>
              <a:buChar char="○"/>
            </a:pPr>
            <a:r>
              <a:rPr b="1" lang="it">
                <a:solidFill>
                  <a:srgbClr val="0B5394"/>
                </a:solidFill>
                <a:latin typeface="Consolas"/>
                <a:ea typeface="Consolas"/>
                <a:cs typeface="Consolas"/>
                <a:sym typeface="Consolas"/>
              </a:rPr>
              <a:t>entry(&amp;mut self, key: K) -&gt; Entry&lt;'a, K, V&gt;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L’enum </a:t>
            </a:r>
            <a:r>
              <a:rPr b="1" lang="it">
                <a:solidFill>
                  <a:srgbClr val="0B5394"/>
                </a:solidFill>
                <a:latin typeface="Consolas"/>
                <a:ea typeface="Consolas"/>
                <a:cs typeface="Consolas"/>
                <a:sym typeface="Consolas"/>
              </a:rPr>
              <a:t>Entry&lt;'a, K, V&gt;</a:t>
            </a:r>
            <a:r>
              <a:rPr lang="it"/>
              <a:t> </a:t>
            </a:r>
            <a:r>
              <a:rPr lang="it"/>
              <a:t>permette di effettuare una sola ricerca della chiave e poi decidere se modificare il valore esistente oppure inserire un valore di default</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and_modify&lt;F&gt;(self, f: F)</a:t>
            </a:r>
            <a:r>
              <a:rPr lang="it"/>
              <a:t> consente di modificare il valore se la chiave è presente</a:t>
            </a:r>
            <a:endParaRPr/>
          </a:p>
          <a:p>
            <a:pPr indent="-317500" lvl="1" marL="914400" rtl="0" algn="l">
              <a:spcBef>
                <a:spcPts val="0"/>
              </a:spcBef>
              <a:spcAft>
                <a:spcPts val="0"/>
              </a:spcAft>
              <a:buClr>
                <a:srgbClr val="0B5394"/>
              </a:buClr>
              <a:buSzPts val="1400"/>
              <a:buFont typeface="Consolas"/>
              <a:buChar char="○"/>
            </a:pPr>
            <a:r>
              <a:rPr b="1" lang="it">
                <a:solidFill>
                  <a:srgbClr val="0B5394"/>
                </a:solidFill>
                <a:latin typeface="Consolas"/>
                <a:ea typeface="Consolas"/>
                <a:cs typeface="Consolas"/>
                <a:sym typeface="Consolas"/>
              </a:rPr>
              <a:t>or_insert(self, default: V)</a:t>
            </a:r>
            <a:r>
              <a:rPr lang="it"/>
              <a:t> inserisce un valore di default se la chiave è assente</a:t>
            </a:r>
            <a:endParaRPr/>
          </a:p>
        </p:txBody>
      </p:sp>
      <p:sp>
        <p:nvSpPr>
          <p:cNvPr id="274" name="Google Shape;274;p50"/>
          <p:cNvSpPr txBox="1"/>
          <p:nvPr/>
        </p:nvSpPr>
        <p:spPr>
          <a:xfrm>
            <a:off x="1833150" y="3553699"/>
            <a:ext cx="5477700" cy="11853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300">
                <a:solidFill>
                  <a:schemeClr val="dk1"/>
                </a:solidFill>
                <a:latin typeface="Consolas"/>
                <a:ea typeface="Consolas"/>
                <a:cs typeface="Consolas"/>
                <a:sym typeface="Consolas"/>
              </a:rPr>
              <a:t>let mut animals: HashMap&lt;&amp;str, u32&gt; = HashMap::new();</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rPr b="1" lang="it" sz="1300">
                <a:solidFill>
                  <a:schemeClr val="dk1"/>
                </a:solidFill>
                <a:latin typeface="Consolas"/>
                <a:ea typeface="Consolas"/>
                <a:cs typeface="Consolas"/>
                <a:sym typeface="Consolas"/>
              </a:rPr>
              <a:t>animals.entry("dog")</a:t>
            </a:r>
            <a:endParaRPr b="1" sz="1300">
              <a:solidFill>
                <a:schemeClr val="dk1"/>
              </a:solidFill>
              <a:latin typeface="Consolas"/>
              <a:ea typeface="Consolas"/>
              <a:cs typeface="Consolas"/>
              <a:sym typeface="Consolas"/>
            </a:endParaRPr>
          </a:p>
          <a:p>
            <a:pPr indent="457200" lvl="0" marL="0" rtl="0" algn="l">
              <a:spcBef>
                <a:spcPts val="0"/>
              </a:spcBef>
              <a:spcAft>
                <a:spcPts val="0"/>
              </a:spcAft>
              <a:buNone/>
            </a:pPr>
            <a:r>
              <a:rPr b="1" lang="it" sz="1300">
                <a:solidFill>
                  <a:schemeClr val="dk1"/>
                </a:solidFill>
                <a:latin typeface="Consolas"/>
                <a:ea typeface="Consolas"/>
                <a:cs typeface="Consolas"/>
                <a:sym typeface="Consolas"/>
              </a:rPr>
              <a:t>.and_modify(|v| { *v += 1 })</a:t>
            </a:r>
            <a:endParaRPr b="1" sz="1300">
              <a:solidFill>
                <a:schemeClr val="dk1"/>
              </a:solidFill>
              <a:latin typeface="Consolas"/>
              <a:ea typeface="Consolas"/>
              <a:cs typeface="Consolas"/>
              <a:sym typeface="Consolas"/>
            </a:endParaRPr>
          </a:p>
          <a:p>
            <a:pPr indent="457200" lvl="0" marL="0" rtl="0" algn="l">
              <a:spcBef>
                <a:spcPts val="0"/>
              </a:spcBef>
              <a:spcAft>
                <a:spcPts val="0"/>
              </a:spcAft>
              <a:buNone/>
            </a:pPr>
            <a:r>
              <a:rPr b="1" lang="it" sz="1300">
                <a:solidFill>
                  <a:schemeClr val="dk1"/>
                </a:solidFill>
                <a:latin typeface="Consolas"/>
                <a:ea typeface="Consolas"/>
                <a:cs typeface="Consolas"/>
                <a:sym typeface="Consolas"/>
              </a:rPr>
              <a:t>.or_insert(1);</a:t>
            </a:r>
            <a:endParaRPr b="1" sz="1300">
              <a:latin typeface="Consolas"/>
              <a:ea typeface="Consolas"/>
              <a:cs typeface="Consolas"/>
              <a:sym typeface="Consolas"/>
            </a:endParaRPr>
          </a:p>
        </p:txBody>
      </p:sp>
      <p:sp>
        <p:nvSpPr>
          <p:cNvPr id="275" name="Google Shape;275;p5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Operare con le mappe</a:t>
            </a:r>
            <a:endParaRPr/>
          </a:p>
        </p:txBody>
      </p:sp>
      <p:sp>
        <p:nvSpPr>
          <p:cNvPr id="281" name="Google Shape;281;p51"/>
          <p:cNvSpPr txBox="1"/>
          <p:nvPr/>
        </p:nvSpPr>
        <p:spPr>
          <a:xfrm>
            <a:off x="376500" y="982845"/>
            <a:ext cx="8455800" cy="3694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200">
                <a:solidFill>
                  <a:schemeClr val="dk2"/>
                </a:solidFill>
                <a:latin typeface="Consolas"/>
                <a:ea typeface="Consolas"/>
                <a:cs typeface="Consolas"/>
                <a:sym typeface="Consolas"/>
              </a:rPr>
              <a:t>use std::collections::HashMap;</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fn main()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 inizializzo una mappa a partire da un insieme di valori</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let mut scores = HashMap::from([("Alice",80), ("Bob", 90), ("Carol",70)]);</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 modifico il valore associato ad una chiave</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scores.entry("Carol").and_modify(|v| *v = 75 );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 trasferisco il contenuto della mappa in un Vec&lt;(K,V)&gt;</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let mut v: Vec&lt;(&amp;'static str, i32)&gt; = scores</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 consumo la mappa e ottengo una sequenza di coppie (K,V) in ordine non definito</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.into_iter()</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.collect();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 ordino per valore</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  v.sort_by_key(|(_, val)| *val);</a:t>
            </a:r>
            <a:endParaRPr b="1" sz="12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solidFill>
                  <a:schemeClr val="dk2"/>
                </a:solidFill>
                <a:latin typeface="Consolas"/>
                <a:ea typeface="Consolas"/>
                <a:cs typeface="Consolas"/>
                <a:sym typeface="Consolas"/>
              </a:rPr>
              <a:t>  println!("{:?}",v);</a:t>
            </a:r>
            <a:endParaRPr b="1" sz="1200">
              <a:solidFill>
                <a:schemeClr val="dk2"/>
              </a:solidFill>
              <a:latin typeface="Consolas"/>
              <a:ea typeface="Consolas"/>
              <a:cs typeface="Consolas"/>
              <a:sym typeface="Consolas"/>
            </a:endParaRPr>
          </a:p>
          <a:p>
            <a:pPr indent="0" lvl="0" marL="0" rtl="0" algn="l">
              <a:spcBef>
                <a:spcPts val="0"/>
              </a:spcBef>
              <a:spcAft>
                <a:spcPts val="0"/>
              </a:spcAft>
              <a:buNone/>
            </a:pPr>
            <a:r>
              <a:rPr b="1" lang="it" sz="1200">
                <a:solidFill>
                  <a:schemeClr val="dk2"/>
                </a:solidFill>
                <a:latin typeface="Consolas"/>
                <a:ea typeface="Consolas"/>
                <a:cs typeface="Consolas"/>
                <a:sym typeface="Consolas"/>
              </a:rPr>
              <a:t>}</a:t>
            </a:r>
            <a:endParaRPr b="1" sz="1200">
              <a:solidFill>
                <a:schemeClr val="dk2"/>
              </a:solidFill>
              <a:latin typeface="Consolas"/>
              <a:ea typeface="Consolas"/>
              <a:cs typeface="Consolas"/>
              <a:sym typeface="Consolas"/>
            </a:endParaRPr>
          </a:p>
        </p:txBody>
      </p:sp>
      <p:sp>
        <p:nvSpPr>
          <p:cNvPr id="282" name="Google Shape;282;p5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Insiemi</a:t>
            </a:r>
            <a:endParaRPr/>
          </a:p>
        </p:txBody>
      </p:sp>
      <p:sp>
        <p:nvSpPr>
          <p:cNvPr id="288" name="Google Shape;28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 </a:t>
            </a:r>
            <a:r>
              <a:rPr b="1" lang="it">
                <a:solidFill>
                  <a:srgbClr val="0B5394"/>
                </a:solidFill>
                <a:latin typeface="Consolas"/>
                <a:ea typeface="Consolas"/>
                <a:cs typeface="Consolas"/>
                <a:sym typeface="Consolas"/>
              </a:rPr>
              <a:t>HashSet&lt;T&gt;</a:t>
            </a:r>
            <a:r>
              <a:rPr lang="it"/>
              <a:t> è un insieme di elementi univoci di tipo </a:t>
            </a:r>
            <a:r>
              <a:rPr b="1" lang="it">
                <a:solidFill>
                  <a:srgbClr val="0B5394"/>
                </a:solidFill>
                <a:latin typeface="Consolas"/>
                <a:ea typeface="Consolas"/>
                <a:cs typeface="Consolas"/>
                <a:sym typeface="Consolas"/>
              </a:rPr>
              <a:t>T</a:t>
            </a:r>
            <a:r>
              <a:rPr lang="it"/>
              <a:t> i valori sono salvati nello heap come una singola hash table</a:t>
            </a:r>
            <a:endParaRPr/>
          </a:p>
          <a:p>
            <a:pPr indent="-317500" lvl="1" marL="914400" rtl="0" algn="l">
              <a:spcBef>
                <a:spcPts val="0"/>
              </a:spcBef>
              <a:spcAft>
                <a:spcPts val="0"/>
              </a:spcAft>
              <a:buSzPts val="1400"/>
              <a:buChar char="○"/>
            </a:pPr>
            <a:r>
              <a:rPr lang="it"/>
              <a:t>L’inserimento di una nuova entry nell’ </a:t>
            </a:r>
            <a:r>
              <a:rPr b="1" lang="it">
                <a:solidFill>
                  <a:srgbClr val="0B5394"/>
                </a:solidFill>
                <a:latin typeface="Consolas"/>
                <a:ea typeface="Consolas"/>
                <a:cs typeface="Consolas"/>
                <a:sym typeface="Consolas"/>
              </a:rPr>
              <a:t>HashSet&lt;T&gt;</a:t>
            </a:r>
            <a:r>
              <a:rPr lang="it"/>
              <a:t> può causare la riallocazione ed il movimento dei dati</a:t>
            </a:r>
            <a:endParaRPr/>
          </a:p>
          <a:p>
            <a:pPr indent="-317500" lvl="1" marL="914400" rtl="0" algn="l">
              <a:spcBef>
                <a:spcPts val="0"/>
              </a:spcBef>
              <a:spcAft>
                <a:spcPts val="0"/>
              </a:spcAft>
              <a:buSzPts val="1400"/>
              <a:buChar char="○"/>
            </a:pPr>
            <a:r>
              <a:rPr lang="it"/>
              <a:t>Un </a:t>
            </a:r>
            <a:r>
              <a:rPr b="1" lang="it">
                <a:solidFill>
                  <a:srgbClr val="0B5394"/>
                </a:solidFill>
                <a:latin typeface="Consolas"/>
                <a:ea typeface="Consolas"/>
                <a:cs typeface="Consolas"/>
                <a:sym typeface="Consolas"/>
              </a:rPr>
              <a:t>HashSet&lt;T&gt;</a:t>
            </a:r>
            <a:r>
              <a:rPr lang="it"/>
              <a:t> può essere visto come una struttura analoga a  </a:t>
            </a:r>
            <a:r>
              <a:rPr b="1" lang="it">
                <a:solidFill>
                  <a:srgbClr val="0B5394"/>
                </a:solidFill>
                <a:latin typeface="Consolas"/>
                <a:ea typeface="Consolas"/>
                <a:cs typeface="Consolas"/>
                <a:sym typeface="Consolas"/>
              </a:rPr>
              <a:t>HashMap&lt;T,()&gt;</a:t>
            </a:r>
            <a:r>
              <a:rPr lang="it"/>
              <a:t>, dove conta solo la presenza dell'elemento</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Una </a:t>
            </a:r>
            <a:r>
              <a:rPr b="1" lang="it">
                <a:solidFill>
                  <a:srgbClr val="0B5394"/>
                </a:solidFill>
                <a:latin typeface="Consolas"/>
                <a:ea typeface="Consolas"/>
                <a:cs typeface="Consolas"/>
                <a:sym typeface="Consolas"/>
              </a:rPr>
              <a:t>BTreeSet&lt;T&gt;</a:t>
            </a:r>
            <a:r>
              <a:rPr lang="it"/>
              <a:t> è un insieme di elementi univoci di tipo </a:t>
            </a:r>
            <a:r>
              <a:rPr b="1" lang="it">
                <a:solidFill>
                  <a:srgbClr val="0B5394"/>
                </a:solidFill>
                <a:latin typeface="Consolas"/>
                <a:ea typeface="Consolas"/>
                <a:cs typeface="Consolas"/>
                <a:sym typeface="Consolas"/>
              </a:rPr>
              <a:t>T</a:t>
            </a:r>
            <a:r>
              <a:rPr lang="it"/>
              <a:t>, i valori sono salvati nello heap come un singolo albero dove ogni entry rappresenta un nodo</a:t>
            </a:r>
            <a:endParaRPr/>
          </a:p>
          <a:p>
            <a:pPr indent="-317500" lvl="1" marL="914400" rtl="0" algn="l">
              <a:spcBef>
                <a:spcPts val="0"/>
              </a:spcBef>
              <a:spcAft>
                <a:spcPts val="0"/>
              </a:spcAft>
              <a:buSzPts val="1400"/>
              <a:buChar char="○"/>
            </a:pPr>
            <a:r>
              <a:rPr lang="it"/>
              <a:t>L’inserimento di una nuova entry nella </a:t>
            </a:r>
            <a:r>
              <a:rPr b="1" lang="it">
                <a:solidFill>
                  <a:srgbClr val="0B5394"/>
                </a:solidFill>
                <a:latin typeface="Consolas"/>
                <a:ea typeface="Consolas"/>
                <a:cs typeface="Consolas"/>
                <a:sym typeface="Consolas"/>
              </a:rPr>
              <a:t>BTreeSet&lt;T&gt;</a:t>
            </a:r>
            <a:r>
              <a:rPr lang="it"/>
              <a:t> può causare la riallocazione ed il movimento dei dati</a:t>
            </a:r>
            <a:endParaRPr/>
          </a:p>
          <a:p>
            <a:pPr indent="-317500" lvl="1" marL="914400" rtl="0" algn="l">
              <a:spcBef>
                <a:spcPts val="0"/>
              </a:spcBef>
              <a:spcAft>
                <a:spcPts val="0"/>
              </a:spcAft>
              <a:buSzPts val="1400"/>
              <a:buChar char="○"/>
            </a:pPr>
            <a:r>
              <a:rPr lang="it"/>
              <a:t>Un </a:t>
            </a:r>
            <a:r>
              <a:rPr b="1" lang="it">
                <a:solidFill>
                  <a:srgbClr val="0B5394"/>
                </a:solidFill>
                <a:latin typeface="Consolas"/>
                <a:ea typeface="Consolas"/>
                <a:cs typeface="Consolas"/>
                <a:sym typeface="Consolas"/>
              </a:rPr>
              <a:t>BTreeSet&lt;T&gt;</a:t>
            </a:r>
            <a:r>
              <a:rPr lang="it"/>
              <a:t> </a:t>
            </a:r>
            <a:r>
              <a:rPr lang="it"/>
              <a:t>può essere visto come una struttura analoga a </a:t>
            </a:r>
            <a:r>
              <a:rPr b="1" lang="it">
                <a:solidFill>
                  <a:srgbClr val="0B5394"/>
                </a:solidFill>
                <a:latin typeface="Consolas"/>
                <a:ea typeface="Consolas"/>
                <a:cs typeface="Consolas"/>
                <a:sym typeface="Consolas"/>
              </a:rPr>
              <a:t>BTreeMap&lt;T,()&gt;</a:t>
            </a:r>
            <a:endParaRPr b="1">
              <a:solidFill>
                <a:srgbClr val="0B5394"/>
              </a:solidFill>
              <a:latin typeface="Consolas"/>
              <a:ea typeface="Consolas"/>
              <a:cs typeface="Consolas"/>
              <a:sym typeface="Consolas"/>
            </a:endParaRPr>
          </a:p>
        </p:txBody>
      </p:sp>
      <p:sp>
        <p:nvSpPr>
          <p:cNvPr id="289" name="Google Shape;289;p5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HashSet&lt;T&gt;</a:t>
            </a:r>
            <a:endParaRPr/>
          </a:p>
        </p:txBody>
      </p:sp>
      <p:sp>
        <p:nvSpPr>
          <p:cNvPr id="295" name="Google Shape;295;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usarlo</a:t>
            </a:r>
            <a:endParaRPr/>
          </a:p>
          <a:p>
            <a:pPr indent="-317500" lvl="1" marL="914400" rtl="0" algn="l">
              <a:spcBef>
                <a:spcPts val="0"/>
              </a:spcBef>
              <a:spcAft>
                <a:spcPts val="0"/>
              </a:spcAft>
              <a:buSzPts val="1400"/>
              <a:buChar char="○"/>
            </a:pPr>
            <a:r>
              <a:rPr lang="it"/>
              <a:t>Serve tenere traccia della presenza di un elemento</a:t>
            </a:r>
            <a:endParaRPr/>
          </a:p>
          <a:p>
            <a:pPr indent="-317500" lvl="1" marL="914400" rtl="0" algn="l">
              <a:spcBef>
                <a:spcPts val="0"/>
              </a:spcBef>
              <a:spcAft>
                <a:spcPts val="0"/>
              </a:spcAft>
              <a:buSzPts val="1400"/>
              <a:buChar char="○"/>
            </a:pPr>
            <a:r>
              <a:rPr lang="it"/>
              <a:t>Serve implementare meccanismi di deduplicazione, controllo di appartenenza, unicità</a:t>
            </a:r>
            <a:endParaRPr/>
          </a:p>
          <a:p>
            <a:pPr indent="-317500" lvl="1" marL="914400" rtl="0" algn="l">
              <a:spcBef>
                <a:spcPts val="0"/>
              </a:spcBef>
              <a:spcAft>
                <a:spcPts val="0"/>
              </a:spcAft>
              <a:buSzPts val="1400"/>
              <a:buChar char="○"/>
            </a:pPr>
            <a:r>
              <a:rPr lang="it"/>
              <a:t>Serve un'implementazione efficiente dell'algebra insiemistica, senza esigenze di ordinamento</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Verifica di appartenenza e inserimento hanno costo atteso O(1)</a:t>
            </a:r>
            <a:endParaRPr/>
          </a:p>
          <a:p>
            <a:pPr indent="-317500" lvl="1" marL="914400" rtl="0" algn="l">
              <a:spcBef>
                <a:spcPts val="0"/>
              </a:spcBef>
              <a:spcAft>
                <a:spcPts val="0"/>
              </a:spcAft>
              <a:buSzPts val="1400"/>
              <a:buChar char="○"/>
            </a:pPr>
            <a:r>
              <a:rPr lang="it"/>
              <a:t>Offre operazioni espressive quali unione, intersezione e differenza</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Nessuna garanzia di ordinamento nell'iterazione</a:t>
            </a:r>
            <a:endParaRPr/>
          </a:p>
          <a:p>
            <a:pPr indent="-317500" lvl="1" marL="914400" rtl="0" algn="l">
              <a:spcBef>
                <a:spcPts val="0"/>
              </a:spcBef>
              <a:spcAft>
                <a:spcPts val="0"/>
              </a:spcAft>
              <a:buSzPts val="1400"/>
              <a:buChar char="○"/>
            </a:pPr>
            <a:r>
              <a:rPr lang="it"/>
              <a:t>I valori devono </a:t>
            </a:r>
            <a:r>
              <a:rPr lang="it"/>
              <a:t>implementare i tratti </a:t>
            </a:r>
            <a:r>
              <a:rPr b="1" lang="it">
                <a:solidFill>
                  <a:srgbClr val="0B5394"/>
                </a:solidFill>
                <a:latin typeface="Consolas"/>
                <a:ea typeface="Consolas"/>
                <a:cs typeface="Consolas"/>
                <a:sym typeface="Consolas"/>
              </a:rPr>
              <a:t>Eq</a:t>
            </a:r>
            <a:r>
              <a:rPr lang="it"/>
              <a:t> e </a:t>
            </a:r>
            <a:r>
              <a:rPr b="1" lang="it">
                <a:solidFill>
                  <a:srgbClr val="0B5394"/>
                </a:solidFill>
                <a:latin typeface="Consolas"/>
                <a:ea typeface="Consolas"/>
                <a:cs typeface="Consolas"/>
                <a:sym typeface="Consolas"/>
              </a:rPr>
              <a:t>Hash</a:t>
            </a:r>
            <a:r>
              <a:rPr lang="it"/>
              <a:t>: se le due implementazioni non sono coerenti o ottimizzate possono nascere errori logici</a:t>
            </a:r>
            <a:endParaRPr/>
          </a:p>
        </p:txBody>
      </p:sp>
      <p:sp>
        <p:nvSpPr>
          <p:cNvPr id="296" name="Google Shape;296;p5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BTreeSet&lt;T&gt;</a:t>
            </a:r>
            <a:endParaRPr/>
          </a:p>
        </p:txBody>
      </p:sp>
      <p:sp>
        <p:nvSpPr>
          <p:cNvPr id="302" name="Google Shape;30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usarlo</a:t>
            </a:r>
            <a:endParaRPr/>
          </a:p>
          <a:p>
            <a:pPr indent="-317500" lvl="1" marL="914400" rtl="0" algn="l">
              <a:spcBef>
                <a:spcPts val="0"/>
              </a:spcBef>
              <a:spcAft>
                <a:spcPts val="0"/>
              </a:spcAft>
              <a:buSzPts val="1400"/>
              <a:buChar char="○"/>
            </a:pPr>
            <a:r>
              <a:rPr lang="it"/>
              <a:t>Serve iterare su valori ordinati e privi di duplicati</a:t>
            </a:r>
            <a:endParaRPr/>
          </a:p>
          <a:p>
            <a:pPr indent="-317500" lvl="1" marL="914400" rtl="0" algn="l">
              <a:spcBef>
                <a:spcPts val="0"/>
              </a:spcBef>
              <a:spcAft>
                <a:spcPts val="0"/>
              </a:spcAft>
              <a:buSzPts val="1400"/>
              <a:buChar char="○"/>
            </a:pPr>
            <a:r>
              <a:rPr lang="it"/>
              <a:t>Serve creare report ordinati, esplorare contenuti sulla base del prefisso o effettuare asserzioni stabili per i test</a:t>
            </a:r>
            <a:endParaRPr/>
          </a:p>
          <a:p>
            <a:pPr indent="-317500" lvl="1" marL="914400" rtl="0" algn="l">
              <a:spcBef>
                <a:spcPts val="0"/>
              </a:spcBef>
              <a:spcAft>
                <a:spcPts val="0"/>
              </a:spcAft>
              <a:buSzPts val="1400"/>
              <a:buChar char="○"/>
            </a:pPr>
            <a:r>
              <a:rPr lang="it"/>
              <a:t>Occorre estrarre gli elementi contenuti in un intervallo</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Le iterazioni ordinate e la ricerca per intervallo non richiedono operazioni ulteriori</a:t>
            </a:r>
            <a:endParaRPr/>
          </a:p>
          <a:p>
            <a:pPr indent="-317500" lvl="1" marL="914400" rtl="0" algn="l">
              <a:spcBef>
                <a:spcPts val="0"/>
              </a:spcBef>
              <a:spcAft>
                <a:spcPts val="0"/>
              </a:spcAft>
              <a:buSzPts val="1400"/>
              <a:buChar char="○"/>
            </a:pPr>
            <a:r>
              <a:rPr lang="it"/>
              <a:t>Comportamento eccellente per indici privi di duplicati e ordinati</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Verificare l'appartenenza di un elemento ha costo logaritmico</a:t>
            </a:r>
            <a:endParaRPr/>
          </a:p>
          <a:p>
            <a:pPr indent="-317500" lvl="1" marL="914400" rtl="0" algn="l">
              <a:spcBef>
                <a:spcPts val="0"/>
              </a:spcBef>
              <a:spcAft>
                <a:spcPts val="0"/>
              </a:spcAft>
              <a:buSzPts val="1400"/>
              <a:buChar char="○"/>
            </a:pPr>
            <a:r>
              <a:rPr lang="it"/>
              <a:t>Gli elementi devono avere un ordinamento totale stabile</a:t>
            </a:r>
            <a:endParaRPr/>
          </a:p>
        </p:txBody>
      </p:sp>
      <p:sp>
        <p:nvSpPr>
          <p:cNvPr id="303" name="Google Shape;303;p5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it"/>
              <a:t>BinaryHeap&lt;T&gt;</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309" name="Google Shape;309;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Una </a:t>
            </a:r>
            <a:r>
              <a:rPr b="1" lang="it">
                <a:solidFill>
                  <a:srgbClr val="0B5394"/>
                </a:solidFill>
                <a:latin typeface="Consolas"/>
                <a:ea typeface="Consolas"/>
                <a:cs typeface="Consolas"/>
                <a:sym typeface="Consolas"/>
              </a:rPr>
              <a:t>BinaryHeap&lt;T&gt;</a:t>
            </a:r>
            <a:r>
              <a:rPr lang="it"/>
              <a:t> è una collezione di elementi di tipo </a:t>
            </a:r>
            <a:r>
              <a:rPr b="1" lang="it">
                <a:solidFill>
                  <a:srgbClr val="0B5394"/>
                </a:solidFill>
                <a:latin typeface="Consolas"/>
                <a:ea typeface="Consolas"/>
                <a:cs typeface="Consolas"/>
                <a:sym typeface="Consolas"/>
              </a:rPr>
              <a:t>T</a:t>
            </a:r>
            <a:r>
              <a:rPr lang="it"/>
              <a:t> i cui valori sono salvati nello heap mantenendo il massimo elemento accessibile in cima alla struttura</a:t>
            </a:r>
            <a:endParaRPr/>
          </a:p>
          <a:p>
            <a:pPr indent="-317500" lvl="1" marL="914400" rtl="0" algn="l">
              <a:spcBef>
                <a:spcPts val="0"/>
              </a:spcBef>
              <a:spcAft>
                <a:spcPts val="0"/>
              </a:spcAft>
              <a:buSzPts val="1400"/>
              <a:buChar char="○"/>
            </a:pPr>
            <a:r>
              <a:rPr lang="it"/>
              <a:t>Il tipo </a:t>
            </a:r>
            <a:r>
              <a:rPr b="1" lang="it">
                <a:solidFill>
                  <a:srgbClr val="0B5394"/>
                </a:solidFill>
                <a:latin typeface="Consolas"/>
                <a:ea typeface="Consolas"/>
                <a:cs typeface="Consolas"/>
                <a:sym typeface="Consolas"/>
              </a:rPr>
              <a:t>T</a:t>
            </a:r>
            <a:r>
              <a:rPr lang="it"/>
              <a:t> deve implementare il tratto </a:t>
            </a:r>
            <a:r>
              <a:rPr b="1" lang="it">
                <a:solidFill>
                  <a:srgbClr val="0B5394"/>
                </a:solidFill>
                <a:latin typeface="Consolas"/>
                <a:ea typeface="Consolas"/>
                <a:cs typeface="Consolas"/>
                <a:sym typeface="Consolas"/>
              </a:rPr>
              <a:t>Ord</a:t>
            </a:r>
            <a:r>
              <a:rPr lang="it"/>
              <a:t> </a:t>
            </a:r>
            <a:endParaRPr/>
          </a:p>
          <a:p>
            <a:pPr indent="-317500" lvl="1" marL="914400" rtl="0" algn="l">
              <a:spcBef>
                <a:spcPts val="0"/>
              </a:spcBef>
              <a:spcAft>
                <a:spcPts val="0"/>
              </a:spcAft>
              <a:buSzPts val="1400"/>
              <a:buChar char="○"/>
            </a:pPr>
            <a:r>
              <a:rPr lang="it"/>
              <a:t>La struttura non è ordinata globalmente: garantisce solo la proprietà di heap</a:t>
            </a:r>
            <a:endParaRPr/>
          </a:p>
          <a:p>
            <a:pPr indent="-342900" lvl="0" marL="457200" rtl="0" algn="l">
              <a:spcBef>
                <a:spcPts val="0"/>
              </a:spcBef>
              <a:spcAft>
                <a:spcPts val="0"/>
              </a:spcAft>
              <a:buSzPts val="1800"/>
              <a:buChar char="●"/>
            </a:pPr>
            <a:r>
              <a:rPr lang="it"/>
              <a:t>Il metodo </a:t>
            </a:r>
            <a:r>
              <a:rPr b="1" lang="it">
                <a:solidFill>
                  <a:srgbClr val="0B5394"/>
                </a:solidFill>
                <a:latin typeface="Consolas"/>
                <a:ea typeface="Consolas"/>
                <a:cs typeface="Consolas"/>
                <a:sym typeface="Consolas"/>
              </a:rPr>
              <a:t>peek()</a:t>
            </a:r>
            <a:r>
              <a:rPr lang="it"/>
              <a:t> restituisce un riferimento all’elemento più grande con complessità O(1) </a:t>
            </a:r>
            <a:endParaRPr/>
          </a:p>
          <a:p>
            <a:pPr indent="-317500" lvl="1" marL="914400" rtl="0" algn="l">
              <a:spcBef>
                <a:spcPts val="0"/>
              </a:spcBef>
              <a:spcAft>
                <a:spcPts val="0"/>
              </a:spcAft>
              <a:buSzPts val="1400"/>
              <a:buChar char="○"/>
            </a:pPr>
            <a:r>
              <a:rPr lang="it"/>
              <a:t>L'inserimento e la modifica di un elemento tramite il metodo</a:t>
            </a:r>
            <a:r>
              <a:rPr lang="it"/>
              <a:t> </a:t>
            </a:r>
            <a:r>
              <a:rPr b="1" lang="it">
                <a:solidFill>
                  <a:srgbClr val="0B5394"/>
                </a:solidFill>
                <a:latin typeface="Consolas"/>
                <a:ea typeface="Consolas"/>
                <a:cs typeface="Consolas"/>
                <a:sym typeface="Consolas"/>
              </a:rPr>
              <a:t>peek_mut(…)</a:t>
            </a:r>
            <a:r>
              <a:rPr lang="it"/>
              <a:t> </a:t>
            </a:r>
            <a:r>
              <a:rPr lang="it"/>
              <a:t> hanno complessità O(log(n))</a:t>
            </a:r>
            <a:endParaRPr/>
          </a:p>
        </p:txBody>
      </p:sp>
      <p:sp>
        <p:nvSpPr>
          <p:cNvPr id="310" name="Google Shape;310;p5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BinaryHeap&lt;T&gt;</a:t>
            </a:r>
            <a:endParaRPr/>
          </a:p>
        </p:txBody>
      </p:sp>
      <p:sp>
        <p:nvSpPr>
          <p:cNvPr id="316" name="Google Shape;316;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usarlo</a:t>
            </a:r>
            <a:endParaRPr/>
          </a:p>
          <a:p>
            <a:pPr indent="-317500" lvl="1" marL="914400" rtl="0" algn="l">
              <a:spcBef>
                <a:spcPts val="0"/>
              </a:spcBef>
              <a:spcAft>
                <a:spcPts val="0"/>
              </a:spcAft>
              <a:buSzPts val="1400"/>
              <a:buChar char="○"/>
            </a:pPr>
            <a:r>
              <a:rPr lang="it"/>
              <a:t>Serve implementare uno scheduler, una coda a priorità o mantenere l'elenco dei migliori N elmenti</a:t>
            </a:r>
            <a:endParaRPr/>
          </a:p>
          <a:p>
            <a:pPr indent="-317500" lvl="1" marL="914400" rtl="0" algn="l">
              <a:spcBef>
                <a:spcPts val="0"/>
              </a:spcBef>
              <a:spcAft>
                <a:spcPts val="0"/>
              </a:spcAft>
              <a:buSzPts val="1400"/>
              <a:buChar char="○"/>
            </a:pPr>
            <a:r>
              <a:rPr lang="it"/>
              <a:t>Occorre elaborare prima di tutto gli elementi a costo minore o a priorità maggiore</a:t>
            </a:r>
            <a:endParaRPr/>
          </a:p>
          <a:p>
            <a:pPr indent="-317500" lvl="1" marL="914400" rtl="0" algn="l">
              <a:spcBef>
                <a:spcPts val="0"/>
              </a:spcBef>
              <a:spcAft>
                <a:spcPts val="0"/>
              </a:spcAft>
              <a:buSzPts val="1400"/>
              <a:buChar char="○"/>
            </a:pPr>
            <a:r>
              <a:rPr lang="it"/>
              <a:t>Si vuole evitare di dover ordinare l'intero insieme di valori dopo ciascun inserimento</a:t>
            </a:r>
            <a:endParaRPr/>
          </a:p>
          <a:p>
            <a:pPr indent="-342900" lvl="0" marL="457200" rtl="0" algn="l">
              <a:spcBef>
                <a:spcPts val="0"/>
              </a:spcBef>
              <a:spcAft>
                <a:spcPts val="0"/>
              </a:spcAft>
              <a:buSzPts val="1800"/>
              <a:buChar char="●"/>
            </a:pPr>
            <a:r>
              <a:rPr lang="it"/>
              <a:t>Punti di forza</a:t>
            </a:r>
            <a:endParaRPr/>
          </a:p>
          <a:p>
            <a:pPr indent="-317500" lvl="1" marL="914400" rtl="0" algn="l">
              <a:spcBef>
                <a:spcPts val="0"/>
              </a:spcBef>
              <a:spcAft>
                <a:spcPts val="0"/>
              </a:spcAft>
              <a:buSzPts val="1400"/>
              <a:buChar char="○"/>
            </a:pPr>
            <a:r>
              <a:rPr lang="it"/>
              <a:t>Osservare l'elemento maggiore ha costo O(1), push/pop hanno costo logaritmico</a:t>
            </a:r>
            <a:endParaRPr/>
          </a:p>
          <a:p>
            <a:pPr indent="-317500" lvl="1" marL="914400" rtl="0" algn="l">
              <a:spcBef>
                <a:spcPts val="0"/>
              </a:spcBef>
              <a:spcAft>
                <a:spcPts val="0"/>
              </a:spcAft>
              <a:buSzPts val="1400"/>
              <a:buChar char="○"/>
            </a:pPr>
            <a:r>
              <a:rPr lang="it"/>
              <a:t>Ideale per algoritmi di tipo </a:t>
            </a:r>
            <a:r>
              <a:rPr i="1" lang="it"/>
              <a:t>top-N</a:t>
            </a:r>
            <a:r>
              <a:rPr lang="it"/>
              <a:t> </a:t>
            </a:r>
            <a:endParaRPr/>
          </a:p>
          <a:p>
            <a:pPr indent="-342900" lvl="0" marL="457200" rtl="0" algn="l">
              <a:spcBef>
                <a:spcPts val="0"/>
              </a:spcBef>
              <a:spcAft>
                <a:spcPts val="0"/>
              </a:spcAft>
              <a:buSzPts val="1800"/>
              <a:buChar char="●"/>
            </a:pPr>
            <a:r>
              <a:rPr lang="it"/>
              <a:t>Punti di debolezza</a:t>
            </a:r>
            <a:endParaRPr/>
          </a:p>
          <a:p>
            <a:pPr indent="-317500" lvl="1" marL="914400" rtl="0" algn="l">
              <a:spcBef>
                <a:spcPts val="0"/>
              </a:spcBef>
              <a:spcAft>
                <a:spcPts val="0"/>
              </a:spcAft>
              <a:buSzPts val="1400"/>
              <a:buChar char="○"/>
            </a:pPr>
            <a:r>
              <a:rPr lang="it"/>
              <a:t>L'iterazione non è ordinata</a:t>
            </a:r>
            <a:endParaRPr/>
          </a:p>
          <a:p>
            <a:pPr indent="-317500" lvl="1" marL="914400" marR="0" rtl="0" algn="l">
              <a:lnSpc>
                <a:spcPct val="115000"/>
              </a:lnSpc>
              <a:spcBef>
                <a:spcPts val="0"/>
              </a:spcBef>
              <a:spcAft>
                <a:spcPts val="0"/>
              </a:spcAft>
              <a:buSzPts val="1400"/>
              <a:buChar char="○"/>
            </a:pPr>
            <a:r>
              <a:rPr lang="it"/>
              <a:t>Gli elementi devono implementare il tratto </a:t>
            </a:r>
            <a:r>
              <a:rPr b="1" lang="it">
                <a:solidFill>
                  <a:srgbClr val="0B5394"/>
                </a:solidFill>
                <a:latin typeface="Consolas"/>
                <a:ea typeface="Consolas"/>
                <a:cs typeface="Consolas"/>
                <a:sym typeface="Consolas"/>
              </a:rPr>
              <a:t>Ord</a:t>
            </a:r>
            <a:r>
              <a:rPr lang="it"/>
              <a:t>: talora occorre un'implementazione custom o racchiudere gli elementi all'interno di </a:t>
            </a:r>
            <a:r>
              <a:rPr b="1" lang="it">
                <a:solidFill>
                  <a:srgbClr val="0B5394"/>
                </a:solidFill>
                <a:latin typeface="Consolas"/>
                <a:ea typeface="Consolas"/>
                <a:cs typeface="Consolas"/>
                <a:sym typeface="Consolas"/>
              </a:rPr>
              <a:t>std::cmp::Reverse&lt;T&gt;</a:t>
            </a:r>
            <a:r>
              <a:rPr lang="it"/>
              <a:t> </a:t>
            </a:r>
            <a:endParaRPr b="1">
              <a:solidFill>
                <a:srgbClr val="0B5394"/>
              </a:solidFill>
              <a:latin typeface="Consolas"/>
              <a:ea typeface="Consolas"/>
              <a:cs typeface="Consolas"/>
              <a:sym typeface="Consolas"/>
            </a:endParaRPr>
          </a:p>
        </p:txBody>
      </p:sp>
      <p:sp>
        <p:nvSpPr>
          <p:cNvPr id="317" name="Google Shape;317;p5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323" name="Google Shape;32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Collections</a:t>
            </a:r>
            <a:endParaRPr/>
          </a:p>
          <a:p>
            <a:pPr indent="-317500" lvl="1" marL="914400" rtl="0" algn="l">
              <a:spcBef>
                <a:spcPts val="0"/>
              </a:spcBef>
              <a:spcAft>
                <a:spcPts val="0"/>
              </a:spcAft>
              <a:buSzPts val="1400"/>
              <a:buChar char="○"/>
            </a:pPr>
            <a:r>
              <a:rPr lang="it" u="sng">
                <a:solidFill>
                  <a:schemeClr val="hlink"/>
                </a:solidFill>
                <a:hlinkClick r:id="rId3"/>
              </a:rPr>
              <a:t>https://medium.com/@tzutoo/rust-collections-56359d50df28</a:t>
            </a:r>
            <a:r>
              <a:rPr lang="it"/>
              <a:t> </a:t>
            </a:r>
            <a:endParaRPr/>
          </a:p>
          <a:p>
            <a:pPr indent="-317500" lvl="1" marL="914400" rtl="0" algn="l">
              <a:spcBef>
                <a:spcPts val="0"/>
              </a:spcBef>
              <a:spcAft>
                <a:spcPts val="0"/>
              </a:spcAft>
              <a:buSzPts val="1400"/>
              <a:buChar char="○"/>
            </a:pPr>
            <a:r>
              <a:rPr lang="it"/>
              <a:t>Presentazione dettagliata delle diverse strutture dati offerte da Rust per gestire collezioni di dati, corredate di consigli operativi per la creazione di algoritmi corretti ed efficienti</a:t>
            </a:r>
            <a:endParaRPr/>
          </a:p>
          <a:p>
            <a:pPr indent="-342900" lvl="0" marL="457200" rtl="0" algn="l">
              <a:spcBef>
                <a:spcPts val="0"/>
              </a:spcBef>
              <a:spcAft>
                <a:spcPts val="0"/>
              </a:spcAft>
              <a:buSzPts val="1800"/>
              <a:buChar char="●"/>
            </a:pPr>
            <a:r>
              <a:rPr lang="it"/>
              <a:t>The Rust Programming Language: Chapter 8 — Common Collections</a:t>
            </a:r>
            <a:endParaRPr/>
          </a:p>
          <a:p>
            <a:pPr indent="-317500" lvl="1" marL="914400" rtl="0" algn="l">
              <a:spcBef>
                <a:spcPts val="0"/>
              </a:spcBef>
              <a:spcAft>
                <a:spcPts val="0"/>
              </a:spcAft>
              <a:buSzPts val="1400"/>
              <a:buChar char="○"/>
            </a:pPr>
            <a:r>
              <a:rPr lang="it" u="sng">
                <a:solidFill>
                  <a:schemeClr val="hlink"/>
                </a:solidFill>
                <a:hlinkClick r:id="rId4"/>
              </a:rPr>
              <a:t>https://doc.rust-lang.org/book/ch08-00-common-collections.html</a:t>
            </a:r>
            <a:r>
              <a:rPr lang="it"/>
              <a:t> </a:t>
            </a:r>
            <a:endParaRPr/>
          </a:p>
          <a:p>
            <a:pPr indent="-317500" lvl="1" marL="914400" rtl="0" algn="l">
              <a:spcBef>
                <a:spcPts val="0"/>
              </a:spcBef>
              <a:spcAft>
                <a:spcPts val="0"/>
              </a:spcAft>
              <a:buSzPts val="1400"/>
              <a:buChar char="○"/>
            </a:pPr>
            <a:r>
              <a:rPr lang="it"/>
              <a:t>Tutorial del linguaggio con esempi pratici sull'uso di Vec&lt;T&gt; e Map&lt;K,V&gt;</a:t>
            </a:r>
            <a:endParaRPr/>
          </a:p>
          <a:p>
            <a:pPr indent="-342900" lvl="0" marL="457200" rtl="0" algn="l">
              <a:spcBef>
                <a:spcPts val="0"/>
              </a:spcBef>
              <a:spcAft>
                <a:spcPts val="0"/>
              </a:spcAft>
              <a:buSzPts val="1800"/>
              <a:buChar char="●"/>
            </a:pPr>
            <a:r>
              <a:rPr lang="it"/>
              <a:t>Module std::collections</a:t>
            </a:r>
            <a:endParaRPr/>
          </a:p>
          <a:p>
            <a:pPr indent="-317500" lvl="1" marL="914400" rtl="0" algn="l">
              <a:spcBef>
                <a:spcPts val="0"/>
              </a:spcBef>
              <a:spcAft>
                <a:spcPts val="0"/>
              </a:spcAft>
              <a:buSzPts val="1400"/>
              <a:buChar char="○"/>
            </a:pPr>
            <a:r>
              <a:rPr lang="it" u="sng">
                <a:solidFill>
                  <a:schemeClr val="hlink"/>
                </a:solidFill>
                <a:hlinkClick r:id="rId5"/>
              </a:rPr>
              <a:t>https://doc.rust-lang.org/std/collections/index.html</a:t>
            </a:r>
            <a:r>
              <a:rPr lang="it"/>
              <a:t> </a:t>
            </a:r>
            <a:endParaRPr/>
          </a:p>
          <a:p>
            <a:pPr indent="-317500" lvl="1" marL="914400" rtl="0" algn="l">
              <a:spcBef>
                <a:spcPts val="0"/>
              </a:spcBef>
              <a:spcAft>
                <a:spcPts val="0"/>
              </a:spcAft>
              <a:buSzPts val="1400"/>
              <a:buChar char="○"/>
            </a:pPr>
            <a:r>
              <a:rPr lang="it"/>
              <a:t>Documentazione ufficiale delle classi con dettagli sul loro utilizzo</a:t>
            </a:r>
            <a:endParaRPr/>
          </a:p>
        </p:txBody>
      </p:sp>
      <p:pic>
        <p:nvPicPr>
          <p:cNvPr id="324" name="Google Shape;324;p57"/>
          <p:cNvPicPr preferRelativeResize="0"/>
          <p:nvPr/>
        </p:nvPicPr>
        <p:blipFill rotWithShape="1">
          <a:blip r:embed="rId6">
            <a:alphaModFix/>
          </a:blip>
          <a:srcRect b="18806" l="17235" r="17235" t="18800"/>
          <a:stretch/>
        </p:blipFill>
        <p:spPr>
          <a:xfrm>
            <a:off x="7771925" y="105705"/>
            <a:ext cx="1249224" cy="1023120"/>
          </a:xfrm>
          <a:prstGeom prst="rect">
            <a:avLst/>
          </a:prstGeom>
          <a:noFill/>
          <a:ln>
            <a:noFill/>
          </a:ln>
        </p:spPr>
      </p:pic>
      <p:sp>
        <p:nvSpPr>
          <p:cNvPr id="325" name="Google Shape;325;p5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8"/>
          <p:cNvSpPr txBox="1"/>
          <p:nvPr>
            <p:ph type="ctrTitle"/>
          </p:nvPr>
        </p:nvSpPr>
        <p:spPr>
          <a:xfrm>
            <a:off x="311708" y="17351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File I/O</a:t>
            </a:r>
            <a:endParaRPr/>
          </a:p>
        </p:txBody>
      </p:sp>
      <p:sp>
        <p:nvSpPr>
          <p:cNvPr id="331" name="Google Shape;331;p58"/>
          <p:cNvSpPr txBox="1"/>
          <p:nvPr>
            <p:ph idx="1" type="subTitle"/>
          </p:nvPr>
        </p:nvSpPr>
        <p:spPr>
          <a:xfrm>
            <a:off x="311700" y="38247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Gestione della persistenza</a:t>
            </a:r>
            <a:endParaRPr/>
          </a:p>
        </p:txBody>
      </p:sp>
      <p:pic>
        <p:nvPicPr>
          <p:cNvPr id="332" name="Google Shape;332;p58"/>
          <p:cNvPicPr preferRelativeResize="0"/>
          <p:nvPr/>
        </p:nvPicPr>
        <p:blipFill>
          <a:blip r:embed="rId3">
            <a:alphaModFix/>
          </a:blip>
          <a:stretch>
            <a:fillRect/>
          </a:stretch>
        </p:blipFill>
        <p:spPr>
          <a:xfrm>
            <a:off x="3397900" y="223550"/>
            <a:ext cx="2348200" cy="2348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File e file system</a:t>
            </a:r>
            <a:endParaRPr/>
          </a:p>
        </p:txBody>
      </p:sp>
      <p:sp>
        <p:nvSpPr>
          <p:cNvPr id="338" name="Google Shape;33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Un file è un'astrazione del sistema operativo per accedere in modo persistente a una sequenza di byte, identificata tramite una voce nel file system</a:t>
            </a:r>
            <a:r>
              <a:rPr lang="it"/>
              <a:t> </a:t>
            </a:r>
            <a:endParaRPr/>
          </a:p>
          <a:p>
            <a:pPr indent="-317500" lvl="1" marL="914400" rtl="0" algn="l">
              <a:spcBef>
                <a:spcPts val="0"/>
              </a:spcBef>
              <a:spcAft>
                <a:spcPts val="0"/>
              </a:spcAft>
              <a:buSzPts val="1400"/>
              <a:buChar char="○"/>
            </a:pPr>
            <a:r>
              <a:rPr lang="it"/>
              <a:t>I nomi sono organizzati in una struttura gerarchica fatta di cartelle o directory che permette di identificare uno specifico file attraverso una concatenazione dei nomi di cartelle e nome del file che ne esprime il cammino (</a:t>
            </a:r>
            <a:r>
              <a:rPr i="1" lang="it"/>
              <a:t>path</a:t>
            </a:r>
            <a:r>
              <a:rPr lang="it"/>
              <a:t>) a partire da una radice nota</a:t>
            </a:r>
            <a:endParaRPr/>
          </a:p>
          <a:p>
            <a:pPr indent="-342900" lvl="0" marL="457200" rtl="0" algn="l">
              <a:spcBef>
                <a:spcPts val="0"/>
              </a:spcBef>
              <a:spcAft>
                <a:spcPts val="0"/>
              </a:spcAft>
              <a:buSzPts val="1800"/>
              <a:buChar char="●"/>
            </a:pPr>
            <a:r>
              <a:rPr lang="it"/>
              <a:t>Ad ogni file sono associati metadati e permessi di accesso</a:t>
            </a:r>
            <a:endParaRPr/>
          </a:p>
          <a:p>
            <a:pPr indent="-317500" lvl="1" marL="914400" rtl="0" algn="l">
              <a:spcBef>
                <a:spcPts val="0"/>
              </a:spcBef>
              <a:spcAft>
                <a:spcPts val="0"/>
              </a:spcAft>
              <a:buSzPts val="1400"/>
              <a:buChar char="○"/>
            </a:pPr>
            <a:r>
              <a:rPr lang="it"/>
              <a:t>Il sistema operativo media le operazioni di lettura, scrittura ed esecuzione secondo le proprie regole di sicurezza</a:t>
            </a:r>
            <a:endParaRPr/>
          </a:p>
          <a:p>
            <a:pPr indent="-342900" lvl="0" marL="457200" rtl="0" algn="l">
              <a:spcBef>
                <a:spcPts val="0"/>
              </a:spcBef>
              <a:spcAft>
                <a:spcPts val="0"/>
              </a:spcAft>
              <a:buSzPts val="1800"/>
              <a:buChar char="●"/>
            </a:pPr>
            <a:r>
              <a:rPr lang="it"/>
              <a:t>Le librerie dei linguaggi di programmazione offrono meccanismi indipendenti dal sistema operativo per accedere al contenuto di un file</a:t>
            </a:r>
            <a:endParaRPr/>
          </a:p>
          <a:p>
            <a:pPr indent="-317500" lvl="1" marL="914400" rtl="0" algn="l">
              <a:spcBef>
                <a:spcPts val="0"/>
              </a:spcBef>
              <a:spcAft>
                <a:spcPts val="0"/>
              </a:spcAft>
              <a:buSzPts val="1400"/>
              <a:buChar char="○"/>
            </a:pPr>
            <a:r>
              <a:rPr lang="it"/>
              <a:t>Nel caso di Rust, l’astrazione principale è offerta dalla struct </a:t>
            </a:r>
            <a:r>
              <a:rPr b="1" lang="it">
                <a:solidFill>
                  <a:srgbClr val="0B5394"/>
                </a:solidFill>
                <a:latin typeface="Consolas"/>
                <a:ea typeface="Consolas"/>
                <a:cs typeface="Consolas"/>
                <a:sym typeface="Consolas"/>
              </a:rPr>
              <a:t>std::fs::File</a:t>
            </a:r>
            <a:r>
              <a:rPr lang="it"/>
              <a:t>, che modella un file aperto in lettura e/o scrittura</a:t>
            </a:r>
            <a:endParaRPr/>
          </a:p>
        </p:txBody>
      </p:sp>
      <p:sp>
        <p:nvSpPr>
          <p:cNvPr id="339" name="Google Shape;339;p5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Percorsi</a:t>
            </a:r>
            <a:endParaRPr/>
          </a:p>
        </p:txBody>
      </p:sp>
      <p:sp>
        <p:nvSpPr>
          <p:cNvPr id="345" name="Google Shape;34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it"/>
              <a:t>Ogni sistema operativo ha regole proprie per la definizione di cosa sia un percorso lecito per indicare un file, quali siano le radici note dei percorsi, come combinare segmenti parziali in un percorso complessivo, …</a:t>
            </a:r>
            <a:endParaRPr/>
          </a:p>
          <a:p>
            <a:pPr indent="-310832" lvl="1" marL="914400" rtl="0" algn="l">
              <a:spcBef>
                <a:spcPts val="0"/>
              </a:spcBef>
              <a:spcAft>
                <a:spcPts val="0"/>
              </a:spcAft>
              <a:buSzPct val="100000"/>
              <a:buChar char="○"/>
            </a:pPr>
            <a:r>
              <a:rPr lang="it"/>
              <a:t>Le struct </a:t>
            </a:r>
            <a:r>
              <a:rPr b="1" lang="it">
                <a:solidFill>
                  <a:srgbClr val="0B5394"/>
                </a:solidFill>
                <a:latin typeface="Consolas"/>
                <a:ea typeface="Consolas"/>
                <a:cs typeface="Consolas"/>
                <a:sym typeface="Consolas"/>
              </a:rPr>
              <a:t>std::path::Path</a:t>
            </a:r>
            <a:r>
              <a:rPr lang="it"/>
              <a:t> e </a:t>
            </a:r>
            <a:r>
              <a:rPr b="1" lang="it">
                <a:solidFill>
                  <a:srgbClr val="0B5394"/>
                </a:solidFill>
                <a:latin typeface="Consolas"/>
                <a:ea typeface="Consolas"/>
                <a:cs typeface="Consolas"/>
                <a:sym typeface="Consolas"/>
              </a:rPr>
              <a:t>std::path::PathBuf </a:t>
            </a:r>
            <a:r>
              <a:rPr lang="it"/>
              <a:t>nascondono tali differenze offrendo un meccanismo portabile per comporre e scomporre un cammino e ricavare indicazioni sul file eventualmente referenziato</a:t>
            </a:r>
            <a:endParaRPr/>
          </a:p>
          <a:p>
            <a:pPr indent="-310832" lvl="1" marL="914400" marR="0" rtl="0" algn="l">
              <a:lnSpc>
                <a:spcPct val="115000"/>
              </a:lnSpc>
              <a:spcBef>
                <a:spcPts val="0"/>
              </a:spcBef>
              <a:spcAft>
                <a:spcPts val="0"/>
              </a:spcAft>
              <a:buSzPct val="100000"/>
              <a:buChar char="○"/>
            </a:pPr>
            <a:r>
              <a:rPr b="1" lang="it">
                <a:solidFill>
                  <a:srgbClr val="0B5394"/>
                </a:solidFill>
                <a:latin typeface="Consolas"/>
                <a:ea typeface="Consolas"/>
                <a:cs typeface="Consolas"/>
                <a:sym typeface="Consolas"/>
              </a:rPr>
              <a:t>Path</a:t>
            </a:r>
            <a:r>
              <a:rPr lang="it"/>
              <a:t> è un tipo </a:t>
            </a:r>
            <a:r>
              <a:rPr i="1" lang="it"/>
              <a:t>borrowed</a:t>
            </a:r>
            <a:r>
              <a:rPr lang="it"/>
              <a:t>,</a:t>
            </a:r>
            <a:r>
              <a:rPr i="1" lang="it"/>
              <a:t> </a:t>
            </a:r>
            <a:r>
              <a:rPr lang="it"/>
              <a:t>analoga a </a:t>
            </a:r>
            <a:r>
              <a:rPr b="1" lang="it">
                <a:solidFill>
                  <a:srgbClr val="0B5394"/>
                </a:solidFill>
                <a:latin typeface="Consolas"/>
                <a:ea typeface="Consolas"/>
                <a:cs typeface="Consolas"/>
                <a:sym typeface="Consolas"/>
              </a:rPr>
              <a:t>str</a:t>
            </a:r>
            <a:r>
              <a:rPr lang="it"/>
              <a:t>:</a:t>
            </a:r>
            <a:r>
              <a:rPr lang="it"/>
              <a:t> rappresenta una vista immutabile su un percorso</a:t>
            </a:r>
            <a:endParaRPr/>
          </a:p>
          <a:p>
            <a:pPr indent="-310832" lvl="1" marL="914400" marR="0" rtl="0" algn="l">
              <a:lnSpc>
                <a:spcPct val="115000"/>
              </a:lnSpc>
              <a:spcBef>
                <a:spcPts val="0"/>
              </a:spcBef>
              <a:spcAft>
                <a:spcPts val="0"/>
              </a:spcAft>
              <a:buSzPct val="100000"/>
              <a:buChar char="○"/>
            </a:pPr>
            <a:r>
              <a:rPr b="1" lang="it">
                <a:solidFill>
                  <a:srgbClr val="0B5394"/>
                </a:solidFill>
                <a:latin typeface="Consolas"/>
                <a:ea typeface="Consolas"/>
                <a:cs typeface="Consolas"/>
                <a:sym typeface="Consolas"/>
              </a:rPr>
              <a:t>PathBuf</a:t>
            </a:r>
            <a:r>
              <a:rPr lang="it"/>
              <a:t> è il corrispondente tipo posseduto e modificabile, analogo a </a:t>
            </a:r>
            <a:r>
              <a:rPr b="1" lang="it">
                <a:solidFill>
                  <a:srgbClr val="0B5394"/>
                </a:solidFill>
                <a:latin typeface="Consolas"/>
                <a:ea typeface="Consolas"/>
                <a:cs typeface="Consolas"/>
                <a:sym typeface="Consolas"/>
              </a:rPr>
              <a:t>String</a:t>
            </a:r>
            <a:r>
              <a:rPr lang="it"/>
              <a:t>  </a:t>
            </a:r>
            <a:endParaRPr/>
          </a:p>
          <a:p>
            <a:pPr indent="-334328" lvl="0" marL="457200" rtl="0" algn="l">
              <a:spcBef>
                <a:spcPts val="0"/>
              </a:spcBef>
              <a:spcAft>
                <a:spcPts val="0"/>
              </a:spcAft>
              <a:buSzPct val="100000"/>
              <a:buChar char="●"/>
            </a:pPr>
            <a:r>
              <a:rPr lang="it"/>
              <a:t>Attraverso i metodi offerti da questi tipi, è possibile ricavare informazioni sulla esistenza di file, sulla loro natura (file semplici, cartelle, collegamenti simbolici, …) e sui metadati associati (dimensione, data di creazione e di ultima modifica, permessi, …) </a:t>
            </a:r>
            <a:endParaRPr/>
          </a:p>
          <a:p>
            <a:pPr indent="-310832" lvl="1" marL="914400" rtl="0" algn="l">
              <a:spcBef>
                <a:spcPts val="0"/>
              </a:spcBef>
              <a:spcAft>
                <a:spcPts val="0"/>
              </a:spcAft>
              <a:buSzPct val="100000"/>
              <a:buChar char="○"/>
            </a:pPr>
            <a:r>
              <a:rPr b="1" lang="it">
                <a:solidFill>
                  <a:srgbClr val="0B5394"/>
                </a:solidFill>
              </a:rPr>
              <a:t>ATTENZIONE</a:t>
            </a:r>
            <a:r>
              <a:rPr lang="it"/>
              <a:t>: le verifiche sul file system non sono atomiche rispetto a operazioni successive: fra controllo e uso, lo stato può cambiare!</a:t>
            </a:r>
            <a:endParaRPr/>
          </a:p>
        </p:txBody>
      </p:sp>
      <p:sp>
        <p:nvSpPr>
          <p:cNvPr id="346" name="Google Shape;346;p6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Navigare il file system</a:t>
            </a:r>
            <a:endParaRPr/>
          </a:p>
        </p:txBody>
      </p:sp>
      <p:sp>
        <p:nvSpPr>
          <p:cNvPr id="352" name="Google Shape;35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std::fs::read_dir(dir: &amp;Path) -&gt; Result&lt;ReadDir&gt;</a:t>
            </a:r>
            <a:r>
              <a:rPr lang="it"/>
              <a:t> restituisce, se ha successo, un iteratore al contenuto della cartella dir</a:t>
            </a:r>
            <a:endParaRPr/>
          </a:p>
          <a:p>
            <a:pPr indent="-317500" lvl="1" marL="914400" rtl="0" algn="l">
              <a:spcBef>
                <a:spcPts val="0"/>
              </a:spcBef>
              <a:spcAft>
                <a:spcPts val="0"/>
              </a:spcAft>
              <a:buSzPts val="1400"/>
              <a:buChar char="○"/>
            </a:pPr>
            <a:r>
              <a:rPr lang="it"/>
              <a:t>Le singole voci ritornate sono di tipo </a:t>
            </a:r>
            <a:r>
              <a:rPr b="1" lang="it">
                <a:solidFill>
                  <a:srgbClr val="0B5394"/>
                </a:solidFill>
                <a:latin typeface="Consolas"/>
                <a:ea typeface="Consolas"/>
                <a:cs typeface="Consolas"/>
                <a:sym typeface="Consolas"/>
              </a:rPr>
              <a:t>std::fs::DirEntry</a:t>
            </a:r>
            <a:r>
              <a:rPr lang="it"/>
              <a:t> e descrivono gli elementi contenuti nella cartella in termini di nome, tipo (file, cartella, collegamento simbolico), metadati e cammino</a:t>
            </a:r>
            <a:endParaRPr/>
          </a:p>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std::fs::create_dir(dir: &amp;Path) -&gt; Result&lt;()&gt;</a:t>
            </a:r>
            <a:r>
              <a:rPr lang="it"/>
              <a:t> crea una nuova cartella</a:t>
            </a:r>
            <a:endParaRPr/>
          </a:p>
          <a:p>
            <a:pPr indent="-317500" lvl="1" marL="914400" rtl="0" algn="l">
              <a:spcBef>
                <a:spcPts val="0"/>
              </a:spcBef>
              <a:spcAft>
                <a:spcPts val="0"/>
              </a:spcAft>
              <a:buSzPts val="1400"/>
              <a:buChar char="○"/>
            </a:pPr>
            <a:r>
              <a:rPr lang="it"/>
              <a:t>Fallisce se non si dispone delle necessarie autorizzazioni, se la cartella esiste già o se la cartella genitrice del cammino indicato non esiste</a:t>
            </a:r>
            <a:endParaRPr/>
          </a:p>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std::fs::remove_dir(dir: &amp;Path) -&gt; Result&lt;()&gt;</a:t>
            </a:r>
            <a:r>
              <a:rPr lang="it"/>
              <a:t> rimuove una cartella</a:t>
            </a:r>
            <a:endParaRPr/>
          </a:p>
          <a:p>
            <a:pPr indent="-317500" lvl="1" marL="914400" rtl="0" algn="l">
              <a:spcBef>
                <a:spcPts val="0"/>
              </a:spcBef>
              <a:spcAft>
                <a:spcPts val="0"/>
              </a:spcAft>
              <a:buSzPts val="1400"/>
              <a:buChar char="○"/>
            </a:pPr>
            <a:r>
              <a:rPr lang="it"/>
              <a:t>A condizione che esista, si disponga dei necessari permessi e che sia vuota</a:t>
            </a:r>
            <a:endParaRPr/>
          </a:p>
        </p:txBody>
      </p:sp>
      <p:sp>
        <p:nvSpPr>
          <p:cNvPr id="353" name="Google Shape;353;p6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Manipolare i file nel file system</a:t>
            </a:r>
            <a:endParaRPr/>
          </a:p>
        </p:txBody>
      </p:sp>
      <p:sp>
        <p:nvSpPr>
          <p:cNvPr id="359" name="Google Shape;359;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std::fs::copy(from: &amp;Path, to: &amp;Path) -&gt; Result&lt;i64&gt;</a:t>
            </a:r>
            <a:r>
              <a:rPr lang="it"/>
              <a:t> copia il contenuto di un file in un secondo file</a:t>
            </a:r>
            <a:endParaRPr/>
          </a:p>
          <a:p>
            <a:pPr indent="-317500" lvl="1" marL="914400" rtl="0" algn="l">
              <a:spcBef>
                <a:spcPts val="0"/>
              </a:spcBef>
              <a:spcAft>
                <a:spcPts val="0"/>
              </a:spcAft>
              <a:buSzPts val="1400"/>
              <a:buChar char="○"/>
            </a:pPr>
            <a:r>
              <a:rPr lang="it"/>
              <a:t>Restituisce in caso di successo il numero di byte copiati</a:t>
            </a:r>
            <a:endParaRPr/>
          </a:p>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std::fs::rename(from: &amp;Path, to: &amp;Path) -&gt; Result&lt;()&gt;</a:t>
            </a:r>
            <a:r>
              <a:rPr lang="it"/>
              <a:t> rinomina (o sposta) una voce del file system</a:t>
            </a:r>
            <a:endParaRPr/>
          </a:p>
          <a:p>
            <a:pPr indent="-317500" lvl="1" marL="914400" rtl="0" algn="l">
              <a:spcBef>
                <a:spcPts val="0"/>
              </a:spcBef>
              <a:spcAft>
                <a:spcPts val="0"/>
              </a:spcAft>
              <a:buSzPts val="1400"/>
              <a:buChar char="○"/>
            </a:pPr>
            <a:r>
              <a:rPr lang="it"/>
              <a:t>Il comportamento in presenza di destinazione esistente o di file system differenti dipende dal sistema operativo soggiacente</a:t>
            </a:r>
            <a:endParaRPr/>
          </a:p>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std::fs::remove_file(path: &amp;Path) -&gt; Result&lt;()&gt;</a:t>
            </a:r>
            <a:r>
              <a:rPr lang="it"/>
              <a:t> elimina un file, a patto che non sia una directory</a:t>
            </a:r>
            <a:endParaRPr/>
          </a:p>
          <a:p>
            <a:pPr indent="-317500" lvl="1" marL="914400" rtl="0" algn="l">
              <a:spcBef>
                <a:spcPts val="0"/>
              </a:spcBef>
              <a:spcAft>
                <a:spcPts val="0"/>
              </a:spcAft>
              <a:buSzPts val="1400"/>
              <a:buChar char="○"/>
            </a:pPr>
            <a:r>
              <a:rPr lang="it"/>
              <a:t>L'effettiva rimozione di un file aperto dipende dalla semantica del sistema operativo</a:t>
            </a:r>
            <a:endParaRPr/>
          </a:p>
        </p:txBody>
      </p:sp>
      <p:sp>
        <p:nvSpPr>
          <p:cNvPr id="360" name="Google Shape;360;p6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Operazioni con i file</a:t>
            </a:r>
            <a:endParaRPr/>
          </a:p>
        </p:txBody>
      </p:sp>
      <p:sp>
        <p:nvSpPr>
          <p:cNvPr id="366" name="Google Shape;366;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L’accesso al blocco di byte legato ad un file è totalmente mediato dal sistema operativo</a:t>
            </a:r>
            <a:endParaRPr/>
          </a:p>
          <a:p>
            <a:pPr indent="-317500" lvl="1" marL="914400" rtl="0" algn="l">
              <a:spcBef>
                <a:spcPts val="0"/>
              </a:spcBef>
              <a:spcAft>
                <a:spcPts val="0"/>
              </a:spcAft>
              <a:buSzPts val="1400"/>
              <a:buChar char="○"/>
            </a:pPr>
            <a:r>
              <a:rPr lang="it"/>
              <a:t>Per poter leggere o scrivere tale blocco occorre “aprire” il file</a:t>
            </a:r>
            <a:endParaRPr/>
          </a:p>
          <a:p>
            <a:pPr indent="-317500" lvl="1" marL="914400" rtl="0" algn="l">
              <a:spcBef>
                <a:spcPts val="0"/>
              </a:spcBef>
              <a:spcAft>
                <a:spcPts val="0"/>
              </a:spcAft>
              <a:buSzPts val="1400"/>
              <a:buChar char="○"/>
            </a:pPr>
            <a:r>
              <a:rPr lang="it"/>
              <a:t>Il sistema operativo offre apposite funzioni che restituiscono un riferimento opaco al file sotto forma di </a:t>
            </a:r>
            <a:r>
              <a:rPr i="1" lang="it"/>
              <a:t>handle</a:t>
            </a:r>
            <a:r>
              <a:rPr lang="it"/>
              <a:t> o </a:t>
            </a:r>
            <a:r>
              <a:rPr i="1" lang="it"/>
              <a:t>file descriptor</a:t>
            </a:r>
            <a:r>
              <a:rPr lang="it"/>
              <a:t> (di fatto un numero intero)</a:t>
            </a:r>
            <a:endParaRPr/>
          </a:p>
          <a:p>
            <a:pPr indent="-342900" lvl="0" marL="457200" rtl="0" algn="l">
              <a:spcBef>
                <a:spcPts val="0"/>
              </a:spcBef>
              <a:spcAft>
                <a:spcPts val="0"/>
              </a:spcAft>
              <a:buSzPts val="1800"/>
              <a:buChar char="●"/>
            </a:pPr>
            <a:r>
              <a:rPr lang="it"/>
              <a:t>La struct </a:t>
            </a:r>
            <a:r>
              <a:rPr b="1" lang="it">
                <a:solidFill>
                  <a:srgbClr val="0B5394"/>
                </a:solidFill>
                <a:latin typeface="Consolas"/>
                <a:ea typeface="Consolas"/>
                <a:cs typeface="Consolas"/>
                <a:sym typeface="Consolas"/>
              </a:rPr>
              <a:t>File</a:t>
            </a:r>
            <a:r>
              <a:rPr lang="it"/>
              <a:t> offre due metodi di base per aprire un file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open(path: P) -&gt; Result&lt;File&gt; where P: AsRef&lt;Path&gt;</a:t>
            </a:r>
            <a:r>
              <a:rPr lang="it"/>
              <a:t> - apre il file in lettura, a condizione che esista</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create(path: P) -&gt; Result&lt;File&gt; where P: AsRef&lt;Path&gt;</a:t>
            </a:r>
            <a:r>
              <a:rPr lang="it"/>
              <a:t> - tronca il file a 0 byte, se esiste, o lo crea, se non esiste ancora, dopodiché lo apre in scrittura </a:t>
            </a:r>
            <a:endParaRPr/>
          </a:p>
          <a:p>
            <a:pPr indent="-342900" lvl="0" marL="457200" rtl="0" algn="l">
              <a:spcBef>
                <a:spcPts val="0"/>
              </a:spcBef>
              <a:spcAft>
                <a:spcPts val="0"/>
              </a:spcAft>
              <a:buSzPts val="1800"/>
              <a:buChar char="●"/>
            </a:pPr>
            <a:r>
              <a:rPr lang="it"/>
              <a:t>Maggiori opportunità sono offerte dalla struct </a:t>
            </a:r>
            <a:r>
              <a:rPr b="1" lang="it">
                <a:solidFill>
                  <a:srgbClr val="0B5394"/>
                </a:solidFill>
                <a:latin typeface="Consolas"/>
                <a:ea typeface="Consolas"/>
                <a:cs typeface="Consolas"/>
                <a:sym typeface="Consolas"/>
              </a:rPr>
              <a:t>std::fs::OpenOptions</a:t>
            </a:r>
            <a:endParaRPr/>
          </a:p>
          <a:p>
            <a:pPr indent="-317500" lvl="1" marL="914400" marR="0" rtl="0" algn="l">
              <a:lnSpc>
                <a:spcPct val="115000"/>
              </a:lnSpc>
              <a:spcBef>
                <a:spcPts val="0"/>
              </a:spcBef>
              <a:spcAft>
                <a:spcPts val="0"/>
              </a:spcAft>
              <a:buSzPts val="1400"/>
              <a:buChar char="○"/>
            </a:pPr>
            <a:r>
              <a:rPr lang="it"/>
              <a:t>Essa permette di combinare in modo esplicito flag come </a:t>
            </a:r>
            <a:r>
              <a:rPr b="1" lang="it">
                <a:solidFill>
                  <a:srgbClr val="0B5394"/>
                </a:solidFill>
                <a:latin typeface="Consolas"/>
                <a:ea typeface="Consolas"/>
                <a:cs typeface="Consolas"/>
                <a:sym typeface="Consolas"/>
              </a:rPr>
              <a:t>read</a:t>
            </a:r>
            <a:r>
              <a:rPr lang="it"/>
              <a:t>, </a:t>
            </a:r>
            <a:r>
              <a:rPr b="1" lang="it">
                <a:solidFill>
                  <a:srgbClr val="0B5394"/>
                </a:solidFill>
                <a:latin typeface="Consolas"/>
                <a:ea typeface="Consolas"/>
                <a:cs typeface="Consolas"/>
                <a:sym typeface="Consolas"/>
              </a:rPr>
              <a:t>write</a:t>
            </a:r>
            <a:r>
              <a:rPr lang="it"/>
              <a:t>, </a:t>
            </a:r>
            <a:r>
              <a:rPr b="1" lang="it">
                <a:solidFill>
                  <a:srgbClr val="0B5394"/>
                </a:solidFill>
                <a:latin typeface="Consolas"/>
                <a:ea typeface="Consolas"/>
                <a:cs typeface="Consolas"/>
                <a:sym typeface="Consolas"/>
              </a:rPr>
              <a:t>append</a:t>
            </a:r>
            <a:r>
              <a:rPr lang="it"/>
              <a:t>, </a:t>
            </a:r>
            <a:r>
              <a:rPr b="1" lang="it">
                <a:solidFill>
                  <a:srgbClr val="0B5394"/>
                </a:solidFill>
                <a:latin typeface="Consolas"/>
                <a:ea typeface="Consolas"/>
                <a:cs typeface="Consolas"/>
                <a:sym typeface="Consolas"/>
              </a:rPr>
              <a:t>truncate</a:t>
            </a:r>
            <a:r>
              <a:rPr lang="it"/>
              <a:t>, </a:t>
            </a:r>
            <a:r>
              <a:rPr b="1" lang="it">
                <a:solidFill>
                  <a:srgbClr val="0B5394"/>
                </a:solidFill>
                <a:latin typeface="Consolas"/>
                <a:ea typeface="Consolas"/>
                <a:cs typeface="Consolas"/>
                <a:sym typeface="Consolas"/>
              </a:rPr>
              <a:t>create_new</a:t>
            </a:r>
            <a:endParaRPr/>
          </a:p>
        </p:txBody>
      </p:sp>
      <p:sp>
        <p:nvSpPr>
          <p:cNvPr id="367" name="Google Shape;367;p6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Leggere e scrivere file</a:t>
            </a:r>
            <a:endParaRPr/>
          </a:p>
        </p:txBody>
      </p:sp>
      <p:sp>
        <p:nvSpPr>
          <p:cNvPr id="373" name="Google Shape;373;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sz="1400">
                <a:solidFill>
                  <a:srgbClr val="0B5394"/>
                </a:solidFill>
                <a:latin typeface="Consolas"/>
                <a:ea typeface="Consolas"/>
                <a:cs typeface="Consolas"/>
                <a:sym typeface="Consolas"/>
              </a:rPr>
              <a:t>std::fs::</a:t>
            </a:r>
            <a:r>
              <a:rPr b="1" lang="it">
                <a:solidFill>
                  <a:srgbClr val="0B5394"/>
                </a:solidFill>
                <a:latin typeface="Consolas"/>
                <a:ea typeface="Consolas"/>
                <a:cs typeface="Consolas"/>
                <a:sym typeface="Consolas"/>
              </a:rPr>
              <a:t>read_to_string(path: &amp;Path)</a:t>
            </a:r>
            <a:r>
              <a:rPr lang="it"/>
              <a:t> legge l'intero file in memoria e lo interpreta come testo UTF-8 </a:t>
            </a:r>
            <a:endParaRPr/>
          </a:p>
          <a:p>
            <a:pPr indent="-317500" lvl="1" marL="914400" rtl="0" algn="l">
              <a:spcBef>
                <a:spcPts val="0"/>
              </a:spcBef>
              <a:spcAft>
                <a:spcPts val="0"/>
              </a:spcAft>
              <a:buSzPts val="1400"/>
              <a:buChar char="○"/>
            </a:pPr>
            <a:r>
              <a:rPr lang="it"/>
              <a:t>Questa funzione non deve essere usata per la lettura di file binari né per file troppo grossi</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std::fs::write(path: &amp;Path, contents: &amp;[u8])</a:t>
            </a:r>
            <a:r>
              <a:rPr lang="it"/>
              <a:t> scrive l'intero buffer sul file, creandolo se non esiste o sovrascrivendolo</a:t>
            </a:r>
            <a:endParaRPr/>
          </a:p>
          <a:p>
            <a:pPr indent="-342900" lvl="0" marL="457200" rtl="0" algn="l">
              <a:spcBef>
                <a:spcPts val="0"/>
              </a:spcBef>
              <a:spcAft>
                <a:spcPts val="0"/>
              </a:spcAft>
              <a:buSzPts val="1800"/>
              <a:buChar char="●"/>
            </a:pPr>
            <a:r>
              <a:rPr lang="it"/>
              <a:t>Funzioni adatte per file di dimensioni moderate</a:t>
            </a:r>
            <a:endParaRPr/>
          </a:p>
          <a:p>
            <a:pPr indent="-317500" lvl="1" marL="914400" rtl="0" algn="l">
              <a:spcBef>
                <a:spcPts val="0"/>
              </a:spcBef>
              <a:spcAft>
                <a:spcPts val="0"/>
              </a:spcAft>
              <a:buSzPts val="1400"/>
              <a:buChar char="○"/>
            </a:pPr>
            <a:r>
              <a:rPr lang="it"/>
              <a:t> Per gestire contenuti di dimensioni arbitrariamente grandi, occorre utilizzare le API di streaming</a:t>
            </a:r>
            <a:endParaRPr/>
          </a:p>
        </p:txBody>
      </p:sp>
      <p:sp>
        <p:nvSpPr>
          <p:cNvPr id="374" name="Google Shape;374;p64"/>
          <p:cNvSpPr txBox="1"/>
          <p:nvPr/>
        </p:nvSpPr>
        <p:spPr>
          <a:xfrm>
            <a:off x="1655850" y="3522175"/>
            <a:ext cx="5832300" cy="8313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use std::fs;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let contents = fs::read_to_string(filename)?;</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println!("Text is:\n{}", contents);</a:t>
            </a:r>
            <a:endParaRPr>
              <a:latin typeface="Consolas"/>
              <a:ea typeface="Consolas"/>
              <a:cs typeface="Consolas"/>
              <a:sym typeface="Consolas"/>
            </a:endParaRPr>
          </a:p>
        </p:txBody>
      </p:sp>
      <p:sp>
        <p:nvSpPr>
          <p:cNvPr id="375" name="Google Shape;375;p6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Aprire un file</a:t>
            </a:r>
            <a:endParaRPr/>
          </a:p>
        </p:txBody>
      </p:sp>
      <p:sp>
        <p:nvSpPr>
          <p:cNvPr id="381" name="Google Shape;381;p65"/>
          <p:cNvSpPr txBox="1"/>
          <p:nvPr/>
        </p:nvSpPr>
        <p:spPr>
          <a:xfrm>
            <a:off x="311700" y="1017725"/>
            <a:ext cx="8405400" cy="3509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use std::fs::File;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use std::io::{Write, BufReader, BufRead, Error};</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fn main() -&gt; io::Result&lt;()&gt;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path = "lines.txt";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mut output = File::create(path)?;</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write!(output, "Rust\n💖\nFun")?;</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input = File::open(path)?;</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let buffered = BufReader::new(input);</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for line in buffered.lines()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println!("{}", line?);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Ok(())</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
        <p:nvSpPr>
          <p:cNvPr id="382" name="Google Shape;382;p6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6"/>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relativi a I/O</a:t>
            </a:r>
            <a:endParaRPr/>
          </a:p>
        </p:txBody>
      </p:sp>
      <p:sp>
        <p:nvSpPr>
          <p:cNvPr id="388" name="Google Shape;388;p66"/>
          <p:cNvSpPr txBox="1"/>
          <p:nvPr>
            <p:ph idx="1" type="body"/>
          </p:nvPr>
        </p:nvSpPr>
        <p:spPr>
          <a:xfrm>
            <a:off x="311700" y="1037225"/>
            <a:ext cx="8520600" cy="350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Rust gestisce le operazioni di I/O attraverso l’utilizzo di alcuni tratti che implementano i metodi di base per le attività di lettura e scrittura</a:t>
            </a:r>
            <a:endParaRPr/>
          </a:p>
          <a:p>
            <a:pPr indent="-317500" lvl="1" marL="914400" rtl="0" algn="l">
              <a:spcBef>
                <a:spcPts val="0"/>
              </a:spcBef>
              <a:spcAft>
                <a:spcPts val="0"/>
              </a:spcAft>
              <a:buSzPts val="1400"/>
              <a:buChar char="○"/>
            </a:pPr>
            <a:r>
              <a:rPr lang="it"/>
              <a:t>L’utilizzo di tratti favorisce la scrittura di codice generico, indipendente dal tipo specifico su cui viene eseguito</a:t>
            </a:r>
            <a:endParaRPr/>
          </a:p>
          <a:p>
            <a:pPr indent="-342900" lvl="0" marL="457200" rtl="0" algn="l">
              <a:spcBef>
                <a:spcPts val="0"/>
              </a:spcBef>
              <a:spcAft>
                <a:spcPts val="0"/>
              </a:spcAft>
              <a:buSzPts val="1800"/>
              <a:buChar char="●"/>
            </a:pPr>
            <a:r>
              <a:rPr lang="it"/>
              <a:t>I tratti principali offerti da rust sono: </a:t>
            </a:r>
            <a:r>
              <a:rPr b="1" lang="it">
                <a:solidFill>
                  <a:srgbClr val="0B5394"/>
                </a:solidFill>
                <a:latin typeface="Consolas"/>
                <a:ea typeface="Consolas"/>
                <a:cs typeface="Consolas"/>
                <a:sym typeface="Consolas"/>
              </a:rPr>
              <a:t>Read</a:t>
            </a:r>
            <a:r>
              <a:rPr lang="it"/>
              <a:t>, </a:t>
            </a:r>
            <a:r>
              <a:rPr b="1" lang="it">
                <a:solidFill>
                  <a:srgbClr val="0B5394"/>
                </a:solidFill>
                <a:latin typeface="Consolas"/>
                <a:ea typeface="Consolas"/>
                <a:cs typeface="Consolas"/>
                <a:sym typeface="Consolas"/>
              </a:rPr>
              <a:t>BufRead</a:t>
            </a:r>
            <a:r>
              <a:rPr lang="it"/>
              <a:t>, </a:t>
            </a:r>
            <a:r>
              <a:rPr b="1" lang="it">
                <a:solidFill>
                  <a:srgbClr val="0B5394"/>
                </a:solidFill>
                <a:latin typeface="Consolas"/>
                <a:ea typeface="Consolas"/>
                <a:cs typeface="Consolas"/>
                <a:sym typeface="Consolas"/>
              </a:rPr>
              <a:t>Write</a:t>
            </a:r>
            <a:r>
              <a:rPr lang="it"/>
              <a:t> e </a:t>
            </a:r>
            <a:r>
              <a:rPr b="1" lang="it">
                <a:solidFill>
                  <a:srgbClr val="0B5394"/>
                </a:solidFill>
                <a:latin typeface="Consolas"/>
                <a:ea typeface="Consolas"/>
                <a:cs typeface="Consolas"/>
                <a:sym typeface="Consolas"/>
              </a:rPr>
              <a:t>Seek</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Tutti e quattro i tratti possono essere importati in maniera concisa attraverso il costrutto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use std::io::prelude::*;</a:t>
            </a:r>
            <a:endParaRPr/>
          </a:p>
          <a:p>
            <a:pPr indent="-342900" lvl="0" marL="457200" rtl="0" algn="l">
              <a:spcBef>
                <a:spcPts val="0"/>
              </a:spcBef>
              <a:spcAft>
                <a:spcPts val="0"/>
              </a:spcAft>
              <a:buSzPts val="1800"/>
              <a:buChar char="●"/>
            </a:pPr>
            <a:r>
              <a:rPr lang="it"/>
              <a:t>Molte operazioni offerte da questi tratti restituiscono valori di tipo </a:t>
            </a:r>
            <a:r>
              <a:rPr b="1" lang="it">
                <a:solidFill>
                  <a:srgbClr val="0B5394"/>
                </a:solidFill>
                <a:latin typeface="Consolas"/>
                <a:ea typeface="Consolas"/>
                <a:cs typeface="Consolas"/>
                <a:sym typeface="Consolas"/>
              </a:rPr>
              <a:t>io::Result&lt;T&gt;</a:t>
            </a:r>
            <a:endParaRPr/>
          </a:p>
          <a:p>
            <a:pPr indent="-317500" lvl="1" marL="914400" rtl="0" algn="l">
              <a:spcBef>
                <a:spcPts val="0"/>
              </a:spcBef>
              <a:spcAft>
                <a:spcPts val="0"/>
              </a:spcAft>
              <a:buSzPts val="1400"/>
              <a:buChar char="○"/>
            </a:pPr>
            <a:r>
              <a:rPr lang="it"/>
              <a:t>Occorre pertanto gestire opportunamente i risultati</a:t>
            </a:r>
            <a:endParaRPr/>
          </a:p>
        </p:txBody>
      </p:sp>
      <p:sp>
        <p:nvSpPr>
          <p:cNvPr id="389" name="Google Shape;389;p6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relativi ad I/O</a:t>
            </a:r>
            <a:endParaRPr/>
          </a:p>
        </p:txBody>
      </p:sp>
      <p:pic>
        <p:nvPicPr>
          <p:cNvPr id="395" name="Google Shape;395;p67"/>
          <p:cNvPicPr preferRelativeResize="0"/>
          <p:nvPr/>
        </p:nvPicPr>
        <p:blipFill>
          <a:blip r:embed="rId3">
            <a:alphaModFix/>
          </a:blip>
          <a:stretch>
            <a:fillRect/>
          </a:stretch>
        </p:blipFill>
        <p:spPr>
          <a:xfrm>
            <a:off x="2172126" y="1017725"/>
            <a:ext cx="4799750" cy="3513224"/>
          </a:xfrm>
          <a:prstGeom prst="rect">
            <a:avLst/>
          </a:prstGeom>
          <a:noFill/>
          <a:ln>
            <a:noFill/>
          </a:ln>
        </p:spPr>
      </p:pic>
      <p:sp>
        <p:nvSpPr>
          <p:cNvPr id="396" name="Google Shape;396;p6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8"/>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std::io::Read</a:t>
            </a:r>
            <a:endParaRPr/>
          </a:p>
        </p:txBody>
      </p:sp>
      <p:sp>
        <p:nvSpPr>
          <p:cNvPr id="402" name="Google Shape;402;p68"/>
          <p:cNvSpPr txBox="1"/>
          <p:nvPr>
            <p:ph idx="1" type="body"/>
          </p:nvPr>
        </p:nvSpPr>
        <p:spPr>
          <a:xfrm>
            <a:off x="311700" y="1037225"/>
            <a:ext cx="8520600" cy="3563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Tratto che indica la capacità di leggere un flusso di byte</a:t>
            </a:r>
            <a:endParaRPr/>
          </a:p>
          <a:p>
            <a:pPr indent="-317500" lvl="1" marL="914400" marR="0" rtl="0" algn="l">
              <a:lnSpc>
                <a:spcPct val="115000"/>
              </a:lnSpc>
              <a:spcBef>
                <a:spcPts val="0"/>
              </a:spcBef>
              <a:spcAft>
                <a:spcPts val="0"/>
              </a:spcAft>
              <a:buSzPts val="1400"/>
              <a:buChar char="○"/>
            </a:pPr>
            <a:r>
              <a:rPr b="1" lang="it">
                <a:solidFill>
                  <a:srgbClr val="0B5394"/>
                </a:solidFill>
                <a:latin typeface="Consolas"/>
                <a:ea typeface="Consolas"/>
                <a:cs typeface="Consolas"/>
                <a:sym typeface="Consolas"/>
              </a:rPr>
              <a:t>File</a:t>
            </a:r>
            <a:r>
              <a:rPr lang="it"/>
              <a:t>, </a:t>
            </a:r>
            <a:r>
              <a:rPr b="1" lang="it">
                <a:solidFill>
                  <a:srgbClr val="0B5394"/>
                </a:solidFill>
                <a:latin typeface="Consolas"/>
                <a:ea typeface="Consolas"/>
                <a:cs typeface="Consolas"/>
                <a:sym typeface="Consolas"/>
              </a:rPr>
              <a:t>Stdin</a:t>
            </a:r>
            <a:r>
              <a:rPr lang="it"/>
              <a:t> e </a:t>
            </a:r>
            <a:r>
              <a:rPr b="1" lang="it">
                <a:solidFill>
                  <a:srgbClr val="0B5394"/>
                </a:solidFill>
                <a:latin typeface="Consolas"/>
                <a:ea typeface="Consolas"/>
                <a:cs typeface="Consolas"/>
                <a:sym typeface="Consolas"/>
              </a:rPr>
              <a:t>TcpStream</a:t>
            </a:r>
            <a:r>
              <a:rPr lang="it"/>
              <a:t> sono alcuni dei tipi che implementano questo tratto</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Per implementare il tratto </a:t>
            </a:r>
            <a:r>
              <a:rPr b="1" lang="it">
                <a:solidFill>
                  <a:srgbClr val="0B5394"/>
                </a:solidFill>
                <a:latin typeface="Consolas"/>
                <a:ea typeface="Consolas"/>
                <a:cs typeface="Consolas"/>
                <a:sym typeface="Consolas"/>
              </a:rPr>
              <a:t>Read</a:t>
            </a:r>
            <a:r>
              <a:rPr lang="it"/>
              <a:t> è sufficiente fornire l’implementazione del metodo </a:t>
            </a:r>
            <a:r>
              <a:rPr b="1" lang="it">
                <a:solidFill>
                  <a:srgbClr val="0B5394"/>
                </a:solidFill>
                <a:latin typeface="Consolas"/>
                <a:ea typeface="Consolas"/>
                <a:cs typeface="Consolas"/>
                <a:sym typeface="Consolas"/>
              </a:rPr>
              <a:t>read(buf: &amp;mut [u8]) -&gt; Result&lt;usize&gt;</a:t>
            </a:r>
            <a:endParaRPr/>
          </a:p>
          <a:p>
            <a:pPr indent="-317500" lvl="1" marL="914400" rtl="0" algn="l">
              <a:spcBef>
                <a:spcPts val="0"/>
              </a:spcBef>
              <a:spcAft>
                <a:spcPts val="0"/>
              </a:spcAft>
              <a:buSzPts val="1400"/>
              <a:buChar char="○"/>
            </a:pPr>
            <a:r>
              <a:rPr lang="it"/>
              <a:t>Questo metodo tenta di leggere fino a </a:t>
            </a:r>
            <a:r>
              <a:rPr b="1" lang="it">
                <a:solidFill>
                  <a:srgbClr val="0B5394"/>
                </a:solidFill>
                <a:latin typeface="Consolas"/>
                <a:ea typeface="Consolas"/>
                <a:cs typeface="Consolas"/>
                <a:sym typeface="Consolas"/>
              </a:rPr>
              <a:t>buf.len()</a:t>
            </a:r>
            <a:r>
              <a:rPr lang="it"/>
              <a:t> byte, ma può restituirne di meno senza generare errori</a:t>
            </a:r>
            <a:endParaRPr/>
          </a:p>
          <a:p>
            <a:pPr indent="-317500" lvl="1" marL="914400" rtl="0" algn="l">
              <a:spcBef>
                <a:spcPts val="0"/>
              </a:spcBef>
              <a:spcAft>
                <a:spcPts val="0"/>
              </a:spcAft>
              <a:buSzPts val="1400"/>
              <a:buChar char="○"/>
            </a:pPr>
            <a:r>
              <a:rPr lang="it"/>
              <a:t>Rust genererà tutti gli altri metodi sulla base dell'implementazione di questo metodo </a:t>
            </a:r>
            <a:endParaRPr/>
          </a:p>
          <a:p>
            <a:pPr indent="-342900" lvl="0" marL="457200" rtl="0" algn="l">
              <a:spcBef>
                <a:spcPts val="0"/>
              </a:spcBef>
              <a:spcAft>
                <a:spcPts val="0"/>
              </a:spcAft>
              <a:buSzPts val="1800"/>
              <a:buChar char="●"/>
            </a:pPr>
            <a:r>
              <a:rPr lang="it"/>
              <a:t>In caso di successo, il metodo </a:t>
            </a:r>
            <a:r>
              <a:rPr b="1" lang="it">
                <a:solidFill>
                  <a:srgbClr val="0B5394"/>
                </a:solidFill>
                <a:latin typeface="Consolas"/>
                <a:ea typeface="Consolas"/>
                <a:cs typeface="Consolas"/>
                <a:sym typeface="Consolas"/>
              </a:rPr>
              <a:t>read(...)</a:t>
            </a:r>
            <a:r>
              <a:rPr lang="it"/>
              <a:t> deve ritornare </a:t>
            </a:r>
            <a:r>
              <a:rPr b="1" lang="it">
                <a:solidFill>
                  <a:srgbClr val="0B5394"/>
                </a:solidFill>
                <a:latin typeface="Consolas"/>
                <a:ea typeface="Consolas"/>
                <a:cs typeface="Consolas"/>
                <a:sym typeface="Consolas"/>
              </a:rPr>
              <a:t>Ok(n)</a:t>
            </a:r>
            <a:endParaRPr/>
          </a:p>
          <a:p>
            <a:pPr indent="-317500" lvl="1" marL="914400" rtl="0" algn="l">
              <a:spcBef>
                <a:spcPts val="0"/>
              </a:spcBef>
              <a:spcAft>
                <a:spcPts val="0"/>
              </a:spcAft>
              <a:buSzPts val="1400"/>
              <a:buChar char="○"/>
            </a:pPr>
            <a:r>
              <a:rPr lang="it"/>
              <a:t>L’implementazione deve garantire che </a:t>
            </a:r>
            <a:r>
              <a:rPr b="1" lang="it">
                <a:solidFill>
                  <a:srgbClr val="0B5394"/>
                </a:solidFill>
                <a:latin typeface="Consolas"/>
                <a:ea typeface="Consolas"/>
                <a:cs typeface="Consolas"/>
                <a:sym typeface="Consolas"/>
              </a:rPr>
              <a:t>n</a:t>
            </a:r>
            <a:r>
              <a:rPr lang="it"/>
              <a:t> sia compreso tra 0 e </a:t>
            </a:r>
            <a:r>
              <a:rPr b="1" lang="it">
                <a:solidFill>
                  <a:srgbClr val="0B5394"/>
                </a:solidFill>
                <a:latin typeface="Consolas"/>
                <a:ea typeface="Consolas"/>
                <a:cs typeface="Consolas"/>
                <a:sym typeface="Consolas"/>
              </a:rPr>
              <a:t>buf.len()</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Il valore  </a:t>
            </a:r>
            <a:r>
              <a:rPr b="1" lang="it">
                <a:solidFill>
                  <a:srgbClr val="0B5394"/>
                </a:solidFill>
                <a:latin typeface="Consolas"/>
                <a:ea typeface="Consolas"/>
                <a:cs typeface="Consolas"/>
                <a:sym typeface="Consolas"/>
              </a:rPr>
              <a:t>Ok(0)</a:t>
            </a:r>
            <a:r>
              <a:rPr lang="it"/>
              <a:t> può indicare che il flusso è terminato oppure che il buffer passato ha lunghezza 0</a:t>
            </a:r>
            <a:endParaRPr/>
          </a:p>
          <a:p>
            <a:pPr indent="-342900" lvl="0" marL="457200" rtl="0" algn="l">
              <a:spcBef>
                <a:spcPts val="0"/>
              </a:spcBef>
              <a:spcAft>
                <a:spcPts val="0"/>
              </a:spcAft>
              <a:buSzPts val="1800"/>
              <a:buChar char="●"/>
            </a:pPr>
            <a:r>
              <a:rPr lang="it"/>
              <a:t>Ogni chiamata al metodo </a:t>
            </a:r>
            <a:r>
              <a:rPr b="1" lang="it">
                <a:solidFill>
                  <a:srgbClr val="0B5394"/>
                </a:solidFill>
                <a:latin typeface="Consolas"/>
                <a:ea typeface="Consolas"/>
                <a:cs typeface="Consolas"/>
                <a:sym typeface="Consolas"/>
              </a:rPr>
              <a:t>read(...)</a:t>
            </a:r>
            <a:r>
              <a:rPr lang="it"/>
              <a:t> può causare l’invocazione di una chiamata di sistema</a:t>
            </a:r>
            <a:endParaRPr/>
          </a:p>
          <a:p>
            <a:pPr indent="-317500" lvl="1" marL="914400" rtl="0" algn="l">
              <a:spcBef>
                <a:spcPts val="0"/>
              </a:spcBef>
              <a:spcAft>
                <a:spcPts val="0"/>
              </a:spcAft>
              <a:buSzPts val="1400"/>
              <a:buChar char="○"/>
            </a:pPr>
            <a:r>
              <a:rPr lang="it"/>
              <a:t>Con il conseguente costo legato al cambio di contesto</a:t>
            </a:r>
            <a:endParaRPr/>
          </a:p>
        </p:txBody>
      </p:sp>
      <p:sp>
        <p:nvSpPr>
          <p:cNvPr id="403" name="Google Shape;403;p6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9"/>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Metodi del tratto Read</a:t>
            </a:r>
            <a:endParaRPr/>
          </a:p>
        </p:txBody>
      </p:sp>
      <p:sp>
        <p:nvSpPr>
          <p:cNvPr id="409" name="Google Shape;409;p69"/>
          <p:cNvSpPr txBox="1"/>
          <p:nvPr>
            <p:ph idx="1" type="body"/>
          </p:nvPr>
        </p:nvSpPr>
        <p:spPr>
          <a:xfrm>
            <a:off x="311700" y="1037225"/>
            <a:ext cx="8520600" cy="358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L’implementazione del tratto </a:t>
            </a:r>
            <a:r>
              <a:rPr b="1" lang="it">
                <a:solidFill>
                  <a:srgbClr val="0B5394"/>
                </a:solidFill>
                <a:latin typeface="Consolas"/>
                <a:ea typeface="Consolas"/>
                <a:cs typeface="Consolas"/>
                <a:sym typeface="Consolas"/>
              </a:rPr>
              <a:t>Read</a:t>
            </a:r>
            <a:r>
              <a:rPr lang="it"/>
              <a:t> mette a disposizione diversi metodi per gestire le operazioni più comuni di I/O</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read_to_end(buf: &amp;mut Vec&lt;u8&gt;) -&gt; Result&lt;usize&gt;</a:t>
            </a:r>
            <a:r>
              <a:rPr lang="it"/>
              <a:t> continua a leggere fino all’ EOF: si limita a richiamare il metodo </a:t>
            </a:r>
            <a:r>
              <a:rPr b="1" lang="it">
                <a:solidFill>
                  <a:srgbClr val="0B5394"/>
                </a:solidFill>
                <a:latin typeface="Consolas"/>
                <a:ea typeface="Consolas"/>
                <a:cs typeface="Consolas"/>
                <a:sym typeface="Consolas"/>
              </a:rPr>
              <a:t>read()</a:t>
            </a:r>
            <a:r>
              <a:rPr lang="it"/>
              <a:t> fino a quando quest’ultimo non ritorna un </a:t>
            </a:r>
            <a:r>
              <a:rPr b="1" lang="it">
                <a:solidFill>
                  <a:srgbClr val="0B5394"/>
                </a:solidFill>
                <a:latin typeface="Consolas"/>
                <a:ea typeface="Consolas"/>
                <a:cs typeface="Consolas"/>
                <a:sym typeface="Consolas"/>
              </a:rPr>
              <a:t>Ok(0)</a:t>
            </a:r>
            <a:r>
              <a:rPr lang="it"/>
              <a:t> o un errore fatale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read_to_string(buf: &amp;mut String) -&gt; Result&lt;usize&gt;</a:t>
            </a:r>
            <a:r>
              <a:rPr lang="it"/>
              <a:t> continua a leggere fino all’ EOF e riceve come parametro una </a:t>
            </a:r>
            <a:r>
              <a:rPr b="1" lang="it">
                <a:solidFill>
                  <a:srgbClr val="0B5394"/>
                </a:solidFill>
                <a:latin typeface="Consolas"/>
                <a:ea typeface="Consolas"/>
                <a:cs typeface="Consolas"/>
                <a:sym typeface="Consolas"/>
              </a:rPr>
              <a:t>&amp;mut String</a:t>
            </a:r>
            <a:r>
              <a:rPr lang="it"/>
              <a:t>; assume che il contenuto sia UTF-8</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b="1" lang="it">
                <a:solidFill>
                  <a:srgbClr val="0B5394"/>
                </a:solidFill>
                <a:latin typeface="Consolas"/>
                <a:ea typeface="Consolas"/>
                <a:cs typeface="Consolas"/>
                <a:sym typeface="Consolas"/>
              </a:rPr>
              <a:t>read_exact(buf: &amp;mut [u8]) -&gt; Result&lt;()&gt;</a:t>
            </a:r>
            <a:r>
              <a:rPr lang="it"/>
              <a:t> prova a leggere l’esatto numero di byte contenuti nel buffer; adatto per record a dimesione fissa</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b="1" lang="it">
                <a:solidFill>
                  <a:srgbClr val="0B5394"/>
                </a:solidFill>
                <a:latin typeface="Consolas"/>
                <a:ea typeface="Consolas"/>
                <a:cs typeface="Consolas"/>
                <a:sym typeface="Consolas"/>
              </a:rPr>
              <a:t>bytes() -&gt; Bytes&lt;Self&gt;</a:t>
            </a:r>
            <a:r>
              <a:rPr lang="it"/>
              <a:t> ritorna un iteratore sui singoli byte, gli elementi dell’iteratore sono dei </a:t>
            </a:r>
            <a:r>
              <a:rPr b="1" lang="it">
                <a:solidFill>
                  <a:srgbClr val="0B5394"/>
                </a:solidFill>
                <a:latin typeface="Consolas"/>
                <a:ea typeface="Consolas"/>
                <a:cs typeface="Consolas"/>
                <a:sym typeface="Consolas"/>
              </a:rPr>
              <a:t>Result&lt;u8, io::Error&gt;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Font typeface="Consolas"/>
              <a:buChar char="○"/>
            </a:pPr>
            <a:r>
              <a:rPr b="1" lang="it">
                <a:solidFill>
                  <a:srgbClr val="0B5394"/>
                </a:solidFill>
                <a:latin typeface="Consolas"/>
                <a:ea typeface="Consolas"/>
                <a:cs typeface="Consolas"/>
                <a:sym typeface="Consolas"/>
              </a:rPr>
              <a:t>chain&lt;R: Read&gt;(next: R) -&gt; Chain&lt;Self, R&gt;</a:t>
            </a:r>
            <a:r>
              <a:rPr lang="it"/>
              <a:t> permette di concatenare due reader</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take(limit: u64) -&gt; Take&lt;Self&gt;</a:t>
            </a:r>
            <a:r>
              <a:rPr lang="it"/>
              <a:t> limita il numero massimo di byte che sarà possibile leggere</a:t>
            </a:r>
            <a:endParaRPr/>
          </a:p>
        </p:txBody>
      </p:sp>
      <p:sp>
        <p:nvSpPr>
          <p:cNvPr id="410" name="Google Shape;410;p6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std::io::BufRead</a:t>
            </a:r>
            <a:endParaRPr/>
          </a:p>
        </p:txBody>
      </p:sp>
      <p:sp>
        <p:nvSpPr>
          <p:cNvPr id="416" name="Google Shape;41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Il tratto </a:t>
            </a:r>
            <a:r>
              <a:rPr b="1" lang="it">
                <a:solidFill>
                  <a:srgbClr val="0B5394"/>
                </a:solidFill>
                <a:latin typeface="Consolas"/>
                <a:ea typeface="Consolas"/>
                <a:cs typeface="Consolas"/>
                <a:sym typeface="Consolas"/>
              </a:rPr>
              <a:t>BufRead</a:t>
            </a:r>
            <a:r>
              <a:rPr lang="it"/>
              <a:t> offre una serie di metodi che permettono di migliorare le prestazioni dell’I/O appoggiandosi ad un buffer in memoria</a:t>
            </a:r>
            <a:endParaRPr/>
          </a:p>
          <a:p>
            <a:pPr indent="-317500" lvl="1" marL="914400" rtl="0" algn="l">
              <a:spcBef>
                <a:spcPts val="0"/>
              </a:spcBef>
              <a:spcAft>
                <a:spcPts val="0"/>
              </a:spcAft>
              <a:buSzPts val="1400"/>
              <a:buChar char="○"/>
            </a:pPr>
            <a:r>
              <a:rPr lang="it"/>
              <a:t>Il buffering riduce il numero di accessi al livello sottostante ed è particolarmente utile per letture frequenti e di piccola dimensione</a:t>
            </a:r>
            <a:endParaRPr/>
          </a:p>
          <a:p>
            <a:pPr indent="-317500" lvl="1" marL="914400" rtl="0" algn="l">
              <a:spcBef>
                <a:spcPts val="0"/>
              </a:spcBef>
              <a:spcAft>
                <a:spcPts val="0"/>
              </a:spcAft>
              <a:buSzPts val="1400"/>
              <a:buChar char="○"/>
            </a:pPr>
            <a:r>
              <a:rPr lang="it"/>
              <a:t>Non è utile quando si legge da elementi già presenti in memoria</a:t>
            </a:r>
            <a:endParaRPr/>
          </a:p>
          <a:p>
            <a:pPr indent="-342900" lvl="0" marL="457200" rtl="0" algn="l">
              <a:spcBef>
                <a:spcPts val="0"/>
              </a:spcBef>
              <a:spcAft>
                <a:spcPts val="0"/>
              </a:spcAft>
              <a:buSzPts val="1800"/>
              <a:buChar char="●"/>
            </a:pPr>
            <a:r>
              <a:rPr lang="it"/>
              <a:t>L’implementazione del tratto richiede i metodi </a:t>
            </a:r>
            <a:r>
              <a:rPr b="1" lang="it">
                <a:solidFill>
                  <a:srgbClr val="0B5394"/>
                </a:solidFill>
                <a:latin typeface="Consolas"/>
                <a:ea typeface="Consolas"/>
                <a:cs typeface="Consolas"/>
                <a:sym typeface="Consolas"/>
              </a:rPr>
              <a:t>fill_buf()</a:t>
            </a:r>
            <a:r>
              <a:rPr lang="it"/>
              <a:t> e </a:t>
            </a:r>
            <a:r>
              <a:rPr b="1" lang="it">
                <a:solidFill>
                  <a:srgbClr val="0B5394"/>
                </a:solidFill>
                <a:latin typeface="Consolas"/>
                <a:ea typeface="Consolas"/>
                <a:cs typeface="Consolas"/>
                <a:sym typeface="Consolas"/>
              </a:rPr>
              <a:t>consume(amt: usize)</a:t>
            </a:r>
            <a:r>
              <a:rPr lang="it"/>
              <a:t> </a:t>
            </a:r>
            <a:endParaRPr/>
          </a:p>
          <a:p>
            <a:pPr indent="-317500" lvl="1" marL="914400" rtl="0" algn="l">
              <a:spcBef>
                <a:spcPts val="0"/>
              </a:spcBef>
              <a:spcAft>
                <a:spcPts val="0"/>
              </a:spcAft>
              <a:buSzPts val="1400"/>
              <a:buChar char="○"/>
            </a:pPr>
            <a:r>
              <a:rPr lang="it"/>
              <a:t>I due metodi devono sempre essere utilizzati insieme: </a:t>
            </a:r>
            <a:r>
              <a:rPr b="1" lang="it">
                <a:solidFill>
                  <a:srgbClr val="0B5394"/>
                </a:solidFill>
                <a:latin typeface="Consolas"/>
                <a:ea typeface="Consolas"/>
                <a:cs typeface="Consolas"/>
                <a:sym typeface="Consolas"/>
              </a:rPr>
              <a:t>fill_buf()</a:t>
            </a:r>
            <a:r>
              <a:rPr lang="it"/>
              <a:t> </a:t>
            </a:r>
            <a:r>
              <a:rPr lang="it"/>
              <a:t>espone il contenuto disponibile nel buffer senza avanzare la posizione logica; dopo averne usato una parte, occorre</a:t>
            </a:r>
            <a:r>
              <a:rPr lang="it"/>
              <a:t> chiamare </a:t>
            </a:r>
            <a:r>
              <a:rPr b="1" lang="it">
                <a:solidFill>
                  <a:srgbClr val="0B5394"/>
                </a:solidFill>
                <a:latin typeface="Consolas"/>
                <a:ea typeface="Consolas"/>
                <a:cs typeface="Consolas"/>
                <a:sym typeface="Consolas"/>
              </a:rPr>
              <a:t>consume(…)</a:t>
            </a:r>
            <a:r>
              <a:rPr lang="it"/>
              <a:t> </a:t>
            </a:r>
            <a:endParaRPr/>
          </a:p>
          <a:p>
            <a:pPr indent="-342900" lvl="0" marL="457200" rtl="0" algn="l">
              <a:spcBef>
                <a:spcPts val="0"/>
              </a:spcBef>
              <a:spcAft>
                <a:spcPts val="0"/>
              </a:spcAft>
              <a:buSzPts val="1800"/>
              <a:buChar char="●"/>
            </a:pPr>
            <a:r>
              <a:rPr lang="it"/>
              <a:t>I metodi </a:t>
            </a:r>
            <a:r>
              <a:rPr b="1" lang="it">
                <a:solidFill>
                  <a:srgbClr val="0B5394"/>
                </a:solidFill>
                <a:latin typeface="Consolas"/>
                <a:ea typeface="Consolas"/>
                <a:cs typeface="Consolas"/>
                <a:sym typeface="Consolas"/>
              </a:rPr>
              <a:t>read_line</a:t>
            </a:r>
            <a:r>
              <a:rPr b="1" lang="it">
                <a:solidFill>
                  <a:srgbClr val="0B5394"/>
                </a:solidFill>
                <a:latin typeface="Consolas"/>
                <a:ea typeface="Consolas"/>
                <a:cs typeface="Consolas"/>
                <a:sym typeface="Consolas"/>
              </a:rPr>
              <a:t>(&amp;mut self, buf: &amp;mut String)</a:t>
            </a:r>
            <a:r>
              <a:rPr lang="it"/>
              <a:t> e </a:t>
            </a:r>
            <a:r>
              <a:rPr b="1" lang="it">
                <a:solidFill>
                  <a:srgbClr val="0B5394"/>
                </a:solidFill>
                <a:latin typeface="Consolas"/>
                <a:ea typeface="Consolas"/>
                <a:cs typeface="Consolas"/>
                <a:sym typeface="Consolas"/>
              </a:rPr>
              <a:t>lines(self)</a:t>
            </a:r>
            <a:r>
              <a:rPr lang="it"/>
              <a:t> permettono di accedere al contenuto testuale (UTF-8) di un flusso</a:t>
            </a:r>
            <a:endParaRPr/>
          </a:p>
        </p:txBody>
      </p:sp>
      <p:sp>
        <p:nvSpPr>
          <p:cNvPr id="417" name="Google Shape;417;p7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1"/>
          <p:cNvSpPr txBox="1"/>
          <p:nvPr>
            <p:ph type="title"/>
          </p:nvPr>
        </p:nvSpPr>
        <p:spPr>
          <a:xfrm>
            <a:off x="311700" y="447140"/>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std::io::BufRead</a:t>
            </a:r>
            <a:endParaRPr/>
          </a:p>
        </p:txBody>
      </p:sp>
      <p:sp>
        <p:nvSpPr>
          <p:cNvPr id="423" name="Google Shape;423;p71"/>
          <p:cNvSpPr txBox="1"/>
          <p:nvPr/>
        </p:nvSpPr>
        <p:spPr>
          <a:xfrm>
            <a:off x="311700" y="1137915"/>
            <a:ext cx="8520600" cy="31863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300">
                <a:latin typeface="Consolas"/>
                <a:ea typeface="Consolas"/>
                <a:cs typeface="Consolas"/>
                <a:sym typeface="Consolas"/>
              </a:rPr>
              <a:t>use std::io;</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use std::io::prelude::*;</a:t>
            </a:r>
            <a:endParaRPr b="1" sz="1300">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let stdin = io::stdin();					// stdin non implementa il tratto BufRead</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let mut handle = stdin.lock();				// lock permette di ottenere uno StdinLock</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									// che implementa BufRead</a:t>
            </a:r>
            <a:endParaRPr b="1" sz="1300">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let buffer = handle.fill_buf()?;	</a:t>
            </a:r>
            <a:endParaRPr b="1" sz="1300">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println!("{:?}", buffer);</a:t>
            </a:r>
            <a:endParaRPr b="1" sz="1300">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let length = buffer.len();</a:t>
            </a:r>
            <a:endParaRPr b="1" sz="1300">
              <a:latin typeface="Consolas"/>
              <a:ea typeface="Consolas"/>
              <a:cs typeface="Consolas"/>
              <a:sym typeface="Consolas"/>
            </a:endParaRPr>
          </a:p>
          <a:p>
            <a:pPr indent="0" lvl="0" marL="0" rtl="0" algn="l">
              <a:spcBef>
                <a:spcPts val="0"/>
              </a:spcBef>
              <a:spcAft>
                <a:spcPts val="0"/>
              </a:spcAft>
              <a:buNone/>
            </a:pPr>
            <a:r>
              <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handle.consume(length);					// garantisce che i byte letti non vengano</a:t>
            </a:r>
            <a:endParaRPr b="1" sz="1300">
              <a:latin typeface="Consolas"/>
              <a:ea typeface="Consolas"/>
              <a:cs typeface="Consolas"/>
              <a:sym typeface="Consolas"/>
            </a:endParaRPr>
          </a:p>
          <a:p>
            <a:pPr indent="0" lvl="0" marL="0" rtl="0" algn="l">
              <a:spcBef>
                <a:spcPts val="0"/>
              </a:spcBef>
              <a:spcAft>
                <a:spcPts val="0"/>
              </a:spcAft>
              <a:buNone/>
            </a:pPr>
            <a:r>
              <a:rPr b="1" lang="it" sz="1300">
                <a:latin typeface="Consolas"/>
                <a:ea typeface="Consolas"/>
                <a:cs typeface="Consolas"/>
                <a:sym typeface="Consolas"/>
              </a:rPr>
              <a:t>									// ritornati nuovamente alle prossime letture</a:t>
            </a:r>
            <a:endParaRPr b="1" sz="1300">
              <a:latin typeface="Consolas"/>
              <a:ea typeface="Consolas"/>
              <a:cs typeface="Consolas"/>
              <a:sym typeface="Consolas"/>
            </a:endParaRPr>
          </a:p>
        </p:txBody>
      </p:sp>
      <p:sp>
        <p:nvSpPr>
          <p:cNvPr id="424" name="Google Shape;424;p7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2"/>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std::io::Write</a:t>
            </a:r>
            <a:endParaRPr/>
          </a:p>
        </p:txBody>
      </p:sp>
      <p:sp>
        <p:nvSpPr>
          <p:cNvPr id="430" name="Google Shape;430;p72"/>
          <p:cNvSpPr txBox="1"/>
          <p:nvPr>
            <p:ph idx="1" type="body"/>
          </p:nvPr>
        </p:nvSpPr>
        <p:spPr>
          <a:xfrm>
            <a:off x="311700" y="1037225"/>
            <a:ext cx="8520600" cy="3523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Tratto che indica la capacità di scrivere un flusso di dati</a:t>
            </a:r>
            <a:endParaRPr/>
          </a:p>
          <a:p>
            <a:pPr indent="-317500" lvl="1" marL="914400" rtl="0" algn="l">
              <a:spcBef>
                <a:spcPts val="0"/>
              </a:spcBef>
              <a:spcAft>
                <a:spcPts val="0"/>
              </a:spcAft>
              <a:buSzPts val="1400"/>
              <a:buChar char="○"/>
            </a:pPr>
            <a:r>
              <a:rPr lang="it"/>
              <a:t>Questo tratto è implementato, tra gli altri, dalle struct </a:t>
            </a:r>
            <a:r>
              <a:rPr b="1" lang="it">
                <a:solidFill>
                  <a:srgbClr val="0B5394"/>
                </a:solidFill>
                <a:latin typeface="Consolas"/>
                <a:ea typeface="Consolas"/>
                <a:cs typeface="Consolas"/>
                <a:sym typeface="Consolas"/>
              </a:rPr>
              <a:t>File</a:t>
            </a:r>
            <a:r>
              <a:rPr lang="it"/>
              <a:t>, </a:t>
            </a:r>
            <a:r>
              <a:rPr b="1" lang="it">
                <a:solidFill>
                  <a:srgbClr val="0B5394"/>
                </a:solidFill>
                <a:latin typeface="Consolas"/>
                <a:ea typeface="Consolas"/>
                <a:cs typeface="Consolas"/>
                <a:sym typeface="Consolas"/>
              </a:rPr>
              <a:t>Stdout</a:t>
            </a:r>
            <a:r>
              <a:rPr lang="it"/>
              <a:t>, </a:t>
            </a:r>
            <a:r>
              <a:rPr b="1" lang="it">
                <a:solidFill>
                  <a:srgbClr val="0B5394"/>
                </a:solidFill>
                <a:latin typeface="Consolas"/>
                <a:ea typeface="Consolas"/>
                <a:cs typeface="Consolas"/>
                <a:sym typeface="Consolas"/>
              </a:rPr>
              <a:t>StdErr</a:t>
            </a:r>
            <a:r>
              <a:rPr lang="it"/>
              <a:t> e </a:t>
            </a:r>
            <a:r>
              <a:rPr b="1" lang="it">
                <a:solidFill>
                  <a:srgbClr val="0B5394"/>
                </a:solidFill>
                <a:latin typeface="Consolas"/>
                <a:ea typeface="Consolas"/>
                <a:cs typeface="Consolas"/>
                <a:sym typeface="Consolas"/>
              </a:rPr>
              <a:t>TcpStream</a:t>
            </a:r>
            <a:r>
              <a:rPr lang="it"/>
              <a:t> </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Il tratto </a:t>
            </a:r>
            <a:r>
              <a:rPr b="1" lang="it">
                <a:solidFill>
                  <a:srgbClr val="0B5394"/>
                </a:solidFill>
                <a:latin typeface="Consolas"/>
                <a:ea typeface="Consolas"/>
                <a:cs typeface="Consolas"/>
                <a:sym typeface="Consolas"/>
              </a:rPr>
              <a:t>Write</a:t>
            </a:r>
            <a:r>
              <a:rPr lang="it"/>
              <a:t> richiede l’implementazione dei metodi </a:t>
            </a:r>
            <a:r>
              <a:rPr b="1" lang="it">
                <a:solidFill>
                  <a:srgbClr val="0B5394"/>
                </a:solidFill>
                <a:latin typeface="Consolas"/>
                <a:ea typeface="Consolas"/>
                <a:cs typeface="Consolas"/>
                <a:sym typeface="Consolas"/>
              </a:rPr>
              <a:t>write</a:t>
            </a:r>
            <a:r>
              <a:rPr lang="it"/>
              <a:t> e </a:t>
            </a:r>
            <a:r>
              <a:rPr b="1" lang="it">
                <a:solidFill>
                  <a:srgbClr val="0B5394"/>
                </a:solidFill>
                <a:latin typeface="Consolas"/>
                <a:ea typeface="Consolas"/>
                <a:cs typeface="Consolas"/>
                <a:sym typeface="Consolas"/>
              </a:rPr>
              <a:t>flush</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write(buf: &amp;[u8]) -&gt; Result&lt;usize&gt;</a:t>
            </a:r>
            <a:r>
              <a:rPr lang="it"/>
              <a:t> prova a scrivere una parte del buffer ricevuto come argomento e ritorna il numero di byte effettivamente scritti</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flush() -&gt; Result&lt;()&gt;</a:t>
            </a:r>
            <a:r>
              <a:rPr lang="it"/>
              <a:t> finalizza l’output garantendo che tutti gli eventuali buffer transitori siano correttamente svuotati</a:t>
            </a:r>
            <a:endParaRPr/>
          </a:p>
          <a:p>
            <a:pPr indent="-342900" lvl="0" marL="457200" rtl="0" algn="l">
              <a:spcBef>
                <a:spcPts val="0"/>
              </a:spcBef>
              <a:spcAft>
                <a:spcPts val="0"/>
              </a:spcAft>
              <a:buSzPts val="1800"/>
              <a:buChar char="●"/>
            </a:pPr>
            <a:r>
              <a:rPr lang="it"/>
              <a:t>Il metodo </a:t>
            </a:r>
            <a:r>
              <a:rPr b="1" lang="it">
                <a:solidFill>
                  <a:srgbClr val="0B5394"/>
                </a:solidFill>
                <a:latin typeface="Consolas"/>
                <a:ea typeface="Consolas"/>
                <a:cs typeface="Consolas"/>
                <a:sym typeface="Consolas"/>
              </a:rPr>
              <a:t>w</a:t>
            </a:r>
            <a:r>
              <a:rPr b="1" lang="it" sz="1800">
                <a:solidFill>
                  <a:srgbClr val="0B5394"/>
                </a:solidFill>
                <a:latin typeface="Consolas"/>
                <a:ea typeface="Consolas"/>
                <a:cs typeface="Consolas"/>
                <a:sym typeface="Consolas"/>
              </a:rPr>
              <a:t>rite_all(buf: &amp;[u8])</a:t>
            </a:r>
            <a:r>
              <a:rPr lang="it" sz="1800"/>
              <a:t> </a:t>
            </a:r>
            <a:r>
              <a:rPr lang="it"/>
              <a:t>ripete le scritture fino a che tutti i dati sono stati trasferiti o si è verificato un errore</a:t>
            </a:r>
            <a:endParaRPr b="1">
              <a:solidFill>
                <a:srgbClr val="0B5394"/>
              </a:solidFill>
              <a:latin typeface="Consolas"/>
              <a:ea typeface="Consolas"/>
              <a:cs typeface="Consolas"/>
              <a:sym typeface="Consolas"/>
            </a:endParaRPr>
          </a:p>
        </p:txBody>
      </p:sp>
      <p:sp>
        <p:nvSpPr>
          <p:cNvPr id="431" name="Google Shape;431;p7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3"/>
          <p:cNvSpPr txBox="1"/>
          <p:nvPr>
            <p:ph type="title"/>
          </p:nvPr>
        </p:nvSpPr>
        <p:spPr>
          <a:xfrm>
            <a:off x="311700" y="400523"/>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std::io::Seek</a:t>
            </a:r>
            <a:endParaRPr/>
          </a:p>
        </p:txBody>
      </p:sp>
      <p:sp>
        <p:nvSpPr>
          <p:cNvPr id="437" name="Google Shape;437;p73"/>
          <p:cNvSpPr txBox="1"/>
          <p:nvPr>
            <p:ph idx="1" type="body"/>
          </p:nvPr>
        </p:nvSpPr>
        <p:spPr>
          <a:xfrm>
            <a:off x="311700" y="1037225"/>
            <a:ext cx="8520600" cy="3543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Tratto che permette di ri-posizionare il cursore di lettura/scrittura in un flusso di byte</a:t>
            </a:r>
            <a:endParaRPr/>
          </a:p>
          <a:p>
            <a:pPr indent="-317500" lvl="1" marL="914400" rtl="0" algn="l">
              <a:spcBef>
                <a:spcPts val="0"/>
              </a:spcBef>
              <a:spcAft>
                <a:spcPts val="0"/>
              </a:spcAft>
              <a:buSzPts val="1400"/>
              <a:buChar char="○"/>
            </a:pPr>
            <a:r>
              <a:rPr lang="it"/>
              <a:t>Quando il flusso attinge ad un dato di dimensione nota, è possibile posizionare il cursore in modo relativo rispetto all’inizio del flusso (</a:t>
            </a:r>
            <a:r>
              <a:rPr b="1" lang="it">
                <a:solidFill>
                  <a:srgbClr val="0B5394"/>
                </a:solidFill>
                <a:latin typeface="Consolas"/>
                <a:ea typeface="Consolas"/>
                <a:cs typeface="Consolas"/>
                <a:sym typeface="Consolas"/>
              </a:rPr>
              <a:t>SeekFrom::Start(n: u64)</a:t>
            </a:r>
            <a:r>
              <a:rPr lang="it"/>
              <a:t>), alla sua fine (</a:t>
            </a:r>
            <a:r>
              <a:rPr b="1" lang="it">
                <a:solidFill>
                  <a:srgbClr val="0B5394"/>
                </a:solidFill>
                <a:latin typeface="Consolas"/>
                <a:ea typeface="Consolas"/>
                <a:cs typeface="Consolas"/>
                <a:sym typeface="Consolas"/>
              </a:rPr>
              <a:t>SeekFrom::End(n: i64)</a:t>
            </a:r>
            <a:r>
              <a:rPr lang="it"/>
              <a:t>) o alla posizione corrente (</a:t>
            </a:r>
            <a:r>
              <a:rPr b="1" lang="it">
                <a:solidFill>
                  <a:srgbClr val="0B5394"/>
                </a:solidFill>
                <a:latin typeface="Consolas"/>
                <a:ea typeface="Consolas"/>
                <a:cs typeface="Consolas"/>
                <a:sym typeface="Consolas"/>
              </a:rPr>
              <a:t>SeekFrom::Current(n: i64)</a:t>
            </a:r>
            <a:r>
              <a:rPr lang="it"/>
              <a:t>)</a:t>
            </a:r>
            <a:endParaRPr/>
          </a:p>
          <a:p>
            <a:pPr indent="-342900" lvl="0" marL="457200" rtl="0" algn="l">
              <a:spcBef>
                <a:spcPts val="0"/>
              </a:spcBef>
              <a:spcAft>
                <a:spcPts val="0"/>
              </a:spcAft>
              <a:buSzPts val="1800"/>
              <a:buChar char="●"/>
            </a:pPr>
            <a:r>
              <a:rPr lang="it"/>
              <a:t>Il tratto offre i seguenti metodi</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fn seek(&amp;mut self, pos: SeekFrom) -&gt; Result&lt;u64&gt;</a:t>
            </a:r>
            <a:r>
              <a:rPr lang="it"/>
              <a:t>: posiziona il cursore alla posizione (in byte) indicata dal parametro pos</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fn rewind(&amp;mut self) -&gt; Result&lt;()&gt;</a:t>
            </a:r>
            <a:r>
              <a:rPr lang="it"/>
              <a:t>: posiziona il cursore all’inizio del flusso</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fn stream_position(&amp;mut self) -&gt; Result&lt;u64&gt;</a:t>
            </a:r>
            <a:r>
              <a:rPr lang="it"/>
              <a:t>: restituisce la posizione corrente del cursore rispetto all’inizio del flusso</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Seek</a:t>
            </a:r>
            <a:r>
              <a:rPr lang="it"/>
              <a:t> è disponibile solo per sorgenti/destinazioni che supportano il riposizionamento, come i file </a:t>
            </a:r>
            <a:endParaRPr/>
          </a:p>
          <a:p>
            <a:pPr indent="-317500" lvl="1" marL="914400" rtl="0" algn="l">
              <a:spcBef>
                <a:spcPts val="0"/>
              </a:spcBef>
              <a:spcAft>
                <a:spcPts val="0"/>
              </a:spcAft>
              <a:buSzPts val="1400"/>
              <a:buChar char="○"/>
            </a:pPr>
            <a:r>
              <a:rPr lang="it"/>
              <a:t>Non è generalmente appropriato per stream sequenziali come socket o pipe</a:t>
            </a:r>
            <a:endParaRPr/>
          </a:p>
        </p:txBody>
      </p:sp>
      <p:sp>
        <p:nvSpPr>
          <p:cNvPr id="438" name="Google Shape;438;p7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4"/>
          <p:cNvSpPr txBox="1"/>
          <p:nvPr>
            <p:ph type="title"/>
          </p:nvPr>
        </p:nvSpPr>
        <p:spPr>
          <a:xfrm>
            <a:off x="311700" y="447140"/>
            <a:ext cx="8520600" cy="51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Esempio: lettura di un file contenente dati binari</a:t>
            </a:r>
            <a:endParaRPr/>
          </a:p>
        </p:txBody>
      </p:sp>
      <p:sp>
        <p:nvSpPr>
          <p:cNvPr id="444" name="Google Shape;444;p74"/>
          <p:cNvSpPr txBox="1"/>
          <p:nvPr/>
        </p:nvSpPr>
        <p:spPr>
          <a:xfrm>
            <a:off x="311700" y="1137915"/>
            <a:ext cx="8520600" cy="31863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300">
                <a:solidFill>
                  <a:schemeClr val="dk2"/>
                </a:solidFill>
                <a:latin typeface="Consolas"/>
                <a:ea typeface="Consolas"/>
                <a:cs typeface="Consolas"/>
                <a:sym typeface="Consolas"/>
              </a:rPr>
              <a:t>use std::fs::File;</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use std::io::Read;</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fn main() -&gt; std::io::Result&lt;()&gt;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 "/dev/urandom": sorgente di byte casuali provenienti da una sorgente sicura</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let mut f = File::open("/dev/urandom")?;</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for _ in 0..10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let mut buff = [0;4];                            // buffer in cui depositare i byte</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f.read_exact(&amp;mut buff)?;                        // lettura del file</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let i = i32::from_be_bytes(buff);                // conversione del buffer in i32</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println!("0x{:08x}",i);                          // uso il valore letto</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Ok(())</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a:t>
            </a:r>
            <a:endParaRPr b="1" sz="1300">
              <a:solidFill>
                <a:schemeClr val="dk2"/>
              </a:solidFill>
              <a:latin typeface="Consolas"/>
              <a:ea typeface="Consolas"/>
              <a:cs typeface="Consolas"/>
              <a:sym typeface="Consolas"/>
            </a:endParaRPr>
          </a:p>
        </p:txBody>
      </p:sp>
      <p:sp>
        <p:nvSpPr>
          <p:cNvPr id="445" name="Google Shape;445;p7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Gestione degli errori di I/O</a:t>
            </a:r>
            <a:endParaRPr/>
          </a:p>
        </p:txBody>
      </p:sp>
      <p:sp>
        <p:nvSpPr>
          <p:cNvPr id="451" name="Google Shape;451;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Le operazioni di I/O restituiscono normalmente un valore di tipo </a:t>
            </a:r>
            <a:r>
              <a:rPr b="1" lang="it">
                <a:solidFill>
                  <a:srgbClr val="0B5394"/>
                </a:solidFill>
                <a:latin typeface="Consolas"/>
                <a:ea typeface="Consolas"/>
                <a:cs typeface="Consolas"/>
                <a:sym typeface="Consolas"/>
              </a:rPr>
              <a:t>io::Result&lt;T&gt;</a:t>
            </a:r>
            <a:r>
              <a:rPr lang="it"/>
              <a:t> </a:t>
            </a:r>
            <a:endParaRPr/>
          </a:p>
          <a:p>
            <a:pPr indent="-317500" lvl="1" marL="914400" rtl="0" algn="l">
              <a:spcBef>
                <a:spcPts val="0"/>
              </a:spcBef>
              <a:spcAft>
                <a:spcPts val="0"/>
              </a:spcAft>
              <a:buSzPts val="1400"/>
              <a:buChar char="○"/>
            </a:pPr>
            <a:r>
              <a:rPr lang="it"/>
              <a:t>Alias di </a:t>
            </a:r>
            <a:r>
              <a:rPr b="1" lang="it">
                <a:solidFill>
                  <a:srgbClr val="0B5394"/>
                </a:solidFill>
                <a:latin typeface="Consolas"/>
                <a:ea typeface="Consolas"/>
                <a:cs typeface="Consolas"/>
                <a:sym typeface="Consolas"/>
              </a:rPr>
              <a:t>Result&lt;T, io::Error&gt;</a:t>
            </a:r>
            <a:r>
              <a:rPr lang="it"/>
              <a:t> </a:t>
            </a:r>
            <a:endParaRPr/>
          </a:p>
          <a:p>
            <a:pPr indent="-342900" lvl="0" marL="457200" rtl="0" algn="l">
              <a:spcBef>
                <a:spcPts val="0"/>
              </a:spcBef>
              <a:spcAft>
                <a:spcPts val="0"/>
              </a:spcAft>
              <a:buSzPts val="1800"/>
              <a:buChar char="●"/>
            </a:pPr>
            <a:r>
              <a:rPr lang="it"/>
              <a:t>io::Error contiene:</a:t>
            </a:r>
            <a:endParaRPr/>
          </a:p>
          <a:p>
            <a:pPr indent="-317500" lvl="1" marL="914400" rtl="0" algn="l">
              <a:spcBef>
                <a:spcPts val="0"/>
              </a:spcBef>
              <a:spcAft>
                <a:spcPts val="0"/>
              </a:spcAft>
              <a:buSzPts val="1400"/>
              <a:buChar char="○"/>
            </a:pPr>
            <a:r>
              <a:rPr lang="it"/>
              <a:t>Un valore </a:t>
            </a:r>
            <a:r>
              <a:rPr b="1" lang="it">
                <a:solidFill>
                  <a:srgbClr val="0B5394"/>
                </a:solidFill>
                <a:latin typeface="Consolas"/>
                <a:ea typeface="Consolas"/>
                <a:cs typeface="Consolas"/>
                <a:sym typeface="Consolas"/>
              </a:rPr>
              <a:t>ErrorKind</a:t>
            </a:r>
            <a:r>
              <a:rPr lang="it"/>
              <a:t>, utile per classificare l’errore</a:t>
            </a:r>
            <a:endParaRPr/>
          </a:p>
          <a:p>
            <a:pPr indent="-317500" lvl="1" marL="914400" rtl="0" algn="l">
              <a:spcBef>
                <a:spcPts val="0"/>
              </a:spcBef>
              <a:spcAft>
                <a:spcPts val="0"/>
              </a:spcAft>
              <a:buSzPts val="1400"/>
              <a:buChar char="○"/>
            </a:pPr>
            <a:r>
              <a:rPr lang="it"/>
              <a:t>Informazioni aggiuntive dipendenti dalla piattaforma</a:t>
            </a:r>
            <a:endParaRPr/>
          </a:p>
          <a:p>
            <a:pPr indent="-342900" lvl="0" marL="457200" rtl="0" algn="l">
              <a:spcBef>
                <a:spcPts val="0"/>
              </a:spcBef>
              <a:spcAft>
                <a:spcPts val="0"/>
              </a:spcAft>
              <a:buSzPts val="1800"/>
              <a:buChar char="●"/>
            </a:pPr>
            <a:r>
              <a:rPr lang="it"/>
              <a:t>In molti casi, il comportamento corretto è propagare l’errore con </a:t>
            </a:r>
            <a:r>
              <a:rPr b="1" lang="it">
                <a:solidFill>
                  <a:srgbClr val="0B5394"/>
                </a:solidFill>
                <a:latin typeface="Consolas"/>
                <a:ea typeface="Consolas"/>
                <a:cs typeface="Consolas"/>
                <a:sym typeface="Consolas"/>
              </a:rPr>
              <a:t>?</a:t>
            </a:r>
            <a:r>
              <a:rPr lang="it"/>
              <a:t> </a:t>
            </a:r>
            <a:endParaRPr/>
          </a:p>
          <a:p>
            <a:pPr indent="-317500" lvl="1" marL="914400" rtl="0" algn="l">
              <a:spcBef>
                <a:spcPts val="0"/>
              </a:spcBef>
              <a:spcAft>
                <a:spcPts val="0"/>
              </a:spcAft>
              <a:buSzPts val="1400"/>
              <a:buChar char="○"/>
            </a:pPr>
            <a:r>
              <a:rPr lang="it"/>
              <a:t>In alternativa, occorre gestire esplicitamente i casi recuperabili</a:t>
            </a:r>
            <a:endParaRPr/>
          </a:p>
          <a:p>
            <a:pPr indent="-342900" lvl="0" marL="457200" rtl="0" algn="l">
              <a:spcBef>
                <a:spcPts val="0"/>
              </a:spcBef>
              <a:spcAft>
                <a:spcPts val="0"/>
              </a:spcAft>
              <a:buSzPts val="1800"/>
              <a:buChar char="●"/>
            </a:pPr>
            <a:r>
              <a:rPr lang="it"/>
              <a:t>Un errore di I/O non implica sempre una condizione fatale:</a:t>
            </a:r>
            <a:endParaRPr/>
          </a:p>
          <a:p>
            <a:pPr indent="-317500" lvl="1" marL="914400" rtl="0" algn="l">
              <a:spcBef>
                <a:spcPts val="0"/>
              </a:spcBef>
              <a:spcAft>
                <a:spcPts val="0"/>
              </a:spcAft>
              <a:buSzPts val="1400"/>
              <a:buChar char="○"/>
            </a:pPr>
            <a:r>
              <a:rPr lang="it"/>
              <a:t>Alcune operazioni possono essere semplicemente ritentate</a:t>
            </a:r>
            <a:endParaRPr/>
          </a:p>
          <a:p>
            <a:pPr indent="-317500" lvl="1" marL="914400" rtl="0" algn="l">
              <a:spcBef>
                <a:spcPts val="0"/>
              </a:spcBef>
              <a:spcAft>
                <a:spcPts val="0"/>
              </a:spcAft>
              <a:buSzPts val="1400"/>
              <a:buChar char="○"/>
            </a:pPr>
            <a:r>
              <a:rPr lang="it"/>
              <a:t>Altre indicano fine input, permessi insufficienti o dati non validi</a:t>
            </a:r>
            <a:endParaRPr/>
          </a:p>
        </p:txBody>
      </p:sp>
      <p:sp>
        <p:nvSpPr>
          <p:cNvPr id="452" name="Google Shape;452;p7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ErrorKind: casi comuni e strategie</a:t>
            </a:r>
            <a:endParaRPr/>
          </a:p>
        </p:txBody>
      </p:sp>
      <p:sp>
        <p:nvSpPr>
          <p:cNvPr id="458" name="Google Shape;458;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ErrorKind::Interrupted</a:t>
            </a:r>
            <a:r>
              <a:rPr lang="it"/>
              <a:t> </a:t>
            </a:r>
            <a:endParaRPr/>
          </a:p>
          <a:p>
            <a:pPr indent="-317500" lvl="1" marL="914400" rtl="0" algn="l">
              <a:spcBef>
                <a:spcPts val="0"/>
              </a:spcBef>
              <a:spcAft>
                <a:spcPts val="0"/>
              </a:spcAft>
              <a:buSzPts val="1400"/>
              <a:buChar char="○"/>
            </a:pPr>
            <a:r>
              <a:rPr lang="it"/>
              <a:t>Operazione interrotta, generalmente ritentabile</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ErrorKind::NotFound</a:t>
            </a:r>
            <a:r>
              <a:rPr lang="it"/>
              <a:t> </a:t>
            </a:r>
            <a:endParaRPr/>
          </a:p>
          <a:p>
            <a:pPr indent="-317500" lvl="1" marL="914400" rtl="0" algn="l">
              <a:spcBef>
                <a:spcPts val="0"/>
              </a:spcBef>
              <a:spcAft>
                <a:spcPts val="0"/>
              </a:spcAft>
              <a:buSzPts val="1400"/>
              <a:buChar char="○"/>
            </a:pPr>
            <a:r>
              <a:rPr lang="it"/>
              <a:t>File o percorso assente</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ErrorKind::PermissionDenied</a:t>
            </a:r>
            <a:r>
              <a:rPr lang="it"/>
              <a:t> </a:t>
            </a:r>
            <a:endParaRPr/>
          </a:p>
          <a:p>
            <a:pPr indent="-317500" lvl="1" marL="914400" rtl="0" algn="l">
              <a:spcBef>
                <a:spcPts val="0"/>
              </a:spcBef>
              <a:spcAft>
                <a:spcPts val="0"/>
              </a:spcAft>
              <a:buSzPts val="1400"/>
              <a:buChar char="○"/>
            </a:pPr>
            <a:r>
              <a:rPr lang="it"/>
              <a:t>Accesso negato dal sistema operativo</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ErrorKind::UnexpectedEof</a:t>
            </a:r>
            <a:r>
              <a:rPr lang="it"/>
              <a:t> </a:t>
            </a:r>
            <a:endParaRPr/>
          </a:p>
          <a:p>
            <a:pPr indent="-317500" lvl="1" marL="914400" rtl="0" algn="l">
              <a:spcBef>
                <a:spcPts val="0"/>
              </a:spcBef>
              <a:spcAft>
                <a:spcPts val="0"/>
              </a:spcAft>
              <a:buSzPts val="1400"/>
              <a:buChar char="○"/>
            </a:pPr>
            <a:r>
              <a:rPr lang="it"/>
              <a:t>Fine del flusso raggiunta prima del previsto</a:t>
            </a:r>
            <a:endParaRPr/>
          </a:p>
          <a:p>
            <a:pPr indent="-317500" lvl="1" marL="914400" rtl="0" algn="l">
              <a:spcBef>
                <a:spcPts val="0"/>
              </a:spcBef>
              <a:spcAft>
                <a:spcPts val="0"/>
              </a:spcAft>
              <a:buSzPts val="1400"/>
              <a:buChar char="○"/>
            </a:pPr>
            <a:r>
              <a:rPr lang="it"/>
              <a:t>Tipicamente restituito da </a:t>
            </a:r>
            <a:r>
              <a:rPr b="1" lang="it">
                <a:solidFill>
                  <a:srgbClr val="0B5394"/>
                </a:solidFill>
                <a:latin typeface="Consolas"/>
                <a:ea typeface="Consolas"/>
                <a:cs typeface="Consolas"/>
                <a:sym typeface="Consolas"/>
              </a:rPr>
              <a:t>read_exact(…)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ErrorKind::InvalidData</a:t>
            </a:r>
            <a:r>
              <a:rPr lang="it"/>
              <a:t> </a:t>
            </a:r>
            <a:endParaRPr/>
          </a:p>
          <a:p>
            <a:pPr indent="-317500" lvl="1" marL="914400" rtl="0" algn="l">
              <a:spcBef>
                <a:spcPts val="0"/>
              </a:spcBef>
              <a:spcAft>
                <a:spcPts val="0"/>
              </a:spcAft>
              <a:buSzPts val="1400"/>
              <a:buChar char="○"/>
            </a:pPr>
            <a:r>
              <a:rPr lang="it"/>
              <a:t>Dati letti non validi per l’interpretazione richiesta, </a:t>
            </a:r>
            <a:br>
              <a:rPr lang="it"/>
            </a:br>
            <a:r>
              <a:rPr lang="it"/>
              <a:t>ad esempio testo non in formato valido UTF-8</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ErrorKind::AlreadyExists</a:t>
            </a:r>
            <a:r>
              <a:rPr lang="it"/>
              <a:t> </a:t>
            </a:r>
            <a:endParaRPr/>
          </a:p>
          <a:p>
            <a:pPr indent="-317500" lvl="1" marL="914400" rtl="0" algn="l">
              <a:spcBef>
                <a:spcPts val="0"/>
              </a:spcBef>
              <a:spcAft>
                <a:spcPts val="0"/>
              </a:spcAft>
              <a:buSzPts val="1400"/>
              <a:buChar char="○"/>
            </a:pPr>
            <a:r>
              <a:rPr lang="it"/>
              <a:t>Risorsa già esistente quando era richiesta creazione esclusiva</a:t>
            </a:r>
            <a:endParaRPr/>
          </a:p>
        </p:txBody>
      </p:sp>
      <p:sp>
        <p:nvSpPr>
          <p:cNvPr id="459" name="Google Shape;459;p76"/>
          <p:cNvSpPr txBox="1"/>
          <p:nvPr/>
        </p:nvSpPr>
        <p:spPr>
          <a:xfrm>
            <a:off x="5130600" y="1152475"/>
            <a:ext cx="3701700" cy="25860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300">
                <a:solidFill>
                  <a:schemeClr val="dk2"/>
                </a:solidFill>
                <a:latin typeface="Consolas"/>
                <a:ea typeface="Consolas"/>
                <a:cs typeface="Consolas"/>
                <a:sym typeface="Consolas"/>
              </a:rPr>
              <a:t>use std::io::ErrorKind::Interrupted;</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match reader.read(&amp;mut buf)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Err(e)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if e.kind() == Interrupted =&gt; {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 ritenta */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Err(e) =&gt; return Err(e),</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Ok(n) =&gt; {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 usa i primi n byte */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a:t>
            </a:r>
            <a:endParaRPr b="1" sz="1300">
              <a:solidFill>
                <a:schemeClr val="dk2"/>
              </a:solidFill>
              <a:latin typeface="Consolas"/>
              <a:ea typeface="Consolas"/>
              <a:cs typeface="Consolas"/>
              <a:sym typeface="Consolas"/>
            </a:endParaRPr>
          </a:p>
        </p:txBody>
      </p:sp>
      <p:sp>
        <p:nvSpPr>
          <p:cNvPr id="460" name="Google Shape;460;p7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Buone pratiche</a:t>
            </a:r>
            <a:endParaRPr/>
          </a:p>
        </p:txBody>
      </p:sp>
      <p:sp>
        <p:nvSpPr>
          <p:cNvPr id="466" name="Google Shape;466;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a:t>
            </a:r>
            <a:r>
              <a:rPr lang="it"/>
              <a:t>sare </a:t>
            </a:r>
            <a:r>
              <a:rPr b="1" lang="it">
                <a:solidFill>
                  <a:srgbClr val="0B5394"/>
                </a:solidFill>
                <a:latin typeface="Consolas"/>
                <a:ea typeface="Consolas"/>
                <a:cs typeface="Consolas"/>
                <a:sym typeface="Consolas"/>
              </a:rPr>
              <a:t>read_to_string(…)</a:t>
            </a:r>
            <a:r>
              <a:rPr lang="it"/>
              <a:t> solo per file testuali e non troppo grandi</a:t>
            </a:r>
            <a:endParaRPr/>
          </a:p>
          <a:p>
            <a:pPr indent="-342900" lvl="0" marL="457200" rtl="0" algn="l">
              <a:spcBef>
                <a:spcPts val="0"/>
              </a:spcBef>
              <a:spcAft>
                <a:spcPts val="0"/>
              </a:spcAft>
              <a:buSzPts val="1800"/>
              <a:buChar char="●"/>
            </a:pPr>
            <a:r>
              <a:rPr lang="it"/>
              <a:t>Usare </a:t>
            </a:r>
            <a:r>
              <a:rPr b="1" lang="it">
                <a:solidFill>
                  <a:srgbClr val="0B5394"/>
                </a:solidFill>
                <a:latin typeface="Consolas"/>
                <a:ea typeface="Consolas"/>
                <a:cs typeface="Consolas"/>
                <a:sym typeface="Consolas"/>
              </a:rPr>
              <a:t>BufReader</a:t>
            </a:r>
            <a:r>
              <a:rPr lang="it"/>
              <a:t> per letture piccole/frequenti</a:t>
            </a:r>
            <a:endParaRPr/>
          </a:p>
          <a:p>
            <a:pPr indent="-342900" lvl="0" marL="457200" rtl="0" algn="l">
              <a:spcBef>
                <a:spcPts val="0"/>
              </a:spcBef>
              <a:spcAft>
                <a:spcPts val="0"/>
              </a:spcAft>
              <a:buSzPts val="1800"/>
              <a:buChar char="●"/>
            </a:pPr>
            <a:r>
              <a:rPr lang="it"/>
              <a:t>Ricordare che </a:t>
            </a:r>
            <a:r>
              <a:rPr b="1" lang="it">
                <a:solidFill>
                  <a:srgbClr val="0B5394"/>
                </a:solidFill>
                <a:latin typeface="Consolas"/>
                <a:ea typeface="Consolas"/>
                <a:cs typeface="Consolas"/>
                <a:sym typeface="Consolas"/>
              </a:rPr>
              <a:t>read</a:t>
            </a:r>
            <a:r>
              <a:rPr b="1" lang="it">
                <a:solidFill>
                  <a:srgbClr val="0B5394"/>
                </a:solidFill>
                <a:latin typeface="Consolas"/>
                <a:ea typeface="Consolas"/>
                <a:cs typeface="Consolas"/>
                <a:sym typeface="Consolas"/>
              </a:rPr>
              <a:t>(…)</a:t>
            </a:r>
            <a:r>
              <a:rPr lang="it"/>
              <a:t> e </a:t>
            </a:r>
            <a:r>
              <a:rPr b="1" lang="it">
                <a:solidFill>
                  <a:srgbClr val="0B5394"/>
                </a:solidFill>
                <a:latin typeface="Consolas"/>
                <a:ea typeface="Consolas"/>
                <a:cs typeface="Consolas"/>
                <a:sym typeface="Consolas"/>
              </a:rPr>
              <a:t>write</a:t>
            </a:r>
            <a:r>
              <a:rPr b="1" lang="it">
                <a:solidFill>
                  <a:srgbClr val="0B5394"/>
                </a:solidFill>
                <a:latin typeface="Consolas"/>
                <a:ea typeface="Consolas"/>
                <a:cs typeface="Consolas"/>
                <a:sym typeface="Consolas"/>
              </a:rPr>
              <a:t>(…)</a:t>
            </a:r>
            <a:r>
              <a:rPr lang="it"/>
              <a:t> possono essere parziali</a:t>
            </a:r>
            <a:endParaRPr/>
          </a:p>
          <a:p>
            <a:pPr indent="-342900" lvl="0" marL="457200" rtl="0" algn="l">
              <a:spcBef>
                <a:spcPts val="0"/>
              </a:spcBef>
              <a:spcAft>
                <a:spcPts val="0"/>
              </a:spcAft>
              <a:buSzPts val="1800"/>
              <a:buChar char="●"/>
            </a:pPr>
            <a:r>
              <a:rPr lang="it"/>
              <a:t>Usare </a:t>
            </a:r>
            <a:r>
              <a:rPr b="1" lang="it">
                <a:solidFill>
                  <a:srgbClr val="0B5394"/>
                </a:solidFill>
                <a:latin typeface="Consolas"/>
                <a:ea typeface="Consolas"/>
                <a:cs typeface="Consolas"/>
                <a:sym typeface="Consolas"/>
              </a:rPr>
              <a:t>write_all</a:t>
            </a:r>
            <a:r>
              <a:rPr b="1" lang="it">
                <a:solidFill>
                  <a:srgbClr val="0B5394"/>
                </a:solidFill>
                <a:latin typeface="Consolas"/>
                <a:ea typeface="Consolas"/>
                <a:cs typeface="Consolas"/>
                <a:sym typeface="Consolas"/>
              </a:rPr>
              <a:t>(…)</a:t>
            </a:r>
            <a:r>
              <a:rPr lang="it"/>
              <a:t> quando si vuole trasferire tutto il buffer</a:t>
            </a:r>
            <a:endParaRPr/>
          </a:p>
          <a:p>
            <a:pPr indent="-342900" lvl="0" marL="457200" rtl="0" algn="l">
              <a:spcBef>
                <a:spcPts val="0"/>
              </a:spcBef>
              <a:spcAft>
                <a:spcPts val="0"/>
              </a:spcAft>
              <a:buSzPts val="1800"/>
              <a:buChar char="●"/>
            </a:pPr>
            <a:r>
              <a:rPr lang="it"/>
              <a:t>Usare </a:t>
            </a:r>
            <a:r>
              <a:rPr b="1" lang="it">
                <a:solidFill>
                  <a:srgbClr val="0B5394"/>
                </a:solidFill>
                <a:latin typeface="Consolas"/>
                <a:ea typeface="Consolas"/>
                <a:cs typeface="Consolas"/>
                <a:sym typeface="Consolas"/>
              </a:rPr>
              <a:t>OpenOptions</a:t>
            </a:r>
            <a:r>
              <a:rPr lang="it"/>
              <a:t> per semantiche di apertura esplicite</a:t>
            </a:r>
            <a:endParaRPr/>
          </a:p>
          <a:p>
            <a:pPr indent="-342900" lvl="0" marL="457200" rtl="0" algn="l">
              <a:spcBef>
                <a:spcPts val="0"/>
              </a:spcBef>
              <a:spcAft>
                <a:spcPts val="0"/>
              </a:spcAft>
              <a:buSzPts val="1800"/>
              <a:buChar char="●"/>
            </a:pPr>
            <a:r>
              <a:rPr lang="it"/>
              <a:t>Non assumere che comportamento di cambio nome/rimozione sia identico su tutte le piattaforme</a:t>
            </a:r>
            <a:endParaRPr/>
          </a:p>
        </p:txBody>
      </p:sp>
      <p:sp>
        <p:nvSpPr>
          <p:cNvPr id="467" name="Google Shape;467;p7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Lettura e scrittura di contenuti strutturati</a:t>
            </a:r>
            <a:endParaRPr/>
          </a:p>
        </p:txBody>
      </p:sp>
      <p:sp>
        <p:nvSpPr>
          <p:cNvPr id="473" name="Google Shape;473;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Sebbene sia possibile operare a livello di singoli byte/caratteri e ricostruire un dato strutturato a partire dai suoi componenti elementari, spesso è poco conveniente farlo</a:t>
            </a:r>
            <a:endParaRPr/>
          </a:p>
          <a:p>
            <a:pPr indent="-317500" lvl="1" marL="914400" marR="0" rtl="0" algn="l">
              <a:lnSpc>
                <a:spcPct val="115000"/>
              </a:lnSpc>
              <a:spcBef>
                <a:spcPts val="0"/>
              </a:spcBef>
              <a:spcAft>
                <a:spcPts val="0"/>
              </a:spcAft>
              <a:buSzPts val="1400"/>
              <a:buChar char="○"/>
            </a:pPr>
            <a:r>
              <a:rPr lang="it"/>
              <a:t>Rust mette a disposizione il framework </a:t>
            </a:r>
            <a:r>
              <a:rPr b="1" lang="it">
                <a:solidFill>
                  <a:srgbClr val="0B5394"/>
                </a:solidFill>
                <a:latin typeface="Consolas"/>
                <a:ea typeface="Consolas"/>
                <a:cs typeface="Consolas"/>
                <a:sym typeface="Consolas"/>
              </a:rPr>
              <a:t>Serde</a:t>
            </a:r>
            <a:r>
              <a:rPr lang="it"/>
              <a:t> il cui scopo è generare implementazioni efficienti di funzioni di serializzazione e deserializzazione di strutture dati arbitrarie verso formati standard quali </a:t>
            </a:r>
            <a:r>
              <a:rPr b="1" lang="it">
                <a:solidFill>
                  <a:srgbClr val="0B5394"/>
                </a:solidFill>
                <a:latin typeface="Consolas"/>
                <a:ea typeface="Consolas"/>
                <a:cs typeface="Consolas"/>
                <a:sym typeface="Consolas"/>
              </a:rPr>
              <a:t>JSON</a:t>
            </a:r>
            <a:r>
              <a:rPr lang="it"/>
              <a:t>, </a:t>
            </a:r>
            <a:r>
              <a:rPr b="1" lang="it">
                <a:solidFill>
                  <a:srgbClr val="0B5394"/>
                </a:solidFill>
                <a:latin typeface="Consolas"/>
                <a:ea typeface="Consolas"/>
                <a:cs typeface="Consolas"/>
                <a:sym typeface="Consolas"/>
              </a:rPr>
              <a:t>CSV</a:t>
            </a:r>
            <a:r>
              <a:rPr lang="it"/>
              <a:t>, </a:t>
            </a:r>
            <a:r>
              <a:rPr b="1" lang="it">
                <a:solidFill>
                  <a:srgbClr val="0B5394"/>
                </a:solidFill>
                <a:latin typeface="Consolas"/>
                <a:ea typeface="Consolas"/>
                <a:cs typeface="Consolas"/>
                <a:sym typeface="Consolas"/>
              </a:rPr>
              <a:t>Avro</a:t>
            </a:r>
            <a:r>
              <a:rPr lang="it"/>
              <a:t>, </a:t>
            </a:r>
            <a:r>
              <a:rPr b="1" lang="it">
                <a:solidFill>
                  <a:srgbClr val="0B5394"/>
                </a:solidFill>
                <a:latin typeface="Consolas"/>
                <a:ea typeface="Consolas"/>
                <a:cs typeface="Consolas"/>
                <a:sym typeface="Consolas"/>
              </a:rPr>
              <a:t>BSON</a:t>
            </a:r>
            <a:r>
              <a:rPr lang="it"/>
              <a:t>, </a:t>
            </a:r>
            <a:r>
              <a:rPr b="1" lang="it">
                <a:solidFill>
                  <a:srgbClr val="0B5394"/>
                </a:solidFill>
                <a:latin typeface="Consolas"/>
                <a:ea typeface="Consolas"/>
                <a:cs typeface="Consolas"/>
                <a:sym typeface="Consolas"/>
              </a:rPr>
              <a:t>YML</a:t>
            </a:r>
            <a:r>
              <a:rPr lang="it"/>
              <a:t> e altri</a:t>
            </a:r>
            <a:endParaRPr/>
          </a:p>
          <a:p>
            <a:pPr indent="-317500" lvl="1" marL="914400" rtl="0" algn="l">
              <a:spcBef>
                <a:spcPts val="0"/>
              </a:spcBef>
              <a:spcAft>
                <a:spcPts val="0"/>
              </a:spcAft>
              <a:buSzPts val="1400"/>
              <a:buChar char="○"/>
            </a:pPr>
            <a:r>
              <a:rPr lang="it"/>
              <a:t>Tale framework definisce i tratti </a:t>
            </a:r>
            <a:r>
              <a:rPr b="1" lang="it">
                <a:solidFill>
                  <a:srgbClr val="0B5394"/>
                </a:solidFill>
                <a:latin typeface="Consolas"/>
                <a:ea typeface="Consolas"/>
                <a:cs typeface="Consolas"/>
                <a:sym typeface="Consolas"/>
              </a:rPr>
              <a:t>serde::Serialize</a:t>
            </a:r>
            <a:r>
              <a:rPr lang="it"/>
              <a:t> e </a:t>
            </a:r>
            <a:r>
              <a:rPr b="1" lang="it">
                <a:solidFill>
                  <a:srgbClr val="0B5394"/>
                </a:solidFill>
                <a:latin typeface="Consolas"/>
                <a:ea typeface="Consolas"/>
                <a:cs typeface="Consolas"/>
                <a:sym typeface="Consolas"/>
              </a:rPr>
              <a:t>serde::Deserialize</a:t>
            </a:r>
            <a:r>
              <a:rPr lang="it"/>
              <a:t> che possono essere implementati dai tipi definite all'interno di un programma</a:t>
            </a:r>
            <a:endParaRPr/>
          </a:p>
          <a:p>
            <a:pPr indent="-342900" lvl="0" marL="457200" rtl="0" algn="l">
              <a:spcBef>
                <a:spcPts val="0"/>
              </a:spcBef>
              <a:spcAft>
                <a:spcPts val="0"/>
              </a:spcAft>
              <a:buSzPts val="1800"/>
              <a:buChar char="●"/>
            </a:pPr>
            <a:r>
              <a:rPr lang="it"/>
              <a:t>Serde offre un'implementazione predefinita per la serializzazione dei tipi elementari e di alcuni tipi della libreria standard</a:t>
            </a:r>
            <a:endParaRPr/>
          </a:p>
          <a:p>
            <a:pPr indent="-317500" lvl="1" marL="914400" marR="0" rtl="0" algn="l">
              <a:lnSpc>
                <a:spcPct val="115000"/>
              </a:lnSpc>
              <a:spcBef>
                <a:spcPts val="0"/>
              </a:spcBef>
              <a:spcAft>
                <a:spcPts val="0"/>
              </a:spcAft>
              <a:buSzPts val="1400"/>
              <a:buChar char="○"/>
            </a:pPr>
            <a:r>
              <a:rPr b="1" lang="it">
                <a:solidFill>
                  <a:srgbClr val="0B5394"/>
                </a:solidFill>
                <a:latin typeface="Consolas"/>
                <a:ea typeface="Consolas"/>
                <a:cs typeface="Consolas"/>
                <a:sym typeface="Consolas"/>
              </a:rPr>
              <a:t>String</a:t>
            </a:r>
            <a:r>
              <a:rPr lang="it"/>
              <a:t>, </a:t>
            </a:r>
            <a:r>
              <a:rPr b="1" lang="it">
                <a:solidFill>
                  <a:srgbClr val="0B5394"/>
                </a:solidFill>
                <a:latin typeface="Consolas"/>
                <a:ea typeface="Consolas"/>
                <a:cs typeface="Consolas"/>
                <a:sym typeface="Consolas"/>
              </a:rPr>
              <a:t>&amp;str</a:t>
            </a:r>
            <a:r>
              <a:rPr lang="it"/>
              <a:t>,</a:t>
            </a:r>
            <a:r>
              <a:rPr b="1" lang="it">
                <a:solidFill>
                  <a:srgbClr val="0B5394"/>
                </a:solidFill>
                <a:latin typeface="Consolas"/>
                <a:ea typeface="Consolas"/>
                <a:cs typeface="Consolas"/>
                <a:sym typeface="Consolas"/>
              </a:rPr>
              <a:t> Vec&lt;T&gt;</a:t>
            </a:r>
            <a:r>
              <a:rPr lang="it"/>
              <a:t>, </a:t>
            </a:r>
            <a:r>
              <a:rPr b="1" lang="it">
                <a:solidFill>
                  <a:srgbClr val="0B5394"/>
                </a:solidFill>
                <a:latin typeface="Consolas"/>
                <a:ea typeface="Consolas"/>
                <a:cs typeface="Consolas"/>
                <a:sym typeface="Consolas"/>
              </a:rPr>
              <a:t>HashMap&lt;K,V&gt;</a:t>
            </a:r>
            <a:r>
              <a:rPr lang="it"/>
              <a:t>, …  </a:t>
            </a:r>
            <a:endParaRPr/>
          </a:p>
          <a:p>
            <a:pPr indent="-317500" lvl="1" marL="914400" marR="0" rtl="0" algn="l">
              <a:lnSpc>
                <a:spcPct val="115000"/>
              </a:lnSpc>
              <a:spcBef>
                <a:spcPts val="0"/>
              </a:spcBef>
              <a:spcAft>
                <a:spcPts val="0"/>
              </a:spcAft>
              <a:buSzPts val="1400"/>
              <a:buChar char="○"/>
            </a:pPr>
            <a:r>
              <a:rPr lang="it"/>
              <a:t>Supporta inoltra la macro </a:t>
            </a:r>
            <a:r>
              <a:rPr b="1" lang="it">
                <a:solidFill>
                  <a:srgbClr val="0B5394"/>
                </a:solidFill>
                <a:latin typeface="Consolas"/>
                <a:ea typeface="Consolas"/>
                <a:cs typeface="Consolas"/>
                <a:sym typeface="Consolas"/>
              </a:rPr>
              <a:t>#[derive(Serialize, Deserialize)]</a:t>
            </a:r>
            <a:r>
              <a:rPr lang="it"/>
              <a:t> per generare, in fase di compilazione, l'implementazione dei tratti corrispondenti, a condizione che la struttura dati cui tale macro è applicata non contenga elementi "patologici"</a:t>
            </a:r>
            <a:endParaRPr/>
          </a:p>
        </p:txBody>
      </p:sp>
      <p:sp>
        <p:nvSpPr>
          <p:cNvPr id="474" name="Google Shape;474;p7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Uso del framework Serde</a:t>
            </a:r>
            <a:endParaRPr/>
          </a:p>
        </p:txBody>
      </p:sp>
      <p:sp>
        <p:nvSpPr>
          <p:cNvPr id="480" name="Google Shape;480;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Si inseriscono, nel file cargo.toml, le dipendenze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serde = { version = "1", features = ["derive"] }</a:t>
            </a:r>
            <a:r>
              <a:rPr lang="it"/>
              <a:t> </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serde_json = "1"</a:t>
            </a:r>
            <a:r>
              <a:rPr lang="it"/>
              <a:t> </a:t>
            </a:r>
            <a:endParaRPr/>
          </a:p>
          <a:p>
            <a:pPr indent="-342900" lvl="0" marL="457200" rtl="0" algn="l">
              <a:spcBef>
                <a:spcPts val="0"/>
              </a:spcBef>
              <a:spcAft>
                <a:spcPts val="0"/>
              </a:spcAft>
              <a:buSzPts val="1800"/>
              <a:buChar char="●"/>
            </a:pPr>
            <a:r>
              <a:rPr lang="it"/>
              <a:t>La seconda indica il tipo di formato da generare/leggere</a:t>
            </a:r>
            <a:endParaRPr/>
          </a:p>
          <a:p>
            <a:pPr indent="-317500" lvl="1" marL="914400" rtl="0" algn="l">
              <a:spcBef>
                <a:spcPts val="0"/>
              </a:spcBef>
              <a:spcAft>
                <a:spcPts val="0"/>
              </a:spcAft>
              <a:buSzPts val="1400"/>
              <a:buChar char="○"/>
            </a:pPr>
            <a:r>
              <a:rPr lang="it"/>
              <a:t>In alternativa, è possibile indicare un altro sotto-progetto compatibile come </a:t>
            </a:r>
            <a:r>
              <a:rPr b="1" lang="it">
                <a:solidFill>
                  <a:srgbClr val="0B5394"/>
                </a:solidFill>
                <a:latin typeface="Consolas"/>
                <a:ea typeface="Consolas"/>
                <a:cs typeface="Consolas"/>
                <a:sym typeface="Consolas"/>
              </a:rPr>
              <a:t>csv = "1.3"</a:t>
            </a:r>
            <a:r>
              <a:rPr lang="it"/>
              <a:t> o </a:t>
            </a:r>
            <a:r>
              <a:rPr b="1" lang="it">
                <a:solidFill>
                  <a:srgbClr val="0B5394"/>
                </a:solidFill>
                <a:latin typeface="Consolas"/>
                <a:ea typeface="Consolas"/>
                <a:cs typeface="Consolas"/>
                <a:sym typeface="Consolas"/>
              </a:rPr>
              <a:t>bson = "2.9"</a:t>
            </a:r>
            <a:r>
              <a:rPr lang="it"/>
              <a:t> </a:t>
            </a:r>
            <a:endParaRPr/>
          </a:p>
          <a:p>
            <a:pPr indent="-342900" lvl="0" marL="457200" rtl="0" algn="l">
              <a:spcBef>
                <a:spcPts val="0"/>
              </a:spcBef>
              <a:spcAft>
                <a:spcPts val="0"/>
              </a:spcAft>
              <a:buSzPts val="1800"/>
              <a:buChar char="●"/>
            </a:pPr>
            <a:r>
              <a:rPr lang="it"/>
              <a:t>Si decora la struttura dati da leggere con la marco </a:t>
            </a:r>
            <a:r>
              <a:rPr b="1" lang="it">
                <a:solidFill>
                  <a:srgbClr val="0B5394"/>
                </a:solidFill>
              </a:rPr>
              <a:t>#[derive(...)]</a:t>
            </a:r>
            <a:r>
              <a:rPr lang="it"/>
              <a:t> </a:t>
            </a:r>
            <a:endParaRPr/>
          </a:p>
        </p:txBody>
      </p:sp>
      <p:sp>
        <p:nvSpPr>
          <p:cNvPr id="481" name="Google Shape;481;p7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82" name="Google Shape;482;p79"/>
          <p:cNvSpPr txBox="1"/>
          <p:nvPr/>
        </p:nvSpPr>
        <p:spPr>
          <a:xfrm>
            <a:off x="1177900" y="3227675"/>
            <a:ext cx="6690900" cy="14775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a:solidFill>
                  <a:schemeClr val="dk2"/>
                </a:solidFill>
                <a:highlight>
                  <a:schemeClr val="accent6"/>
                </a:highlight>
                <a:latin typeface="Consolas"/>
                <a:ea typeface="Consolas"/>
                <a:cs typeface="Consolas"/>
                <a:sym typeface="Consolas"/>
              </a:rPr>
              <a:t>#[derive(Serialize, Deserialize, Debug)]</a:t>
            </a:r>
            <a:endParaRPr b="1">
              <a:solidFill>
                <a:schemeClr val="dk2"/>
              </a:solidFill>
              <a:highlight>
                <a:schemeClr val="accent6"/>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2"/>
                </a:solidFill>
                <a:latin typeface="Consolas"/>
                <a:ea typeface="Consolas"/>
                <a:cs typeface="Consolas"/>
                <a:sym typeface="Consolas"/>
              </a:rPr>
              <a:t>struct Data {</a:t>
            </a:r>
            <a:endParaRPr b="1">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2"/>
                </a:solidFill>
                <a:latin typeface="Consolas"/>
                <a:ea typeface="Consolas"/>
                <a:cs typeface="Consolas"/>
                <a:sym typeface="Consolas"/>
              </a:rPr>
              <a:t>    name: String,</a:t>
            </a:r>
            <a:endParaRPr b="1">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2"/>
                </a:solidFill>
                <a:latin typeface="Consolas"/>
                <a:ea typeface="Consolas"/>
                <a:cs typeface="Consolas"/>
                <a:sym typeface="Consolas"/>
              </a:rPr>
              <a:t>    data: Vec&lt;u8&gt;,</a:t>
            </a:r>
            <a:endParaRPr b="1">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a:solidFill>
                  <a:schemeClr val="dk2"/>
                </a:solidFill>
                <a:latin typeface="Consolas"/>
                <a:ea typeface="Consolas"/>
                <a:cs typeface="Consolas"/>
                <a:sym typeface="Consolas"/>
              </a:rPr>
              <a:t>    attributes: HashMap&lt;String, String&gt;,</a:t>
            </a:r>
            <a:endParaRPr b="1">
              <a:solidFill>
                <a:schemeClr val="dk2"/>
              </a:solidFill>
              <a:latin typeface="Consolas"/>
              <a:ea typeface="Consolas"/>
              <a:cs typeface="Consolas"/>
              <a:sym typeface="Consolas"/>
            </a:endParaRPr>
          </a:p>
          <a:p>
            <a:pPr indent="0" lvl="0" marL="0" rtl="0" algn="l">
              <a:spcBef>
                <a:spcPts val="0"/>
              </a:spcBef>
              <a:spcAft>
                <a:spcPts val="0"/>
              </a:spcAft>
              <a:buNone/>
            </a:pPr>
            <a:r>
              <a:rPr b="1" lang="it">
                <a:solidFill>
                  <a:schemeClr val="dk2"/>
                </a:solidFill>
                <a:latin typeface="Consolas"/>
                <a:ea typeface="Consolas"/>
                <a:cs typeface="Consolas"/>
                <a:sym typeface="Consolas"/>
              </a:rPr>
              <a:t>}</a:t>
            </a:r>
            <a:endParaRPr b="1">
              <a:solidFill>
                <a:schemeClr val="dk2"/>
              </a:solidFill>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Uso del framework Serde</a:t>
            </a:r>
            <a:endParaRPr/>
          </a:p>
        </p:txBody>
      </p:sp>
      <p:sp>
        <p:nvSpPr>
          <p:cNvPr id="488" name="Google Shape;488;p8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89" name="Google Shape;489;p80"/>
          <p:cNvSpPr txBox="1"/>
          <p:nvPr/>
        </p:nvSpPr>
        <p:spPr>
          <a:xfrm>
            <a:off x="311700" y="1137925"/>
            <a:ext cx="4179000" cy="27861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sz="1300">
                <a:solidFill>
                  <a:schemeClr val="dk2"/>
                </a:solidFill>
                <a:latin typeface="Consolas"/>
                <a:ea typeface="Consolas"/>
                <a:cs typeface="Consolas"/>
                <a:sym typeface="Consolas"/>
              </a:rPr>
              <a:t>fn </a:t>
            </a:r>
            <a:r>
              <a:rPr b="1" lang="it" sz="1300">
                <a:solidFill>
                  <a:schemeClr val="dk2"/>
                </a:solidFill>
                <a:highlight>
                  <a:schemeClr val="accent6"/>
                </a:highlight>
                <a:latin typeface="Consolas"/>
                <a:ea typeface="Consolas"/>
                <a:cs typeface="Consolas"/>
                <a:sym typeface="Consolas"/>
              </a:rPr>
              <a:t>save(data: &amp;Data, path: &amp;str)</a:t>
            </a:r>
            <a:r>
              <a:rPr b="1" lang="it" sz="1300">
                <a:solidFill>
                  <a:schemeClr val="dk2"/>
                </a:solidFill>
                <a:latin typeface="Consolas"/>
                <a:ea typeface="Consolas"/>
                <a:cs typeface="Consolas"/>
                <a:sym typeface="Consolas"/>
              </a:rPr>
              <a:t> -&gt;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Result&lt;()&gt;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let mut f = File::options()</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.write(true)</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.create(true)</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.truncate(true)</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.open(path)?;</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f.write(serde_json::to_string(data)?</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.as_bytes())?;</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Ok(())</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a:t>
            </a:r>
            <a:endParaRPr b="1" sz="1300">
              <a:solidFill>
                <a:schemeClr val="dk2"/>
              </a:solidFill>
              <a:latin typeface="Consolas"/>
              <a:ea typeface="Consolas"/>
              <a:cs typeface="Consolas"/>
              <a:sym typeface="Consolas"/>
            </a:endParaRPr>
          </a:p>
        </p:txBody>
      </p:sp>
      <p:sp>
        <p:nvSpPr>
          <p:cNvPr id="490" name="Google Shape;490;p80"/>
          <p:cNvSpPr txBox="1"/>
          <p:nvPr/>
        </p:nvSpPr>
        <p:spPr>
          <a:xfrm>
            <a:off x="4572000" y="1137925"/>
            <a:ext cx="4179000" cy="2786100"/>
          </a:xfrm>
          <a:prstGeom prst="rect">
            <a:avLst/>
          </a:prstGeom>
          <a:solidFill>
            <a:srgbClr val="FFF2CC"/>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fn </a:t>
            </a:r>
            <a:r>
              <a:rPr b="1" lang="it" sz="1300">
                <a:solidFill>
                  <a:schemeClr val="dk2"/>
                </a:solidFill>
                <a:highlight>
                  <a:schemeClr val="accent6"/>
                </a:highlight>
                <a:latin typeface="Consolas"/>
                <a:ea typeface="Consolas"/>
                <a:cs typeface="Consolas"/>
                <a:sym typeface="Consolas"/>
              </a:rPr>
              <a:t>load(path: &amp;str)</a:t>
            </a:r>
            <a:r>
              <a:rPr b="1" lang="it" sz="1300">
                <a:solidFill>
                  <a:schemeClr val="dk2"/>
                </a:solidFill>
                <a:latin typeface="Consolas"/>
                <a:ea typeface="Consolas"/>
                <a:cs typeface="Consolas"/>
                <a:sym typeface="Consolas"/>
              </a:rPr>
              <a:t> -&gt; Result&lt;Data&gt;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    let mut f = File::open(path)?;</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let mut s = String::new();</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f.read_to_string(&amp;mut s)?;</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300">
                <a:solidFill>
                  <a:schemeClr val="dk2"/>
                </a:solidFill>
                <a:latin typeface="Consolas"/>
                <a:ea typeface="Consolas"/>
                <a:cs typeface="Consolas"/>
                <a:sym typeface="Consolas"/>
              </a:rPr>
              <a:t>    return Ok(serde_json::from_str(&amp;s)?);</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rPr b="1" lang="it" sz="1300">
                <a:solidFill>
                  <a:schemeClr val="dk2"/>
                </a:solidFill>
                <a:latin typeface="Consolas"/>
                <a:ea typeface="Consolas"/>
                <a:cs typeface="Consolas"/>
                <a:sym typeface="Consolas"/>
              </a:rPr>
              <a:t>}</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None/>
            </a:pPr>
            <a:r>
              <a:t/>
            </a:r>
            <a:endParaRPr b="1" sz="1300">
              <a:solidFill>
                <a:schemeClr val="dk2"/>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300">
              <a:solidFill>
                <a:schemeClr val="dk2"/>
              </a:solidFill>
              <a:latin typeface="Consolas"/>
              <a:ea typeface="Consolas"/>
              <a:cs typeface="Consolas"/>
              <a:sym typeface="Consolas"/>
            </a:endParaRPr>
          </a:p>
        </p:txBody>
      </p:sp>
      <p:sp>
        <p:nvSpPr>
          <p:cNvPr id="491" name="Google Shape;491;p80"/>
          <p:cNvSpPr txBox="1"/>
          <p:nvPr/>
        </p:nvSpPr>
        <p:spPr>
          <a:xfrm>
            <a:off x="2090700" y="4157725"/>
            <a:ext cx="4962600" cy="393600"/>
          </a:xfrm>
          <a:prstGeom prst="rect">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u="sng">
                <a:solidFill>
                  <a:schemeClr val="hlink"/>
                </a:solidFill>
                <a:latin typeface="Calibri"/>
                <a:ea typeface="Calibri"/>
                <a:cs typeface="Calibri"/>
                <a:sym typeface="Calibri"/>
                <a:hlinkClick r:id="rId3"/>
              </a:rPr>
              <a:t>https://docs.rs/serde/latest/serde/</a:t>
            </a:r>
            <a:r>
              <a:rPr lang="it"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497" name="Google Shape;497;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Reading and Writing Files in Rust</a:t>
            </a:r>
            <a:endParaRPr/>
          </a:p>
          <a:p>
            <a:pPr indent="-317500" lvl="1" marL="914400" rtl="0" algn="l">
              <a:spcBef>
                <a:spcPts val="0"/>
              </a:spcBef>
              <a:spcAft>
                <a:spcPts val="0"/>
              </a:spcAft>
              <a:buSzPts val="1400"/>
              <a:buChar char="○"/>
            </a:pPr>
            <a:r>
              <a:rPr lang="it" u="sng">
                <a:solidFill>
                  <a:schemeClr val="accent5"/>
                </a:solidFill>
                <a:hlinkClick r:id="rId3">
                  <a:extLst>
                    <a:ext uri="{A12FA001-AC4F-418D-AE19-62706E023703}">
                      <ahyp:hlinkClr val="tx"/>
                    </a:ext>
                  </a:extLst>
                </a:hlinkClick>
              </a:rPr>
              <a:t>https://rustjobs.dev/blog/reading-and-writing-files-in-rust/</a:t>
            </a:r>
            <a:r>
              <a:rPr lang="it"/>
              <a:t> </a:t>
            </a:r>
            <a:endParaRPr/>
          </a:p>
          <a:p>
            <a:pPr indent="-317500" lvl="1" marL="914400" rtl="0" algn="l">
              <a:spcBef>
                <a:spcPts val="0"/>
              </a:spcBef>
              <a:spcAft>
                <a:spcPts val="0"/>
              </a:spcAft>
              <a:buSzPts val="1400"/>
              <a:buChar char="○"/>
            </a:pPr>
            <a:r>
              <a:rPr lang="it" sz="1400"/>
              <a:t>Breve riassunto con esempi basilari per la lettura e la scrittura di file</a:t>
            </a:r>
            <a:endParaRPr sz="1400"/>
          </a:p>
          <a:p>
            <a:pPr indent="-342900" lvl="0" marL="457200" rtl="0" algn="l">
              <a:spcBef>
                <a:spcPts val="0"/>
              </a:spcBef>
              <a:spcAft>
                <a:spcPts val="0"/>
              </a:spcAft>
              <a:buSzPts val="1800"/>
              <a:buChar char="●"/>
            </a:pPr>
            <a:r>
              <a:rPr lang="it"/>
              <a:t>How to Read Files in Rust</a:t>
            </a:r>
            <a:endParaRPr/>
          </a:p>
          <a:p>
            <a:pPr indent="-317500" lvl="1" marL="914400" rtl="0" algn="l">
              <a:spcBef>
                <a:spcPts val="0"/>
              </a:spcBef>
              <a:spcAft>
                <a:spcPts val="0"/>
              </a:spcAft>
              <a:buSzPts val="1400"/>
              <a:buChar char="○"/>
            </a:pPr>
            <a:r>
              <a:rPr lang="it" u="sng">
                <a:solidFill>
                  <a:schemeClr val="hlink"/>
                </a:solidFill>
                <a:hlinkClick r:id="rId4"/>
              </a:rPr>
              <a:t>https://dev.to/oliverjumpertz/how-to-read-files-in-rust-525d</a:t>
            </a:r>
            <a:r>
              <a:rPr lang="it"/>
              <a:t> </a:t>
            </a:r>
            <a:endParaRPr/>
          </a:p>
          <a:p>
            <a:pPr indent="-317500" lvl="1" marL="914400" rtl="0" algn="l">
              <a:spcBef>
                <a:spcPts val="0"/>
              </a:spcBef>
              <a:spcAft>
                <a:spcPts val="0"/>
              </a:spcAft>
              <a:buSzPts val="1400"/>
              <a:buChar char="○"/>
            </a:pPr>
            <a:r>
              <a:rPr lang="it"/>
              <a:t>Strategie a confronto per la lettura di file</a:t>
            </a:r>
            <a:endParaRPr/>
          </a:p>
          <a:p>
            <a:pPr indent="-342900" lvl="0" marL="457200" rtl="0" algn="l">
              <a:spcBef>
                <a:spcPts val="0"/>
              </a:spcBef>
              <a:spcAft>
                <a:spcPts val="0"/>
              </a:spcAft>
              <a:buSzPts val="1800"/>
              <a:buChar char="●"/>
            </a:pPr>
            <a:r>
              <a:rPr lang="it"/>
              <a:t>Reading Large Files and Perf</a:t>
            </a:r>
            <a:endParaRPr/>
          </a:p>
          <a:p>
            <a:pPr indent="-317500" lvl="1" marL="914400" rtl="0" algn="l">
              <a:spcBef>
                <a:spcPts val="0"/>
              </a:spcBef>
              <a:spcAft>
                <a:spcPts val="0"/>
              </a:spcAft>
              <a:buSzPts val="1400"/>
              <a:buChar char="○"/>
            </a:pPr>
            <a:r>
              <a:rPr lang="it" u="sng">
                <a:solidFill>
                  <a:schemeClr val="hlink"/>
                </a:solidFill>
                <a:hlinkClick r:id="rId5"/>
              </a:rPr>
              <a:t>https://sensepost.com/blog/2023/reading-large-files-and-perf/</a:t>
            </a:r>
            <a:r>
              <a:rPr lang="it"/>
              <a:t> </a:t>
            </a:r>
            <a:endParaRPr/>
          </a:p>
          <a:p>
            <a:pPr indent="-317500" lvl="1" marL="914400" rtl="0" algn="l">
              <a:spcBef>
                <a:spcPts val="0"/>
              </a:spcBef>
              <a:spcAft>
                <a:spcPts val="0"/>
              </a:spcAft>
              <a:buSzPts val="1400"/>
              <a:buChar char="○"/>
            </a:pPr>
            <a:r>
              <a:rPr lang="it"/>
              <a:t>Analisi delle prestazioni dei diversi approcci nella lettura di file di grosse dimensioni</a:t>
            </a:r>
            <a:endParaRPr/>
          </a:p>
          <a:p>
            <a:pPr indent="-342900" lvl="0" marL="457200" rtl="0" algn="l">
              <a:spcBef>
                <a:spcPts val="0"/>
              </a:spcBef>
              <a:spcAft>
                <a:spcPts val="0"/>
              </a:spcAft>
              <a:buSzPts val="1800"/>
              <a:buChar char="●"/>
            </a:pPr>
            <a:r>
              <a:rPr lang="it"/>
              <a:t>Detail Guide to Serialization and deserialization with Serde in Rust</a:t>
            </a:r>
            <a:endParaRPr/>
          </a:p>
          <a:p>
            <a:pPr indent="-317500" lvl="1" marL="914400" rtl="0" algn="l">
              <a:spcBef>
                <a:spcPts val="0"/>
              </a:spcBef>
              <a:spcAft>
                <a:spcPts val="0"/>
              </a:spcAft>
              <a:buSzPts val="1400"/>
              <a:buChar char="○"/>
            </a:pPr>
            <a:r>
              <a:rPr lang="it" u="sng">
                <a:solidFill>
                  <a:schemeClr val="hlink"/>
                </a:solidFill>
                <a:hlinkClick r:id="rId6"/>
              </a:rPr>
              <a:t>https://medium.com/@2018.itsuki/detail-guide-to-serialization-and-deserialization-with-serde-in-rust-4fa70a6a8c4b</a:t>
            </a:r>
            <a:r>
              <a:rPr lang="it"/>
              <a:t> </a:t>
            </a:r>
            <a:endParaRPr/>
          </a:p>
          <a:p>
            <a:pPr indent="-317500" lvl="1" marL="914400" rtl="0" algn="l">
              <a:spcBef>
                <a:spcPts val="0"/>
              </a:spcBef>
              <a:spcAft>
                <a:spcPts val="0"/>
              </a:spcAft>
              <a:buSzPts val="1400"/>
              <a:buChar char="○"/>
            </a:pPr>
            <a:r>
              <a:rPr lang="it"/>
              <a:t>Guida al framework Serde</a:t>
            </a:r>
            <a:endParaRPr/>
          </a:p>
        </p:txBody>
      </p:sp>
      <p:sp>
        <p:nvSpPr>
          <p:cNvPr id="498" name="Google Shape;498;p8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499" name="Google Shape;499;p81"/>
          <p:cNvPicPr preferRelativeResize="0"/>
          <p:nvPr/>
        </p:nvPicPr>
        <p:blipFill rotWithShape="1">
          <a:blip r:embed="rId7">
            <a:alphaModFix/>
          </a:blip>
          <a:srcRect b="18806" l="17235" r="17235" t="18800"/>
          <a:stretch/>
        </p:blipFill>
        <p:spPr>
          <a:xfrm>
            <a:off x="7771925" y="117450"/>
            <a:ext cx="1249224" cy="113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