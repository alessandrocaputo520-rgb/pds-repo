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c42ff6140c_1_292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c42ff6140c_1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1a47e1d9a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1a47e1d9a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1a47e1d9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d1a47e1d9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c42ff6140c_1_304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c42ff6140c_1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1a47e1d9a_0_7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d1a47e1d9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1a47e1d9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d1a47e1d9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1a47e1d9a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d1a47e1d9a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c42ff6140c_1_310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c42ff6140c_1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c42ff6140c_1_316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c42ff6140c_1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d1a47e1d9a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d1a47e1d9a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d1a47e1d9a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d1a47e1d9a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d1a47e1d9a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d1a47e1d9a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d1a47e1d9a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d1a47e1d9a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c42ff6140c_1_322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c42ff6140c_1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c42ff6140c_1_328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c42ff6140c_1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d1a47e1d9a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d1a47e1d9a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d1a47e1d9a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d1a47e1d9a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c42ff6140c_1_334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c42ff6140c_1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c42ff6140c_1_340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c42ff6140c_1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d1a47e1d9a_0_47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d1a47e1d9a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c42ff6140c_1_346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c42ff6140c_1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c42ff6140c_1_352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c42ff6140c_1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c42ff6140c_1_358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c42ff6140c_1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d1a47e1d9a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d1a47e1d9a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c7382424d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c7382424d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c42ff6140c_1_364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c42ff6140c_1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" name="Google Shape;22;p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type="ctrTitle"/>
          </p:nvPr>
        </p:nvSpPr>
        <p:spPr>
          <a:xfrm>
            <a:off x="311708" y="17732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311700" y="38628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59530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" name="Google Shape;52;p1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3" name="Google Shape;63;p15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7" name="Google Shape;67;p1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8" name="Google Shape;68;p1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72" name="Google Shape;72;p17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5" name="Google Shape;75;p1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5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7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4787168"/>
            <a:ext cx="9144000" cy="35633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  <a:defRPr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</a:defRPr>
            </a:lvl1pPr>
            <a:lvl2pPr lvl="1" algn="r">
              <a:buNone/>
              <a:defRPr sz="1000">
                <a:solidFill>
                  <a:schemeClr val="lt1"/>
                </a:solidFill>
              </a:defRPr>
            </a:lvl2pPr>
            <a:lvl3pPr lvl="2" algn="r">
              <a:buNone/>
              <a:defRPr sz="1000">
                <a:solidFill>
                  <a:schemeClr val="lt1"/>
                </a:solidFill>
              </a:defRPr>
            </a:lvl3pPr>
            <a:lvl4pPr lvl="3" algn="r">
              <a:buNone/>
              <a:defRPr sz="1000">
                <a:solidFill>
                  <a:schemeClr val="lt1"/>
                </a:solidFill>
              </a:defRPr>
            </a:lvl4pPr>
            <a:lvl5pPr lvl="4" algn="r">
              <a:buNone/>
              <a:defRPr sz="1000">
                <a:solidFill>
                  <a:schemeClr val="lt1"/>
                </a:solidFill>
              </a:defRPr>
            </a:lvl5pPr>
            <a:lvl6pPr lvl="5" algn="r">
              <a:buNone/>
              <a:defRPr sz="1000">
                <a:solidFill>
                  <a:schemeClr val="lt1"/>
                </a:solidFill>
              </a:defRPr>
            </a:lvl6pPr>
            <a:lvl7pPr lvl="6" algn="r">
              <a:buNone/>
              <a:defRPr sz="1000">
                <a:solidFill>
                  <a:schemeClr val="lt1"/>
                </a:solidFill>
              </a:defRPr>
            </a:lvl7pPr>
            <a:lvl8pPr lvl="7" algn="r">
              <a:buNone/>
              <a:defRPr sz="1000">
                <a:solidFill>
                  <a:schemeClr val="lt1"/>
                </a:solidFill>
              </a:defRPr>
            </a:lvl8pPr>
            <a:lvl9pPr lvl="8" algn="r">
              <a:buNone/>
              <a:defRPr sz="10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1019175" y="4806045"/>
            <a:ext cx="66771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" sz="1100">
                <a:solidFill>
                  <a:schemeClr val="lt1"/>
                </a:solidFill>
              </a:rPr>
              <a:t>© G. Malnati, 2021-26</a:t>
            </a:r>
            <a:endParaRPr i="1" sz="1100">
              <a:solidFill>
                <a:schemeClr val="lt1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4787168"/>
            <a:ext cx="9144000" cy="356333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  <a:defRPr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</a:defRPr>
            </a:lvl1pPr>
            <a:lvl2pPr lvl="1" algn="r">
              <a:buNone/>
              <a:defRPr sz="1000">
                <a:solidFill>
                  <a:schemeClr val="lt1"/>
                </a:solidFill>
              </a:defRPr>
            </a:lvl2pPr>
            <a:lvl3pPr lvl="2" algn="r">
              <a:buNone/>
              <a:defRPr sz="1000">
                <a:solidFill>
                  <a:schemeClr val="lt1"/>
                </a:solidFill>
              </a:defRPr>
            </a:lvl3pPr>
            <a:lvl4pPr lvl="3" algn="r">
              <a:buNone/>
              <a:defRPr sz="1000">
                <a:solidFill>
                  <a:schemeClr val="lt1"/>
                </a:solidFill>
              </a:defRPr>
            </a:lvl4pPr>
            <a:lvl5pPr lvl="4" algn="r">
              <a:buNone/>
              <a:defRPr sz="1000">
                <a:solidFill>
                  <a:schemeClr val="lt1"/>
                </a:solidFill>
              </a:defRPr>
            </a:lvl5pPr>
            <a:lvl6pPr lvl="5" algn="r">
              <a:buNone/>
              <a:defRPr sz="1000">
                <a:solidFill>
                  <a:schemeClr val="lt1"/>
                </a:solidFill>
              </a:defRPr>
            </a:lvl6pPr>
            <a:lvl7pPr lvl="6" algn="r">
              <a:buNone/>
              <a:defRPr sz="1000">
                <a:solidFill>
                  <a:schemeClr val="lt1"/>
                </a:solidFill>
              </a:defRPr>
            </a:lvl7pPr>
            <a:lvl8pPr lvl="7" algn="r">
              <a:buNone/>
              <a:defRPr sz="1000">
                <a:solidFill>
                  <a:schemeClr val="lt1"/>
                </a:solidFill>
              </a:defRPr>
            </a:lvl8pPr>
            <a:lvl9pPr lvl="8" algn="r">
              <a:buNone/>
              <a:defRPr sz="10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7" name="Google Shape;37;p8"/>
          <p:cNvSpPr txBox="1"/>
          <p:nvPr/>
        </p:nvSpPr>
        <p:spPr>
          <a:xfrm>
            <a:off x="1019175" y="4806045"/>
            <a:ext cx="66771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" sz="1100">
                <a:solidFill>
                  <a:schemeClr val="lt1"/>
                </a:solidFill>
              </a:rPr>
              <a:t>© G. Malnati, 2021-26</a:t>
            </a:r>
            <a:endParaRPr i="1" sz="1100">
              <a:solidFill>
                <a:schemeClr val="lt1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github.com/la10736/rstest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anismousse.medium.com/testing-in-rust-22f27136b433" TargetMode="External"/><Relationship Id="rId4" Type="http://schemas.openxmlformats.org/officeDocument/2006/relationships/hyperlink" Target="https://doc.rust-lang.org/book/ch11-00-testing.html" TargetMode="External"/><Relationship Id="rId5" Type="http://schemas.openxmlformats.org/officeDocument/2006/relationships/hyperlink" Target="https://asomers.github.io/mock_shootout/" TargetMode="External"/><Relationship Id="rId6" Type="http://schemas.openxmlformats.org/officeDocument/2006/relationships/hyperlink" Target="https://blog.devgenius.io/formatting-linting-and-documenting-with-rust-eb7b189ade65" TargetMode="External"/><Relationship Id="rId7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9816" y="708364"/>
            <a:ext cx="2024363" cy="205254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0"/>
          <p:cNvSpPr txBox="1"/>
          <p:nvPr>
            <p:ph type="ctrTitle"/>
          </p:nvPr>
        </p:nvSpPr>
        <p:spPr>
          <a:xfrm>
            <a:off x="311708" y="17732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Test</a:t>
            </a:r>
            <a:endParaRPr/>
          </a:p>
        </p:txBody>
      </p:sp>
      <p:sp>
        <p:nvSpPr>
          <p:cNvPr id="85" name="Google Shape;85;p20"/>
          <p:cNvSpPr txBox="1"/>
          <p:nvPr>
            <p:ph idx="1" type="subTitle"/>
          </p:nvPr>
        </p:nvSpPr>
        <p:spPr>
          <a:xfrm>
            <a:off x="311700" y="38628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Controllare la correttezza del codice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Perché testare il codice?</a:t>
            </a:r>
            <a:endParaRPr/>
          </a:p>
        </p:txBody>
      </p:sp>
      <p:sp>
        <p:nvSpPr>
          <p:cNvPr id="91" name="Google Shape;9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Un test verifica automaticamente il comportamento del codice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Non dimostra l’assenza di errori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Aumenta la confidenza nel sistema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Previene regressioni nel tempo</a:t>
            </a:r>
            <a:endParaRPr/>
          </a:p>
        </p:txBody>
      </p:sp>
      <p:sp>
        <p:nvSpPr>
          <p:cNvPr id="92" name="Google Shape;92;p21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93" name="Google Shape;93;p21"/>
          <p:cNvSpPr/>
          <p:nvPr/>
        </p:nvSpPr>
        <p:spPr>
          <a:xfrm>
            <a:off x="448525" y="4143300"/>
            <a:ext cx="8289000" cy="3966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test sono fondamentali per mantenere codice di qualità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Problema reale</a:t>
            </a:r>
            <a:endParaRPr/>
          </a:p>
        </p:txBody>
      </p:sp>
      <p:sp>
        <p:nvSpPr>
          <p:cNvPr id="99" name="Google Shape;99;p22"/>
          <p:cNvSpPr txBox="1"/>
          <p:nvPr>
            <p:ph idx="1" type="body"/>
          </p:nvPr>
        </p:nvSpPr>
        <p:spPr>
          <a:xfrm>
            <a:off x="311700" y="2334325"/>
            <a:ext cx="8520600" cy="223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Funziona… finché b ≠ 0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Caso limite → panic!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Come possiamo accorgercene automaticamente?</a:t>
            </a:r>
            <a:endParaRPr/>
          </a:p>
        </p:txBody>
      </p:sp>
      <p:sp>
        <p:nvSpPr>
          <p:cNvPr id="100" name="Google Shape;100;p22"/>
          <p:cNvSpPr txBox="1"/>
          <p:nvPr/>
        </p:nvSpPr>
        <p:spPr>
          <a:xfrm>
            <a:off x="1194900" y="1123440"/>
            <a:ext cx="6754200" cy="923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fn divide(a: i32, b: i32) -&gt; i32 {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    a / b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1" name="Google Shape;101;p22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Test di unità</a:t>
            </a:r>
            <a:endParaRPr/>
          </a:p>
        </p:txBody>
      </p:sp>
      <p:sp>
        <p:nvSpPr>
          <p:cNvPr id="107" name="Google Shape;107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Un </a:t>
            </a:r>
            <a:r>
              <a:rPr b="1" lang="it">
                <a:solidFill>
                  <a:srgbClr val="0B5394"/>
                </a:solidFill>
              </a:rPr>
              <a:t>test di unità </a:t>
            </a:r>
            <a:r>
              <a:rPr lang="it"/>
              <a:t>valuta il comportamento di un </a:t>
            </a:r>
            <a:r>
              <a:rPr b="1" lang="it">
                <a:solidFill>
                  <a:srgbClr val="0B5394"/>
                </a:solidFill>
              </a:rPr>
              <a:t>singolo componente</a:t>
            </a:r>
            <a:r>
              <a:rPr lang="it"/>
              <a:t> software (funzione, struttura dati, …), indipendentemente dal resto del sistema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Sollecitandone sia il comportamento “tipico”, ovvero conforme all’uso per cui è stato progettato, sia quello agli estremi o oltre il suo previsto campo di utilizzo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Tale sollecitazione viene esercitata tramite frammenti di codice che invocano il componente e verificano che esso risponda in modo atteso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Confrontando, ad esempio, i valori ritornati dalla funzione / contenuti nella struttura dati dopo la sollecitazione con valori/condizioni di errore attesi sulla base delle specifiche</a:t>
            </a:r>
            <a:endParaRPr/>
          </a:p>
        </p:txBody>
      </p:sp>
      <p:sp>
        <p:nvSpPr>
          <p:cNvPr id="108" name="Google Shape;108;p23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09" name="Google Shape;109;p23"/>
          <p:cNvSpPr txBox="1"/>
          <p:nvPr/>
        </p:nvSpPr>
        <p:spPr>
          <a:xfrm>
            <a:off x="847975" y="3543250"/>
            <a:ext cx="4668300" cy="11697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#[test]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fn test_divide() {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  assert_eq!(divide(6,3), 2);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0" name="Google Shape;110;p23"/>
          <p:cNvSpPr/>
          <p:nvPr/>
        </p:nvSpPr>
        <p:spPr>
          <a:xfrm>
            <a:off x="5821575" y="3709150"/>
            <a:ext cx="2899200" cy="837900"/>
          </a:xfrm>
          <a:prstGeom prst="wedgeRoundRectCallout">
            <a:avLst>
              <a:gd fmla="val -131905" name="adj1"/>
              <a:gd fmla="val -10016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alibri"/>
                <a:ea typeface="Calibri"/>
                <a:cs typeface="Calibri"/>
                <a:sym typeface="Calibri"/>
              </a:rPr>
              <a:t>Verifica un caso tipico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alibri"/>
                <a:ea typeface="Calibri"/>
                <a:cs typeface="Calibri"/>
                <a:sym typeface="Calibri"/>
              </a:rPr>
              <a:t>Non copre errori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alibri"/>
                <a:ea typeface="Calibri"/>
                <a:cs typeface="Calibri"/>
                <a:sym typeface="Calibri"/>
              </a:rPr>
              <a:t>Un test singolo non basta!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Test di unità</a:t>
            </a:r>
            <a:endParaRPr/>
          </a:p>
        </p:txBody>
      </p:sp>
      <p:sp>
        <p:nvSpPr>
          <p:cNvPr id="116" name="Google Shape;116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 test di unità sono normalmente scritti ed eseguiti dallo sviluppatore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Presuppongono la conoscenza dei meccanismi interni al componente, allo scopo di verificare come questi reagiscono in presenza di casi limite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Il loro numero dipende dalla complessità ciclomatica del modulo testato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La loro qualità è alla base del processo di refactoring cui un artefatto software tipicamente è soggetto nel corso del suo naturale ciclo di vita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Il costo delle modifiche che vengono evidenziate da questo tipo di test è normalmente basso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 benefici che la scrittura di test ben fatti portano alla qualità del codice sono alti e compensano  abbondantemente nel medio termine i maggiori costi dovuti alla scrittura dei test</a:t>
            </a:r>
            <a:endParaRPr/>
          </a:p>
        </p:txBody>
      </p:sp>
      <p:sp>
        <p:nvSpPr>
          <p:cNvPr id="117" name="Google Shape;117;p24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Test dei casi limite</a:t>
            </a:r>
            <a:endParaRPr/>
          </a:p>
        </p:txBody>
      </p:sp>
      <p:sp>
        <p:nvSpPr>
          <p:cNvPr id="123" name="Google Shape;123;p25"/>
          <p:cNvSpPr txBox="1"/>
          <p:nvPr/>
        </p:nvSpPr>
        <p:spPr>
          <a:xfrm>
            <a:off x="311700" y="1277920"/>
            <a:ext cx="3531600" cy="14160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#[test]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#[should_panic]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fn test_divide_by_zero() {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  divide(10,0);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4" name="Google Shape;124;p25"/>
          <p:cNvSpPr/>
          <p:nvPr/>
        </p:nvSpPr>
        <p:spPr>
          <a:xfrm>
            <a:off x="5511825" y="1429345"/>
            <a:ext cx="2899200" cy="837900"/>
          </a:xfrm>
          <a:prstGeom prst="wedgeRoundRectCallout">
            <a:avLst>
              <a:gd fmla="val -165668" name="adj1"/>
              <a:gd fmla="val -10016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alibri"/>
                <a:ea typeface="Calibri"/>
                <a:cs typeface="Calibri"/>
                <a:sym typeface="Calibri"/>
              </a:rPr>
              <a:t>Verifica che il codice fallisca quando deve fallire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5"/>
          <p:cNvSpPr/>
          <p:nvPr/>
        </p:nvSpPr>
        <p:spPr>
          <a:xfrm>
            <a:off x="448525" y="4143300"/>
            <a:ext cx="8289000" cy="3966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test servono anche a testare errori!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5"/>
          <p:cNvSpPr txBox="1"/>
          <p:nvPr>
            <p:ph idx="1" type="body"/>
          </p:nvPr>
        </p:nvSpPr>
        <p:spPr>
          <a:xfrm>
            <a:off x="311700" y="2780375"/>
            <a:ext cx="8520600" cy="17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 test devono verificare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 casi normali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 casi limite (divisione per 0, accesso al primo e all'ultimo elemento di un contenitore, …)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La corretta identificazione/gestione/propagazione degli errori</a:t>
            </a:r>
            <a:endParaRPr/>
          </a:p>
        </p:txBody>
      </p:sp>
      <p:sp>
        <p:nvSpPr>
          <p:cNvPr id="127" name="Google Shape;127;p25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Refactoring: miglioriamo il codice</a:t>
            </a:r>
            <a:endParaRPr/>
          </a:p>
        </p:txBody>
      </p:sp>
      <p:sp>
        <p:nvSpPr>
          <p:cNvPr id="133" name="Google Shape;133;p26"/>
          <p:cNvSpPr txBox="1"/>
          <p:nvPr/>
        </p:nvSpPr>
        <p:spPr>
          <a:xfrm>
            <a:off x="311700" y="1157293"/>
            <a:ext cx="8520600" cy="11697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fn divide(a: i32, b: i32) -&gt; Option&lt;i32&gt; {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  if b == 0 { None }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  else { Some(a / b) }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4" name="Google Shape;134;p26"/>
          <p:cNvSpPr txBox="1"/>
          <p:nvPr/>
        </p:nvSpPr>
        <p:spPr>
          <a:xfrm>
            <a:off x="311700" y="2466575"/>
            <a:ext cx="8520600" cy="14160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#[test]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fn test_divide_safe() {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  assert_eq!(divide(2,1), Some(2));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  assert_eq!(divide(1,0), None);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5" name="Google Shape;135;p26"/>
          <p:cNvSpPr/>
          <p:nvPr/>
        </p:nvSpPr>
        <p:spPr>
          <a:xfrm>
            <a:off x="448525" y="4143300"/>
            <a:ext cx="8289000" cy="3966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latin typeface="Calibri"/>
                <a:ea typeface="Calibri"/>
                <a:cs typeface="Calibri"/>
                <a:sym typeface="Calibri"/>
              </a:rPr>
              <a:t>Niente panic → API più sicura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6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Test di integrazione</a:t>
            </a:r>
            <a:endParaRPr/>
          </a:p>
        </p:txBody>
      </p:sp>
      <p:sp>
        <p:nvSpPr>
          <p:cNvPr id="142" name="Google Shape;142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Un test di integrazione valuta il comportamento all’interfaccia di due moduli software 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Si focalizza sul determinare la correttezza di tale interfaccia, evidenziando le incongruenze tra le parti che stanno interagendo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Come nel caso dei test di unità, è costituito da frammenti di codice che sollecitano l’interazione tra due parti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A differenza dei test di unità, tuttavia, ignora volutamente la struttura interna dei moduli che stanno interagendo, assumendo il loro corretto comportamento - sul piano individuale - alle specifiche definite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Per questo motivo viene eseguito solo su oggetti che hanno correttamente superato il test di unità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I costi delle modifiche che occorre introdurre se un test di integrazione fallisce sono generalmente più elevati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In quanto richiedono il ridisegno di una o entrambe le parti che interagiscono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I test di integrazione sono co-progettati da sviluppatori e tester 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Vengono eseguiti dai tester</a:t>
            </a:r>
            <a:endParaRPr/>
          </a:p>
        </p:txBody>
      </p:sp>
      <p:sp>
        <p:nvSpPr>
          <p:cNvPr id="143" name="Google Shape;143;p27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Test di integrazione</a:t>
            </a:r>
            <a:endParaRPr/>
          </a:p>
        </p:txBody>
      </p:sp>
      <p:pic>
        <p:nvPicPr>
          <p:cNvPr id="149" name="Google Shape;14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2879" y="1569386"/>
            <a:ext cx="4009416" cy="2004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8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51" name="Google Shape;151;p2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t"/>
              <a:t>Esempio: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it"/>
              <a:t>Modulo A: Persistenza (accesso database)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it"/>
              <a:t>Modulo B: logica applicativa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t"/>
              <a:t>I test di integrazione possono verificare che: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it"/>
              <a:t>I dati presenti nel modulo di persistenza siano correttamente interpretati dalla logica applicativa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it"/>
              <a:t>Gli errori del livello di persistenza siano propagati correttamente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it"/>
              <a:t>Le transazioni siano coerenti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Test di integrazione: modulo Repository</a:t>
            </a:r>
            <a:endParaRPr/>
          </a:p>
        </p:txBody>
      </p:sp>
      <p:sp>
        <p:nvSpPr>
          <p:cNvPr id="157" name="Google Shape;157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pub struct OrderRepository {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data: HashMap&lt;u32, f64&gt;;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impl OrderRepository {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pub fn new() -&gt; Self { 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   Self {data: HashMap::new() } 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pub fn save(&amp;mut self, id: u32, v: f64) {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  self.data.insert(id, v);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pub fn find(&amp;self, id: u32) -&gt; Option&lt;f64&gt;{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  self.data.get(&amp;id).copied()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8" name="Google Shape;158;p29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59" name="Google Shape;159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t" sz="1600"/>
              <a:t>Modulo base che offre la capacità di memorizzare coppie chiave/valore</a:t>
            </a:r>
            <a:endParaRPr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 sz="1400"/>
              <a:t>E di reperire il valore data la chiave</a:t>
            </a:r>
            <a:endParaRPr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Test di integrazione: modulo Service</a:t>
            </a:r>
            <a:endParaRPr/>
          </a:p>
        </p:txBody>
      </p:sp>
      <p:sp>
        <p:nvSpPr>
          <p:cNvPr id="165" name="Google Shape;165;p3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pub struct OrderService&lt;'a&gt; {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repo: &amp;'a mut OrderRepository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impl&lt;'a&gt; OrderService&lt;'a&gt; {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pub fn new(repo: &amp;'a mut OrderRepository) 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         -&gt; Self { Self { repo } }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pub fn apply_discount(&amp;mut self, id: u32)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         -&gt; Result&lt;f64, String&gt; {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  let t = self.repo.find(id)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              .ok_or("Order not found")?;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  let discounted = if t &gt; 100.0 { t * 0.9 } 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                   else { t }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  self.repo.save(id, discounted);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  Ok (discounted)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6" name="Google Shape;166;p30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67" name="Google Shape;167;p3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t" sz="1600"/>
              <a:t>Contiene la logica applicativa</a:t>
            </a:r>
            <a:endParaRPr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 sz="1400"/>
              <a:t>Si appoggia sulle funzionalità del modulo precedente</a:t>
            </a:r>
            <a:endParaRPr sz="1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Test di integrazione: esempio di test</a:t>
            </a:r>
            <a:endParaRPr/>
          </a:p>
        </p:txBody>
      </p:sp>
      <p:sp>
        <p:nvSpPr>
          <p:cNvPr id="173" name="Google Shape;173;p3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// caso normale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#[test]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fn test_apply_discount_integration() {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  // Arrange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  let mut repo = OrderRepository::new();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  repo.save(1, 200.0);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  let mut s = OrderService::new(&amp;mut repo);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  // Act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  let result = s.apply_discount(1);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  // Assert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  assert!(result.is_ok());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  let saved = repo.find(1);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  assert_eq!(saved, Some(180.0));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4" name="Google Shape;174;p3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// caso limite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#[test]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fn test_apply_discount_not_found() {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  // Arrange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  let mut repo = OrderRepository::new();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  let mut s = OrderService::new(&amp;mut repo);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  // Act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  let result = s.apply_discount(42);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  // Assert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  assert!(result.is_err());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5" name="Google Shape;175;p31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Test di integrazione: razionale</a:t>
            </a:r>
            <a:endParaRPr/>
          </a:p>
        </p:txBody>
      </p:sp>
      <p:sp>
        <p:nvSpPr>
          <p:cNvPr id="181" name="Google Shape;181;p32"/>
          <p:cNvSpPr txBox="1"/>
          <p:nvPr>
            <p:ph idx="1" type="body"/>
          </p:nvPr>
        </p:nvSpPr>
        <p:spPr>
          <a:xfrm>
            <a:off x="311700" y="1152475"/>
            <a:ext cx="8520600" cy="256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Coinvolgono più elementi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Verificano: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Il flusso completo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Lo stato condiviso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La gestione degli errori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Non verificano dettagli interni alle strutture dati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Verificano il comportamento globale</a:t>
            </a:r>
            <a:endParaRPr/>
          </a:p>
        </p:txBody>
      </p:sp>
      <p:sp>
        <p:nvSpPr>
          <p:cNvPr id="182" name="Google Shape;182;p32"/>
          <p:cNvSpPr/>
          <p:nvPr/>
        </p:nvSpPr>
        <p:spPr>
          <a:xfrm>
            <a:off x="600925" y="4007000"/>
            <a:ext cx="8289000" cy="6852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latin typeface="Calibri"/>
                <a:ea typeface="Calibri"/>
                <a:cs typeface="Calibri"/>
                <a:sym typeface="Calibri"/>
              </a:rPr>
              <a:t>Uno unit test verifica una singola funzione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latin typeface="Calibri"/>
                <a:ea typeface="Calibri"/>
                <a:cs typeface="Calibri"/>
                <a:sym typeface="Calibri"/>
              </a:rPr>
              <a:t>Un integration test verifica che il sistema funzioni davvero insieme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32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Test complessivi </a:t>
            </a:r>
            <a:r>
              <a:rPr i="1" lang="it"/>
              <a:t>(end-to-end)</a:t>
            </a:r>
            <a:endParaRPr i="1"/>
          </a:p>
        </p:txBody>
      </p:sp>
      <p:sp>
        <p:nvSpPr>
          <p:cNvPr id="189" name="Google Shape;189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Il </a:t>
            </a:r>
            <a:r>
              <a:rPr b="1" lang="it">
                <a:solidFill>
                  <a:srgbClr val="0B5394"/>
                </a:solidFill>
              </a:rPr>
              <a:t>test di sistema</a:t>
            </a:r>
            <a:r>
              <a:rPr lang="it"/>
              <a:t> valuta il comportamento del prodotto finito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Sia nei suoi aspetti funzionali (cosa deve/non deve fare) che non funzionali (sicurezza, affidabilità, resilienza, prestazioni, scalabilità, …)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Basato su modelli di comportamento tratti da casi d’uso reali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Progettato ed eseguito da tester, allo scopo di non farsi influenzare dalle assunzioni fatte durante lo sviluppo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Il test di accettazione verifica che il sistema sia conforme alle aspettative del committente/cliente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Eseguito dagli utenti finali</a:t>
            </a:r>
            <a:endParaRPr/>
          </a:p>
        </p:txBody>
      </p:sp>
      <p:sp>
        <p:nvSpPr>
          <p:cNvPr id="190" name="Google Shape;190;p33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Le domande del test</a:t>
            </a:r>
            <a:endParaRPr/>
          </a:p>
        </p:txBody>
      </p:sp>
      <p:pic>
        <p:nvPicPr>
          <p:cNvPr id="196" name="Google Shape;19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3050" y="880535"/>
            <a:ext cx="4063829" cy="385148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34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Cosa fanno i test</a:t>
            </a:r>
            <a:endParaRPr/>
          </a:p>
        </p:txBody>
      </p:sp>
      <p:sp>
        <p:nvSpPr>
          <p:cNvPr id="203" name="Google Shape;203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Trovano bug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Non possono però dimostrarne l'assenza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Documentano il comportamento del software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Anche prima che il software stesso sia stato scritto, perché permettono di specificare il comportamento atteso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Migliorano il design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In quanto portano a riflettere sulla struttura del codice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Riflettendo sul comportamento di un dato modulo, è possibile identificare debolezze strutturali e mancate specifiche</a:t>
            </a:r>
            <a:endParaRPr/>
          </a:p>
        </p:txBody>
      </p:sp>
      <p:sp>
        <p:nvSpPr>
          <p:cNvPr id="204" name="Google Shape;204;p35"/>
          <p:cNvSpPr/>
          <p:nvPr/>
        </p:nvSpPr>
        <p:spPr>
          <a:xfrm>
            <a:off x="448525" y="4143300"/>
            <a:ext cx="8289000" cy="3966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latin typeface="Calibri"/>
                <a:ea typeface="Calibri"/>
                <a:cs typeface="Calibri"/>
                <a:sym typeface="Calibri"/>
              </a:rPr>
              <a:t>I test aiutano ad aumentare la confidenza nel codice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35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Il flusso di lavoro con i test</a:t>
            </a:r>
            <a:endParaRPr/>
          </a:p>
        </p:txBody>
      </p:sp>
      <p:sp>
        <p:nvSpPr>
          <p:cNvPr id="211" name="Google Shape;211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it"/>
              <a:t>Si scrive una funzione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it"/>
              <a:t>Si scrivono i test che ne verificano il comportamento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it"/>
              <a:t>Si esegue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cargo test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it"/>
              <a:t>Si correggono gli errori che vengono riportati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it"/>
              <a:t>Si ripete fino a che il programma è completo</a:t>
            </a:r>
            <a:endParaRPr/>
          </a:p>
        </p:txBody>
      </p:sp>
      <p:pic>
        <p:nvPicPr>
          <p:cNvPr id="212" name="Google Shape;21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0425" y="1017725"/>
            <a:ext cx="2474001" cy="2474001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36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Test in Rust</a:t>
            </a:r>
            <a:endParaRPr/>
          </a:p>
        </p:txBody>
      </p:sp>
      <p:sp>
        <p:nvSpPr>
          <p:cNvPr id="219" name="Google Shape;219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 </a:t>
            </a:r>
            <a:r>
              <a:rPr b="1" lang="it">
                <a:solidFill>
                  <a:srgbClr val="0B5394"/>
                </a:solidFill>
              </a:rPr>
              <a:t>test di unità</a:t>
            </a:r>
            <a:r>
              <a:rPr lang="it"/>
              <a:t> possono essere scritti nel modulo da testare o, meglio, in un suo sotto-modulo chiamato convenzionalmente ‘tests’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Questo facilita l’ispezione del codice quando il numero di test cresce significativamente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Il (sotto-)modulo contenente i test è preceduto dall’annotazione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#[cfg(test)]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Questo informa il compilatore che il codice contenuto al suo interno deve essere incluso solo quando la compilazione avviene con il comando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cargo test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 </a:t>
            </a:r>
            <a:r>
              <a:rPr b="1" lang="it">
                <a:solidFill>
                  <a:srgbClr val="0B5394"/>
                </a:solidFill>
              </a:rPr>
              <a:t>test di integrazione</a:t>
            </a:r>
            <a:r>
              <a:rPr lang="it"/>
              <a:t> sono invece contenuti in una cartella separata denominata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tests</a:t>
            </a:r>
            <a:r>
              <a:rPr lang="it"/>
              <a:t>, a lato della cartella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src</a:t>
            </a:r>
            <a:r>
              <a:rPr lang="it"/>
              <a:t> del progetto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Sono scritti come se i singoli frammenti di codice fossero i consumatori del crate che deve essere testato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 file sorgente all’interno della cartella di test importano i simboli pubblici oggetto di valutazione tramite istruzioni di tipo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use…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Solo le librerie possono avere test di integrazione: per questo si creano programmi formati da un eseguibile contenente un main banale e da una libreria che contiene la logica applicativa</a:t>
            </a:r>
            <a:endParaRPr/>
          </a:p>
        </p:txBody>
      </p:sp>
      <p:sp>
        <p:nvSpPr>
          <p:cNvPr id="220" name="Google Shape;220;p37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Sintassi dei test</a:t>
            </a:r>
            <a:endParaRPr/>
          </a:p>
        </p:txBody>
      </p:sp>
      <p:sp>
        <p:nvSpPr>
          <p:cNvPr id="226" name="Google Shape;226;p38"/>
          <p:cNvSpPr txBox="1"/>
          <p:nvPr/>
        </p:nvSpPr>
        <p:spPr>
          <a:xfrm>
            <a:off x="1194900" y="1123440"/>
            <a:ext cx="6754200" cy="3509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// funzione da testare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fn sum(a: i32, b: i32) -&gt; i32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a + b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#[cfg(test)]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mod tests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fn sum_inputs_outputs() -&gt; Vec&lt;((i32, i32), i32)&gt;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vec![((1, 1), 2), ((0, 0), 0), ((2, -2), 0)]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it" sz="12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#[test]</a:t>
            </a:r>
            <a:endParaRPr b="1" sz="1200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fn test_sums()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for (input, output) in sum_inputs_outputs()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b="1" lang="it" sz="12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assert_eq!</a:t>
            </a: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(crate::sum(input.0, input.1), output);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7" name="Google Shape;227;p38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Sintassi dei test</a:t>
            </a:r>
            <a:endParaRPr/>
          </a:p>
        </p:txBody>
      </p:sp>
      <p:sp>
        <p:nvSpPr>
          <p:cNvPr id="233" name="Google Shape;233;p3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t" sz="1600"/>
              <a:t>La struttura generale di una funzione etichettata con </a:t>
            </a:r>
            <a:r>
              <a:rPr b="1" lang="it" sz="16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#[test]</a:t>
            </a:r>
            <a:r>
              <a:rPr lang="it" sz="1600"/>
              <a:t> è la seguente:</a:t>
            </a:r>
            <a:endParaRPr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 sz="1400">
                <a:solidFill>
                  <a:srgbClr val="0B5394"/>
                </a:solidFill>
              </a:rPr>
              <a:t>Arrange</a:t>
            </a:r>
            <a:r>
              <a:rPr lang="it" sz="1400"/>
              <a:t> - Preparazione dei valori su cui operare</a:t>
            </a:r>
            <a:endParaRPr sz="1400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 sz="1400">
                <a:solidFill>
                  <a:srgbClr val="0B5394"/>
                </a:solidFill>
              </a:rPr>
              <a:t>Act</a:t>
            </a:r>
            <a:r>
              <a:rPr lang="it" sz="1400"/>
              <a:t> - Esecuzione del codice da testare</a:t>
            </a:r>
            <a:endParaRPr sz="1400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 sz="1400">
                <a:solidFill>
                  <a:srgbClr val="0B5394"/>
                </a:solidFill>
              </a:rPr>
              <a:t>Assert</a:t>
            </a:r>
            <a:r>
              <a:rPr lang="it" sz="1400"/>
              <a:t> - Verifica, mediante asserzioni, che i risultati ottenuti siano quelli attesi</a:t>
            </a:r>
            <a:endParaRPr sz="1400"/>
          </a:p>
        </p:txBody>
      </p:sp>
      <p:sp>
        <p:nvSpPr>
          <p:cNvPr id="234" name="Google Shape;234;p39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35" name="Google Shape;235;p39"/>
          <p:cNvSpPr txBox="1"/>
          <p:nvPr>
            <p:ph idx="2" type="body"/>
          </p:nvPr>
        </p:nvSpPr>
        <p:spPr>
          <a:xfrm>
            <a:off x="4832400" y="1152475"/>
            <a:ext cx="3999900" cy="31401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#[test]</a:t>
            </a:r>
            <a:endParaRPr sz="1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fn test_divide_aaa() {</a:t>
            </a:r>
            <a:endParaRPr sz="1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// Arrange</a:t>
            </a:r>
            <a:endParaRPr sz="1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let a = 6;</a:t>
            </a:r>
            <a:endParaRPr sz="1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let b = 2;</a:t>
            </a:r>
            <a:endParaRPr sz="1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// Act</a:t>
            </a:r>
            <a:endParaRPr sz="1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let result = divide(a, b);</a:t>
            </a:r>
            <a:endParaRPr sz="1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// Assert</a:t>
            </a:r>
            <a:endParaRPr sz="1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assert_eq!(result, 3);</a:t>
            </a:r>
            <a:endParaRPr sz="1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Sintassi dei test</a:t>
            </a:r>
            <a:endParaRPr/>
          </a:p>
        </p:txBody>
      </p:sp>
      <p:sp>
        <p:nvSpPr>
          <p:cNvPr id="241" name="Google Shape;241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Rust offre varie macro procedurali per verificare le asserzioni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assert!( </a:t>
            </a:r>
            <a:r>
              <a:rPr b="1" i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boolean_condition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)</a:t>
            </a:r>
            <a:r>
              <a:rPr lang="it"/>
              <a:t> - impone che la condizione sia vera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assert_eq!( </a:t>
            </a:r>
            <a:r>
              <a:rPr b="1" i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value1, value2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)</a:t>
            </a:r>
            <a:r>
              <a:rPr lang="it"/>
              <a:t> - impone l’eguaglianza tra i due valori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assert_ne!( </a:t>
            </a:r>
            <a:r>
              <a:rPr b="1" i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value1, value2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)</a:t>
            </a:r>
            <a:r>
              <a:rPr lang="it"/>
              <a:t> - impone la disuguaglianza tra i due valori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Per verificare che un’espressione generi la condizione di panico, è possibile annotare il test anche con l’annotazione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#[should_panic(expected = "msg")]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In questo caso, viene verificato che venga generata una condizione di panico riportante 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msg"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Se una funzione di test restituisce un valore di tipo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Result&lt;T, Error&gt;</a:t>
            </a:r>
            <a:r>
              <a:rPr lang="it"/>
              <a:t>, è possibile utilizzare la condizione di errore per indicare che il test è fallito</a:t>
            </a:r>
            <a:endParaRPr/>
          </a:p>
        </p:txBody>
      </p:sp>
      <p:sp>
        <p:nvSpPr>
          <p:cNvPr id="242" name="Google Shape;242;p40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Eseguire i test</a:t>
            </a:r>
            <a:endParaRPr/>
          </a:p>
        </p:txBody>
      </p:sp>
      <p:sp>
        <p:nvSpPr>
          <p:cNvPr id="248" name="Google Shape;248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Il comando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cargo test</a:t>
            </a:r>
            <a:r>
              <a:rPr lang="it"/>
              <a:t> ricompila il programma con la direttiva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"test"</a:t>
            </a:r>
            <a:r>
              <a:rPr lang="it"/>
              <a:t> ed esegue tutti i test contenuti nel package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Compresi quelli eventualmente presenti all’interno della documentazione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Viene prodotto un report dettagliato che indica ogni singolo fallimento, dove viene evidenziato il risultato atteso e quello realmente ottenuto seguito da un riassunto con il nome di tutte le funzioni di test che sono fallite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E’ possibile lanciare solo alcuni test, specificando il nome della funzione (o una sua sottoparte) come ulteriore parametro del comando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cargo test add_ </a:t>
            </a:r>
            <a:r>
              <a:rPr lang="it"/>
              <a:t>esegue tutti i test i cui nomi contengono “add_”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Se uno o più test è decorato con l’attributo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#[ignore]</a:t>
            </a:r>
            <a:r>
              <a:rPr lang="it"/>
              <a:t>, viene normalmente tralasciato dall’esecuzione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È possibile includere tali test con il comando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cargo test -- --ignored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41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Automatizzare la creazione di test</a:t>
            </a:r>
            <a:endParaRPr/>
          </a:p>
        </p:txBody>
      </p:sp>
      <p:sp>
        <p:nvSpPr>
          <p:cNvPr id="255" name="Google Shape;255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Ogni singolo test è basato sul paradigma AAA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Arrange, Act, Assert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La fase di Arrangement porta spesso a creare codice ripetitivo, volto a popolare strutture dati con i necessari valori iniziali necessari all'esecuzione del test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Normalmente, le funzioni di test sono prive di parametri, dovendo poter essere invocate direttamente dal motore di test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La libreria </a:t>
            </a:r>
            <a:r>
              <a:rPr b="1" lang="it">
                <a:solidFill>
                  <a:srgbClr val="0B5394"/>
                </a:solidFill>
              </a:rPr>
              <a:t>rstest </a:t>
            </a:r>
            <a:r>
              <a:rPr lang="it"/>
              <a:t>( </a:t>
            </a:r>
            <a:r>
              <a:rPr lang="it" u="sng">
                <a:solidFill>
                  <a:schemeClr val="hlink"/>
                </a:solidFill>
                <a:hlinkClick r:id="rId3"/>
              </a:rPr>
              <a:t>https://github.com/la10736/rstest</a:t>
            </a:r>
            <a:r>
              <a:rPr lang="it"/>
              <a:t> ) permette di creare test parametrici, costituiti cioè da funzioni dotate parametri in ingresso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Tali funzioni devono essere precedute dall'attributo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#[rstest]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 parametri possono essere forniti in due modi alternativi: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Tramite funzioni annotate con l'attributo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#[fixture]</a:t>
            </a:r>
            <a:r>
              <a:rPr lang="it"/>
              <a:t>, il cui nome deve coincidere con il nome del parametro di ingresso presente nei test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Tramite un elenco di tuple alternative, descritte tramite l'attributo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#[case(...)]</a:t>
            </a:r>
            <a:endParaRPr/>
          </a:p>
        </p:txBody>
      </p:sp>
      <p:sp>
        <p:nvSpPr>
          <p:cNvPr id="256" name="Google Shape;256;p42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Test parametrici con rstest</a:t>
            </a:r>
            <a:endParaRPr/>
          </a:p>
        </p:txBody>
      </p:sp>
      <p:sp>
        <p:nvSpPr>
          <p:cNvPr id="262" name="Google Shape;262;p43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63" name="Google Shape;263;p43"/>
          <p:cNvSpPr txBox="1"/>
          <p:nvPr/>
        </p:nvSpPr>
        <p:spPr>
          <a:xfrm>
            <a:off x="1194900" y="1123440"/>
            <a:ext cx="6754200" cy="2893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use rstest::rstest;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#[rstest]</a:t>
            </a:r>
            <a:endParaRPr b="1" sz="1600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#[case(1, 2, 3)]</a:t>
            </a:r>
            <a:endParaRPr b="1" sz="1600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#[case(0, 0, 0)]</a:t>
            </a:r>
            <a:endParaRPr b="1" sz="1600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#[case(-1, 1, 0)]</a:t>
            </a:r>
            <a:endParaRPr b="1" sz="1600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fn test_sum(</a:t>
            </a:r>
            <a:r>
              <a:rPr b="1" lang="it" sz="16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#[case]</a:t>
            </a: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 a: i32,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b="1" lang="it" sz="16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#[case]</a:t>
            </a: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 b: i32,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b="1" lang="it" sz="16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#[case]</a:t>
            </a: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 expected: i32) {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    assert_eq!(sum(a, b), expected);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Test di integrazione</a:t>
            </a:r>
            <a:endParaRPr/>
          </a:p>
        </p:txBody>
      </p:sp>
      <p:sp>
        <p:nvSpPr>
          <p:cNvPr id="269" name="Google Shape;269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V</a:t>
            </a:r>
            <a:r>
              <a:rPr lang="it"/>
              <a:t>erificano la correttezza dell’interazione tra due o più moduli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Validano il contratto dell’interfaccia (tipi, semantica, protocollo di chiamata)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Assumono che i singoli moduli abbiano già superato i test di unità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Individuano: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Incongruenze semantiche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Errori di orchestrazione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Problemi di gestione degli errori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Violazioni di invarianti condivise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In Rust: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Collocati nella cartella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tests/</a:t>
            </a:r>
            <a:r>
              <a:rPr lang="it"/>
              <a:t> 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Compilati come crate separati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Testano esclusivamente l’API pubblica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Costi: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Setup più complesso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Correzioni architetturali potenzialmente costose</a:t>
            </a:r>
            <a:endParaRPr/>
          </a:p>
        </p:txBody>
      </p:sp>
      <p:sp>
        <p:nvSpPr>
          <p:cNvPr id="270" name="Google Shape;270;p44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Per saperne di più</a:t>
            </a:r>
            <a:endParaRPr/>
          </a:p>
        </p:txBody>
      </p:sp>
      <p:sp>
        <p:nvSpPr>
          <p:cNvPr id="276" name="Google Shape;276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Testing in Rust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 u="sng">
                <a:solidFill>
                  <a:schemeClr val="hlink"/>
                </a:solidFill>
                <a:hlinkClick r:id="rId3"/>
              </a:rPr>
              <a:t>https://anismousse.medium.com/testing-in-rust-22f27136b433</a:t>
            </a:r>
            <a:r>
              <a:rPr lang="it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Writing Automated Tests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 u="sng">
                <a:solidFill>
                  <a:schemeClr val="hlink"/>
                </a:solidFill>
                <a:hlinkClick r:id="rId4"/>
              </a:rPr>
              <a:t>https://doc.rust-lang.org/book/ch11-00-testing.html</a:t>
            </a:r>
            <a:r>
              <a:rPr lang="it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Rust Mock Shootout!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 u="sng">
                <a:solidFill>
                  <a:schemeClr val="hlink"/>
                </a:solidFill>
                <a:hlinkClick r:id="rId5"/>
              </a:rPr>
              <a:t>https://asomers.github.io/mock_shootout/</a:t>
            </a:r>
            <a:r>
              <a:rPr lang="it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Formatting, Linting, and Documenting with Rust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 u="sng">
                <a:solidFill>
                  <a:schemeClr val="hlink"/>
                </a:solidFill>
                <a:hlinkClick r:id="rId6"/>
              </a:rPr>
              <a:t>https://blog.devgenius.io/formatting-linting-and-documenting-with-rust-eb7b189ade65</a:t>
            </a:r>
            <a:r>
              <a:rPr lang="it"/>
              <a:t> </a:t>
            </a:r>
            <a:endParaRPr/>
          </a:p>
        </p:txBody>
      </p:sp>
      <p:sp>
        <p:nvSpPr>
          <p:cNvPr id="277" name="Google Shape;277;p45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278" name="Google Shape;278;p45"/>
          <p:cNvPicPr preferRelativeResize="0"/>
          <p:nvPr/>
        </p:nvPicPr>
        <p:blipFill rotWithShape="1">
          <a:blip r:embed="rId7">
            <a:alphaModFix/>
          </a:blip>
          <a:srcRect b="18806" l="17235" r="17235" t="18800"/>
          <a:stretch/>
        </p:blipFill>
        <p:spPr>
          <a:xfrm>
            <a:off x="7771925" y="105705"/>
            <a:ext cx="1249224" cy="1023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olit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olit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