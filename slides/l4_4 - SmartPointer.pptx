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Roboto"/>
      <p:regular r:id="rId50"/>
      <p:bold r:id="rId51"/>
      <p:italic r:id="rId52"/>
      <p:boldItalic r:id="rId53"/>
    </p:embeddedFont>
    <p:embeddedFont>
      <p:font typeface="Inconsolata"/>
      <p:regular r:id="rId54"/>
      <p:bold r:id="rId55"/>
    </p:embeddedFont>
    <p:embeddedFont>
      <p:font typeface="Mrs Saint Delafield"/>
      <p:regular r:id="rId56"/>
    </p:embeddedFont>
    <p:embeddedFont>
      <p:font typeface="Gill Sans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.fntdata"/><Relationship Id="rId50" Type="http://schemas.openxmlformats.org/officeDocument/2006/relationships/font" Target="fonts/Roboto-regular.fntdata"/><Relationship Id="rId53" Type="http://schemas.openxmlformats.org/officeDocument/2006/relationships/font" Target="fonts/Roboto-boldItalic.fntdata"/><Relationship Id="rId52" Type="http://schemas.openxmlformats.org/officeDocument/2006/relationships/font" Target="fonts/Roboto-italic.fntdata"/><Relationship Id="rId11" Type="http://schemas.openxmlformats.org/officeDocument/2006/relationships/slide" Target="slides/slide6.xml"/><Relationship Id="rId55" Type="http://schemas.openxmlformats.org/officeDocument/2006/relationships/font" Target="fonts/Inconsolata-bold.fntdata"/><Relationship Id="rId10" Type="http://schemas.openxmlformats.org/officeDocument/2006/relationships/slide" Target="slides/slide5.xml"/><Relationship Id="rId54" Type="http://schemas.openxmlformats.org/officeDocument/2006/relationships/font" Target="fonts/Inconsolata-regular.fntdata"/><Relationship Id="rId13" Type="http://schemas.openxmlformats.org/officeDocument/2006/relationships/slide" Target="slides/slide8.xml"/><Relationship Id="rId57" Type="http://schemas.openxmlformats.org/officeDocument/2006/relationships/font" Target="fonts/GillSans-regular.fntdata"/><Relationship Id="rId12" Type="http://schemas.openxmlformats.org/officeDocument/2006/relationships/slide" Target="slides/slide7.xml"/><Relationship Id="rId56" Type="http://schemas.openxmlformats.org/officeDocument/2006/relationships/font" Target="fonts/MrsSaintDelafield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GillSans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0b4e8f9a32_0_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0b4e8f9a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b4e8f9a32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0b4e8f9a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0b4e8f9a32_0_58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0b4e8f9a32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0b4e8f9a32_0_49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0b4e8f9a32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f9890dcd_0_4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f9890dc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0b4e8f9a32_0_46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0b4e8f9a32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b4e8f9a32_0_1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b4e8f9a3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4f9890dcd_0_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4f9890dc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0b4e8f9a32_0_2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0b4e8f9a3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b4e8f9a32_0_6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0b4e8f9a3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0b4e8f9a32_0_9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0b4e8f9a3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0b4e8f9a32_0_14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0b4e8f9a3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0b4e8f9a32_0_16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0b4e8f9a3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0b4e8f9a32_0_22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0b4e8f9a32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0b4e8f9a32_0_24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0b4e8f9a32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0b4e8f9a32_0_26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0b4e8f9a32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10b4e8f9a32_0_29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10b4e8f9a32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0b4e8f9a32_0_32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0b4e8f9a32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0b4e8f9a32_0_35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0b4e8f9a32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0b4e8f9a32_0_44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0b4e8f9a32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b4e8f9a32_0_47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b4e8f9a32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b4e8f9a32_0_42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b4e8f9a32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0b4e8f9a32_0_59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0b4e8f9a32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50ad68df7_0_2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50ad68df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1150ad68df7_0_8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1150ad68df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502b52164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d502b521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502b52164_0_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d502b5216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1150ad68df7_0_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1150ad68df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150ad68df7_0_9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150ad68df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0b4e8f9a32_0_59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0b4e8f9a32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1164f3a115e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1164f3a11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1164f3a115e_0_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1164f3a115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0b4e8f9a32_0_60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0b4e8f9a32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164f3a115e_0_1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164f3a115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1150ad68df7_0_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1150ad68df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d4f9890dcd_0_5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d4f9890dc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0b4e8f9a32_0_61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10b4e8f9a32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508acf7603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508acf76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508acf7603_0_41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508acf760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508acf7603_0_4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508acf760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508acf7603_0_5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508acf760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1150ad68df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1150ad68df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de3f3f084a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1de3f3f08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170469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9424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/>
            </a:lvl1pPr>
            <a:lvl2pPr lvl="1">
              <a:buNone/>
              <a:defRPr b="1"/>
            </a:lvl2pPr>
            <a:lvl3pPr lvl="2">
              <a:buNone/>
              <a:defRPr b="1"/>
            </a:lvl3pPr>
            <a:lvl4pPr lvl="3">
              <a:buNone/>
              <a:defRPr b="1"/>
            </a:lvl4pPr>
            <a:lvl5pPr lvl="4">
              <a:buNone/>
              <a:defRPr b="1"/>
            </a:lvl5pPr>
            <a:lvl6pPr lvl="5">
              <a:buNone/>
              <a:defRPr b="1"/>
            </a:lvl6pPr>
            <a:lvl7pPr lvl="6">
              <a:buNone/>
              <a:defRPr b="1"/>
            </a:lvl7pPr>
            <a:lvl8pPr lvl="7">
              <a:buNone/>
              <a:defRPr b="1"/>
            </a:lvl8pPr>
            <a:lvl9pPr lvl="8">
              <a:buNone/>
              <a:defRPr b="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9530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varie\logo del poli\marchio_200x200.gif"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88" y="4424363"/>
            <a:ext cx="7048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1435100" y="205978"/>
            <a:ext cx="7499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0070C0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435608" y="1085850"/>
            <a:ext cx="74982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rtl="0" algn="l">
              <a:spcBef>
                <a:spcPts val="600"/>
              </a:spcBef>
              <a:spcAft>
                <a:spcPts val="0"/>
              </a:spcAft>
              <a:buSzPts val="2240"/>
              <a:buChar char="●"/>
              <a:defRPr sz="2800"/>
            </a:lvl1pPr>
            <a:lvl2pPr indent="-381000" lvl="1" marL="914400" rtl="0" algn="l">
              <a:spcBef>
                <a:spcPts val="55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rgbClr val="3E3E67"/>
                </a:solidFill>
              </a:defRPr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>
                <a:solidFill>
                  <a:srgbClr val="3E3E67"/>
                </a:solidFill>
              </a:defRPr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>
                <a:solidFill>
                  <a:srgbClr val="3E3E67"/>
                </a:solidFill>
              </a:defRPr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 sz="1800">
                <a:solidFill>
                  <a:srgbClr val="3E3E67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613775" y="4729163"/>
            <a:ext cx="45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20" Type="http://schemas.openxmlformats.org/officeDocument/2006/relationships/hyperlink" Target="https://doc.rust-lang.org/std/option/enum.Option.html" TargetMode="External"/><Relationship Id="rId22" Type="http://schemas.openxmlformats.org/officeDocument/2006/relationships/hyperlink" Target="https://doc.rust-lang.org/core/nonzero/struct.NonZero.html" TargetMode="External"/><Relationship Id="rId21" Type="http://schemas.openxmlformats.org/officeDocument/2006/relationships/hyperlink" Target="https://doc.rust-lang.org/std/option/enum.Option.html" TargetMode="External"/><Relationship Id="rId24" Type="http://schemas.openxmlformats.org/officeDocument/2006/relationships/hyperlink" Target="https://doc.rust-lang.org/std/primitive.str.html" TargetMode="External"/><Relationship Id="rId23" Type="http://schemas.openxmlformats.org/officeDocument/2006/relationships/hyperlink" Target="https://doc.rust-lang.org/std/string/struct.String.html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oc.rust-lang.org/std/vec/struct.Vec.html#method.into_boxed_slice" TargetMode="External"/><Relationship Id="rId4" Type="http://schemas.openxmlformats.org/officeDocument/2006/relationships/hyperlink" Target="https://doc.rust-lang.org/std/boxed/struct.Box.html" TargetMode="External"/><Relationship Id="rId9" Type="http://schemas.openxmlformats.org/officeDocument/2006/relationships/hyperlink" Target="https://doc.rust-lang.org/std/primitive.usize.html" TargetMode="External"/><Relationship Id="rId26" Type="http://schemas.openxmlformats.org/officeDocument/2006/relationships/hyperlink" Target="https://doc.rust-lang.org/std/result/enum.Result.html" TargetMode="External"/><Relationship Id="rId25" Type="http://schemas.openxmlformats.org/officeDocument/2006/relationships/hyperlink" Target="https://doc.rust-lang.org/std/primitive.slice.html#method.into_vec" TargetMode="External"/><Relationship Id="rId28" Type="http://schemas.openxmlformats.org/officeDocument/2006/relationships/hyperlink" Target="https://doc.rust-lang.org/beta/core/marker/trait.Sized.html" TargetMode="External"/><Relationship Id="rId27" Type="http://schemas.openxmlformats.org/officeDocument/2006/relationships/hyperlink" Target="https://doc.rust-lang.org/std/borrow/enum.Cow.html" TargetMode="External"/><Relationship Id="rId5" Type="http://schemas.openxmlformats.org/officeDocument/2006/relationships/hyperlink" Target="https://doc.rust-lang.org/std/vec/struct.Vec.html" TargetMode="External"/><Relationship Id="rId6" Type="http://schemas.openxmlformats.org/officeDocument/2006/relationships/hyperlink" Target="https://doc.rust-lang.org/book/raw-pointers.html" TargetMode="External"/><Relationship Id="rId29" Type="http://schemas.openxmlformats.org/officeDocument/2006/relationships/hyperlink" Target="https://doc.rust-lang.org/book/ch15-01-box.html" TargetMode="External"/><Relationship Id="rId7" Type="http://schemas.openxmlformats.org/officeDocument/2006/relationships/hyperlink" Target="https://doc.rust-lang.org/std/rc/" TargetMode="External"/><Relationship Id="rId8" Type="http://schemas.openxmlformats.org/officeDocument/2006/relationships/hyperlink" Target="https://doc.rust-lang.org/reference/types/trait-object.html" TargetMode="External"/><Relationship Id="rId31" Type="http://schemas.openxmlformats.org/officeDocument/2006/relationships/hyperlink" Target="https://github.com/Amanieu/parking_lot" TargetMode="External"/><Relationship Id="rId30" Type="http://schemas.openxmlformats.org/officeDocument/2006/relationships/hyperlink" Target="https://doc.rust-lang.org/beta/core/marker/trait.Sized.html" TargetMode="External"/><Relationship Id="rId11" Type="http://schemas.openxmlformats.org/officeDocument/2006/relationships/hyperlink" Target="https://doc.rust-lang.org/std/sync/atomic/" TargetMode="External"/><Relationship Id="rId10" Type="http://schemas.openxmlformats.org/officeDocument/2006/relationships/hyperlink" Target="https://doc.rust-lang.org/std/sync/struct.Arc.html" TargetMode="External"/><Relationship Id="rId32" Type="http://schemas.openxmlformats.org/officeDocument/2006/relationships/hyperlink" Target="https://doc.rust-lang.org/std/ops/trait.Deref.html" TargetMode="External"/><Relationship Id="rId13" Type="http://schemas.openxmlformats.org/officeDocument/2006/relationships/hyperlink" Target="https://doc.rust-lang.org/std/cell/struct.Cell.html" TargetMode="External"/><Relationship Id="rId12" Type="http://schemas.openxmlformats.org/officeDocument/2006/relationships/hyperlink" Target="https://doc.rust-lang.org/std/cell/struct.RefCell.html" TargetMode="External"/><Relationship Id="rId15" Type="http://schemas.openxmlformats.org/officeDocument/2006/relationships/hyperlink" Target="https://doc.rust-lang.org/nomicon/destructors.html" TargetMode="External"/><Relationship Id="rId14" Type="http://schemas.openxmlformats.org/officeDocument/2006/relationships/hyperlink" Target="https://doc.rust-lang.org/std/sync/struct.Mutex.html" TargetMode="External"/><Relationship Id="rId17" Type="http://schemas.openxmlformats.org/officeDocument/2006/relationships/hyperlink" Target="https://doc.rust-lang.org/reference/types/trait-object.html" TargetMode="External"/><Relationship Id="rId16" Type="http://schemas.openxmlformats.org/officeDocument/2006/relationships/hyperlink" Target="https://doc.rust-lang.org/std/primitive.slice.html" TargetMode="External"/><Relationship Id="rId19" Type="http://schemas.openxmlformats.org/officeDocument/2006/relationships/hyperlink" Target="https://doc.rust-lang.org/book/enums.html" TargetMode="External"/><Relationship Id="rId18" Type="http://schemas.openxmlformats.org/officeDocument/2006/relationships/hyperlink" Target="https://doc.rust-lang.org/book/closures.html#function-pointers-and-closures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blog.logrocket.com/smart-pointers-rust/" TargetMode="External"/><Relationship Id="rId4" Type="http://schemas.openxmlformats.org/officeDocument/2006/relationships/hyperlink" Target="https://medium.com/the-polyglot-programmer/undestanding-rust-smart-pointers-660d59715ab9" TargetMode="External"/><Relationship Id="rId5" Type="http://schemas.openxmlformats.org/officeDocument/2006/relationships/hyperlink" Target="https://www.koderhq.com/tutorial/rust/smart-pointer/" TargetMode="External"/><Relationship Id="rId6" Type="http://schemas.openxmlformats.org/officeDocument/2006/relationships/hyperlink" Target="https://dev.to/rogertorres/smart-pointers-in-rust-what-why-and-how-oma" TargetMode="External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170469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Smart Pointer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379424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Accedere alla memoria in modo controllato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575" y="760793"/>
            <a:ext cx="1649565" cy="1649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Operazioni sui puntatori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Ogni valore manipolato da un programma è memorizzato nello spazio di indirizzamento del processo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Gli operatori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it"/>
              <a:t> e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&amp;mut</a:t>
            </a:r>
            <a:r>
              <a:rPr lang="it"/>
              <a:t> producono un riferimento ad un valore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Rust, tali riferimenti non sono puntatori nativi esposti direttamente al programmatore, ma valori soggetti alle regole del borrow checker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L’operazione duale, detta dereferenza (dereferencing) o risoluzione del riferimento, permette di accedere al valore referenziato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Rust si usa l'operatore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it"/>
              <a:t> per dereferenziare esplicitamente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Nella sintassi dei metodi, il compilatore può applicare direttamente dereferenziazione e prestito quando appropriato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Operazioni sui puntatori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Sia Rust che C++ permettono di ridefinire il comportamento degli operatori del linguaggio per tipi arbitrari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Entrambi permettono inoltre di definire tipi generici, che possono essere espansi in una molteplicità di tipi concreti, in funzione di come vengono utilizzati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Questi meccanismi permettono di definire tipi che si usano sintatticamente in modo simile ai puntatori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Ma che aggiungono proprietà come possesso, conteggio dei riferimenti, mutabilità interna o sincronizzazione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Ciò ha portato all’introduzione del concetto di “smart pointer”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 alla sua diffusione sia nelle librerie standard C++, dove l’uso dei puntatori nativi è causa di errori frequenti, sia nelle librerie standard Rust, che ne hanno abbracciato l’idea per rappresentare tipi dal comportamento simile ai puntatori che aggiungono proprietà come possesso, condivisione, mutabilità interna o sincronizzazione (in contrapposizione ai riferimenti, che godono del solo prestito)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Uso dei puntatori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Tramite l’uso di</a:t>
            </a:r>
            <a:r>
              <a:rPr lang="it"/>
              <a:t> puntatori è possibile costruire strutture dati dinamiche (dalla topologia non prevedibile a priori e/o variabile nel tempo) come grafi, alberi, liste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questo, da un lato, offre grandi libertà al programmatore, dall’altro lo espone ad una serie di problemi legati alla difficoltà di dedurre la correttezza del codice che lo manipola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Le regole restrittive imposte dal borrow checker di Rust impediscono combinazioni di aliasing e mutabilità che renderebbero difficile garantire la sicurezza del programma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 soli riferimenti diventa molto difficile rappresentare strutture cicliche persistenti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Questa minore capacità espressiva abilita, però, analisi più approfondite ed è alla base delle garanzie di sanità offerte dal linguaggio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Smart pointer come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Rc&lt;T&gt;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Arc&lt;T&gt;</a:t>
            </a:r>
            <a:r>
              <a:rPr lang="it"/>
              <a:t> introducono il concetto di possesso condiviso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Smart pointer come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std::rc::Weak&lt;T&gt;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std::sync::Weak&lt;T&gt;</a:t>
            </a:r>
            <a:r>
              <a:rPr lang="it"/>
              <a:t> introducono riferimenti privi di possesso, utili per rappresentare riferimenti privi di possesso ed evitare cicli di possesso forte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Smart pointer in Rust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offre una varietà maggiore di smart pointer rispetto al C++, allo scopo di coprire ulteriori casi e definire ottimizzazioni possibili nel caso specifico di programmi puramente sequenziali piuttosto che di programmi concorrenti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Alcuni di questi ricalcano abbastanza fedelmente le astrazioni offerte dal C++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Box&lt;T&gt;</a:t>
            </a:r>
            <a:r>
              <a:rPr lang="it"/>
              <a:t>,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Arc&lt;T&gt;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Weak&lt;T&gt;</a:t>
            </a:r>
            <a:r>
              <a:rPr lang="it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Altri sono peculiari del modello introdotto dal linguaggio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Cell&lt;T&gt;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RefCell&lt;T&gt;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Cow&lt;T&gt;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RwLock&lt;T&gt;</a:t>
            </a:r>
            <a:r>
              <a:rPr lang="it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Molti smart pointer sono realizzati come struct che incapsulano dati e metadati aggiuntivi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Spesso implementano i tratti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Deref</a:t>
            </a:r>
            <a:r>
              <a:rPr lang="it"/>
              <a:t> (e, talvolta,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DerefMut</a:t>
            </a:r>
            <a:r>
              <a:rPr lang="it"/>
              <a:t>) per consentire un accesso al contenuto, simile a quello che offrirebbe un puntatore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Quando un tipo implementa questi tratti, il compilatore può usarli per rendere naturale l'accesso al contenuto</a:t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Smart pointer in Rust</a:t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Possesso esclusivo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Box&lt;T&gt;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Possesso condiviso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Arc&lt;T&gt;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Weak&lt;T&gt;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Mutabilità interna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Cell&lt;T&gt;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RefCell&lt;T&gt;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Sincronizzazione concorrente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Mutex&lt;T&gt;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RwLock&lt;T&gt;</a:t>
            </a:r>
            <a:r>
              <a:rPr lang="it"/>
              <a:t> (trattati in seguito)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Copy-on-write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Cow&lt;'a, B&gt;</a:t>
            </a: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tratti Deref e DerefMut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trait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Deref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type Target: ?Sized;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fn deref(&amp;self) -&gt; &amp;Self::Target;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trait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DerefMut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: Deref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fn deref_mut(&amp;mut self) -&gt; &amp;mut Self::Target;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Struttura che possiede un valore allocato dinamicamente sullo heap all’atto della sua costruzione (tramite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Box::new(t)</a:t>
            </a:r>
            <a:r>
              <a:rPr lang="it"/>
              <a:t>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valore allocato sullo heap è </a:t>
            </a:r>
            <a:r>
              <a:rPr b="1" lang="it">
                <a:solidFill>
                  <a:srgbClr val="0B5394"/>
                </a:solidFill>
              </a:rPr>
              <a:t>posseduto</a:t>
            </a:r>
            <a:r>
              <a:rPr lang="it"/>
              <a:t> da Box: quando la struttura esce dal proprio scope sintattico, il blocco sullo heap viene rilasciato automaticamente, grazie all’implementazione del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Drop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E’ possibile anticipare il rilascio del blocco, invocando la funzione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drop(b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la struttura viene mossa in un’altra variabile (o ritornata da una funzione), il possesso del valore allocato sullo heap passa alla destinazione che diventa responsabile del suo rilascio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rende possibile ottenere cicli di vita che si estendono oltre la durata della funzione in cui il dato è stato creato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4567238" y="299356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b1:</a:t>
            </a:r>
            <a:endParaRPr/>
          </a:p>
        </p:txBody>
      </p:sp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18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può avere una dimensione non nota in fase di compilazione (ovvero non implementare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Sized</a:t>
            </a:r>
            <a:r>
              <a:rPr lang="it"/>
              <a:t>)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questo caso, l’oggetto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Box&lt;T&gt;</a:t>
            </a:r>
            <a:r>
              <a:rPr lang="it"/>
              <a:t> si trasforma in un fat pointer formato da un puntatore seguito da un intero di dimensione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usize</a:t>
            </a:r>
            <a:r>
              <a:rPr lang="it"/>
              <a:t> contente la lunghezza del dato puntato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Analogamente, se al posto del tipo concreto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si indica un oggetto-tratto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dyn Trait</a:t>
            </a:r>
            <a:r>
              <a:rPr lang="it"/>
              <a:t>), si ha un fat pointer composto da due puntatori: quello al dato sullo heap e quello a vtable del tratto</a:t>
            </a:r>
            <a:endParaRPr/>
          </a:p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3006100"/>
            <a:ext cx="3891600" cy="1371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let b1: Box&lt;[i32]&gt; =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    Box::new([1,2,3,4]);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let b2: Box&lt;dyn Debug&gt; =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latin typeface="Consolas"/>
                <a:ea typeface="Consolas"/>
                <a:cs typeface="Consolas"/>
                <a:sym typeface="Consolas"/>
              </a:rPr>
              <a:t> Box::new([1,2,3,4]);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5060631" y="3043675"/>
            <a:ext cx="6993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5759960" y="3043675"/>
            <a:ext cx="6993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5246375" y="3100821"/>
            <a:ext cx="185700" cy="185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22"/>
          <p:cNvCxnSpPr>
            <a:stCxn id="124" idx="6"/>
            <a:endCxn id="126" idx="1"/>
          </p:cNvCxnSpPr>
          <p:nvPr/>
        </p:nvCxnSpPr>
        <p:spPr>
          <a:xfrm>
            <a:off x="5432075" y="3193671"/>
            <a:ext cx="914400" cy="4338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6" name="Google Shape;126;p22"/>
          <p:cNvSpPr/>
          <p:nvPr/>
        </p:nvSpPr>
        <p:spPr>
          <a:xfrm>
            <a:off x="6346513" y="3477588"/>
            <a:ext cx="414300" cy="300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6646538" y="3477588"/>
            <a:ext cx="414300" cy="300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7060838" y="3477588"/>
            <a:ext cx="414300" cy="300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7475138" y="3477588"/>
            <a:ext cx="414300" cy="300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4606738" y="3881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b2:</a:t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5079774" y="3931353"/>
            <a:ext cx="6993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/>
          <p:nvPr/>
        </p:nvSpPr>
        <p:spPr>
          <a:xfrm>
            <a:off x="5779103" y="3931353"/>
            <a:ext cx="699300" cy="3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2"/>
          <p:cNvSpPr/>
          <p:nvPr/>
        </p:nvSpPr>
        <p:spPr>
          <a:xfrm>
            <a:off x="5285875" y="3988508"/>
            <a:ext cx="185700" cy="185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22"/>
          <p:cNvCxnSpPr>
            <a:stCxn id="133" idx="6"/>
            <a:endCxn id="135" idx="1"/>
          </p:cNvCxnSpPr>
          <p:nvPr/>
        </p:nvCxnSpPr>
        <p:spPr>
          <a:xfrm>
            <a:off x="5471575" y="4081358"/>
            <a:ext cx="921000" cy="483900"/>
          </a:xfrm>
          <a:prstGeom prst="curvedConnector3">
            <a:avLst>
              <a:gd fmla="val 4999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6" name="Google Shape;136;p22"/>
          <p:cNvSpPr/>
          <p:nvPr/>
        </p:nvSpPr>
        <p:spPr>
          <a:xfrm>
            <a:off x="5952625" y="3983746"/>
            <a:ext cx="185700" cy="185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22"/>
          <p:cNvCxnSpPr>
            <a:stCxn id="136" idx="6"/>
            <a:endCxn id="138" idx="0"/>
          </p:cNvCxnSpPr>
          <p:nvPr/>
        </p:nvCxnSpPr>
        <p:spPr>
          <a:xfrm>
            <a:off x="6138325" y="4076596"/>
            <a:ext cx="2346300" cy="2814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8" name="Google Shape;138;p22"/>
          <p:cNvSpPr/>
          <p:nvPr/>
        </p:nvSpPr>
        <p:spPr>
          <a:xfrm>
            <a:off x="8106850" y="4358125"/>
            <a:ext cx="755700" cy="300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vTable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6392425" y="4415263"/>
            <a:ext cx="414300" cy="300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6692450" y="4415263"/>
            <a:ext cx="414300" cy="300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7106750" y="4415263"/>
            <a:ext cx="414300" cy="300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7521050" y="4415263"/>
            <a:ext cx="414300" cy="300000"/>
          </a:xfrm>
          <a:prstGeom prst="rect">
            <a:avLst/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150" name="Google Shape;150;p23"/>
          <p:cNvSpPr/>
          <p:nvPr/>
        </p:nvSpPr>
        <p:spPr>
          <a:xfrm>
            <a:off x="5636100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152" name="Google Shape;152;p23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6052795" y="1685295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766950" y="3007052"/>
            <a:ext cx="2832900" cy="2652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5636100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168" name="Google Shape;168;p24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4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170" name="Google Shape;170;p24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4"/>
          <p:cNvSpPr/>
          <p:nvPr/>
        </p:nvSpPr>
        <p:spPr>
          <a:xfrm>
            <a:off x="7048350" y="1685295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4"/>
          <p:cNvSpPr/>
          <p:nvPr/>
        </p:nvSpPr>
        <p:spPr>
          <a:xfrm>
            <a:off x="457700" y="1079910"/>
            <a:ext cx="3568200" cy="3603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/>
          <p:nvPr/>
        </p:nvSpPr>
        <p:spPr>
          <a:xfrm>
            <a:off x="66540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/>
          <p:nvPr/>
        </p:nvSpPr>
        <p:spPr>
          <a:xfrm>
            <a:off x="6600950" y="1623195"/>
            <a:ext cx="372000" cy="3246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/>
          <p:nvPr/>
        </p:nvSpPr>
        <p:spPr>
          <a:xfrm>
            <a:off x="66825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" name="Google Shape;176;p24"/>
          <p:cNvCxnSpPr>
            <a:stCxn id="175" idx="2"/>
            <a:endCxn id="177" idx="0"/>
          </p:cNvCxnSpPr>
          <p:nvPr/>
        </p:nvCxnSpPr>
        <p:spPr>
          <a:xfrm rot="5400000">
            <a:off x="3578450" y="-85890"/>
            <a:ext cx="1387800" cy="50292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177" name="Google Shape;177;p24"/>
          <p:cNvSpPr/>
          <p:nvPr/>
        </p:nvSpPr>
        <p:spPr>
          <a:xfrm>
            <a:off x="1653350" y="3122663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6118513" y="1623195"/>
            <a:ext cx="372000" cy="3246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/>
              <a:t>false</a:t>
            </a:r>
            <a:endParaRPr sz="700"/>
          </a:p>
        </p:txBody>
      </p:sp>
      <p:sp>
        <p:nvSpPr>
          <p:cNvPr id="179" name="Google Shape;179;p24"/>
          <p:cNvSpPr txBox="1"/>
          <p:nvPr/>
        </p:nvSpPr>
        <p:spPr>
          <a:xfrm>
            <a:off x="6034215" y="1196224"/>
            <a:ext cx="5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odd</a:t>
            </a:r>
            <a:endParaRPr b="1"/>
          </a:p>
        </p:txBody>
      </p:sp>
      <p:sp>
        <p:nvSpPr>
          <p:cNvPr id="180" name="Google Shape;180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5636100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191" name="Google Shape;191;p25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5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193" name="Google Shape;193;p25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5"/>
          <p:cNvSpPr/>
          <p:nvPr/>
        </p:nvSpPr>
        <p:spPr>
          <a:xfrm>
            <a:off x="7361875" y="1685295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5"/>
          <p:cNvSpPr/>
          <p:nvPr/>
        </p:nvSpPr>
        <p:spPr>
          <a:xfrm>
            <a:off x="717475" y="1409548"/>
            <a:ext cx="2832900" cy="2760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/>
          <p:nvPr/>
        </p:nvSpPr>
        <p:spPr>
          <a:xfrm>
            <a:off x="6956188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/>
          <p:nvPr/>
        </p:nvSpPr>
        <p:spPr>
          <a:xfrm>
            <a:off x="65778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"/>
          <p:cNvSpPr txBox="1"/>
          <p:nvPr/>
        </p:nvSpPr>
        <p:spPr>
          <a:xfrm>
            <a:off x="69115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</a:t>
            </a:r>
            <a:endParaRPr b="1"/>
          </a:p>
        </p:txBody>
      </p:sp>
      <p:sp>
        <p:nvSpPr>
          <p:cNvPr id="199" name="Google Shape;199;p25"/>
          <p:cNvSpPr/>
          <p:nvPr/>
        </p:nvSpPr>
        <p:spPr>
          <a:xfrm>
            <a:off x="6524750" y="1623195"/>
            <a:ext cx="372000" cy="3246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5"/>
          <p:cNvSpPr/>
          <p:nvPr/>
        </p:nvSpPr>
        <p:spPr>
          <a:xfrm>
            <a:off x="66063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25"/>
          <p:cNvCxnSpPr>
            <a:stCxn id="200" idx="2"/>
            <a:endCxn id="202" idx="0"/>
          </p:cNvCxnSpPr>
          <p:nvPr/>
        </p:nvCxnSpPr>
        <p:spPr>
          <a:xfrm rot="5400000">
            <a:off x="3540350" y="-47790"/>
            <a:ext cx="1387800" cy="49530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202" name="Google Shape;202;p25"/>
          <p:cNvSpPr/>
          <p:nvPr/>
        </p:nvSpPr>
        <p:spPr>
          <a:xfrm>
            <a:off x="1653350" y="3122663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cxnSp>
        <p:nvCxnSpPr>
          <p:cNvPr id="204" name="Google Shape;204;p25"/>
          <p:cNvCxnSpPr>
            <a:stCxn id="205" idx="2"/>
            <a:endCxn id="203" idx="0"/>
          </p:cNvCxnSpPr>
          <p:nvPr/>
        </p:nvCxnSpPr>
        <p:spPr>
          <a:xfrm rot="5400000">
            <a:off x="5939338" y="1617660"/>
            <a:ext cx="1085700" cy="13200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05" name="Google Shape;205;p25"/>
          <p:cNvSpPr/>
          <p:nvPr/>
        </p:nvSpPr>
        <p:spPr>
          <a:xfrm>
            <a:off x="70377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6081402" y="1623195"/>
            <a:ext cx="372000" cy="3246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/>
              <a:t>false</a:t>
            </a:r>
            <a:endParaRPr sz="700"/>
          </a:p>
        </p:txBody>
      </p:sp>
      <p:sp>
        <p:nvSpPr>
          <p:cNvPr id="207" name="Google Shape;207;p25"/>
          <p:cNvSpPr txBox="1"/>
          <p:nvPr/>
        </p:nvSpPr>
        <p:spPr>
          <a:xfrm>
            <a:off x="5997105" y="1196224"/>
            <a:ext cx="5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odd</a:t>
            </a:r>
            <a:endParaRPr b="1"/>
          </a:p>
        </p:txBody>
      </p:sp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214" name="Google Shape;214;p26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let b1 = produce(false);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17" name="Google Shape;217;p26"/>
          <p:cNvSpPr/>
          <p:nvPr/>
        </p:nvSpPr>
        <p:spPr>
          <a:xfrm>
            <a:off x="5636100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219" name="Google Shape;219;p26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>
            <a:off x="668000" y="1673904"/>
            <a:ext cx="2832900" cy="2553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6956188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"/>
          <p:cNvSpPr/>
          <p:nvPr/>
        </p:nvSpPr>
        <p:spPr>
          <a:xfrm>
            <a:off x="65778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69115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</a:t>
            </a:r>
            <a:endParaRPr b="1"/>
          </a:p>
        </p:txBody>
      </p:sp>
      <p:sp>
        <p:nvSpPr>
          <p:cNvPr id="226" name="Google Shape;226;p26"/>
          <p:cNvSpPr/>
          <p:nvPr/>
        </p:nvSpPr>
        <p:spPr>
          <a:xfrm>
            <a:off x="6524750" y="1623195"/>
            <a:ext cx="372000" cy="3246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6"/>
          <p:cNvSpPr/>
          <p:nvPr/>
        </p:nvSpPr>
        <p:spPr>
          <a:xfrm>
            <a:off x="66063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" name="Google Shape;228;p26"/>
          <p:cNvCxnSpPr>
            <a:stCxn id="227" idx="2"/>
            <a:endCxn id="229" idx="0"/>
          </p:cNvCxnSpPr>
          <p:nvPr/>
        </p:nvCxnSpPr>
        <p:spPr>
          <a:xfrm rot="5400000">
            <a:off x="3540350" y="-47790"/>
            <a:ext cx="1387800" cy="49530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229" name="Google Shape;229;p26"/>
          <p:cNvSpPr/>
          <p:nvPr/>
        </p:nvSpPr>
        <p:spPr>
          <a:xfrm>
            <a:off x="1653350" y="3122663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cxnSp>
        <p:nvCxnSpPr>
          <p:cNvPr id="231" name="Google Shape;231;p26"/>
          <p:cNvCxnSpPr>
            <a:stCxn id="232" idx="2"/>
            <a:endCxn id="230" idx="0"/>
          </p:cNvCxnSpPr>
          <p:nvPr/>
        </p:nvCxnSpPr>
        <p:spPr>
          <a:xfrm rot="5400000">
            <a:off x="5939338" y="1617660"/>
            <a:ext cx="1085700" cy="13200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32" name="Google Shape;232;p26"/>
          <p:cNvSpPr/>
          <p:nvPr/>
        </p:nvSpPr>
        <p:spPr>
          <a:xfrm>
            <a:off x="70377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/>
          <p:nvPr/>
        </p:nvSpPr>
        <p:spPr>
          <a:xfrm>
            <a:off x="6081402" y="1623195"/>
            <a:ext cx="372000" cy="3246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/>
              <a:t>false</a:t>
            </a:r>
            <a:endParaRPr sz="700"/>
          </a:p>
        </p:txBody>
      </p:sp>
      <p:sp>
        <p:nvSpPr>
          <p:cNvPr id="234" name="Google Shape;234;p26"/>
          <p:cNvSpPr txBox="1"/>
          <p:nvPr/>
        </p:nvSpPr>
        <p:spPr>
          <a:xfrm>
            <a:off x="5997105" y="1196224"/>
            <a:ext cx="5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odd</a:t>
            </a:r>
            <a:endParaRPr b="1"/>
          </a:p>
        </p:txBody>
      </p:sp>
      <p:sp>
        <p:nvSpPr>
          <p:cNvPr id="235" name="Google Shape;235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241" name="Google Shape;241;p27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44" name="Google Shape;244;p27"/>
          <p:cNvSpPr/>
          <p:nvPr/>
        </p:nvSpPr>
        <p:spPr>
          <a:xfrm>
            <a:off x="5636100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7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246" name="Google Shape;246;p27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48" name="Google Shape;248;p27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668000" y="1975806"/>
            <a:ext cx="2832900" cy="2178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>
            <a:off x="6956188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7"/>
          <p:cNvSpPr/>
          <p:nvPr/>
        </p:nvSpPr>
        <p:spPr>
          <a:xfrm>
            <a:off x="65778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"/>
          <p:cNvSpPr txBox="1"/>
          <p:nvPr/>
        </p:nvSpPr>
        <p:spPr>
          <a:xfrm>
            <a:off x="69115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</a:t>
            </a:r>
            <a:endParaRPr b="1"/>
          </a:p>
        </p:txBody>
      </p:sp>
      <p:sp>
        <p:nvSpPr>
          <p:cNvPr id="253" name="Google Shape;253;p27"/>
          <p:cNvSpPr/>
          <p:nvPr/>
        </p:nvSpPr>
        <p:spPr>
          <a:xfrm>
            <a:off x="6524750" y="1623195"/>
            <a:ext cx="372000" cy="3246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7"/>
          <p:cNvSpPr/>
          <p:nvPr/>
        </p:nvSpPr>
        <p:spPr>
          <a:xfrm>
            <a:off x="66063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5" name="Google Shape;255;p27"/>
          <p:cNvCxnSpPr>
            <a:stCxn id="254" idx="2"/>
            <a:endCxn id="256" idx="0"/>
          </p:cNvCxnSpPr>
          <p:nvPr/>
        </p:nvCxnSpPr>
        <p:spPr>
          <a:xfrm rot="5400000">
            <a:off x="3540350" y="-47790"/>
            <a:ext cx="1387800" cy="49530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256" name="Google Shape;256;p27"/>
          <p:cNvSpPr/>
          <p:nvPr/>
        </p:nvSpPr>
        <p:spPr>
          <a:xfrm>
            <a:off x="1653350" y="3122663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sp>
        <p:nvSpPr>
          <p:cNvPr id="258" name="Google Shape;258;p27"/>
          <p:cNvSpPr/>
          <p:nvPr/>
        </p:nvSpPr>
        <p:spPr>
          <a:xfrm>
            <a:off x="70377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"/>
          <p:cNvSpPr/>
          <p:nvPr/>
        </p:nvSpPr>
        <p:spPr>
          <a:xfrm>
            <a:off x="6081402" y="1623195"/>
            <a:ext cx="372000" cy="3246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/>
              <a:t>false</a:t>
            </a:r>
            <a:endParaRPr sz="700"/>
          </a:p>
        </p:txBody>
      </p:sp>
      <p:sp>
        <p:nvSpPr>
          <p:cNvPr id="260" name="Google Shape;260;p27"/>
          <p:cNvSpPr txBox="1"/>
          <p:nvPr/>
        </p:nvSpPr>
        <p:spPr>
          <a:xfrm>
            <a:off x="5997105" y="1196224"/>
            <a:ext cx="5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odd</a:t>
            </a:r>
            <a:endParaRPr b="1"/>
          </a:p>
        </p:txBody>
      </p:sp>
      <p:cxnSp>
        <p:nvCxnSpPr>
          <p:cNvPr id="261" name="Google Shape;261;p27"/>
          <p:cNvCxnSpPr>
            <a:stCxn id="258" idx="2"/>
            <a:endCxn id="257" idx="0"/>
          </p:cNvCxnSpPr>
          <p:nvPr/>
        </p:nvCxnSpPr>
        <p:spPr>
          <a:xfrm rot="5400000">
            <a:off x="5939338" y="1617660"/>
            <a:ext cx="1085700" cy="13200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rgbClr val="B7B7B7"/>
            </a:solidFill>
            <a:prstDash val="dot"/>
            <a:round/>
            <a:headEnd len="med" w="med" type="oval"/>
            <a:tailEnd len="med" w="med" type="triangle"/>
          </a:ln>
        </p:spPr>
      </p:cxnSp>
      <p:cxnSp>
        <p:nvCxnSpPr>
          <p:cNvPr id="262" name="Google Shape;262;p27"/>
          <p:cNvCxnSpPr>
            <a:stCxn id="248" idx="2"/>
            <a:endCxn id="257" idx="0"/>
          </p:cNvCxnSpPr>
          <p:nvPr/>
        </p:nvCxnSpPr>
        <p:spPr>
          <a:xfrm flipH="1" rot="-5400000">
            <a:off x="5277900" y="2276310"/>
            <a:ext cx="1085700" cy="27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63" name="Google Shape;263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72" name="Google Shape;272;p28"/>
          <p:cNvSpPr/>
          <p:nvPr/>
        </p:nvSpPr>
        <p:spPr>
          <a:xfrm>
            <a:off x="5636100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274" name="Google Shape;274;p28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76" name="Google Shape;276;p28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8"/>
          <p:cNvSpPr/>
          <p:nvPr/>
        </p:nvSpPr>
        <p:spPr>
          <a:xfrm>
            <a:off x="655625" y="3032000"/>
            <a:ext cx="2832900" cy="2352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65778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66063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1653350" y="290835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8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sp>
        <p:nvSpPr>
          <p:cNvPr id="282" name="Google Shape;282;p28"/>
          <p:cNvSpPr/>
          <p:nvPr/>
        </p:nvSpPr>
        <p:spPr>
          <a:xfrm>
            <a:off x="70377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3" name="Google Shape;283;p28"/>
          <p:cNvCxnSpPr>
            <a:stCxn id="276" idx="2"/>
            <a:endCxn id="281" idx="0"/>
          </p:cNvCxnSpPr>
          <p:nvPr/>
        </p:nvCxnSpPr>
        <p:spPr>
          <a:xfrm flipH="1" rot="-5400000">
            <a:off x="5277900" y="2276310"/>
            <a:ext cx="1085700" cy="27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284" name="Google Shape;284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85" name="Google Shape;285;p28"/>
          <p:cNvSpPr/>
          <p:nvPr/>
        </p:nvSpPr>
        <p:spPr>
          <a:xfrm flipH="1">
            <a:off x="6064550" y="1685295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5264100" y="1620081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5636100" y="1620081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296" name="Google Shape;296;p29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680350" y="3267199"/>
            <a:ext cx="2832900" cy="2769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9"/>
          <p:cNvSpPr/>
          <p:nvPr/>
        </p:nvSpPr>
        <p:spPr>
          <a:xfrm>
            <a:off x="65778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9"/>
          <p:cNvSpPr/>
          <p:nvPr/>
        </p:nvSpPr>
        <p:spPr>
          <a:xfrm>
            <a:off x="66063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9"/>
          <p:cNvSpPr/>
          <p:nvPr/>
        </p:nvSpPr>
        <p:spPr>
          <a:xfrm>
            <a:off x="1653350" y="290835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sp>
        <p:nvSpPr>
          <p:cNvPr id="304" name="Google Shape;304;p29"/>
          <p:cNvSpPr/>
          <p:nvPr/>
        </p:nvSpPr>
        <p:spPr>
          <a:xfrm>
            <a:off x="70377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5" name="Google Shape;305;p29"/>
          <p:cNvCxnSpPr>
            <a:stCxn id="298" idx="2"/>
            <a:endCxn id="303" idx="0"/>
          </p:cNvCxnSpPr>
          <p:nvPr/>
        </p:nvCxnSpPr>
        <p:spPr>
          <a:xfrm flipH="1" rot="-5400000">
            <a:off x="5277900" y="2276310"/>
            <a:ext cx="1085700" cy="27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06" name="Google Shape;306;p29"/>
          <p:cNvSpPr/>
          <p:nvPr/>
        </p:nvSpPr>
        <p:spPr>
          <a:xfrm>
            <a:off x="6077220" y="1620081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603252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b2</a:t>
            </a:r>
            <a:endParaRPr b="1"/>
          </a:p>
        </p:txBody>
      </p:sp>
      <p:sp>
        <p:nvSpPr>
          <p:cNvPr id="308" name="Google Shape;308;p29"/>
          <p:cNvSpPr/>
          <p:nvPr/>
        </p:nvSpPr>
        <p:spPr>
          <a:xfrm>
            <a:off x="6156120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9"/>
          <p:cNvSpPr/>
          <p:nvPr/>
        </p:nvSpPr>
        <p:spPr>
          <a:xfrm>
            <a:off x="6549113" y="1685295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30"/>
          <p:cNvSpPr/>
          <p:nvPr/>
        </p:nvSpPr>
        <p:spPr>
          <a:xfrm>
            <a:off x="5264100" y="1623195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5636100" y="1623195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321" name="Google Shape;321;p30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0"/>
          <p:cNvSpPr/>
          <p:nvPr/>
        </p:nvSpPr>
        <p:spPr>
          <a:xfrm>
            <a:off x="7429350" y="1685295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0"/>
          <p:cNvSpPr/>
          <p:nvPr/>
        </p:nvSpPr>
        <p:spPr>
          <a:xfrm>
            <a:off x="457700" y="1157510"/>
            <a:ext cx="3568200" cy="2595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66540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6981950" y="1623195"/>
            <a:ext cx="372000" cy="3246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0"/>
          <p:cNvSpPr/>
          <p:nvPr/>
        </p:nvSpPr>
        <p:spPr>
          <a:xfrm>
            <a:off x="70635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9" name="Google Shape;329;p30"/>
          <p:cNvCxnSpPr>
            <a:stCxn id="328" idx="2"/>
            <a:endCxn id="330" idx="0"/>
          </p:cNvCxnSpPr>
          <p:nvPr/>
        </p:nvCxnSpPr>
        <p:spPr>
          <a:xfrm rot="5400000">
            <a:off x="3507500" y="-14940"/>
            <a:ext cx="1910700" cy="54102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330" name="Google Shape;330;p30"/>
          <p:cNvSpPr/>
          <p:nvPr/>
        </p:nvSpPr>
        <p:spPr>
          <a:xfrm>
            <a:off x="1653350" y="3645585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6499513" y="1623195"/>
            <a:ext cx="372000" cy="3246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/>
              <a:t>true</a:t>
            </a:r>
            <a:endParaRPr sz="700"/>
          </a:p>
        </p:txBody>
      </p:sp>
      <p:sp>
        <p:nvSpPr>
          <p:cNvPr id="332" name="Google Shape;332;p30"/>
          <p:cNvSpPr txBox="1"/>
          <p:nvPr/>
        </p:nvSpPr>
        <p:spPr>
          <a:xfrm>
            <a:off x="6415215" y="1196224"/>
            <a:ext cx="5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odd</a:t>
            </a:r>
            <a:endParaRPr b="1"/>
          </a:p>
        </p:txBody>
      </p:sp>
      <p:cxnSp>
        <p:nvCxnSpPr>
          <p:cNvPr id="333" name="Google Shape;333;p30"/>
          <p:cNvCxnSpPr>
            <a:stCxn id="323" idx="2"/>
            <a:endCxn id="334" idx="0"/>
          </p:cNvCxnSpPr>
          <p:nvPr/>
        </p:nvCxnSpPr>
        <p:spPr>
          <a:xfrm flipH="1" rot="-5400000">
            <a:off x="5277900" y="2276310"/>
            <a:ext cx="1085700" cy="27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35" name="Google Shape;335;p30"/>
          <p:cNvSpPr/>
          <p:nvPr/>
        </p:nvSpPr>
        <p:spPr>
          <a:xfrm>
            <a:off x="6077220" y="1620081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603252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b2</a:t>
            </a:r>
            <a:endParaRPr b="1"/>
          </a:p>
        </p:txBody>
      </p:sp>
      <p:sp>
        <p:nvSpPr>
          <p:cNvPr id="337" name="Google Shape;337;p30"/>
          <p:cNvSpPr/>
          <p:nvPr/>
        </p:nvSpPr>
        <p:spPr>
          <a:xfrm>
            <a:off x="6156120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sp>
        <p:nvSpPr>
          <p:cNvPr id="338" name="Google Shape;338;p3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5264100" y="1621638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47" name="Google Shape;347;p31"/>
          <p:cNvSpPr/>
          <p:nvPr/>
        </p:nvSpPr>
        <p:spPr>
          <a:xfrm>
            <a:off x="563610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1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349" name="Google Shape;349;p31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1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351" name="Google Shape;351;p31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1"/>
          <p:cNvSpPr/>
          <p:nvPr/>
        </p:nvSpPr>
        <p:spPr>
          <a:xfrm>
            <a:off x="7874675" y="1683738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1"/>
          <p:cNvSpPr/>
          <p:nvPr/>
        </p:nvSpPr>
        <p:spPr>
          <a:xfrm>
            <a:off x="478750" y="1418901"/>
            <a:ext cx="3568200" cy="2793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1"/>
          <p:cNvSpPr/>
          <p:nvPr/>
        </p:nvSpPr>
        <p:spPr>
          <a:xfrm>
            <a:off x="66540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1"/>
          <p:cNvSpPr/>
          <p:nvPr/>
        </p:nvSpPr>
        <p:spPr>
          <a:xfrm>
            <a:off x="6981950" y="1621638"/>
            <a:ext cx="372000" cy="3246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/>
          <p:nvPr/>
        </p:nvSpPr>
        <p:spPr>
          <a:xfrm>
            <a:off x="70635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7" name="Google Shape;357;p31"/>
          <p:cNvCxnSpPr>
            <a:stCxn id="356" idx="2"/>
            <a:endCxn id="358" idx="0"/>
          </p:cNvCxnSpPr>
          <p:nvPr/>
        </p:nvCxnSpPr>
        <p:spPr>
          <a:xfrm rot="5400000">
            <a:off x="3507500" y="-14940"/>
            <a:ext cx="1910700" cy="54102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358" name="Google Shape;358;p31"/>
          <p:cNvSpPr/>
          <p:nvPr/>
        </p:nvSpPr>
        <p:spPr>
          <a:xfrm>
            <a:off x="1653350" y="3645585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6499513" y="1621638"/>
            <a:ext cx="372000" cy="3246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/>
              <a:t>true</a:t>
            </a:r>
            <a:endParaRPr sz="700"/>
          </a:p>
        </p:txBody>
      </p:sp>
      <p:sp>
        <p:nvSpPr>
          <p:cNvPr id="360" name="Google Shape;360;p31"/>
          <p:cNvSpPr txBox="1"/>
          <p:nvPr/>
        </p:nvSpPr>
        <p:spPr>
          <a:xfrm>
            <a:off x="6415215" y="1196224"/>
            <a:ext cx="5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odd</a:t>
            </a:r>
            <a:endParaRPr b="1"/>
          </a:p>
        </p:txBody>
      </p:sp>
      <p:cxnSp>
        <p:nvCxnSpPr>
          <p:cNvPr id="361" name="Google Shape;361;p31"/>
          <p:cNvCxnSpPr>
            <a:stCxn id="351" idx="2"/>
            <a:endCxn id="362" idx="0"/>
          </p:cNvCxnSpPr>
          <p:nvPr/>
        </p:nvCxnSpPr>
        <p:spPr>
          <a:xfrm flipH="1" rot="-5400000">
            <a:off x="5277900" y="2276310"/>
            <a:ext cx="1085700" cy="27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63" name="Google Shape;363;p31"/>
          <p:cNvSpPr/>
          <p:nvPr/>
        </p:nvSpPr>
        <p:spPr>
          <a:xfrm>
            <a:off x="607722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603252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b2</a:t>
            </a:r>
            <a:endParaRPr b="1"/>
          </a:p>
        </p:txBody>
      </p:sp>
      <p:sp>
        <p:nvSpPr>
          <p:cNvPr id="365" name="Google Shape;365;p31"/>
          <p:cNvSpPr/>
          <p:nvPr/>
        </p:nvSpPr>
        <p:spPr>
          <a:xfrm>
            <a:off x="6156120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1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sp>
        <p:nvSpPr>
          <p:cNvPr id="366" name="Google Shape;366;p31"/>
          <p:cNvSpPr/>
          <p:nvPr/>
        </p:nvSpPr>
        <p:spPr>
          <a:xfrm>
            <a:off x="7428308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7383608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</a:t>
            </a:r>
            <a:endParaRPr b="1"/>
          </a:p>
        </p:txBody>
      </p:sp>
      <p:sp>
        <p:nvSpPr>
          <p:cNvPr id="368" name="Google Shape;368;p31"/>
          <p:cNvSpPr/>
          <p:nvPr/>
        </p:nvSpPr>
        <p:spPr>
          <a:xfrm>
            <a:off x="7507208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1"/>
          <p:cNvSpPr/>
          <p:nvPr/>
        </p:nvSpPr>
        <p:spPr>
          <a:xfrm>
            <a:off x="6074513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cxnSp>
        <p:nvCxnSpPr>
          <p:cNvPr id="370" name="Google Shape;370;p31"/>
          <p:cNvCxnSpPr>
            <a:stCxn id="368" idx="2"/>
            <a:endCxn id="369" idx="0"/>
          </p:cNvCxnSpPr>
          <p:nvPr/>
        </p:nvCxnSpPr>
        <p:spPr>
          <a:xfrm rot="5400000">
            <a:off x="6395558" y="1604566"/>
            <a:ext cx="1080900" cy="1351200"/>
          </a:xfrm>
          <a:prstGeom prst="curved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1" name="Google Shape;371;p3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5264100" y="1621638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380" name="Google Shape;380;p32"/>
          <p:cNvSpPr/>
          <p:nvPr/>
        </p:nvSpPr>
        <p:spPr>
          <a:xfrm>
            <a:off x="563610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382" name="Google Shape;382;p32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384" name="Google Shape;384;p32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2"/>
          <p:cNvSpPr/>
          <p:nvPr/>
        </p:nvSpPr>
        <p:spPr>
          <a:xfrm>
            <a:off x="478750" y="1688156"/>
            <a:ext cx="3568200" cy="2553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2"/>
          <p:cNvSpPr/>
          <p:nvPr/>
        </p:nvSpPr>
        <p:spPr>
          <a:xfrm>
            <a:off x="66540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2"/>
          <p:cNvSpPr/>
          <p:nvPr/>
        </p:nvSpPr>
        <p:spPr>
          <a:xfrm>
            <a:off x="6981950" y="1621638"/>
            <a:ext cx="372000" cy="3246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2"/>
          <p:cNvSpPr/>
          <p:nvPr/>
        </p:nvSpPr>
        <p:spPr>
          <a:xfrm>
            <a:off x="70635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9" name="Google Shape;389;p32"/>
          <p:cNvCxnSpPr>
            <a:stCxn id="388" idx="2"/>
            <a:endCxn id="390" idx="0"/>
          </p:cNvCxnSpPr>
          <p:nvPr/>
        </p:nvCxnSpPr>
        <p:spPr>
          <a:xfrm rot="5400000">
            <a:off x="3507500" y="-14940"/>
            <a:ext cx="1910700" cy="54102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390" name="Google Shape;390;p32"/>
          <p:cNvSpPr/>
          <p:nvPr/>
        </p:nvSpPr>
        <p:spPr>
          <a:xfrm>
            <a:off x="1653350" y="3645585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2"/>
          <p:cNvSpPr/>
          <p:nvPr/>
        </p:nvSpPr>
        <p:spPr>
          <a:xfrm>
            <a:off x="6499513" y="1621638"/>
            <a:ext cx="372000" cy="3246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/>
              <a:t>true</a:t>
            </a:r>
            <a:endParaRPr sz="700"/>
          </a:p>
        </p:txBody>
      </p:sp>
      <p:sp>
        <p:nvSpPr>
          <p:cNvPr id="392" name="Google Shape;392;p32"/>
          <p:cNvSpPr txBox="1"/>
          <p:nvPr/>
        </p:nvSpPr>
        <p:spPr>
          <a:xfrm>
            <a:off x="6415215" y="1196224"/>
            <a:ext cx="5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odd</a:t>
            </a:r>
            <a:endParaRPr b="1"/>
          </a:p>
        </p:txBody>
      </p:sp>
      <p:cxnSp>
        <p:nvCxnSpPr>
          <p:cNvPr id="393" name="Google Shape;393;p32"/>
          <p:cNvCxnSpPr>
            <a:stCxn id="384" idx="2"/>
            <a:endCxn id="394" idx="0"/>
          </p:cNvCxnSpPr>
          <p:nvPr/>
        </p:nvCxnSpPr>
        <p:spPr>
          <a:xfrm flipH="1" rot="-5400000">
            <a:off x="5277900" y="2276310"/>
            <a:ext cx="1085700" cy="27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95" name="Google Shape;395;p32"/>
          <p:cNvSpPr/>
          <p:nvPr/>
        </p:nvSpPr>
        <p:spPr>
          <a:xfrm>
            <a:off x="607722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2"/>
          <p:cNvSpPr txBox="1"/>
          <p:nvPr/>
        </p:nvSpPr>
        <p:spPr>
          <a:xfrm>
            <a:off x="603252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b2</a:t>
            </a:r>
            <a:endParaRPr b="1"/>
          </a:p>
        </p:txBody>
      </p:sp>
      <p:sp>
        <p:nvSpPr>
          <p:cNvPr id="397" name="Google Shape;397;p32"/>
          <p:cNvSpPr/>
          <p:nvPr/>
        </p:nvSpPr>
        <p:spPr>
          <a:xfrm>
            <a:off x="6156120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2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sp>
        <p:nvSpPr>
          <p:cNvPr id="398" name="Google Shape;398;p32"/>
          <p:cNvSpPr/>
          <p:nvPr/>
        </p:nvSpPr>
        <p:spPr>
          <a:xfrm>
            <a:off x="7428308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2"/>
          <p:cNvSpPr txBox="1"/>
          <p:nvPr/>
        </p:nvSpPr>
        <p:spPr>
          <a:xfrm>
            <a:off x="7383608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</a:t>
            </a:r>
            <a:endParaRPr b="1"/>
          </a:p>
        </p:txBody>
      </p:sp>
      <p:sp>
        <p:nvSpPr>
          <p:cNvPr id="400" name="Google Shape;400;p32"/>
          <p:cNvSpPr/>
          <p:nvPr/>
        </p:nvSpPr>
        <p:spPr>
          <a:xfrm>
            <a:off x="7507208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2"/>
          <p:cNvSpPr/>
          <p:nvPr/>
        </p:nvSpPr>
        <p:spPr>
          <a:xfrm>
            <a:off x="6074513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5</a:t>
            </a:r>
            <a:endParaRPr b="1"/>
          </a:p>
        </p:txBody>
      </p:sp>
      <p:cxnSp>
        <p:nvCxnSpPr>
          <p:cNvPr id="402" name="Google Shape;402;p32"/>
          <p:cNvCxnSpPr>
            <a:stCxn id="400" idx="2"/>
            <a:endCxn id="401" idx="0"/>
          </p:cNvCxnSpPr>
          <p:nvPr/>
        </p:nvCxnSpPr>
        <p:spPr>
          <a:xfrm rot="5400000">
            <a:off x="6395558" y="1604566"/>
            <a:ext cx="1080900" cy="1351200"/>
          </a:xfrm>
          <a:prstGeom prst="curved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03" name="Google Shape;403;p3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409" name="Google Shape;409;p33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33"/>
          <p:cNvSpPr/>
          <p:nvPr/>
        </p:nvSpPr>
        <p:spPr>
          <a:xfrm>
            <a:off x="5264100" y="1621638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3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412" name="Google Shape;412;p33"/>
          <p:cNvSpPr/>
          <p:nvPr/>
        </p:nvSpPr>
        <p:spPr>
          <a:xfrm>
            <a:off x="563610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3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/>
          </a:p>
        </p:txBody>
      </p:sp>
      <p:sp>
        <p:nvSpPr>
          <p:cNvPr id="414" name="Google Shape;414;p33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3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16" name="Google Shape;416;p33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3"/>
          <p:cNvSpPr/>
          <p:nvPr/>
        </p:nvSpPr>
        <p:spPr>
          <a:xfrm>
            <a:off x="478750" y="1946249"/>
            <a:ext cx="3568200" cy="2547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3"/>
          <p:cNvSpPr/>
          <p:nvPr/>
        </p:nvSpPr>
        <p:spPr>
          <a:xfrm>
            <a:off x="66540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3"/>
          <p:cNvSpPr/>
          <p:nvPr/>
        </p:nvSpPr>
        <p:spPr>
          <a:xfrm>
            <a:off x="6981950" y="1621638"/>
            <a:ext cx="372000" cy="3246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3"/>
          <p:cNvSpPr/>
          <p:nvPr/>
        </p:nvSpPr>
        <p:spPr>
          <a:xfrm>
            <a:off x="70635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1" name="Google Shape;421;p33"/>
          <p:cNvCxnSpPr>
            <a:stCxn id="420" idx="2"/>
            <a:endCxn id="422" idx="0"/>
          </p:cNvCxnSpPr>
          <p:nvPr/>
        </p:nvCxnSpPr>
        <p:spPr>
          <a:xfrm rot="5400000">
            <a:off x="3507500" y="-14940"/>
            <a:ext cx="1910700" cy="5410200"/>
          </a:xfrm>
          <a:prstGeom prst="curved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oval"/>
            <a:tailEnd len="med" w="med" type="triangle"/>
          </a:ln>
        </p:spPr>
      </p:cxnSp>
      <p:sp>
        <p:nvSpPr>
          <p:cNvPr id="422" name="Google Shape;422;p33"/>
          <p:cNvSpPr/>
          <p:nvPr/>
        </p:nvSpPr>
        <p:spPr>
          <a:xfrm>
            <a:off x="1653350" y="3645585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3"/>
          <p:cNvSpPr/>
          <p:nvPr/>
        </p:nvSpPr>
        <p:spPr>
          <a:xfrm>
            <a:off x="6499513" y="1621638"/>
            <a:ext cx="372000" cy="3246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/>
              <a:t>true</a:t>
            </a:r>
            <a:endParaRPr sz="700"/>
          </a:p>
        </p:txBody>
      </p:sp>
      <p:sp>
        <p:nvSpPr>
          <p:cNvPr id="424" name="Google Shape;424;p33"/>
          <p:cNvSpPr txBox="1"/>
          <p:nvPr/>
        </p:nvSpPr>
        <p:spPr>
          <a:xfrm>
            <a:off x="6415215" y="1196224"/>
            <a:ext cx="5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odd</a:t>
            </a:r>
            <a:endParaRPr b="1"/>
          </a:p>
        </p:txBody>
      </p:sp>
      <p:cxnSp>
        <p:nvCxnSpPr>
          <p:cNvPr id="425" name="Google Shape;425;p33"/>
          <p:cNvCxnSpPr>
            <a:stCxn id="416" idx="2"/>
            <a:endCxn id="426" idx="0"/>
          </p:cNvCxnSpPr>
          <p:nvPr/>
        </p:nvCxnSpPr>
        <p:spPr>
          <a:xfrm flipH="1" rot="-5400000">
            <a:off x="5277900" y="2276310"/>
            <a:ext cx="1085700" cy="27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7" name="Google Shape;427;p33"/>
          <p:cNvSpPr/>
          <p:nvPr/>
        </p:nvSpPr>
        <p:spPr>
          <a:xfrm>
            <a:off x="607722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3"/>
          <p:cNvSpPr txBox="1"/>
          <p:nvPr/>
        </p:nvSpPr>
        <p:spPr>
          <a:xfrm>
            <a:off x="603252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b2</a:t>
            </a:r>
            <a:endParaRPr b="1"/>
          </a:p>
        </p:txBody>
      </p:sp>
      <p:sp>
        <p:nvSpPr>
          <p:cNvPr id="429" name="Google Shape;429;p33"/>
          <p:cNvSpPr/>
          <p:nvPr/>
        </p:nvSpPr>
        <p:spPr>
          <a:xfrm>
            <a:off x="6156120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sp>
        <p:nvSpPr>
          <p:cNvPr id="430" name="Google Shape;430;p33"/>
          <p:cNvSpPr/>
          <p:nvPr/>
        </p:nvSpPr>
        <p:spPr>
          <a:xfrm>
            <a:off x="7428308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3"/>
          <p:cNvSpPr txBox="1"/>
          <p:nvPr/>
        </p:nvSpPr>
        <p:spPr>
          <a:xfrm>
            <a:off x="7383608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</a:t>
            </a:r>
            <a:endParaRPr b="1"/>
          </a:p>
        </p:txBody>
      </p:sp>
      <p:sp>
        <p:nvSpPr>
          <p:cNvPr id="432" name="Google Shape;432;p33"/>
          <p:cNvSpPr/>
          <p:nvPr/>
        </p:nvSpPr>
        <p:spPr>
          <a:xfrm>
            <a:off x="7507208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3"/>
          <p:cNvSpPr/>
          <p:nvPr/>
        </p:nvSpPr>
        <p:spPr>
          <a:xfrm>
            <a:off x="6074513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5</a:t>
            </a:r>
            <a:endParaRPr b="1"/>
          </a:p>
        </p:txBody>
      </p:sp>
      <p:cxnSp>
        <p:nvCxnSpPr>
          <p:cNvPr id="434" name="Google Shape;434;p33"/>
          <p:cNvCxnSpPr>
            <a:stCxn id="432" idx="2"/>
            <a:endCxn id="433" idx="0"/>
          </p:cNvCxnSpPr>
          <p:nvPr/>
        </p:nvCxnSpPr>
        <p:spPr>
          <a:xfrm rot="5400000">
            <a:off x="6395558" y="1604566"/>
            <a:ext cx="1080900" cy="1351200"/>
          </a:xfrm>
          <a:prstGeom prst="curvedConnector3">
            <a:avLst>
              <a:gd fmla="val 50006" name="adj1"/>
            </a:avLst>
          </a:prstGeom>
          <a:noFill/>
          <a:ln cap="flat" cmpd="sng" w="19050">
            <a:solidFill>
              <a:srgbClr val="B7B7B7"/>
            </a:solidFill>
            <a:prstDash val="dot"/>
            <a:round/>
            <a:headEnd len="med" w="med" type="oval"/>
            <a:tailEnd len="med" w="med" type="triangle"/>
          </a:ln>
        </p:spPr>
      </p:cxnSp>
      <p:cxnSp>
        <p:nvCxnSpPr>
          <p:cNvPr id="435" name="Google Shape;435;p33"/>
          <p:cNvCxnSpPr>
            <a:stCxn id="429" idx="2"/>
            <a:endCxn id="433" idx="0"/>
          </p:cNvCxnSpPr>
          <p:nvPr/>
        </p:nvCxnSpPr>
        <p:spPr>
          <a:xfrm flipH="1" rot="-5400000">
            <a:off x="5720370" y="2279866"/>
            <a:ext cx="1080900" cy="600"/>
          </a:xfrm>
          <a:prstGeom prst="curved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36" name="Google Shape;436;p3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442" name="Google Shape;442;p34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5264100" y="1621638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4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445" name="Google Shape;445;p34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b1</a:t>
            </a:r>
            <a:endParaRPr b="1">
              <a:solidFill>
                <a:srgbClr val="B7B7B7"/>
              </a:solidFill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4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48" name="Google Shape;448;p34"/>
          <p:cNvSpPr/>
          <p:nvPr/>
        </p:nvSpPr>
        <p:spPr>
          <a:xfrm>
            <a:off x="472050" y="3528575"/>
            <a:ext cx="3568200" cy="2601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4"/>
          <p:cNvSpPr/>
          <p:nvPr/>
        </p:nvSpPr>
        <p:spPr>
          <a:xfrm>
            <a:off x="66540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4"/>
          <p:cNvSpPr/>
          <p:nvPr/>
        </p:nvSpPr>
        <p:spPr>
          <a:xfrm>
            <a:off x="70635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4"/>
          <p:cNvSpPr/>
          <p:nvPr/>
        </p:nvSpPr>
        <p:spPr>
          <a:xfrm>
            <a:off x="1653350" y="33884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4"/>
          <p:cNvSpPr/>
          <p:nvPr/>
        </p:nvSpPr>
        <p:spPr>
          <a:xfrm>
            <a:off x="607722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4"/>
          <p:cNvSpPr txBox="1"/>
          <p:nvPr/>
        </p:nvSpPr>
        <p:spPr>
          <a:xfrm>
            <a:off x="603252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b2</a:t>
            </a:r>
            <a:endParaRPr b="1"/>
          </a:p>
        </p:txBody>
      </p:sp>
      <p:sp>
        <p:nvSpPr>
          <p:cNvPr id="454" name="Google Shape;454;p34"/>
          <p:cNvSpPr/>
          <p:nvPr/>
        </p:nvSpPr>
        <p:spPr>
          <a:xfrm>
            <a:off x="6156120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4"/>
          <p:cNvSpPr/>
          <p:nvPr/>
        </p:nvSpPr>
        <p:spPr>
          <a:xfrm>
            <a:off x="6074513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5</a:t>
            </a:r>
            <a:endParaRPr b="1"/>
          </a:p>
        </p:txBody>
      </p:sp>
      <p:cxnSp>
        <p:nvCxnSpPr>
          <p:cNvPr id="456" name="Google Shape;456;p34"/>
          <p:cNvCxnSpPr>
            <a:stCxn id="454" idx="2"/>
            <a:endCxn id="455" idx="0"/>
          </p:cNvCxnSpPr>
          <p:nvPr/>
        </p:nvCxnSpPr>
        <p:spPr>
          <a:xfrm flipH="1" rot="-5400000">
            <a:off x="5720370" y="2279866"/>
            <a:ext cx="1080900" cy="600"/>
          </a:xfrm>
          <a:prstGeom prst="curved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57" name="Google Shape;457;p3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58" name="Google Shape;458;p34"/>
          <p:cNvSpPr/>
          <p:nvPr/>
        </p:nvSpPr>
        <p:spPr>
          <a:xfrm flipH="1">
            <a:off x="6521750" y="1685295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4"/>
          <p:cNvSpPr/>
          <p:nvPr/>
        </p:nvSpPr>
        <p:spPr>
          <a:xfrm>
            <a:off x="563610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4"/>
          <p:cNvSpPr/>
          <p:nvPr/>
        </p:nvSpPr>
        <p:spPr>
          <a:xfrm>
            <a:off x="5636088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0</a:t>
            </a:r>
            <a:endParaRPr b="1"/>
          </a:p>
        </p:txBody>
      </p:sp>
      <p:sp>
        <p:nvSpPr>
          <p:cNvPr id="461" name="Google Shape;461;p34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2" name="Google Shape;462;p34"/>
          <p:cNvCxnSpPr>
            <a:stCxn id="461" idx="2"/>
          </p:cNvCxnSpPr>
          <p:nvPr/>
        </p:nvCxnSpPr>
        <p:spPr>
          <a:xfrm flipH="1" rot="-5400000">
            <a:off x="5277900" y="2276310"/>
            <a:ext cx="1085700" cy="2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468" name="Google Shape;468;p35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9" name="Google Shape;469;p35"/>
          <p:cNvSpPr/>
          <p:nvPr/>
        </p:nvSpPr>
        <p:spPr>
          <a:xfrm>
            <a:off x="5264100" y="1621638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5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471" name="Google Shape;471;p35"/>
          <p:cNvSpPr/>
          <p:nvPr/>
        </p:nvSpPr>
        <p:spPr>
          <a:xfrm>
            <a:off x="563610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5"/>
          <p:cNvSpPr txBox="1"/>
          <p:nvPr/>
        </p:nvSpPr>
        <p:spPr>
          <a:xfrm>
            <a:off x="559140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B7B7B7"/>
                </a:solidFill>
              </a:rPr>
              <a:t>b1</a:t>
            </a:r>
            <a:endParaRPr b="1">
              <a:solidFill>
                <a:srgbClr val="999999"/>
              </a:solidFill>
            </a:endParaRPr>
          </a:p>
        </p:txBody>
      </p:sp>
      <p:sp>
        <p:nvSpPr>
          <p:cNvPr id="473" name="Google Shape;473;p35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5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75" name="Google Shape;475;p35"/>
          <p:cNvSpPr/>
          <p:nvPr/>
        </p:nvSpPr>
        <p:spPr>
          <a:xfrm>
            <a:off x="571500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5"/>
          <p:cNvSpPr/>
          <p:nvPr/>
        </p:nvSpPr>
        <p:spPr>
          <a:xfrm>
            <a:off x="484425" y="3799275"/>
            <a:ext cx="3568200" cy="2664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5"/>
          <p:cNvSpPr/>
          <p:nvPr/>
        </p:nvSpPr>
        <p:spPr>
          <a:xfrm>
            <a:off x="6654088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5"/>
          <p:cNvSpPr/>
          <p:nvPr/>
        </p:nvSpPr>
        <p:spPr>
          <a:xfrm>
            <a:off x="70635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5"/>
          <p:cNvSpPr/>
          <p:nvPr/>
        </p:nvSpPr>
        <p:spPr>
          <a:xfrm>
            <a:off x="1653350" y="33884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5"/>
          <p:cNvSpPr/>
          <p:nvPr/>
        </p:nvSpPr>
        <p:spPr>
          <a:xfrm>
            <a:off x="6077220" y="1621638"/>
            <a:ext cx="372000" cy="324600"/>
          </a:xfrm>
          <a:prstGeom prst="rect">
            <a:avLst/>
          </a:prstGeom>
          <a:solidFill>
            <a:srgbClr val="AFD7F7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5"/>
          <p:cNvSpPr txBox="1"/>
          <p:nvPr/>
        </p:nvSpPr>
        <p:spPr>
          <a:xfrm>
            <a:off x="6032520" y="1196224"/>
            <a:ext cx="46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b2</a:t>
            </a:r>
            <a:endParaRPr b="1"/>
          </a:p>
        </p:txBody>
      </p:sp>
      <p:sp>
        <p:nvSpPr>
          <p:cNvPr id="482" name="Google Shape;482;p35"/>
          <p:cNvSpPr/>
          <p:nvPr/>
        </p:nvSpPr>
        <p:spPr>
          <a:xfrm>
            <a:off x="6156120" y="1678816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5"/>
          <p:cNvSpPr/>
          <p:nvPr/>
        </p:nvSpPr>
        <p:spPr>
          <a:xfrm>
            <a:off x="6074513" y="2820510"/>
            <a:ext cx="372000" cy="3246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5</a:t>
            </a:r>
            <a:endParaRPr b="1"/>
          </a:p>
        </p:txBody>
      </p:sp>
      <p:cxnSp>
        <p:nvCxnSpPr>
          <p:cNvPr id="484" name="Google Shape;484;p35"/>
          <p:cNvCxnSpPr>
            <a:stCxn id="482" idx="2"/>
            <a:endCxn id="483" idx="0"/>
          </p:cNvCxnSpPr>
          <p:nvPr/>
        </p:nvCxnSpPr>
        <p:spPr>
          <a:xfrm flipH="1" rot="-5400000">
            <a:off x="5720370" y="2279866"/>
            <a:ext cx="1080900" cy="600"/>
          </a:xfrm>
          <a:prstGeom prst="curved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85" name="Google Shape;485;p3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std::Box&lt;T&gt;</a:t>
            </a:r>
            <a:endParaRPr/>
          </a:p>
        </p:txBody>
      </p:sp>
      <p:sp>
        <p:nvSpPr>
          <p:cNvPr id="491" name="Google Shape;491;p36"/>
          <p:cNvSpPr txBox="1"/>
          <p:nvPr/>
        </p:nvSpPr>
        <p:spPr>
          <a:xfrm>
            <a:off x="395850" y="1079910"/>
            <a:ext cx="3921300" cy="3601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produce(odd: bool) -&gt; Box&lt;i32&gt;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mut b = Box::new(0);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odd { *b = 5; 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b;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b1 = produce(false);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println!("b1: {}", 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b2 = produce(true);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drop(b1);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println!("b2: {}", b2);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5264100" y="1621638"/>
            <a:ext cx="3568200" cy="3246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6"/>
          <p:cNvSpPr txBox="1"/>
          <p:nvPr/>
        </p:nvSpPr>
        <p:spPr>
          <a:xfrm>
            <a:off x="4486325" y="1605375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Stack</a:t>
            </a:r>
            <a:endParaRPr/>
          </a:p>
        </p:txBody>
      </p:sp>
      <p:sp>
        <p:nvSpPr>
          <p:cNvPr id="494" name="Google Shape;494;p36"/>
          <p:cNvSpPr/>
          <p:nvPr/>
        </p:nvSpPr>
        <p:spPr>
          <a:xfrm>
            <a:off x="5264100" y="2820510"/>
            <a:ext cx="3568200" cy="3246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6"/>
          <p:cNvSpPr txBox="1"/>
          <p:nvPr/>
        </p:nvSpPr>
        <p:spPr>
          <a:xfrm>
            <a:off x="4486325" y="2784870"/>
            <a:ext cx="71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Heap</a:t>
            </a:r>
            <a:endParaRPr/>
          </a:p>
        </p:txBody>
      </p:sp>
      <p:sp>
        <p:nvSpPr>
          <p:cNvPr id="496" name="Google Shape;496;p36"/>
          <p:cNvSpPr/>
          <p:nvPr/>
        </p:nvSpPr>
        <p:spPr>
          <a:xfrm>
            <a:off x="454025" y="4069990"/>
            <a:ext cx="3568200" cy="262800"/>
          </a:xfrm>
          <a:prstGeom prst="roundRect">
            <a:avLst>
              <a:gd fmla="val 16667" name="adj"/>
            </a:avLst>
          </a:prstGeom>
          <a:solidFill>
            <a:srgbClr val="EEFF41">
              <a:alpha val="22950"/>
            </a:srgbClr>
          </a:solidFill>
          <a:ln cap="flat" cmpd="sng" w="2857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6"/>
          <p:cNvSpPr/>
          <p:nvPr/>
        </p:nvSpPr>
        <p:spPr>
          <a:xfrm>
            <a:off x="7063550" y="16739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6"/>
          <p:cNvSpPr/>
          <p:nvPr/>
        </p:nvSpPr>
        <p:spPr>
          <a:xfrm>
            <a:off x="1653350" y="3388410"/>
            <a:ext cx="208800" cy="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"/>
          <p:cNvSpPr/>
          <p:nvPr/>
        </p:nvSpPr>
        <p:spPr>
          <a:xfrm flipH="1">
            <a:off x="5454950" y="1685295"/>
            <a:ext cx="304500" cy="200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EE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std::rc::Rc&lt;T&gt;</a:t>
            </a:r>
            <a:endParaRPr/>
          </a:p>
        </p:txBody>
      </p:sp>
      <p:sp>
        <p:nvSpPr>
          <p:cNvPr id="506" name="Google Shape;506;p3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07" name="Google Shape;507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Nelle situazioni in cui occorre disporre di più possessori di uno stesso dato immutabile, è possibile usare questo smart pointer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Internamente mantiene il dato allocato e due contatori: il numero dei riferimenti forti e quello dei riferimenti deboli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Ogni volta che questo puntatore viene clonato, il primo contatore viene incrementato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Quando il puntatore esce dal proprio scope, il contatore viene decrementato: se il risultato è 0, il blocco viene rilasciato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Rc&lt;T&gt;</a:t>
            </a:r>
            <a:r>
              <a:rPr lang="it"/>
              <a:t> si presta a realizzare alberi e grafi aciclici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Non può essere usato </a:t>
            </a:r>
            <a:r>
              <a:rPr b="1" lang="it">
                <a:solidFill>
                  <a:srgbClr val="0B5394"/>
                </a:solidFill>
              </a:rPr>
              <a:t>da più di un thread</a:t>
            </a:r>
            <a:endParaRPr b="1">
              <a:solidFill>
                <a:srgbClr val="0B5394"/>
              </a:solidFill>
            </a:endParaRPr>
          </a:p>
        </p:txBody>
      </p:sp>
      <p:grpSp>
        <p:nvGrpSpPr>
          <p:cNvPr id="508" name="Google Shape;508;p37"/>
          <p:cNvGrpSpPr/>
          <p:nvPr/>
        </p:nvGrpSpPr>
        <p:grpSpPr>
          <a:xfrm>
            <a:off x="5075725" y="621000"/>
            <a:ext cx="3840451" cy="3947783"/>
            <a:chOff x="5075725" y="690000"/>
            <a:chExt cx="3840451" cy="4386425"/>
          </a:xfrm>
        </p:grpSpPr>
        <p:grpSp>
          <p:nvGrpSpPr>
            <p:cNvPr id="509" name="Google Shape;509;p37"/>
            <p:cNvGrpSpPr/>
            <p:nvPr/>
          </p:nvGrpSpPr>
          <p:grpSpPr>
            <a:xfrm>
              <a:off x="5075725" y="690000"/>
              <a:ext cx="3840451" cy="4386425"/>
              <a:chOff x="5075725" y="690000"/>
              <a:chExt cx="3840451" cy="4386425"/>
            </a:xfrm>
          </p:grpSpPr>
          <p:pic>
            <p:nvPicPr>
              <p:cNvPr id="510" name="Google Shape;510;p37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251901" y="775775"/>
                <a:ext cx="3664275" cy="4300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1" name="Google Shape;511;p37"/>
              <p:cNvSpPr txBox="1"/>
              <p:nvPr/>
            </p:nvSpPr>
            <p:spPr>
              <a:xfrm>
                <a:off x="5075725" y="3304299"/>
                <a:ext cx="10806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>
                    <a:latin typeface="Consolas"/>
                    <a:ea typeface="Consolas"/>
                    <a:cs typeface="Consolas"/>
                    <a:sym typeface="Consolas"/>
                  </a:rPr>
                  <a:t>rc: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12" name="Google Shape;512;p37"/>
              <p:cNvSpPr txBox="1"/>
              <p:nvPr/>
            </p:nvSpPr>
            <p:spPr>
              <a:xfrm>
                <a:off x="5170727" y="690000"/>
                <a:ext cx="1080600" cy="444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>
                    <a:latin typeface="Consolas"/>
                    <a:ea typeface="Consolas"/>
                    <a:cs typeface="Consolas"/>
                    <a:sym typeface="Consolas"/>
                  </a:rPr>
                  <a:t>ref:</a:t>
                </a: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513" name="Google Shape;513;p37"/>
            <p:cNvSpPr txBox="1"/>
            <p:nvPr/>
          </p:nvSpPr>
          <p:spPr>
            <a:xfrm>
              <a:off x="6968825" y="3099450"/>
              <a:ext cx="1367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latin typeface="Consolas"/>
                  <a:ea typeface="Consolas"/>
                  <a:cs typeface="Consolas"/>
                  <a:sym typeface="Consolas"/>
                </a:rPr>
                <a:t>ref = &amp;*rc;</a:t>
              </a: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8"/>
          <p:cNvSpPr/>
          <p:nvPr/>
        </p:nvSpPr>
        <p:spPr>
          <a:xfrm>
            <a:off x="5746275" y="3710453"/>
            <a:ext cx="2635500" cy="343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8"/>
          <p:cNvSpPr/>
          <p:nvPr/>
        </p:nvSpPr>
        <p:spPr>
          <a:xfrm>
            <a:off x="6825400" y="4222575"/>
            <a:ext cx="1799400" cy="343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8"/>
          <p:cNvSpPr txBox="1"/>
          <p:nvPr>
            <p:ph type="title"/>
          </p:nvPr>
        </p:nvSpPr>
        <p:spPr>
          <a:xfrm>
            <a:off x="311700" y="445027"/>
            <a:ext cx="385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std::rc::Rc&lt;T&gt;</a:t>
            </a:r>
            <a:endParaRPr/>
          </a:p>
        </p:txBody>
      </p:sp>
      <p:sp>
        <p:nvSpPr>
          <p:cNvPr id="521" name="Google Shape;521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enum List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Cons(i32, Rc&lt;List&gt;),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Nil,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use crate::List::{Cons, Nil};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use std::rc::Rc;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let a = Rc::new(</a:t>
            </a:r>
            <a:br>
              <a:rPr b="1" lang="it"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   Cons(5,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     Rc::new(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       Cons(10, Rc::new(Nil)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)));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let b = Rc::new(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Cons(3, Rc::clone(&amp;a)));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let c = Rc::new(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Cons(4, Rc::clone(&amp;a)));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2" name="Google Shape;522;p3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23" name="Google Shape;523;p38"/>
          <p:cNvSpPr/>
          <p:nvPr/>
        </p:nvSpPr>
        <p:spPr>
          <a:xfrm>
            <a:off x="7881850" y="4276845"/>
            <a:ext cx="676800" cy="235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Nil</a:t>
            </a:r>
            <a:endParaRPr/>
          </a:p>
        </p:txBody>
      </p:sp>
      <p:sp>
        <p:nvSpPr>
          <p:cNvPr id="524" name="Google Shape;524;p38"/>
          <p:cNvSpPr/>
          <p:nvPr/>
        </p:nvSpPr>
        <p:spPr>
          <a:xfrm>
            <a:off x="6741225" y="3764723"/>
            <a:ext cx="1569600" cy="235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Cons</a:t>
            </a:r>
            <a:endParaRPr/>
          </a:p>
        </p:txBody>
      </p:sp>
      <p:sp>
        <p:nvSpPr>
          <p:cNvPr id="525" name="Google Shape;525;p38"/>
          <p:cNvSpPr/>
          <p:nvPr/>
        </p:nvSpPr>
        <p:spPr>
          <a:xfrm>
            <a:off x="7372600" y="3807518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10</a:t>
            </a:r>
            <a:endParaRPr sz="1100"/>
          </a:p>
        </p:txBody>
      </p:sp>
      <p:sp>
        <p:nvSpPr>
          <p:cNvPr id="526" name="Google Shape;526;p38"/>
          <p:cNvSpPr/>
          <p:nvPr/>
        </p:nvSpPr>
        <p:spPr>
          <a:xfrm>
            <a:off x="7859375" y="3807518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Rc</a:t>
            </a:r>
            <a:endParaRPr sz="1000"/>
          </a:p>
        </p:txBody>
      </p:sp>
      <p:cxnSp>
        <p:nvCxnSpPr>
          <p:cNvPr id="527" name="Google Shape;527;p38"/>
          <p:cNvCxnSpPr>
            <a:stCxn id="526" idx="3"/>
            <a:endCxn id="519" idx="0"/>
          </p:cNvCxnSpPr>
          <p:nvPr/>
        </p:nvCxnSpPr>
        <p:spPr>
          <a:xfrm flipH="1">
            <a:off x="7724975" y="3882368"/>
            <a:ext cx="478800" cy="340200"/>
          </a:xfrm>
          <a:prstGeom prst="curvedConnector4">
            <a:avLst>
              <a:gd fmla="val -49734" name="adj1"/>
              <a:gd fmla="val 6100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8" name="Google Shape;528;p38"/>
          <p:cNvSpPr/>
          <p:nvPr/>
        </p:nvSpPr>
        <p:spPr>
          <a:xfrm>
            <a:off x="5859675" y="3807518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1</a:t>
            </a:r>
            <a:endParaRPr sz="1100"/>
          </a:p>
        </p:txBody>
      </p:sp>
      <p:sp>
        <p:nvSpPr>
          <p:cNvPr id="529" name="Google Shape;529;p38"/>
          <p:cNvSpPr/>
          <p:nvPr/>
        </p:nvSpPr>
        <p:spPr>
          <a:xfrm>
            <a:off x="6300450" y="3807518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0</a:t>
            </a:r>
            <a:endParaRPr sz="1100"/>
          </a:p>
        </p:txBody>
      </p:sp>
      <p:sp>
        <p:nvSpPr>
          <p:cNvPr id="530" name="Google Shape;530;p38"/>
          <p:cNvSpPr/>
          <p:nvPr/>
        </p:nvSpPr>
        <p:spPr>
          <a:xfrm>
            <a:off x="6939800" y="4319640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1</a:t>
            </a:r>
            <a:endParaRPr sz="1100"/>
          </a:p>
        </p:txBody>
      </p:sp>
      <p:sp>
        <p:nvSpPr>
          <p:cNvPr id="531" name="Google Shape;531;p38"/>
          <p:cNvSpPr/>
          <p:nvPr/>
        </p:nvSpPr>
        <p:spPr>
          <a:xfrm>
            <a:off x="7380575" y="4319640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0</a:t>
            </a:r>
            <a:endParaRPr sz="1100"/>
          </a:p>
        </p:txBody>
      </p:sp>
      <p:sp>
        <p:nvSpPr>
          <p:cNvPr id="532" name="Google Shape;532;p38"/>
          <p:cNvSpPr/>
          <p:nvPr/>
        </p:nvSpPr>
        <p:spPr>
          <a:xfrm>
            <a:off x="5758225" y="3029985"/>
            <a:ext cx="2635500" cy="343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8"/>
          <p:cNvSpPr/>
          <p:nvPr/>
        </p:nvSpPr>
        <p:spPr>
          <a:xfrm>
            <a:off x="6753175" y="3084255"/>
            <a:ext cx="1569600" cy="235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Cons</a:t>
            </a:r>
            <a:endParaRPr/>
          </a:p>
        </p:txBody>
      </p:sp>
      <p:sp>
        <p:nvSpPr>
          <p:cNvPr id="534" name="Google Shape;534;p38"/>
          <p:cNvSpPr/>
          <p:nvPr/>
        </p:nvSpPr>
        <p:spPr>
          <a:xfrm>
            <a:off x="7384550" y="3127050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5</a:t>
            </a:r>
            <a:endParaRPr sz="1100"/>
          </a:p>
        </p:txBody>
      </p:sp>
      <p:sp>
        <p:nvSpPr>
          <p:cNvPr id="535" name="Google Shape;535;p38"/>
          <p:cNvSpPr/>
          <p:nvPr/>
        </p:nvSpPr>
        <p:spPr>
          <a:xfrm>
            <a:off x="7871325" y="3127050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Rc</a:t>
            </a:r>
            <a:endParaRPr sz="1000"/>
          </a:p>
        </p:txBody>
      </p:sp>
      <p:cxnSp>
        <p:nvCxnSpPr>
          <p:cNvPr id="536" name="Google Shape;536;p38"/>
          <p:cNvCxnSpPr>
            <a:stCxn id="535" idx="3"/>
            <a:endCxn id="518" idx="0"/>
          </p:cNvCxnSpPr>
          <p:nvPr/>
        </p:nvCxnSpPr>
        <p:spPr>
          <a:xfrm flipH="1">
            <a:off x="7064025" y="3201900"/>
            <a:ext cx="1151700" cy="508500"/>
          </a:xfrm>
          <a:prstGeom prst="curvedConnector4">
            <a:avLst>
              <a:gd fmla="val -20676" name="adj1"/>
              <a:gd fmla="val 57345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7" name="Google Shape;537;p38"/>
          <p:cNvSpPr/>
          <p:nvPr/>
        </p:nvSpPr>
        <p:spPr>
          <a:xfrm>
            <a:off x="5871625" y="3127050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3</a:t>
            </a:r>
            <a:endParaRPr sz="1100"/>
          </a:p>
        </p:txBody>
      </p:sp>
      <p:sp>
        <p:nvSpPr>
          <p:cNvPr id="538" name="Google Shape;538;p38"/>
          <p:cNvSpPr/>
          <p:nvPr/>
        </p:nvSpPr>
        <p:spPr>
          <a:xfrm>
            <a:off x="6312400" y="3127050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0</a:t>
            </a:r>
            <a:endParaRPr sz="1100"/>
          </a:p>
        </p:txBody>
      </p:sp>
      <p:sp>
        <p:nvSpPr>
          <p:cNvPr id="539" name="Google Shape;539;p38"/>
          <p:cNvSpPr/>
          <p:nvPr/>
        </p:nvSpPr>
        <p:spPr>
          <a:xfrm>
            <a:off x="4808350" y="3127050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Rc</a:t>
            </a:r>
            <a:endParaRPr sz="1000"/>
          </a:p>
        </p:txBody>
      </p:sp>
      <p:cxnSp>
        <p:nvCxnSpPr>
          <p:cNvPr id="540" name="Google Shape;540;p38"/>
          <p:cNvCxnSpPr>
            <a:stCxn id="539" idx="3"/>
            <a:endCxn id="532" idx="0"/>
          </p:cNvCxnSpPr>
          <p:nvPr/>
        </p:nvCxnSpPr>
        <p:spPr>
          <a:xfrm flipH="1" rot="10800000">
            <a:off x="5152750" y="3030000"/>
            <a:ext cx="1923300" cy="171900"/>
          </a:xfrm>
          <a:prstGeom prst="curvedConnector4">
            <a:avLst>
              <a:gd fmla="val 15741" name="adj1"/>
              <a:gd fmla="val 22488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p38"/>
          <p:cNvSpPr/>
          <p:nvPr/>
        </p:nvSpPr>
        <p:spPr>
          <a:xfrm>
            <a:off x="5758225" y="2135070"/>
            <a:ext cx="2635500" cy="343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8"/>
          <p:cNvSpPr/>
          <p:nvPr/>
        </p:nvSpPr>
        <p:spPr>
          <a:xfrm>
            <a:off x="6753175" y="2189340"/>
            <a:ext cx="1569600" cy="235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Cons</a:t>
            </a:r>
            <a:endParaRPr/>
          </a:p>
        </p:txBody>
      </p:sp>
      <p:sp>
        <p:nvSpPr>
          <p:cNvPr id="543" name="Google Shape;543;p38"/>
          <p:cNvSpPr/>
          <p:nvPr/>
        </p:nvSpPr>
        <p:spPr>
          <a:xfrm>
            <a:off x="7384550" y="2232135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3</a:t>
            </a:r>
            <a:endParaRPr sz="1100"/>
          </a:p>
        </p:txBody>
      </p:sp>
      <p:sp>
        <p:nvSpPr>
          <p:cNvPr id="544" name="Google Shape;544;p38"/>
          <p:cNvSpPr/>
          <p:nvPr/>
        </p:nvSpPr>
        <p:spPr>
          <a:xfrm>
            <a:off x="7871325" y="2232135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Rc</a:t>
            </a:r>
            <a:endParaRPr sz="1000"/>
          </a:p>
        </p:txBody>
      </p:sp>
      <p:cxnSp>
        <p:nvCxnSpPr>
          <p:cNvPr id="545" name="Google Shape;545;p38"/>
          <p:cNvCxnSpPr>
            <a:stCxn id="544" idx="3"/>
            <a:endCxn id="532" idx="0"/>
          </p:cNvCxnSpPr>
          <p:nvPr/>
        </p:nvCxnSpPr>
        <p:spPr>
          <a:xfrm flipH="1">
            <a:off x="7076025" y="2306985"/>
            <a:ext cx="1139700" cy="723000"/>
          </a:xfrm>
          <a:prstGeom prst="curvedConnector4">
            <a:avLst>
              <a:gd fmla="val -20894" name="adj1"/>
              <a:gd fmla="val 5517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38"/>
          <p:cNvSpPr/>
          <p:nvPr/>
        </p:nvSpPr>
        <p:spPr>
          <a:xfrm>
            <a:off x="5871625" y="2232135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1</a:t>
            </a:r>
            <a:endParaRPr sz="1100"/>
          </a:p>
        </p:txBody>
      </p:sp>
      <p:sp>
        <p:nvSpPr>
          <p:cNvPr id="547" name="Google Shape;547;p38"/>
          <p:cNvSpPr/>
          <p:nvPr/>
        </p:nvSpPr>
        <p:spPr>
          <a:xfrm>
            <a:off x="6312400" y="2232135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0</a:t>
            </a:r>
            <a:endParaRPr sz="1100"/>
          </a:p>
        </p:txBody>
      </p:sp>
      <p:sp>
        <p:nvSpPr>
          <p:cNvPr id="548" name="Google Shape;548;p38"/>
          <p:cNvSpPr/>
          <p:nvPr/>
        </p:nvSpPr>
        <p:spPr>
          <a:xfrm>
            <a:off x="4808350" y="2232135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Rc</a:t>
            </a:r>
            <a:endParaRPr sz="1000"/>
          </a:p>
        </p:txBody>
      </p:sp>
      <p:cxnSp>
        <p:nvCxnSpPr>
          <p:cNvPr id="549" name="Google Shape;549;p38"/>
          <p:cNvCxnSpPr>
            <a:stCxn id="548" idx="3"/>
            <a:endCxn id="541" idx="0"/>
          </p:cNvCxnSpPr>
          <p:nvPr/>
        </p:nvCxnSpPr>
        <p:spPr>
          <a:xfrm flipH="1" rot="10800000">
            <a:off x="5152750" y="2135085"/>
            <a:ext cx="1923300" cy="171900"/>
          </a:xfrm>
          <a:prstGeom prst="curvedConnector4">
            <a:avLst>
              <a:gd fmla="val 15741" name="adj1"/>
              <a:gd fmla="val 22488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0" name="Google Shape;550;p38"/>
          <p:cNvSpPr txBox="1"/>
          <p:nvPr/>
        </p:nvSpPr>
        <p:spPr>
          <a:xfrm>
            <a:off x="4502975" y="3021750"/>
            <a:ext cx="3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a:</a:t>
            </a:r>
            <a:endParaRPr/>
          </a:p>
        </p:txBody>
      </p:sp>
      <p:sp>
        <p:nvSpPr>
          <p:cNvPr id="551" name="Google Shape;551;p38"/>
          <p:cNvSpPr txBox="1"/>
          <p:nvPr/>
        </p:nvSpPr>
        <p:spPr>
          <a:xfrm>
            <a:off x="4499850" y="2126835"/>
            <a:ext cx="3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</a:t>
            </a:r>
            <a:r>
              <a:rPr lang="it"/>
              <a:t>:</a:t>
            </a:r>
            <a:endParaRPr/>
          </a:p>
        </p:txBody>
      </p:sp>
      <p:sp>
        <p:nvSpPr>
          <p:cNvPr id="552" name="Google Shape;552;p38"/>
          <p:cNvSpPr/>
          <p:nvPr/>
        </p:nvSpPr>
        <p:spPr>
          <a:xfrm>
            <a:off x="5779421" y="1324855"/>
            <a:ext cx="2635500" cy="343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8"/>
          <p:cNvSpPr/>
          <p:nvPr/>
        </p:nvSpPr>
        <p:spPr>
          <a:xfrm>
            <a:off x="6774371" y="1379125"/>
            <a:ext cx="1569600" cy="2352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Cons</a:t>
            </a:r>
            <a:endParaRPr/>
          </a:p>
        </p:txBody>
      </p:sp>
      <p:sp>
        <p:nvSpPr>
          <p:cNvPr id="554" name="Google Shape;554;p38"/>
          <p:cNvSpPr/>
          <p:nvPr/>
        </p:nvSpPr>
        <p:spPr>
          <a:xfrm>
            <a:off x="7405746" y="1421920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4</a:t>
            </a:r>
            <a:endParaRPr sz="1100"/>
          </a:p>
        </p:txBody>
      </p:sp>
      <p:sp>
        <p:nvSpPr>
          <p:cNvPr id="555" name="Google Shape;555;p38"/>
          <p:cNvSpPr/>
          <p:nvPr/>
        </p:nvSpPr>
        <p:spPr>
          <a:xfrm>
            <a:off x="7892521" y="1421920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Rc</a:t>
            </a:r>
            <a:endParaRPr sz="1000"/>
          </a:p>
        </p:txBody>
      </p:sp>
      <p:cxnSp>
        <p:nvCxnSpPr>
          <p:cNvPr id="556" name="Google Shape;556;p38"/>
          <p:cNvCxnSpPr>
            <a:stCxn id="555" idx="3"/>
          </p:cNvCxnSpPr>
          <p:nvPr/>
        </p:nvCxnSpPr>
        <p:spPr>
          <a:xfrm flipH="1">
            <a:off x="7067521" y="1496770"/>
            <a:ext cx="1169400" cy="1524000"/>
          </a:xfrm>
          <a:prstGeom prst="curvedConnector4">
            <a:avLst>
              <a:gd fmla="val -70449" name="adj1"/>
              <a:gd fmla="val 8765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7" name="Google Shape;557;p38"/>
          <p:cNvSpPr/>
          <p:nvPr/>
        </p:nvSpPr>
        <p:spPr>
          <a:xfrm>
            <a:off x="5892821" y="1421920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1</a:t>
            </a:r>
            <a:endParaRPr sz="1100"/>
          </a:p>
        </p:txBody>
      </p:sp>
      <p:sp>
        <p:nvSpPr>
          <p:cNvPr id="558" name="Google Shape;558;p38"/>
          <p:cNvSpPr/>
          <p:nvPr/>
        </p:nvSpPr>
        <p:spPr>
          <a:xfrm>
            <a:off x="6333596" y="1421920"/>
            <a:ext cx="344400" cy="1497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/>
              <a:t>0</a:t>
            </a:r>
            <a:endParaRPr sz="1100"/>
          </a:p>
        </p:txBody>
      </p:sp>
      <p:sp>
        <p:nvSpPr>
          <p:cNvPr id="559" name="Google Shape;559;p38"/>
          <p:cNvSpPr/>
          <p:nvPr/>
        </p:nvSpPr>
        <p:spPr>
          <a:xfrm>
            <a:off x="4829546" y="1421920"/>
            <a:ext cx="344400" cy="149700"/>
          </a:xfrm>
          <a:prstGeom prst="rect">
            <a:avLst/>
          </a:prstGeom>
          <a:solidFill>
            <a:srgbClr val="F6F7F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Rc</a:t>
            </a:r>
            <a:endParaRPr sz="1000"/>
          </a:p>
        </p:txBody>
      </p:sp>
      <p:cxnSp>
        <p:nvCxnSpPr>
          <p:cNvPr id="560" name="Google Shape;560;p38"/>
          <p:cNvCxnSpPr>
            <a:stCxn id="559" idx="3"/>
            <a:endCxn id="552" idx="0"/>
          </p:cNvCxnSpPr>
          <p:nvPr/>
        </p:nvCxnSpPr>
        <p:spPr>
          <a:xfrm flipH="1" rot="10800000">
            <a:off x="5173946" y="1324870"/>
            <a:ext cx="1923300" cy="171900"/>
          </a:xfrm>
          <a:prstGeom prst="curvedConnector4">
            <a:avLst>
              <a:gd fmla="val 15741" name="adj1"/>
              <a:gd fmla="val 224882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38"/>
          <p:cNvSpPr txBox="1"/>
          <p:nvPr/>
        </p:nvSpPr>
        <p:spPr>
          <a:xfrm>
            <a:off x="4521046" y="1316620"/>
            <a:ext cx="3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</a:t>
            </a:r>
            <a:r>
              <a:rPr lang="it"/>
              <a:t>: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std::rc::Rc&lt;T&gt;</a:t>
            </a:r>
            <a:endParaRPr/>
          </a:p>
        </p:txBody>
      </p:sp>
      <p:sp>
        <p:nvSpPr>
          <p:cNvPr id="567" name="Google Shape;56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evitare problemi di omonimia con i metodi contenuti nel dato incapsulato, tutti i metodi di Rc sono dichiarati con la sintassi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pub fn strong_count(</a:t>
            </a:r>
            <a:r>
              <a:rPr b="1" lang="it">
                <a:solidFill>
                  <a:srgbClr val="0B5394"/>
                </a:solidFill>
                <a:highlight>
                  <a:schemeClr val="accent6"/>
                </a:highlight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: &amp;Rc&lt;T&gt;) -&gt; usize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Chiamando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it"/>
              <a:t> (e non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it"/>
              <a:t>) il parametro che indica l’istanza, non è possibile utilizzare la notazione puntata per invocare i metodi, ma occorre richiamarli nella forma estesa </a:t>
            </a:r>
            <a:br>
              <a:rPr lang="it"/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Rc::&lt;T&gt;::strong_count(&amp;a)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Per motivi di efficienza, l’operazione di incremento e decremento sui campi privati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strong_count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weak_count</a:t>
            </a:r>
            <a:r>
              <a:rPr lang="it"/>
              <a:t> non è </a:t>
            </a:r>
            <a:r>
              <a:rPr i="1" lang="it"/>
              <a:t>thread-safe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 questo motivo, non è possibile utilizzare questo smart pointer in un contesto concorrente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Esiste un altro tipo, trattato in seguito, che supera questo limite: </a:t>
            </a:r>
            <a:r>
              <a:rPr b="1" lang="it">
                <a:solidFill>
                  <a:srgbClr val="0B5394"/>
                </a:solidFill>
              </a:rPr>
              <a:t>std::sync::Arc&lt;T&gt;</a:t>
            </a:r>
            <a:endParaRPr b="1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Mutare il contenuto di Rc&lt;T&gt;</a:t>
            </a:r>
            <a:endParaRPr/>
          </a:p>
        </p:txBody>
      </p:sp>
      <p:sp>
        <p:nvSpPr>
          <p:cNvPr id="574" name="Google Shape;57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valore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Rc&lt;T&gt;</a:t>
            </a:r>
            <a:r>
              <a:rPr lang="it"/>
              <a:t> non offre normalmente accesso mutabile diretto al contenuto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Rc::get_mut(&amp;mut rc)-&gt; Option&lt;&amp;mut T&gt;</a:t>
            </a:r>
            <a:r>
              <a:rPr lang="it"/>
              <a:t> </a:t>
            </a:r>
            <a:r>
              <a:rPr lang="it"/>
              <a:t>restituisce un riferimento mutabile se e solo se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it"/>
              <a:t> è l'unico riferimento forte al valore, altrimenti restituisce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Rc::make_mut(&amp;mut rc) -&gt; &amp;mut T </a:t>
            </a:r>
            <a:r>
              <a:rPr lang="it"/>
              <a:t> restituisce sempre un riferimento mutabile: tuttavia, se esistono altri riferimenti forti, il valore verrà prima clonato, così da lasciare invariato quanto conosciuto dagli altri possessori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Quando occorre mutabilità condivisa senza effettuare delle copie, si usa  tipicamente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Rc&lt;RefCell&lt;T&gt;&gt;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Spiegato oltre</a:t>
            </a:r>
            <a:endParaRPr/>
          </a:p>
        </p:txBody>
      </p:sp>
      <p:sp>
        <p:nvSpPr>
          <p:cNvPr id="575" name="Google Shape;575;p4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Mutare il contenuto di Rc&lt;T&gt;</a:t>
            </a:r>
            <a:endParaRPr/>
          </a:p>
        </p:txBody>
      </p:sp>
      <p:sp>
        <p:nvSpPr>
          <p:cNvPr id="581" name="Google Shape;581;p4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82" name="Google Shape;582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use std::rc::Rc;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let mut a = Rc::new(String::from("abc"));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if let Some(s) = Rc::get_mut(&amp;mut a) {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    s.push('!');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assert_eq!(&amp;*a, "abc!");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let mut x = Rc::new(String::from("hello"));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let y = x.clone();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Rc::make_mut(&amp;mut x).push('!');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assert_eq!(&amp;*x, "hello!");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assert_eq!(&amp;*y, "hello");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std::rc::Weak&lt;T&gt;</a:t>
            </a:r>
            <a:endParaRPr/>
          </a:p>
        </p:txBody>
      </p:sp>
      <p:sp>
        <p:nvSpPr>
          <p:cNvPr id="588" name="Google Shape;58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si costruisse, usando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Rc&lt;T&gt;</a:t>
            </a:r>
            <a:r>
              <a:rPr lang="it"/>
              <a:t>, una sequenza circolare di puntatori, la memoria allocata non potrebbe più essere rilasciata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Come nel caso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shared_ptr</a:t>
            </a:r>
            <a:r>
              <a:rPr lang="it"/>
              <a:t> in C++, la catena dei puntatori terrebbe in vita tutti i blocchi, garantendo che il conteggio dei riferimenti valga almeno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E’ possibile rappresentare back-reference e dipendenze cicliche senza introdurre cicli di possesso forte utilizzando il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Weak&lt;T&gt;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Esso è una versione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it"/>
              <a:t> che contiene un riferimento senza possesso al blocco allocato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crea un valore di tipo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Weak&lt;T&gt;</a:t>
            </a:r>
            <a:r>
              <a:rPr lang="it"/>
              <a:t> a partire da un valore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Rc&lt;T&gt;</a:t>
            </a:r>
            <a:r>
              <a:rPr lang="it"/>
              <a:t> con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Rc::downgrade(&amp;rc)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il valore originale è ancora in vita (ovvero se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strong_count()</a:t>
            </a:r>
            <a:r>
              <a:rPr lang="it"/>
              <a:t> &gt; 0), è possibile costruire un nuovo valore di tipo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Rc&lt;T&gt;</a:t>
            </a:r>
            <a:r>
              <a:rPr lang="it"/>
              <a:t> invocando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upgrade()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Esso ritorna un valore di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Option&lt;Rc&lt;T&gt;&gt;</a:t>
            </a:r>
            <a:r>
              <a:rPr lang="it"/>
              <a:t> </a:t>
            </a:r>
            <a:endParaRPr/>
          </a:p>
        </p:txBody>
      </p:sp>
      <p:sp>
        <p:nvSpPr>
          <p:cNvPr id="589" name="Google Shape;589;p4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std::rc::Weak&lt;T&gt;</a:t>
            </a:r>
            <a:endParaRPr/>
          </a:p>
        </p:txBody>
      </p:sp>
      <p:sp>
        <p:nvSpPr>
          <p:cNvPr id="595" name="Google Shape;595;p4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96" name="Google Shape;59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use std::rc::Rc;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let five = Rc::new(5);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let weak_five = Rc::downgrade(&amp;five);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let strong_five: Option&lt;Rc&lt;_&gt;&gt; = weak_five.upgrade();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assert!(strong_five.is_some());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// Destroy all strong pointers.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drop(strong_five);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drop(five);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b="1" lang="it" sz="1500">
                <a:latin typeface="Consolas"/>
                <a:ea typeface="Consolas"/>
                <a:cs typeface="Consolas"/>
                <a:sym typeface="Consolas"/>
              </a:rPr>
              <a:t>assert!(weak_five.upgrade().is_none());</a:t>
            </a:r>
            <a:endParaRPr b="1"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std::cell::Cell&lt;T&gt;</a:t>
            </a:r>
            <a:endParaRPr/>
          </a:p>
        </p:txBody>
      </p:sp>
      <p:sp>
        <p:nvSpPr>
          <p:cNvPr id="602" name="Google Shape;60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condizioni normali, Rust consente o più riferimenti condivisi immutabili, oppure un unico riferimento mutabile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Esistono situazioni in cui l’analisi statica eseguita in fase di compilazione è troppo restrittiva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modulo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std::cell</a:t>
            </a:r>
            <a:r>
              <a:rPr lang="it"/>
              <a:t> offre alcuni contenitori che consentono una mutabilità condivisa e controllata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E’ possibile cioè avere più riferimenti al valore pur essendo in grado di mutarlo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tipi offerti possono funzionare solo in contesti </a:t>
            </a:r>
            <a:r>
              <a:rPr b="1" lang="it">
                <a:solidFill>
                  <a:srgbClr val="0B5394"/>
                </a:solidFill>
              </a:rPr>
              <a:t>non concorrenti</a:t>
            </a:r>
            <a:r>
              <a:rPr lang="it"/>
              <a:t> (basati su singolo thread)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struct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std::cell::Cell&lt;T&gt;</a:t>
            </a:r>
            <a:r>
              <a:rPr lang="it"/>
              <a:t> implementa la mutabilità del dato contenuto al suo interno attraverso metodi che non richiedono la mutabilità del contenitore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Consente accessi per copia/sostituzione del contenuto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dice che Cell implementa un meccanismo di </a:t>
            </a:r>
            <a:r>
              <a:rPr i="1" lang="it">
                <a:solidFill>
                  <a:srgbClr val="0B5394"/>
                </a:solidFill>
              </a:rPr>
              <a:t>interior mutability</a:t>
            </a:r>
            <a:endParaRPr i="1">
              <a:solidFill>
                <a:srgbClr val="0B5394"/>
              </a:solidFill>
            </a:endParaRPr>
          </a:p>
        </p:txBody>
      </p:sp>
      <p:pic>
        <p:nvPicPr>
          <p:cNvPr id="603" name="Google Shape;603;p44"/>
          <p:cNvPicPr preferRelativeResize="0"/>
          <p:nvPr/>
        </p:nvPicPr>
        <p:blipFill rotWithShape="1">
          <a:blip r:embed="rId3">
            <a:alphaModFix/>
          </a:blip>
          <a:srcRect b="0" l="0" r="61842" t="0"/>
          <a:stretch/>
        </p:blipFill>
        <p:spPr>
          <a:xfrm>
            <a:off x="6589800" y="0"/>
            <a:ext cx="2373725" cy="113413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std::cell::Cell&lt;T&gt;</a:t>
            </a:r>
            <a:endParaRPr/>
          </a:p>
        </p:txBody>
      </p:sp>
      <p:sp>
        <p:nvSpPr>
          <p:cNvPr id="610" name="Google Shape;610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use std::cell::Cell;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struct SomeStruct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a: u8,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b: Cell&lt;u8&gt;,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let my_struct = SomeStruct {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a: 0,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    b: Cell::new(1),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my_struct.a = 100;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ERRORE: `my_struct` è immutabile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my_struct.b.set(100);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// OK: anche se `my_struct` è immutabile, `b` è una Cell e può essere modificata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latin typeface="Consolas"/>
                <a:ea typeface="Consolas"/>
                <a:cs typeface="Consolas"/>
                <a:sym typeface="Consolas"/>
              </a:rPr>
              <a:t>assert_eq!(my_struct.b.get(), 100);</a:t>
            </a:r>
            <a:endParaRPr b="1"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1" name="Google Shape;611;p4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std::cell::Cell&lt;T&gt;</a:t>
            </a:r>
            <a:endParaRPr/>
          </a:p>
        </p:txBody>
      </p:sp>
      <p:sp>
        <p:nvSpPr>
          <p:cNvPr id="617" name="Google Shape;61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get(&amp;self) -&gt; T</a:t>
            </a:r>
            <a:r>
              <a:rPr lang="it"/>
              <a:t> restituisce il dato contenuto al suo interno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condizione che T implementi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take(&amp;self) -&gt; T</a:t>
            </a:r>
            <a:r>
              <a:rPr lang="it"/>
              <a:t> restituisce il valore contenuto, sostituendolo con il risultato dell’invocazione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Default::default()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condizione che T implementi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Default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replace(&amp;self, val:T) -&gt; T</a:t>
            </a:r>
            <a:r>
              <a:rPr lang="it"/>
              <a:t> sostituisce il valore contenuto nella cella con quello passato come parametro e lo restituisce come risultato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metodo non pone restrizioni sul tipo di dato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into_inner(self) -&gt; T</a:t>
            </a:r>
            <a:r>
              <a:rPr lang="it"/>
              <a:t> consuma la cella e restituisce il valore contenuto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Anche in questo caso, può essere usato con ogni tipo di dato</a:t>
            </a:r>
            <a:endParaRPr/>
          </a:p>
        </p:txBody>
      </p:sp>
      <p:sp>
        <p:nvSpPr>
          <p:cNvPr id="618" name="Google Shape;618;p4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std::cell::RefCell&lt;T&gt;</a:t>
            </a:r>
            <a:endParaRPr/>
          </a:p>
        </p:txBody>
      </p:sp>
      <p:sp>
        <p:nvSpPr>
          <p:cNvPr id="624" name="Google Shape;624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Cell&lt;T&gt;</a:t>
            </a:r>
            <a:r>
              <a:rPr lang="it"/>
              <a:t> non consente di creare riferimenti al dato contenuto al suo interno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Ma solo di inserire, estrarre o sostituire il valore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struct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std::cell::RefCell&lt;T&gt;</a:t>
            </a:r>
            <a:r>
              <a:rPr lang="it"/>
              <a:t> consente di ottenere oggetti (guardie) che si comportano come riferimenti (condivisi o mutabili) al contenuto, con regole di prestito verificate all'atto dell'esecuzione e non in compilazione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Eventuali tentativi di violazione delle regole generano una condizione di panic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borrow(&amp;self) -&gt; Ref&lt;'_, T&gt;</a:t>
            </a:r>
            <a:r>
              <a:rPr lang="it"/>
              <a:t> restituisce una guardia che si comporta come un riferimento condiviso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Oppure provoca un panic se è già presente un riferimento mutabile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borrow_mut(&amp;self) -&gt; RefMut&lt;'_, T&gt;</a:t>
            </a:r>
            <a:r>
              <a:rPr lang="it"/>
              <a:t>  restituisce una guardia che si comporta come un riferimento mutabile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Oppure provoca un panic se è già presente un riferimento semplice</a:t>
            </a:r>
            <a:endParaRPr/>
          </a:p>
        </p:txBody>
      </p:sp>
      <p:sp>
        <p:nvSpPr>
          <p:cNvPr id="625" name="Google Shape;625;p4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26" name="Google Shape;626;p47"/>
          <p:cNvPicPr preferRelativeResize="0"/>
          <p:nvPr/>
        </p:nvPicPr>
        <p:blipFill rotWithShape="1">
          <a:blip r:embed="rId3">
            <a:alphaModFix/>
          </a:blip>
          <a:srcRect b="0" l="44087" r="0" t="0"/>
          <a:stretch/>
        </p:blipFill>
        <p:spPr>
          <a:xfrm>
            <a:off x="5542901" y="0"/>
            <a:ext cx="3478252" cy="1134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std::cell::RefCell&lt;T&gt;</a:t>
            </a:r>
            <a:endParaRPr/>
          </a:p>
        </p:txBody>
      </p:sp>
      <p:sp>
        <p:nvSpPr>
          <p:cNvPr id="632" name="Google Shape;63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54000" lIns="91425" spcFirstLastPara="1" rIns="91425" wrap="square" tIns="540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use std::cell::RefCell;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let c = RefCell::new(5);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let m = c.borrow_mut();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assert!(c.try_borrow().is_err());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*m = 6;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let m = c.borrow();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assert!(c.try_borrow().is_ok());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assert!(*m == 6);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assert_eq!(*c.borrow(), 6);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3" name="Google Shape;633;p4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std::borrow::Cow&lt;'a, B&gt;</a:t>
            </a:r>
            <a:endParaRPr/>
          </a:p>
        </p:txBody>
      </p:sp>
      <p:sp>
        <p:nvSpPr>
          <p:cNvPr id="639" name="Google Shape;639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Smart pointer che implementa il meccanismo </a:t>
            </a:r>
            <a:r>
              <a:rPr i="1" lang="it"/>
              <a:t>clone on write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si cerca di modificare il dato contenuto, e questo è condiviso, il dato viene clonato: si prende possesso della copia e si effettua la modifica, lasciando l’originale invariato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il dato che si vuole modificare era già posseduto, non avviene nessuna clonazione e si opera la modifica direttamente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Implementato sotto forma di enumerazione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400"/>
              <a:buFont typeface="Consolas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pub enum Cow&lt;'a, B&gt; </a:t>
            </a:r>
            <a:b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where B: 'a + ToOwned + ?Sized, </a:t>
            </a:r>
            <a:b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b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Borrowed(&amp;'a B),</a:t>
            </a:r>
            <a:b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  Owned(&lt;B as ToOwned&gt;::Owned),</a:t>
            </a:r>
            <a:b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istanzia attraverso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Cow::from(...)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base al dato da incapsulare,  viene scelta la variante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Owned</a:t>
            </a:r>
            <a:r>
              <a:rPr lang="it"/>
              <a:t> 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Borrowed</a:t>
            </a:r>
            <a:endParaRPr/>
          </a:p>
        </p:txBody>
      </p:sp>
      <p:sp>
        <p:nvSpPr>
          <p:cNvPr id="640" name="Google Shape;640;p4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std::borrow::Cow&lt;'a, B&gt;</a:t>
            </a:r>
            <a:endParaRPr/>
          </a:p>
        </p:txBody>
      </p:sp>
      <p:sp>
        <p:nvSpPr>
          <p:cNvPr id="646" name="Google Shape;646;p5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47" name="Google Shape;647;p50"/>
          <p:cNvSpPr txBox="1"/>
          <p:nvPr>
            <p:ph idx="4294967295" type="body"/>
          </p:nvPr>
        </p:nvSpPr>
        <p:spPr>
          <a:xfrm>
            <a:off x="311700" y="1152475"/>
            <a:ext cx="41346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54000" lIns="91425" spcFirstLastPara="1" rIns="91425" wrap="square" tIns="54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use std::borrow::Cow;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// Riusa la slice se non occorre </a:t>
            </a:r>
            <a:br>
              <a:rPr b="1" lang="it" sz="1400">
                <a:latin typeface="Consolas"/>
                <a:ea typeface="Consolas"/>
                <a:cs typeface="Consolas"/>
                <a:sym typeface="Consolas"/>
              </a:rPr>
            </a:b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// effettuare modifiche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// Altrimenti, alloca una nuova String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fn normalize_whitespace(line: &amp;str) 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-&gt; Cow&lt;'_, str&gt; {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if line.contains('\t') {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Cow::Owned(line.replace('\t', " "))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} else {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Cow::Borrowed(line)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8" name="Google Shape;648;p50"/>
          <p:cNvSpPr txBox="1"/>
          <p:nvPr>
            <p:ph idx="4294967295" type="body"/>
          </p:nvPr>
        </p:nvSpPr>
        <p:spPr>
          <a:xfrm>
            <a:off x="4697700" y="1152475"/>
            <a:ext cx="4134600" cy="34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54000" lIns="91425" spcFirstLastPara="1" rIns="91425" wrap="square" tIns="54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let a = "INFO user=alice op=login";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let b = "WARN\tuser=bob\top=logout";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let na = normalize_whitespace(a);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let nb = normalize_whitespace(b);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println!("a  -&gt; {}", na);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println!("b  -&gt; {}", nb);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assert!(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  matches!(na,Cow::Borrowed(_)));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assert!(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      matches!(nb, Cow::Owned(_)));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Smart pointer e metodi</a:t>
            </a:r>
            <a:endParaRPr/>
          </a:p>
        </p:txBody>
      </p:sp>
      <p:sp>
        <p:nvSpPr>
          <p:cNvPr id="654" name="Google Shape;654;p51"/>
          <p:cNvSpPr txBox="1"/>
          <p:nvPr>
            <p:ph idx="1" type="body"/>
          </p:nvPr>
        </p:nvSpPr>
        <p:spPr>
          <a:xfrm>
            <a:off x="311700" y="1152474"/>
            <a:ext cx="8520600" cy="19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Nella firma di un metodo, è possibile utilizzare, oltre 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it"/>
              <a:t> ed alle sue variazioni, anche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Box&lt;Self&gt;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Rc&lt;Self&gt;</a:t>
            </a:r>
            <a:r>
              <a:rPr lang="it"/>
              <a:t>, 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Arc&lt;Self&gt;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tal caso, il metodo  può essere solo invocato a partire dal corrispondente tipo di puntatore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L’invocazione del metodo passa la proprietà del puntatore al metodo stesso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 differenza di quanto accade con i riferimenti, non è disponibile una forma abbreviata per la sintassi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questi casi il tipo del receiver deve essere dichiarato esplicitamente, ad esempio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self: Rc&lt;Self&gt;</a:t>
            </a:r>
            <a:r>
              <a:rPr lang="it"/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5" name="Google Shape;655;p5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56" name="Google Shape;656;p51"/>
          <p:cNvSpPr txBox="1"/>
          <p:nvPr/>
        </p:nvSpPr>
        <p:spPr>
          <a:xfrm>
            <a:off x="1197000" y="3062276"/>
            <a:ext cx="6750000" cy="1563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impl Node { </a:t>
            </a:r>
            <a:endParaRPr b="1"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fn append_to(self: Rc&lt;Self&gt;, parent: &amp;mut Node) { </a:t>
            </a:r>
            <a:endParaRPr b="1"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parent.children.push(self); </a:t>
            </a:r>
            <a:endParaRPr b="1"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Esempio: albero doppiamente collegato</a:t>
            </a:r>
            <a:endParaRPr/>
          </a:p>
        </p:txBody>
      </p:sp>
      <p:sp>
        <p:nvSpPr>
          <p:cNvPr id="662" name="Google Shape;662;p5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663" name="Google Shape;663;p52"/>
          <p:cNvGrpSpPr/>
          <p:nvPr/>
        </p:nvGrpSpPr>
        <p:grpSpPr>
          <a:xfrm>
            <a:off x="3858300" y="1110510"/>
            <a:ext cx="3103800" cy="950130"/>
            <a:chOff x="3020100" y="1614900"/>
            <a:chExt cx="3103800" cy="1055700"/>
          </a:xfrm>
        </p:grpSpPr>
        <p:sp>
          <p:nvSpPr>
            <p:cNvPr id="664" name="Google Shape;664;p52"/>
            <p:cNvSpPr/>
            <p:nvPr/>
          </p:nvSpPr>
          <p:spPr>
            <a:xfrm>
              <a:off x="3020100" y="1614900"/>
              <a:ext cx="3103800" cy="105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alibri"/>
                  <a:ea typeface="Calibri"/>
                  <a:cs typeface="Calibri"/>
                  <a:sym typeface="Calibri"/>
                </a:rPr>
                <a:t>Node</a:t>
              </a:r>
              <a:br>
                <a:rPr lang="it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name: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parent: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children: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52"/>
            <p:cNvSpPr/>
            <p:nvPr/>
          </p:nvSpPr>
          <p:spPr>
            <a:xfrm>
              <a:off x="3656245" y="1901525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String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52"/>
            <p:cNvSpPr/>
            <p:nvPr/>
          </p:nvSpPr>
          <p:spPr>
            <a:xfrm>
              <a:off x="3656245" y="2151800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RefCell&lt;Weak&lt;Node&gt;&gt;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52"/>
            <p:cNvSpPr/>
            <p:nvPr/>
          </p:nvSpPr>
          <p:spPr>
            <a:xfrm>
              <a:off x="3656245" y="2402075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RefCell&lt;Vec&lt;Rc&lt;Node&gt;&gt;&gt;  [   ,    ]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618750" y="2428628"/>
            <a:ext cx="3103800" cy="950130"/>
            <a:chOff x="3020100" y="1614900"/>
            <a:chExt cx="3103800" cy="1055700"/>
          </a:xfrm>
        </p:grpSpPr>
        <p:sp>
          <p:nvSpPr>
            <p:cNvPr id="669" name="Google Shape;669;p52"/>
            <p:cNvSpPr/>
            <p:nvPr/>
          </p:nvSpPr>
          <p:spPr>
            <a:xfrm>
              <a:off x="3020100" y="1614900"/>
              <a:ext cx="3103800" cy="105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alibri"/>
                  <a:ea typeface="Calibri"/>
                  <a:cs typeface="Calibri"/>
                  <a:sym typeface="Calibri"/>
                </a:rPr>
                <a:t>Node</a:t>
              </a:r>
              <a:br>
                <a:rPr lang="it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name: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parent: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children: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52"/>
            <p:cNvSpPr/>
            <p:nvPr/>
          </p:nvSpPr>
          <p:spPr>
            <a:xfrm>
              <a:off x="3656245" y="1901525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String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52"/>
            <p:cNvSpPr/>
            <p:nvPr/>
          </p:nvSpPr>
          <p:spPr>
            <a:xfrm>
              <a:off x="3656245" y="2151800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RefCell&lt;Weak&lt;Node&gt;&gt;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52"/>
            <p:cNvSpPr/>
            <p:nvPr/>
          </p:nvSpPr>
          <p:spPr>
            <a:xfrm>
              <a:off x="3656245" y="2402075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RefCell&lt;Vec&lt;Rc&lt;Node&gt;&gt;&gt;    [    ]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3" name="Google Shape;673;p52"/>
          <p:cNvGrpSpPr/>
          <p:nvPr/>
        </p:nvGrpSpPr>
        <p:grpSpPr>
          <a:xfrm>
            <a:off x="5420050" y="2428628"/>
            <a:ext cx="3103800" cy="950130"/>
            <a:chOff x="3020100" y="1614900"/>
            <a:chExt cx="3103800" cy="1055700"/>
          </a:xfrm>
        </p:grpSpPr>
        <p:sp>
          <p:nvSpPr>
            <p:cNvPr id="674" name="Google Shape;674;p52"/>
            <p:cNvSpPr/>
            <p:nvPr/>
          </p:nvSpPr>
          <p:spPr>
            <a:xfrm>
              <a:off x="3020100" y="1614900"/>
              <a:ext cx="3103800" cy="105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alibri"/>
                  <a:ea typeface="Calibri"/>
                  <a:cs typeface="Calibri"/>
                  <a:sym typeface="Calibri"/>
                </a:rPr>
                <a:t>Node</a:t>
              </a:r>
              <a:br>
                <a:rPr lang="it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name: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parent: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children: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52"/>
            <p:cNvSpPr/>
            <p:nvPr/>
          </p:nvSpPr>
          <p:spPr>
            <a:xfrm>
              <a:off x="3656245" y="1901525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String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52"/>
            <p:cNvSpPr/>
            <p:nvPr/>
          </p:nvSpPr>
          <p:spPr>
            <a:xfrm>
              <a:off x="3656245" y="2151800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RefCell&lt;Weak&lt;Node&gt;&gt;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52"/>
            <p:cNvSpPr/>
            <p:nvPr/>
          </p:nvSpPr>
          <p:spPr>
            <a:xfrm>
              <a:off x="3656245" y="2402075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RefCell&lt;Vec&lt;Rc&lt;Node&gt;&gt;&gt;  [ ]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8" name="Google Shape;678;p52"/>
          <p:cNvSpPr/>
          <p:nvPr/>
        </p:nvSpPr>
        <p:spPr>
          <a:xfrm>
            <a:off x="6305018" y="1871800"/>
            <a:ext cx="76800" cy="6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2"/>
          <p:cNvSpPr/>
          <p:nvPr/>
        </p:nvSpPr>
        <p:spPr>
          <a:xfrm>
            <a:off x="6471400" y="1871800"/>
            <a:ext cx="76800" cy="6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2"/>
          <p:cNvSpPr/>
          <p:nvPr/>
        </p:nvSpPr>
        <p:spPr>
          <a:xfrm>
            <a:off x="3152855" y="3187403"/>
            <a:ext cx="76800" cy="6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1" name="Google Shape;681;p52"/>
          <p:cNvGrpSpPr/>
          <p:nvPr/>
        </p:nvGrpSpPr>
        <p:grpSpPr>
          <a:xfrm>
            <a:off x="618750" y="3770663"/>
            <a:ext cx="3103800" cy="950130"/>
            <a:chOff x="3020100" y="1614900"/>
            <a:chExt cx="3103800" cy="1055700"/>
          </a:xfrm>
        </p:grpSpPr>
        <p:sp>
          <p:nvSpPr>
            <p:cNvPr id="682" name="Google Shape;682;p52"/>
            <p:cNvSpPr/>
            <p:nvPr/>
          </p:nvSpPr>
          <p:spPr>
            <a:xfrm>
              <a:off x="3020100" y="1614900"/>
              <a:ext cx="3103800" cy="1055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latin typeface="Calibri"/>
                  <a:ea typeface="Calibri"/>
                  <a:cs typeface="Calibri"/>
                  <a:sym typeface="Calibri"/>
                </a:rPr>
                <a:t>Node</a:t>
              </a:r>
              <a:br>
                <a:rPr lang="it"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name: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parent: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it" sz="1000">
                  <a:latin typeface="Calibri"/>
                  <a:ea typeface="Calibri"/>
                  <a:cs typeface="Calibri"/>
                  <a:sym typeface="Calibri"/>
                </a:rPr>
                <a:t>children: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52"/>
            <p:cNvSpPr/>
            <p:nvPr/>
          </p:nvSpPr>
          <p:spPr>
            <a:xfrm>
              <a:off x="3656245" y="1901525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String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52"/>
            <p:cNvSpPr/>
            <p:nvPr/>
          </p:nvSpPr>
          <p:spPr>
            <a:xfrm>
              <a:off x="3656245" y="2151800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RefCell&lt;Weak&lt;Node&gt;&gt;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52"/>
            <p:cNvSpPr/>
            <p:nvPr/>
          </p:nvSpPr>
          <p:spPr>
            <a:xfrm>
              <a:off x="3656245" y="2402075"/>
              <a:ext cx="2258100" cy="188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latin typeface="Calibri"/>
                  <a:ea typeface="Calibri"/>
                  <a:cs typeface="Calibri"/>
                  <a:sym typeface="Calibri"/>
                </a:rPr>
                <a:t>RefCell&lt;Vec&lt;Rc&lt;Node&gt;&gt;&gt;    [ ]</a:t>
              </a:r>
              <a:endParaRPr sz="12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86" name="Google Shape;686;p52"/>
          <p:cNvCxnSpPr>
            <a:stCxn id="678" idx="2"/>
            <a:endCxn id="669" idx="0"/>
          </p:cNvCxnSpPr>
          <p:nvPr/>
        </p:nvCxnSpPr>
        <p:spPr>
          <a:xfrm rot="5400000">
            <a:off x="4013168" y="98350"/>
            <a:ext cx="487800" cy="41727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7" name="Google Shape;687;p52"/>
          <p:cNvCxnSpPr>
            <a:stCxn id="679" idx="2"/>
            <a:endCxn id="674" idx="0"/>
          </p:cNvCxnSpPr>
          <p:nvPr/>
        </p:nvCxnSpPr>
        <p:spPr>
          <a:xfrm flipH="1" rot="-5400000">
            <a:off x="6497050" y="1953550"/>
            <a:ext cx="487800" cy="462300"/>
          </a:xfrm>
          <a:prstGeom prst="bentConnector3">
            <a:avLst>
              <a:gd fmla="val 500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8" name="Google Shape;688;p52"/>
          <p:cNvCxnSpPr>
            <a:stCxn id="680" idx="2"/>
            <a:endCxn id="682" idx="0"/>
          </p:cNvCxnSpPr>
          <p:nvPr/>
        </p:nvCxnSpPr>
        <p:spPr>
          <a:xfrm rot="5400000">
            <a:off x="2423855" y="3003203"/>
            <a:ext cx="514200" cy="10206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9" name="Google Shape;689;p52"/>
          <p:cNvSpPr/>
          <p:nvPr/>
        </p:nvSpPr>
        <p:spPr>
          <a:xfrm>
            <a:off x="3152855" y="2962788"/>
            <a:ext cx="76800" cy="6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52"/>
          <p:cNvSpPr/>
          <p:nvPr/>
        </p:nvSpPr>
        <p:spPr>
          <a:xfrm>
            <a:off x="7877255" y="2962788"/>
            <a:ext cx="76800" cy="6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1" name="Google Shape;691;p52"/>
          <p:cNvCxnSpPr>
            <a:stCxn id="689" idx="0"/>
            <a:endCxn id="664" idx="1"/>
          </p:cNvCxnSpPr>
          <p:nvPr/>
        </p:nvCxnSpPr>
        <p:spPr>
          <a:xfrm rot="-5400000">
            <a:off x="2836055" y="1940688"/>
            <a:ext cx="1377300" cy="666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692" name="Google Shape;692;p52"/>
          <p:cNvSpPr/>
          <p:nvPr/>
        </p:nvSpPr>
        <p:spPr>
          <a:xfrm>
            <a:off x="3152855" y="4309850"/>
            <a:ext cx="76800" cy="69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3" name="Google Shape;693;p52"/>
          <p:cNvCxnSpPr>
            <a:stCxn id="692" idx="0"/>
            <a:endCxn id="669" idx="3"/>
          </p:cNvCxnSpPr>
          <p:nvPr/>
        </p:nvCxnSpPr>
        <p:spPr>
          <a:xfrm rot="-5400000">
            <a:off x="2753855" y="3341150"/>
            <a:ext cx="1406100" cy="531300"/>
          </a:xfrm>
          <a:prstGeom prst="bentConnector4">
            <a:avLst>
              <a:gd fmla="val 33108" name="adj1"/>
              <a:gd fmla="val 144818" name="adj2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694" name="Google Shape;694;p52"/>
          <p:cNvCxnSpPr>
            <a:stCxn id="690" idx="0"/>
            <a:endCxn id="664" idx="3"/>
          </p:cNvCxnSpPr>
          <p:nvPr/>
        </p:nvCxnSpPr>
        <p:spPr>
          <a:xfrm flipH="1" rot="5400000">
            <a:off x="6750155" y="1797288"/>
            <a:ext cx="1377300" cy="9537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695" name="Google Shape;695;p52"/>
          <p:cNvSpPr/>
          <p:nvPr/>
        </p:nvSpPr>
        <p:spPr>
          <a:xfrm>
            <a:off x="6305018" y="1653476"/>
            <a:ext cx="76800" cy="6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2"/>
          <p:cNvSpPr/>
          <p:nvPr/>
        </p:nvSpPr>
        <p:spPr>
          <a:xfrm>
            <a:off x="4274825" y="3620450"/>
            <a:ext cx="4557600" cy="110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Rc</a:t>
            </a:r>
            <a:r>
              <a:rPr lang="it">
                <a:latin typeface="Calibri"/>
                <a:ea typeface="Calibri"/>
                <a:cs typeface="Calibri"/>
                <a:sym typeface="Calibri"/>
              </a:rPr>
              <a:t> da solo non basta, perché non consente mutazioni dirette del contenuto condiviso: per questo si usa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RefCell</a:t>
            </a:r>
            <a:r>
              <a:rPr lang="it">
                <a:latin typeface="Calibri"/>
                <a:ea typeface="Calibri"/>
                <a:cs typeface="Calibri"/>
                <a:sym typeface="Calibri"/>
              </a:rPr>
              <a:t> per la mutabilità interna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Weak</a:t>
            </a:r>
            <a:r>
              <a:rPr lang="it">
                <a:latin typeface="Calibri"/>
                <a:ea typeface="Calibri"/>
                <a:cs typeface="Calibri"/>
                <a:sym typeface="Calibri"/>
              </a:rPr>
              <a:t> evita il ciclo di possesso forte fra genitore e figlio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Esempio: albero doppiamente collegato</a:t>
            </a:r>
            <a:endParaRPr/>
          </a:p>
        </p:txBody>
      </p:sp>
      <p:sp>
        <p:nvSpPr>
          <p:cNvPr id="702" name="Google Shape;702;p5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03" name="Google Shape;703;p53"/>
          <p:cNvSpPr txBox="1"/>
          <p:nvPr>
            <p:ph idx="4294967295" type="body"/>
          </p:nvPr>
        </p:nvSpPr>
        <p:spPr>
          <a:xfrm>
            <a:off x="311700" y="919104"/>
            <a:ext cx="8520600" cy="3879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#[derive(Debug)]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Node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name: String,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parent: RefCell&lt;Weak&lt;Node&gt;&gt;,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children: RefCell&lt;Vec&lt;Rc&lt;Node&gt;&gt;&gt;,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 Node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fn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(name: &amp;str) -&gt; Rc&lt;Self&gt;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Rc::new(Node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name: name.to_string(),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parent: RefCell::new(Weak::new()),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children: RefCell::new(Vec::new()),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})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fn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add_child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(parent: Rc&lt;Node&gt;, child: Rc&lt;Node&gt;)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*child.parent.borrow_mut() = Rc::downgrade(&amp;parent);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parent.children.borrow_mut().push(child);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Esempio: albero doppiamente collegato</a:t>
            </a:r>
            <a:endParaRPr/>
          </a:p>
        </p:txBody>
      </p:sp>
      <p:sp>
        <p:nvSpPr>
          <p:cNvPr id="709" name="Google Shape;709;p5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10" name="Google Shape;710;p54"/>
          <p:cNvSpPr txBox="1"/>
          <p:nvPr>
            <p:ph idx="4294967295" type="body"/>
          </p:nvPr>
        </p:nvSpPr>
        <p:spPr>
          <a:xfrm>
            <a:off x="311700" y="993783"/>
            <a:ext cx="8520600" cy="3694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…continua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fn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print_tree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(node: &amp;Rc&lt;Node&gt;, depth: usize)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println!("{}{}", " ".repeat(depth * 2), node.name);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for child in node.children.borrow().iter()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Node::print_tree(child, depth + 1);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fn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get_root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(node: &amp;Rc&lt;Node&gt;)-&gt; Rc&lt;Node&gt;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let mut n = node.clone();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loop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let parent = n.parent.borrow().upgrade();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match parent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Some(p) =&gt; n = p,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None =&gt; break,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n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Esempio: albero doppiamente collegato</a:t>
            </a:r>
            <a:endParaRPr/>
          </a:p>
        </p:txBody>
      </p:sp>
      <p:sp>
        <p:nvSpPr>
          <p:cNvPr id="716" name="Google Shape;716;p5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17" name="Google Shape;717;p55"/>
          <p:cNvSpPr txBox="1"/>
          <p:nvPr>
            <p:ph idx="4294967295" type="body"/>
          </p:nvPr>
        </p:nvSpPr>
        <p:spPr>
          <a:xfrm>
            <a:off x="311700" y="1152475"/>
            <a:ext cx="8520600" cy="221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…continua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</a:t>
            </a:r>
            <a:r>
              <a:rPr b="1" lang="it" sz="12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root = Node::new("root");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child1 = Node::new("child1");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let child2 = Node::new("child2");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Node::add_child(root.clone(), child1.clone());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Node::add_child(root.clone(), child2);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Node::add_child(child1.clone(), Node::new("subchild"));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Node::print_tree(&amp;Node::get_root(&amp;child1), 0);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8" name="Google Shape;718;p55"/>
          <p:cNvSpPr/>
          <p:nvPr/>
        </p:nvSpPr>
        <p:spPr>
          <a:xfrm>
            <a:off x="311700" y="3503624"/>
            <a:ext cx="8520600" cy="104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root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child1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  subchild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onsolas"/>
                <a:ea typeface="Consolas"/>
                <a:cs typeface="Consolas"/>
                <a:sym typeface="Consolas"/>
              </a:rPr>
              <a:t>  child2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6"/>
          <p:cNvSpPr txBox="1"/>
          <p:nvPr/>
        </p:nvSpPr>
        <p:spPr>
          <a:xfrm>
            <a:off x="2253396" y="24874"/>
            <a:ext cx="1030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rgbClr val="666666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into_boxed_slice</a:t>
            </a:r>
            <a:endParaRPr sz="700">
              <a:solidFill>
                <a:srgbClr val="666666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24" name="Google Shape;724;p56"/>
          <p:cNvSpPr/>
          <p:nvPr/>
        </p:nvSpPr>
        <p:spPr>
          <a:xfrm>
            <a:off x="3048000" y="762000"/>
            <a:ext cx="838200" cy="30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6"/>
          <p:cNvSpPr/>
          <p:nvPr/>
        </p:nvSpPr>
        <p:spPr>
          <a:xfrm>
            <a:off x="1524000" y="762000"/>
            <a:ext cx="1295400" cy="30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6"/>
          <p:cNvSpPr/>
          <p:nvPr/>
        </p:nvSpPr>
        <p:spPr>
          <a:xfrm>
            <a:off x="457200" y="762000"/>
            <a:ext cx="838200" cy="30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6"/>
          <p:cNvSpPr/>
          <p:nvPr/>
        </p:nvSpPr>
        <p:spPr>
          <a:xfrm>
            <a:off x="4343400" y="746436"/>
            <a:ext cx="685800" cy="30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6"/>
          <p:cNvSpPr/>
          <p:nvPr/>
        </p:nvSpPr>
        <p:spPr>
          <a:xfrm>
            <a:off x="2281500" y="3300300"/>
            <a:ext cx="1600200" cy="30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6"/>
          <p:cNvSpPr/>
          <p:nvPr/>
        </p:nvSpPr>
        <p:spPr>
          <a:xfrm>
            <a:off x="452700" y="3300300"/>
            <a:ext cx="1600200" cy="30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6"/>
          <p:cNvSpPr txBox="1"/>
          <p:nvPr/>
        </p:nvSpPr>
        <p:spPr>
          <a:xfrm>
            <a:off x="528900" y="457200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ptr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731" name="Google Shape;731;p56"/>
          <p:cNvCxnSpPr>
            <a:stCxn id="730" idx="2"/>
            <a:endCxn id="732" idx="0"/>
          </p:cNvCxnSpPr>
          <p:nvPr/>
        </p:nvCxnSpPr>
        <p:spPr>
          <a:xfrm>
            <a:off x="721650" y="609600"/>
            <a:ext cx="1548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32" name="Google Shape;732;p56"/>
          <p:cNvSpPr txBox="1"/>
          <p:nvPr/>
        </p:nvSpPr>
        <p:spPr>
          <a:xfrm>
            <a:off x="533400" y="838200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33" name="Google Shape;733;p56"/>
          <p:cNvSpPr txBox="1"/>
          <p:nvPr/>
        </p:nvSpPr>
        <p:spPr>
          <a:xfrm>
            <a:off x="7467600" y="238200"/>
            <a:ext cx="1066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Mrs Saint Delafield"/>
                <a:ea typeface="Mrs Saint Delafield"/>
                <a:cs typeface="Mrs Saint Delafield"/>
                <a:sym typeface="Mrs Saint Delafield"/>
              </a:rPr>
              <a:t>Legend</a:t>
            </a:r>
            <a:endParaRPr sz="2400">
              <a:latin typeface="Mrs Saint Delafield"/>
              <a:ea typeface="Mrs Saint Delafield"/>
              <a:cs typeface="Mrs Saint Delafield"/>
              <a:sym typeface="Mrs Saint Delafield"/>
            </a:endParaRPr>
          </a:p>
        </p:txBody>
      </p:sp>
      <p:sp>
        <p:nvSpPr>
          <p:cNvPr id="734" name="Google Shape;734;p56"/>
          <p:cNvSpPr txBox="1"/>
          <p:nvPr/>
        </p:nvSpPr>
        <p:spPr>
          <a:xfrm>
            <a:off x="7930500" y="762000"/>
            <a:ext cx="984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4/8 bytes (usize)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56"/>
          <p:cNvSpPr txBox="1"/>
          <p:nvPr/>
        </p:nvSpPr>
        <p:spPr>
          <a:xfrm>
            <a:off x="457200" y="228600"/>
            <a:ext cx="53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Box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&lt;</a:t>
            </a:r>
            <a:r>
              <a:rPr lang="it" sz="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36" name="Google Shape;736;p56"/>
          <p:cNvSpPr txBox="1"/>
          <p:nvPr/>
        </p:nvSpPr>
        <p:spPr>
          <a:xfrm>
            <a:off x="1519500" y="2286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Vec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&lt;</a:t>
            </a:r>
            <a:r>
              <a:rPr lang="it" sz="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37" name="Google Shape;737;p56"/>
          <p:cNvSpPr txBox="1"/>
          <p:nvPr/>
        </p:nvSpPr>
        <p:spPr>
          <a:xfrm>
            <a:off x="1529700" y="1059191"/>
            <a:ext cx="451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len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56"/>
          <p:cNvSpPr/>
          <p:nvPr/>
        </p:nvSpPr>
        <p:spPr>
          <a:xfrm rot="-5400000">
            <a:off x="1866900" y="800100"/>
            <a:ext cx="152400" cy="685800"/>
          </a:xfrm>
          <a:prstGeom prst="leftBrace">
            <a:avLst>
              <a:gd fmla="val 43481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39" name="Google Shape;739;p56"/>
          <p:cNvSpPr txBox="1"/>
          <p:nvPr/>
        </p:nvSpPr>
        <p:spPr>
          <a:xfrm>
            <a:off x="2133600" y="1219200"/>
            <a:ext cx="527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cap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56"/>
          <p:cNvSpPr txBox="1"/>
          <p:nvPr/>
        </p:nvSpPr>
        <p:spPr>
          <a:xfrm>
            <a:off x="1595700" y="457200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ptr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1" name="Google Shape;741;p56"/>
          <p:cNvSpPr txBox="1"/>
          <p:nvPr/>
        </p:nvSpPr>
        <p:spPr>
          <a:xfrm>
            <a:off x="1981200" y="45720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cap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2" name="Google Shape;742;p56"/>
          <p:cNvSpPr txBox="1"/>
          <p:nvPr/>
        </p:nvSpPr>
        <p:spPr>
          <a:xfrm>
            <a:off x="2362200" y="45720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len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3" name="Google Shape;743;p56"/>
          <p:cNvSpPr txBox="1"/>
          <p:nvPr/>
        </p:nvSpPr>
        <p:spPr>
          <a:xfrm>
            <a:off x="7539300" y="828600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ptr</a:t>
            </a:r>
            <a:endParaRPr sz="80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4" name="Google Shape;744;p56"/>
          <p:cNvSpPr txBox="1"/>
          <p:nvPr/>
        </p:nvSpPr>
        <p:spPr>
          <a:xfrm>
            <a:off x="7930500" y="1066800"/>
            <a:ext cx="984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4/8 bytes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56"/>
          <p:cNvSpPr txBox="1"/>
          <p:nvPr/>
        </p:nvSpPr>
        <p:spPr>
          <a:xfrm>
            <a:off x="7539300" y="114300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6" name="Google Shape;746;p56"/>
          <p:cNvSpPr txBox="1"/>
          <p:nvPr/>
        </p:nvSpPr>
        <p:spPr>
          <a:xfrm>
            <a:off x="1600200" y="838200"/>
            <a:ext cx="228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7" name="Google Shape;747;p56"/>
          <p:cNvSpPr txBox="1"/>
          <p:nvPr/>
        </p:nvSpPr>
        <p:spPr>
          <a:xfrm>
            <a:off x="1828800" y="838200"/>
            <a:ext cx="228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8" name="Google Shape;748;p56"/>
          <p:cNvSpPr txBox="1"/>
          <p:nvPr/>
        </p:nvSpPr>
        <p:spPr>
          <a:xfrm>
            <a:off x="2057400" y="838200"/>
            <a:ext cx="228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49" name="Google Shape;749;p56"/>
          <p:cNvSpPr txBox="1"/>
          <p:nvPr/>
        </p:nvSpPr>
        <p:spPr>
          <a:xfrm>
            <a:off x="2286000" y="838200"/>
            <a:ext cx="228600" cy="15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50" name="Google Shape;750;p56"/>
          <p:cNvSpPr txBox="1"/>
          <p:nvPr/>
        </p:nvSpPr>
        <p:spPr>
          <a:xfrm>
            <a:off x="2514600" y="838200"/>
            <a:ext cx="228600" cy="15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51" name="Google Shape;751;p56"/>
          <p:cNvSpPr/>
          <p:nvPr/>
        </p:nvSpPr>
        <p:spPr>
          <a:xfrm rot="-5400000">
            <a:off x="2095500" y="723900"/>
            <a:ext cx="152400" cy="1143000"/>
          </a:xfrm>
          <a:prstGeom prst="leftBrace">
            <a:avLst>
              <a:gd fmla="val 43481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cxnSp>
        <p:nvCxnSpPr>
          <p:cNvPr id="752" name="Google Shape;752;p56"/>
          <p:cNvCxnSpPr>
            <a:endCxn id="746" idx="0"/>
          </p:cNvCxnSpPr>
          <p:nvPr/>
        </p:nvCxnSpPr>
        <p:spPr>
          <a:xfrm flipH="1">
            <a:off x="1714500" y="609600"/>
            <a:ext cx="1143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3" name="Google Shape;753;p56"/>
          <p:cNvSpPr txBox="1"/>
          <p:nvPr/>
        </p:nvSpPr>
        <p:spPr>
          <a:xfrm>
            <a:off x="452700" y="2776500"/>
            <a:ext cx="84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Rc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&lt;T&gt;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54" name="Google Shape;754;p56"/>
          <p:cNvSpPr txBox="1"/>
          <p:nvPr/>
        </p:nvSpPr>
        <p:spPr>
          <a:xfrm>
            <a:off x="528900" y="3005100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ptr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755" name="Google Shape;755;p56"/>
          <p:cNvCxnSpPr/>
          <p:nvPr/>
        </p:nvCxnSpPr>
        <p:spPr>
          <a:xfrm>
            <a:off x="681300" y="3147900"/>
            <a:ext cx="1524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6" name="Google Shape;756;p56"/>
          <p:cNvSpPr txBox="1"/>
          <p:nvPr/>
        </p:nvSpPr>
        <p:spPr>
          <a:xfrm>
            <a:off x="528900" y="337650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57" name="Google Shape;757;p56"/>
          <p:cNvSpPr txBox="1"/>
          <p:nvPr/>
        </p:nvSpPr>
        <p:spPr>
          <a:xfrm>
            <a:off x="909900" y="337650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58" name="Google Shape;758;p56"/>
          <p:cNvSpPr txBox="1"/>
          <p:nvPr/>
        </p:nvSpPr>
        <p:spPr>
          <a:xfrm>
            <a:off x="452700" y="33765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strong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59" name="Google Shape;759;p56"/>
          <p:cNvSpPr txBox="1"/>
          <p:nvPr/>
        </p:nvSpPr>
        <p:spPr>
          <a:xfrm>
            <a:off x="833700" y="33765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weak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60" name="Google Shape;760;p56"/>
          <p:cNvSpPr txBox="1"/>
          <p:nvPr/>
        </p:nvSpPr>
        <p:spPr>
          <a:xfrm>
            <a:off x="1290900" y="3376500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61" name="Google Shape;761;p56"/>
          <p:cNvSpPr txBox="1"/>
          <p:nvPr/>
        </p:nvSpPr>
        <p:spPr>
          <a:xfrm>
            <a:off x="3048000" y="228600"/>
            <a:ext cx="84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Box&lt;[</a:t>
            </a:r>
            <a:r>
              <a:rPr lang="it" sz="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T]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62" name="Google Shape;762;p56"/>
          <p:cNvSpPr txBox="1"/>
          <p:nvPr/>
        </p:nvSpPr>
        <p:spPr>
          <a:xfrm>
            <a:off x="3058200" y="1081671"/>
            <a:ext cx="451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len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56"/>
          <p:cNvSpPr/>
          <p:nvPr/>
        </p:nvSpPr>
        <p:spPr>
          <a:xfrm rot="-5400000">
            <a:off x="3395400" y="815317"/>
            <a:ext cx="152400" cy="685800"/>
          </a:xfrm>
          <a:prstGeom prst="leftBrace">
            <a:avLst>
              <a:gd fmla="val 43481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64" name="Google Shape;764;p56"/>
          <p:cNvSpPr txBox="1"/>
          <p:nvPr/>
        </p:nvSpPr>
        <p:spPr>
          <a:xfrm>
            <a:off x="3124200" y="457200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ptr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65" name="Google Shape;765;p56"/>
          <p:cNvSpPr txBox="1"/>
          <p:nvPr/>
        </p:nvSpPr>
        <p:spPr>
          <a:xfrm>
            <a:off x="3509700" y="45720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len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66" name="Google Shape;766;p56"/>
          <p:cNvSpPr txBox="1"/>
          <p:nvPr/>
        </p:nvSpPr>
        <p:spPr>
          <a:xfrm>
            <a:off x="3128700" y="838200"/>
            <a:ext cx="228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67" name="Google Shape;767;p56"/>
          <p:cNvSpPr txBox="1"/>
          <p:nvPr/>
        </p:nvSpPr>
        <p:spPr>
          <a:xfrm>
            <a:off x="3357300" y="838200"/>
            <a:ext cx="228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68" name="Google Shape;768;p56"/>
          <p:cNvSpPr txBox="1"/>
          <p:nvPr/>
        </p:nvSpPr>
        <p:spPr>
          <a:xfrm>
            <a:off x="3585900" y="838200"/>
            <a:ext cx="228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769" name="Google Shape;769;p56"/>
          <p:cNvCxnSpPr>
            <a:endCxn id="766" idx="0"/>
          </p:cNvCxnSpPr>
          <p:nvPr/>
        </p:nvCxnSpPr>
        <p:spPr>
          <a:xfrm flipH="1">
            <a:off x="3243000" y="609600"/>
            <a:ext cx="1143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0" name="Google Shape;770;p56"/>
          <p:cNvSpPr txBox="1"/>
          <p:nvPr/>
        </p:nvSpPr>
        <p:spPr>
          <a:xfrm>
            <a:off x="4334400" y="222625"/>
            <a:ext cx="90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Box&lt;dyn </a:t>
            </a:r>
            <a:r>
              <a:rPr lang="it" sz="800" u="sng">
                <a:solidFill>
                  <a:schemeClr val="hlink"/>
                </a:solidFill>
                <a:latin typeface="Inconsolata"/>
                <a:ea typeface="Inconsolata"/>
                <a:cs typeface="Inconsolata"/>
                <a:sym typeface="Inconsolata"/>
                <a:hlinkClick r:id="rId8"/>
              </a:rPr>
              <a:t>Trait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71" name="Google Shape;771;p56"/>
          <p:cNvSpPr txBox="1"/>
          <p:nvPr/>
        </p:nvSpPr>
        <p:spPr>
          <a:xfrm>
            <a:off x="4410600" y="451236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72" name="Google Shape;772;p56"/>
          <p:cNvSpPr txBox="1"/>
          <p:nvPr/>
        </p:nvSpPr>
        <p:spPr>
          <a:xfrm>
            <a:off x="4796100" y="451236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73" name="Google Shape;773;p56"/>
          <p:cNvSpPr txBox="1"/>
          <p:nvPr/>
        </p:nvSpPr>
        <p:spPr>
          <a:xfrm>
            <a:off x="4415100" y="832236"/>
            <a:ext cx="5379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774" name="Google Shape;774;p56"/>
          <p:cNvCxnSpPr>
            <a:endCxn id="773" idx="0"/>
          </p:cNvCxnSpPr>
          <p:nvPr/>
        </p:nvCxnSpPr>
        <p:spPr>
          <a:xfrm>
            <a:off x="4643550" y="603636"/>
            <a:ext cx="405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5" name="Google Shape;775;p56"/>
          <p:cNvSpPr txBox="1"/>
          <p:nvPr/>
        </p:nvSpPr>
        <p:spPr>
          <a:xfrm>
            <a:off x="4724400" y="449244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vtable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76" name="Google Shape;776;p56"/>
          <p:cNvSpPr txBox="1"/>
          <p:nvPr/>
        </p:nvSpPr>
        <p:spPr>
          <a:xfrm>
            <a:off x="7467600" y="11430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size</a:t>
            </a:r>
            <a:endParaRPr sz="80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77" name="Google Shape;777;p56"/>
          <p:cNvSpPr txBox="1"/>
          <p:nvPr/>
        </p:nvSpPr>
        <p:spPr>
          <a:xfrm>
            <a:off x="2281500" y="2776500"/>
            <a:ext cx="84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Arc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&lt;T&gt;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78" name="Google Shape;778;p56"/>
          <p:cNvSpPr txBox="1"/>
          <p:nvPr/>
        </p:nvSpPr>
        <p:spPr>
          <a:xfrm>
            <a:off x="2357700" y="3005100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ptr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779" name="Google Shape;779;p56"/>
          <p:cNvCxnSpPr/>
          <p:nvPr/>
        </p:nvCxnSpPr>
        <p:spPr>
          <a:xfrm>
            <a:off x="2510100" y="3147900"/>
            <a:ext cx="1524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0" name="Google Shape;780;p56"/>
          <p:cNvSpPr txBox="1"/>
          <p:nvPr/>
        </p:nvSpPr>
        <p:spPr>
          <a:xfrm>
            <a:off x="2357700" y="3376500"/>
            <a:ext cx="385500" cy="152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81" name="Google Shape;781;p56"/>
          <p:cNvSpPr txBox="1"/>
          <p:nvPr/>
        </p:nvSpPr>
        <p:spPr>
          <a:xfrm>
            <a:off x="2738700" y="3376500"/>
            <a:ext cx="385500" cy="152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82" name="Google Shape;782;p56"/>
          <p:cNvSpPr txBox="1"/>
          <p:nvPr/>
        </p:nvSpPr>
        <p:spPr>
          <a:xfrm>
            <a:off x="2281500" y="33765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strong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83" name="Google Shape;783;p56"/>
          <p:cNvSpPr txBox="1"/>
          <p:nvPr/>
        </p:nvSpPr>
        <p:spPr>
          <a:xfrm>
            <a:off x="2662500" y="33765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weak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84" name="Google Shape;784;p56"/>
          <p:cNvSpPr txBox="1"/>
          <p:nvPr/>
        </p:nvSpPr>
        <p:spPr>
          <a:xfrm>
            <a:off x="3119700" y="3376500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85" name="Google Shape;785;p56"/>
          <p:cNvSpPr txBox="1"/>
          <p:nvPr/>
        </p:nvSpPr>
        <p:spPr>
          <a:xfrm>
            <a:off x="7930500" y="1381200"/>
            <a:ext cx="984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4/8 bytes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56"/>
          <p:cNvSpPr txBox="1"/>
          <p:nvPr/>
        </p:nvSpPr>
        <p:spPr>
          <a:xfrm>
            <a:off x="7539300" y="1457400"/>
            <a:ext cx="385500" cy="152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87" name="Google Shape;787;p56"/>
          <p:cNvSpPr txBox="1"/>
          <p:nvPr/>
        </p:nvSpPr>
        <p:spPr>
          <a:xfrm>
            <a:off x="7467600" y="14574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atomic</a:t>
            </a:r>
            <a:endParaRPr sz="80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88" name="Google Shape;788;p56"/>
          <p:cNvSpPr/>
          <p:nvPr/>
        </p:nvSpPr>
        <p:spPr>
          <a:xfrm>
            <a:off x="7391400" y="2057400"/>
            <a:ext cx="685800" cy="30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6"/>
          <p:cNvSpPr txBox="1"/>
          <p:nvPr/>
        </p:nvSpPr>
        <p:spPr>
          <a:xfrm>
            <a:off x="7315200" y="2133600"/>
            <a:ext cx="838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allocation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0" name="Google Shape;790;p56"/>
          <p:cNvSpPr txBox="1"/>
          <p:nvPr/>
        </p:nvSpPr>
        <p:spPr>
          <a:xfrm>
            <a:off x="7467600" y="2514600"/>
            <a:ext cx="5379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1" name="Google Shape;791;p56"/>
          <p:cNvSpPr txBox="1"/>
          <p:nvPr/>
        </p:nvSpPr>
        <p:spPr>
          <a:xfrm>
            <a:off x="8006700" y="2438400"/>
            <a:ext cx="984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user defined type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56"/>
          <p:cNvSpPr txBox="1"/>
          <p:nvPr/>
        </p:nvSpPr>
        <p:spPr>
          <a:xfrm>
            <a:off x="4240425" y="4048050"/>
            <a:ext cx="84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RefCell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&lt;T&gt;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3" name="Google Shape;793;p56"/>
          <p:cNvSpPr txBox="1"/>
          <p:nvPr/>
        </p:nvSpPr>
        <p:spPr>
          <a:xfrm>
            <a:off x="4321125" y="427665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4" name="Google Shape;794;p56"/>
          <p:cNvSpPr txBox="1"/>
          <p:nvPr/>
        </p:nvSpPr>
        <p:spPr>
          <a:xfrm>
            <a:off x="4244925" y="427665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borrow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5" name="Google Shape;795;p56"/>
          <p:cNvSpPr txBox="1"/>
          <p:nvPr/>
        </p:nvSpPr>
        <p:spPr>
          <a:xfrm>
            <a:off x="4702125" y="4276650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6" name="Google Shape;796;p56"/>
          <p:cNvSpPr txBox="1"/>
          <p:nvPr/>
        </p:nvSpPr>
        <p:spPr>
          <a:xfrm>
            <a:off x="3243000" y="4049808"/>
            <a:ext cx="84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Cell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&lt;T&gt;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7" name="Google Shape;797;p56"/>
          <p:cNvSpPr txBox="1"/>
          <p:nvPr/>
        </p:nvSpPr>
        <p:spPr>
          <a:xfrm>
            <a:off x="3319200" y="4278408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8" name="Google Shape;798;p56"/>
          <p:cNvSpPr txBox="1"/>
          <p:nvPr/>
        </p:nvSpPr>
        <p:spPr>
          <a:xfrm>
            <a:off x="4238163" y="2773682"/>
            <a:ext cx="84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Mutex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&lt;T&gt;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99" name="Google Shape;799;p56"/>
          <p:cNvSpPr txBox="1"/>
          <p:nvPr/>
        </p:nvSpPr>
        <p:spPr>
          <a:xfrm>
            <a:off x="4699863" y="3002282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00" name="Google Shape;800;p56"/>
          <p:cNvSpPr txBox="1"/>
          <p:nvPr/>
        </p:nvSpPr>
        <p:spPr>
          <a:xfrm>
            <a:off x="4623663" y="3002282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poison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01" name="Google Shape;801;p56"/>
          <p:cNvSpPr txBox="1"/>
          <p:nvPr/>
        </p:nvSpPr>
        <p:spPr>
          <a:xfrm>
            <a:off x="5080863" y="3002282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02" name="Google Shape;802;p56"/>
          <p:cNvSpPr txBox="1"/>
          <p:nvPr/>
        </p:nvSpPr>
        <p:spPr>
          <a:xfrm>
            <a:off x="4314363" y="3002282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03" name="Google Shape;803;p56"/>
          <p:cNvSpPr/>
          <p:nvPr/>
        </p:nvSpPr>
        <p:spPr>
          <a:xfrm>
            <a:off x="4318863" y="3307082"/>
            <a:ext cx="685800" cy="304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56"/>
          <p:cNvSpPr txBox="1"/>
          <p:nvPr/>
        </p:nvSpPr>
        <p:spPr>
          <a:xfrm>
            <a:off x="4390563" y="3392882"/>
            <a:ext cx="537900" cy="152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mutex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805" name="Google Shape;805;p56"/>
          <p:cNvCxnSpPr/>
          <p:nvPr/>
        </p:nvCxnSpPr>
        <p:spPr>
          <a:xfrm>
            <a:off x="4468863" y="3154682"/>
            <a:ext cx="1548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6" name="Google Shape;806;p56"/>
          <p:cNvSpPr txBox="1"/>
          <p:nvPr/>
        </p:nvSpPr>
        <p:spPr>
          <a:xfrm>
            <a:off x="4343400" y="449244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data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07" name="Google Shape;807;p56"/>
          <p:cNvSpPr txBox="1"/>
          <p:nvPr/>
        </p:nvSpPr>
        <p:spPr>
          <a:xfrm>
            <a:off x="5410200" y="1432236"/>
            <a:ext cx="838200" cy="152400"/>
          </a:xfrm>
          <a:prstGeom prst="rect">
            <a:avLst/>
          </a:prstGeom>
          <a:solidFill>
            <a:srgbClr val="D6CA9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destructor</a:t>
            </a:r>
            <a:endParaRPr sz="80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08" name="Google Shape;808;p56"/>
          <p:cNvSpPr txBox="1"/>
          <p:nvPr/>
        </p:nvSpPr>
        <p:spPr>
          <a:xfrm>
            <a:off x="5410200" y="1584636"/>
            <a:ext cx="8382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size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09" name="Google Shape;809;p56"/>
          <p:cNvSpPr txBox="1"/>
          <p:nvPr/>
        </p:nvSpPr>
        <p:spPr>
          <a:xfrm>
            <a:off x="5410200" y="1737036"/>
            <a:ext cx="8382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align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0" name="Google Shape;810;p56"/>
          <p:cNvSpPr txBox="1"/>
          <p:nvPr/>
        </p:nvSpPr>
        <p:spPr>
          <a:xfrm>
            <a:off x="5410200" y="1889436"/>
            <a:ext cx="838200" cy="152400"/>
          </a:xfrm>
          <a:prstGeom prst="rect">
            <a:avLst/>
          </a:prstGeom>
          <a:solidFill>
            <a:srgbClr val="D6CA9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method1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1" name="Google Shape;811;p56"/>
          <p:cNvSpPr txBox="1"/>
          <p:nvPr/>
        </p:nvSpPr>
        <p:spPr>
          <a:xfrm>
            <a:off x="5410200" y="2041836"/>
            <a:ext cx="838200" cy="152400"/>
          </a:xfrm>
          <a:prstGeom prst="rect">
            <a:avLst/>
          </a:prstGeom>
          <a:solidFill>
            <a:srgbClr val="D6CA9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method2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812" name="Google Shape;812;p56"/>
          <p:cNvCxnSpPr>
            <a:stCxn id="775" idx="2"/>
          </p:cNvCxnSpPr>
          <p:nvPr/>
        </p:nvCxnSpPr>
        <p:spPr>
          <a:xfrm>
            <a:off x="4991100" y="601644"/>
            <a:ext cx="654600" cy="836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13" name="Google Shape;813;p56"/>
          <p:cNvSpPr txBox="1"/>
          <p:nvPr/>
        </p:nvSpPr>
        <p:spPr>
          <a:xfrm>
            <a:off x="3009900" y="156210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&amp;[T]</a:t>
            </a:r>
            <a:endParaRPr sz="80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4" name="Google Shape;814;p56"/>
          <p:cNvSpPr txBox="1"/>
          <p:nvPr/>
        </p:nvSpPr>
        <p:spPr>
          <a:xfrm>
            <a:off x="3020100" y="2339317"/>
            <a:ext cx="451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len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56"/>
          <p:cNvSpPr/>
          <p:nvPr/>
        </p:nvSpPr>
        <p:spPr>
          <a:xfrm rot="-5400000">
            <a:off x="3357300" y="2072617"/>
            <a:ext cx="152400" cy="685800"/>
          </a:xfrm>
          <a:prstGeom prst="leftBrace">
            <a:avLst>
              <a:gd fmla="val 43481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16" name="Google Shape;816;p56"/>
          <p:cNvSpPr txBox="1"/>
          <p:nvPr/>
        </p:nvSpPr>
        <p:spPr>
          <a:xfrm>
            <a:off x="3086100" y="1790700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ptr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7" name="Google Shape;817;p56"/>
          <p:cNvSpPr txBox="1"/>
          <p:nvPr/>
        </p:nvSpPr>
        <p:spPr>
          <a:xfrm>
            <a:off x="3471600" y="179070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len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8" name="Google Shape;818;p56"/>
          <p:cNvSpPr txBox="1"/>
          <p:nvPr/>
        </p:nvSpPr>
        <p:spPr>
          <a:xfrm>
            <a:off x="3090750" y="2166900"/>
            <a:ext cx="228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19" name="Google Shape;819;p56"/>
          <p:cNvSpPr txBox="1"/>
          <p:nvPr/>
        </p:nvSpPr>
        <p:spPr>
          <a:xfrm>
            <a:off x="3321450" y="2166900"/>
            <a:ext cx="228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20" name="Google Shape;820;p56"/>
          <p:cNvSpPr txBox="1"/>
          <p:nvPr/>
        </p:nvSpPr>
        <p:spPr>
          <a:xfrm>
            <a:off x="3547800" y="2166900"/>
            <a:ext cx="228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821" name="Google Shape;821;p56"/>
          <p:cNvCxnSpPr>
            <a:endCxn id="818" idx="0"/>
          </p:cNvCxnSpPr>
          <p:nvPr/>
        </p:nvCxnSpPr>
        <p:spPr>
          <a:xfrm flipH="1">
            <a:off x="3205050" y="1938300"/>
            <a:ext cx="1143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2" name="Google Shape;822;p56"/>
          <p:cNvSpPr txBox="1"/>
          <p:nvPr/>
        </p:nvSpPr>
        <p:spPr>
          <a:xfrm>
            <a:off x="5558100" y="227789"/>
            <a:ext cx="842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&amp;dyn </a:t>
            </a:r>
            <a:r>
              <a:rPr lang="it" sz="800" u="sng">
                <a:solidFill>
                  <a:schemeClr val="hlink"/>
                </a:solidFill>
                <a:latin typeface="Inconsolata"/>
                <a:ea typeface="Inconsolata"/>
                <a:cs typeface="Inconsolata"/>
                <a:sym typeface="Inconsolata"/>
                <a:hlinkClick r:id="rId17"/>
              </a:rPr>
              <a:t>Trait</a:t>
            </a:r>
            <a:endParaRPr sz="80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23" name="Google Shape;823;p56"/>
          <p:cNvSpPr txBox="1"/>
          <p:nvPr/>
        </p:nvSpPr>
        <p:spPr>
          <a:xfrm>
            <a:off x="5634300" y="456389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24" name="Google Shape;824;p56"/>
          <p:cNvSpPr txBox="1"/>
          <p:nvPr/>
        </p:nvSpPr>
        <p:spPr>
          <a:xfrm>
            <a:off x="6019800" y="456389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25" name="Google Shape;825;p56"/>
          <p:cNvSpPr txBox="1"/>
          <p:nvPr/>
        </p:nvSpPr>
        <p:spPr>
          <a:xfrm>
            <a:off x="5486400" y="837389"/>
            <a:ext cx="5379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826" name="Google Shape;826;p56"/>
          <p:cNvCxnSpPr>
            <a:stCxn id="827" idx="2"/>
            <a:endCxn id="825" idx="0"/>
          </p:cNvCxnSpPr>
          <p:nvPr/>
        </p:nvCxnSpPr>
        <p:spPr>
          <a:xfrm flipH="1">
            <a:off x="5755500" y="606798"/>
            <a:ext cx="78300" cy="23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8" name="Google Shape;828;p56"/>
          <p:cNvSpPr txBox="1"/>
          <p:nvPr/>
        </p:nvSpPr>
        <p:spPr>
          <a:xfrm>
            <a:off x="5948100" y="454398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vtable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27" name="Google Shape;827;p56"/>
          <p:cNvSpPr txBox="1"/>
          <p:nvPr/>
        </p:nvSpPr>
        <p:spPr>
          <a:xfrm>
            <a:off x="5567100" y="454398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data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829" name="Google Shape;829;p56"/>
          <p:cNvCxnSpPr>
            <a:stCxn id="828" idx="2"/>
          </p:cNvCxnSpPr>
          <p:nvPr/>
        </p:nvCxnSpPr>
        <p:spPr>
          <a:xfrm flipH="1">
            <a:off x="5937900" y="606798"/>
            <a:ext cx="276900" cy="82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30" name="Google Shape;830;p56"/>
          <p:cNvSpPr txBox="1"/>
          <p:nvPr/>
        </p:nvSpPr>
        <p:spPr>
          <a:xfrm>
            <a:off x="2871000" y="2166900"/>
            <a:ext cx="228600" cy="15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31" name="Google Shape;831;p56"/>
          <p:cNvSpPr txBox="1"/>
          <p:nvPr/>
        </p:nvSpPr>
        <p:spPr>
          <a:xfrm>
            <a:off x="3771900" y="2166900"/>
            <a:ext cx="228600" cy="15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32" name="Google Shape;832;p56"/>
          <p:cNvSpPr txBox="1"/>
          <p:nvPr/>
        </p:nvSpPr>
        <p:spPr>
          <a:xfrm>
            <a:off x="7930500" y="1686000"/>
            <a:ext cx="984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4/8 bytes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56"/>
          <p:cNvSpPr txBox="1"/>
          <p:nvPr/>
        </p:nvSpPr>
        <p:spPr>
          <a:xfrm>
            <a:off x="7539300" y="1762200"/>
            <a:ext cx="385500" cy="152400"/>
          </a:xfrm>
          <a:prstGeom prst="rect">
            <a:avLst/>
          </a:prstGeom>
          <a:solidFill>
            <a:srgbClr val="D6CA9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34" name="Google Shape;834;p56"/>
          <p:cNvSpPr txBox="1"/>
          <p:nvPr/>
        </p:nvSpPr>
        <p:spPr>
          <a:xfrm>
            <a:off x="7467600" y="17622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fn</a:t>
            </a:r>
            <a:endParaRPr sz="80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35" name="Google Shape;835;p56"/>
          <p:cNvSpPr txBox="1"/>
          <p:nvPr/>
        </p:nvSpPr>
        <p:spPr>
          <a:xfrm>
            <a:off x="6152100" y="2744475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enum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 {A, B, C}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36" name="Google Shape;836;p56"/>
          <p:cNvSpPr txBox="1"/>
          <p:nvPr/>
        </p:nvSpPr>
        <p:spPr>
          <a:xfrm>
            <a:off x="6193925" y="38004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Option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&lt;T&gt;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37" name="Google Shape;837;p56"/>
          <p:cNvSpPr txBox="1"/>
          <p:nvPr/>
        </p:nvSpPr>
        <p:spPr>
          <a:xfrm>
            <a:off x="6265625" y="402900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tag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38" name="Google Shape;838;p56"/>
          <p:cNvSpPr txBox="1"/>
          <p:nvPr/>
        </p:nvSpPr>
        <p:spPr>
          <a:xfrm>
            <a:off x="7489325" y="3800400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Option</a:t>
            </a: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&lt;T&gt;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39" name="Google Shape;839;p56"/>
          <p:cNvSpPr txBox="1"/>
          <p:nvPr/>
        </p:nvSpPr>
        <p:spPr>
          <a:xfrm>
            <a:off x="7467600" y="4324886"/>
            <a:ext cx="1195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when T contains pointers which </a:t>
            </a:r>
            <a:r>
              <a:rPr lang="it" sz="700">
                <a:solidFill>
                  <a:srgbClr val="0000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can't be null</a:t>
            </a:r>
            <a:endParaRPr sz="7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56"/>
          <p:cNvSpPr txBox="1"/>
          <p:nvPr/>
        </p:nvSpPr>
        <p:spPr>
          <a:xfrm>
            <a:off x="605100" y="1790700"/>
            <a:ext cx="385500" cy="1524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ptr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841" name="Google Shape;841;p56"/>
          <p:cNvCxnSpPr>
            <a:stCxn id="840" idx="2"/>
            <a:endCxn id="842" idx="0"/>
          </p:cNvCxnSpPr>
          <p:nvPr/>
        </p:nvCxnSpPr>
        <p:spPr>
          <a:xfrm>
            <a:off x="797850" y="1943100"/>
            <a:ext cx="1548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42" name="Google Shape;842;p56"/>
          <p:cNvSpPr txBox="1"/>
          <p:nvPr/>
        </p:nvSpPr>
        <p:spPr>
          <a:xfrm>
            <a:off x="609600" y="2171700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43" name="Google Shape;843;p56"/>
          <p:cNvSpPr txBox="1"/>
          <p:nvPr/>
        </p:nvSpPr>
        <p:spPr>
          <a:xfrm>
            <a:off x="533400" y="1562100"/>
            <a:ext cx="537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&amp;</a:t>
            </a:r>
            <a:r>
              <a:rPr lang="it" sz="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44" name="Google Shape;844;p56"/>
          <p:cNvSpPr txBox="1"/>
          <p:nvPr/>
        </p:nvSpPr>
        <p:spPr>
          <a:xfrm>
            <a:off x="1493250" y="1371600"/>
            <a:ext cx="1250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Note: </a:t>
            </a:r>
            <a:r>
              <a:rPr lang="it" sz="7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String</a:t>
            </a:r>
            <a:r>
              <a:rPr lang="it" sz="700">
                <a:latin typeface="Roboto"/>
                <a:ea typeface="Roboto"/>
                <a:cs typeface="Roboto"/>
                <a:sym typeface="Roboto"/>
              </a:rPr>
              <a:t> has same memory layout as  </a:t>
            </a:r>
            <a:r>
              <a:rPr lang="it" sz="700">
                <a:latin typeface="Inconsolata"/>
                <a:ea typeface="Inconsolata"/>
                <a:cs typeface="Inconsolata"/>
                <a:sym typeface="Inconsolata"/>
              </a:rPr>
              <a:t>Vec&lt;u8&gt;</a:t>
            </a:r>
            <a:endParaRPr sz="7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45" name="Google Shape;845;p56"/>
          <p:cNvSpPr txBox="1"/>
          <p:nvPr/>
        </p:nvSpPr>
        <p:spPr>
          <a:xfrm>
            <a:off x="2841125" y="2502125"/>
            <a:ext cx="1195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Note: </a:t>
            </a:r>
            <a:r>
              <a:rPr lang="it" sz="700">
                <a:latin typeface="Inconsolata"/>
                <a:ea typeface="Inconsolata"/>
                <a:cs typeface="Inconsolata"/>
                <a:sym typeface="Inconsolata"/>
              </a:rPr>
              <a:t>&amp;</a:t>
            </a:r>
            <a:r>
              <a:rPr lang="it" sz="7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str</a:t>
            </a:r>
            <a:r>
              <a:rPr lang="it" sz="700">
                <a:latin typeface="Roboto"/>
                <a:ea typeface="Roboto"/>
                <a:cs typeface="Roboto"/>
                <a:sym typeface="Roboto"/>
              </a:rPr>
              <a:t> has same memory layout as  </a:t>
            </a:r>
            <a:r>
              <a:rPr lang="it" sz="700">
                <a:latin typeface="Inconsolata"/>
                <a:ea typeface="Inconsolata"/>
                <a:cs typeface="Inconsolata"/>
                <a:sym typeface="Inconsolata"/>
              </a:rPr>
              <a:t>&amp;[u8]</a:t>
            </a:r>
            <a:endParaRPr sz="7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46" name="Google Shape;846;p56"/>
          <p:cNvSpPr txBox="1"/>
          <p:nvPr/>
        </p:nvSpPr>
        <p:spPr>
          <a:xfrm>
            <a:off x="141300" y="4516665"/>
            <a:ext cx="6642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Rust container cheat sheet, by Raph Levien, Copyright 2017 Google Inc., released under Creative Commons BY, 2017-04-21, version 0.0.4</a:t>
            </a:r>
            <a:endParaRPr sz="8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56"/>
          <p:cNvSpPr/>
          <p:nvPr/>
        </p:nvSpPr>
        <p:spPr>
          <a:xfrm>
            <a:off x="2176200" y="114300"/>
            <a:ext cx="1142994" cy="114298"/>
          </a:xfrm>
          <a:custGeom>
            <a:rect b="b" l="l" r="r" t="t"/>
            <a:pathLst>
              <a:path extrusionOk="0" h="9676" w="30194">
                <a:moveTo>
                  <a:pt x="0" y="9676"/>
                </a:moveTo>
                <a:cubicBezTo>
                  <a:pt x="1141" y="8535"/>
                  <a:pt x="4254" y="4435"/>
                  <a:pt x="6848" y="2827"/>
                </a:cubicBezTo>
                <a:cubicBezTo>
                  <a:pt x="9442" y="1219"/>
                  <a:pt x="12451" y="-26"/>
                  <a:pt x="15564" y="26"/>
                </a:cubicBezTo>
                <a:cubicBezTo>
                  <a:pt x="18677" y="78"/>
                  <a:pt x="23087" y="1531"/>
                  <a:pt x="25525" y="3139"/>
                </a:cubicBezTo>
                <a:cubicBezTo>
                  <a:pt x="27963" y="4747"/>
                  <a:pt x="29416" y="8587"/>
                  <a:pt x="30194" y="96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sp>
      <p:sp>
        <p:nvSpPr>
          <p:cNvPr id="848" name="Google Shape;848;p56"/>
          <p:cNvSpPr txBox="1"/>
          <p:nvPr/>
        </p:nvSpPr>
        <p:spPr>
          <a:xfrm>
            <a:off x="2600400" y="1256489"/>
            <a:ext cx="904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rgbClr val="666666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into_vec</a:t>
            </a:r>
            <a:endParaRPr sz="700">
              <a:solidFill>
                <a:srgbClr val="666666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49" name="Google Shape;849;p56"/>
          <p:cNvSpPr/>
          <p:nvPr/>
        </p:nvSpPr>
        <p:spPr>
          <a:xfrm rot="10800000">
            <a:off x="2546125" y="1370789"/>
            <a:ext cx="1030748" cy="114298"/>
          </a:xfrm>
          <a:custGeom>
            <a:rect b="b" l="l" r="r" t="t"/>
            <a:pathLst>
              <a:path extrusionOk="0" h="9676" w="30194">
                <a:moveTo>
                  <a:pt x="0" y="9676"/>
                </a:moveTo>
                <a:cubicBezTo>
                  <a:pt x="1141" y="8535"/>
                  <a:pt x="4254" y="4435"/>
                  <a:pt x="6848" y="2827"/>
                </a:cubicBezTo>
                <a:cubicBezTo>
                  <a:pt x="9442" y="1219"/>
                  <a:pt x="12451" y="-26"/>
                  <a:pt x="15564" y="26"/>
                </a:cubicBezTo>
                <a:cubicBezTo>
                  <a:pt x="18677" y="78"/>
                  <a:pt x="23087" y="1531"/>
                  <a:pt x="25525" y="3139"/>
                </a:cubicBezTo>
                <a:cubicBezTo>
                  <a:pt x="27963" y="4747"/>
                  <a:pt x="29416" y="8587"/>
                  <a:pt x="30194" y="967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sp>
      <p:sp>
        <p:nvSpPr>
          <p:cNvPr id="850" name="Google Shape;850;p56"/>
          <p:cNvSpPr txBox="1"/>
          <p:nvPr/>
        </p:nvSpPr>
        <p:spPr>
          <a:xfrm>
            <a:off x="6152100" y="3484879"/>
            <a:ext cx="1660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Also basis of </a:t>
            </a:r>
            <a:r>
              <a:rPr lang="it" sz="7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Result</a:t>
            </a:r>
            <a:r>
              <a:rPr lang="it" sz="7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it" sz="7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Cow</a:t>
            </a:r>
            <a:r>
              <a:rPr lang="it" sz="700">
                <a:latin typeface="Roboto"/>
                <a:ea typeface="Roboto"/>
                <a:cs typeface="Roboto"/>
                <a:sym typeface="Roboto"/>
              </a:rPr>
              <a:t>, etc.</a:t>
            </a:r>
            <a:endParaRPr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56"/>
          <p:cNvSpPr txBox="1"/>
          <p:nvPr/>
        </p:nvSpPr>
        <p:spPr>
          <a:xfrm>
            <a:off x="381000" y="991914"/>
            <a:ext cx="11430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where </a:t>
            </a:r>
            <a:r>
              <a:rPr lang="it" sz="700">
                <a:latin typeface="Inconsolata"/>
                <a:ea typeface="Inconsolata"/>
                <a:cs typeface="Inconsolata"/>
                <a:sym typeface="Inconsolata"/>
              </a:rPr>
              <a:t>T: </a:t>
            </a:r>
            <a:r>
              <a:rPr lang="it" sz="7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Sized</a:t>
            </a:r>
            <a:endParaRPr sz="70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52" name="Google Shape;852;p56"/>
          <p:cNvSpPr txBox="1"/>
          <p:nvPr/>
        </p:nvSpPr>
        <p:spPr>
          <a:xfrm>
            <a:off x="8034450" y="2000400"/>
            <a:ext cx="1030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heap</a:t>
            </a:r>
            <a:r>
              <a:rPr lang="it" sz="800">
                <a:latin typeface="Roboto"/>
                <a:ea typeface="Roboto"/>
                <a:cs typeface="Roboto"/>
                <a:sym typeface="Roboto"/>
              </a:rPr>
              <a:t> allocation,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Roboto"/>
                <a:ea typeface="Roboto"/>
                <a:cs typeface="Roboto"/>
                <a:sym typeface="Roboto"/>
              </a:rPr>
              <a:t>implies ownership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56"/>
          <p:cNvSpPr txBox="1"/>
          <p:nvPr/>
        </p:nvSpPr>
        <p:spPr>
          <a:xfrm>
            <a:off x="513570" y="2247845"/>
            <a:ext cx="11430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where </a:t>
            </a:r>
            <a:r>
              <a:rPr lang="it" sz="700">
                <a:latin typeface="Inconsolata"/>
                <a:ea typeface="Inconsolata"/>
                <a:cs typeface="Inconsolata"/>
                <a:sym typeface="Inconsolata"/>
              </a:rPr>
              <a:t>T: </a:t>
            </a:r>
            <a:r>
              <a:rPr lang="it" sz="700">
                <a:solidFill>
                  <a:srgbClr val="0000FF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Sized</a:t>
            </a:r>
            <a:endParaRPr sz="70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54" name="Google Shape;854;p56"/>
          <p:cNvSpPr txBox="1"/>
          <p:nvPr/>
        </p:nvSpPr>
        <p:spPr>
          <a:xfrm>
            <a:off x="6646625" y="4029000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55" name="Google Shape;855;p56"/>
          <p:cNvSpPr txBox="1"/>
          <p:nvPr/>
        </p:nvSpPr>
        <p:spPr>
          <a:xfrm>
            <a:off x="7566466" y="4029000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56" name="Google Shape;856;p56"/>
          <p:cNvSpPr txBox="1"/>
          <p:nvPr/>
        </p:nvSpPr>
        <p:spPr>
          <a:xfrm>
            <a:off x="4190163" y="3535682"/>
            <a:ext cx="16953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Consider using </a:t>
            </a:r>
            <a:r>
              <a:rPr lang="it" sz="700">
                <a:solidFill>
                  <a:srgbClr val="0000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parking_lot</a:t>
            </a:r>
            <a:r>
              <a:rPr lang="it" sz="700">
                <a:latin typeface="Roboto"/>
                <a:ea typeface="Roboto"/>
                <a:cs typeface="Roboto"/>
                <a:sym typeface="Roboto"/>
              </a:rPr>
              <a:t>, which</a:t>
            </a:r>
            <a:br>
              <a:rPr lang="it" sz="700">
                <a:latin typeface="Roboto"/>
                <a:ea typeface="Roboto"/>
                <a:cs typeface="Roboto"/>
                <a:sym typeface="Roboto"/>
              </a:rPr>
            </a:br>
            <a:r>
              <a:rPr lang="it" sz="700">
                <a:latin typeface="Roboto"/>
                <a:ea typeface="Roboto"/>
                <a:cs typeface="Roboto"/>
                <a:sym typeface="Roboto"/>
              </a:rPr>
              <a:t>doesn’t allocate the raw mutex</a:t>
            </a:r>
            <a:endParaRPr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56"/>
          <p:cNvSpPr txBox="1"/>
          <p:nvPr/>
        </p:nvSpPr>
        <p:spPr>
          <a:xfrm>
            <a:off x="6265625" y="4238550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tag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58" name="Google Shape;858;p56"/>
          <p:cNvSpPr txBox="1"/>
          <p:nvPr/>
        </p:nvSpPr>
        <p:spPr>
          <a:xfrm>
            <a:off x="6646625" y="4238550"/>
            <a:ext cx="685800" cy="15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59" name="Google Shape;859;p56"/>
          <p:cNvSpPr txBox="1"/>
          <p:nvPr/>
        </p:nvSpPr>
        <p:spPr>
          <a:xfrm>
            <a:off x="7566466" y="4243313"/>
            <a:ext cx="685800" cy="15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60" name="Google Shape;860;p56"/>
          <p:cNvSpPr txBox="1"/>
          <p:nvPr/>
        </p:nvSpPr>
        <p:spPr>
          <a:xfrm>
            <a:off x="6071407" y="4069335"/>
            <a:ext cx="276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or</a:t>
            </a:r>
            <a:endParaRPr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56"/>
          <p:cNvSpPr txBox="1"/>
          <p:nvPr/>
        </p:nvSpPr>
        <p:spPr>
          <a:xfrm>
            <a:off x="7378192" y="4069335"/>
            <a:ext cx="276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or</a:t>
            </a:r>
            <a:endParaRPr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56"/>
          <p:cNvSpPr txBox="1"/>
          <p:nvPr/>
        </p:nvSpPr>
        <p:spPr>
          <a:xfrm>
            <a:off x="6265625" y="2966434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tag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63" name="Google Shape;863;p56"/>
          <p:cNvSpPr txBox="1"/>
          <p:nvPr/>
        </p:nvSpPr>
        <p:spPr>
          <a:xfrm>
            <a:off x="6646625" y="2966425"/>
            <a:ext cx="4866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A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64" name="Google Shape;864;p56"/>
          <p:cNvSpPr txBox="1"/>
          <p:nvPr/>
        </p:nvSpPr>
        <p:spPr>
          <a:xfrm>
            <a:off x="6646625" y="3185196"/>
            <a:ext cx="6858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B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65" name="Google Shape;865;p56"/>
          <p:cNvSpPr txBox="1"/>
          <p:nvPr/>
        </p:nvSpPr>
        <p:spPr>
          <a:xfrm>
            <a:off x="6071407" y="3006769"/>
            <a:ext cx="276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or</a:t>
            </a:r>
            <a:endParaRPr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56"/>
          <p:cNvSpPr txBox="1"/>
          <p:nvPr/>
        </p:nvSpPr>
        <p:spPr>
          <a:xfrm>
            <a:off x="6265625" y="3185196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tag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67" name="Google Shape;867;p56"/>
          <p:cNvSpPr txBox="1"/>
          <p:nvPr/>
        </p:nvSpPr>
        <p:spPr>
          <a:xfrm>
            <a:off x="6646625" y="3407913"/>
            <a:ext cx="286500" cy="152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C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68" name="Google Shape;868;p56"/>
          <p:cNvSpPr txBox="1"/>
          <p:nvPr/>
        </p:nvSpPr>
        <p:spPr>
          <a:xfrm>
            <a:off x="6071407" y="3221081"/>
            <a:ext cx="276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latin typeface="Roboto"/>
                <a:ea typeface="Roboto"/>
                <a:cs typeface="Roboto"/>
                <a:sym typeface="Roboto"/>
              </a:rPr>
              <a:t>or</a:t>
            </a:r>
            <a:endParaRPr sz="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9" name="Google Shape;869;p56"/>
          <p:cNvSpPr txBox="1"/>
          <p:nvPr/>
        </p:nvSpPr>
        <p:spPr>
          <a:xfrm>
            <a:off x="6265625" y="3406596"/>
            <a:ext cx="385500" cy="152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tag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70" name="Google Shape;870;p56"/>
          <p:cNvSpPr txBox="1"/>
          <p:nvPr/>
        </p:nvSpPr>
        <p:spPr>
          <a:xfrm>
            <a:off x="7133225" y="2966425"/>
            <a:ext cx="199200" cy="15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71" name="Google Shape;871;p56"/>
          <p:cNvSpPr txBox="1"/>
          <p:nvPr/>
        </p:nvSpPr>
        <p:spPr>
          <a:xfrm>
            <a:off x="6933150" y="3407913"/>
            <a:ext cx="414000" cy="15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872" name="Google Shape;872;p56"/>
          <p:cNvSpPr txBox="1"/>
          <p:nvPr/>
        </p:nvSpPr>
        <p:spPr>
          <a:xfrm>
            <a:off x="4242663" y="3002282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Inconsolata"/>
                <a:ea typeface="Inconsolata"/>
                <a:cs typeface="Inconsolata"/>
                <a:sym typeface="Inconsolata"/>
              </a:rPr>
              <a:t>inner</a:t>
            </a:r>
            <a:endParaRPr sz="800"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873" name="Google Shape;873;p56"/>
          <p:cNvCxnSpPr/>
          <p:nvPr/>
        </p:nvCxnSpPr>
        <p:spPr>
          <a:xfrm>
            <a:off x="2340023" y="1705396"/>
            <a:ext cx="426000" cy="510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874" name="Google Shape;874;p56"/>
          <p:cNvCxnSpPr/>
          <p:nvPr/>
        </p:nvCxnSpPr>
        <p:spPr>
          <a:xfrm>
            <a:off x="3773925" y="1323925"/>
            <a:ext cx="45900" cy="342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875" name="Google Shape;875;p56"/>
          <p:cNvCxnSpPr/>
          <p:nvPr/>
        </p:nvCxnSpPr>
        <p:spPr>
          <a:xfrm>
            <a:off x="914400" y="1257450"/>
            <a:ext cx="45900" cy="342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876" name="Google Shape;876;p56"/>
          <p:cNvCxnSpPr>
            <a:stCxn id="775" idx="3"/>
            <a:endCxn id="827" idx="1"/>
          </p:cNvCxnSpPr>
          <p:nvPr/>
        </p:nvCxnSpPr>
        <p:spPr>
          <a:xfrm>
            <a:off x="5257800" y="525444"/>
            <a:ext cx="309300" cy="51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877" name="Google Shape;877;p56"/>
          <p:cNvCxnSpPr>
            <a:endCxn id="853" idx="2"/>
          </p:cNvCxnSpPr>
          <p:nvPr/>
        </p:nvCxnSpPr>
        <p:spPr>
          <a:xfrm rot="10800000">
            <a:off x="1085070" y="2543045"/>
            <a:ext cx="170400" cy="6147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878" name="Google Shape;878;p56"/>
          <p:cNvCxnSpPr/>
          <p:nvPr/>
        </p:nvCxnSpPr>
        <p:spPr>
          <a:xfrm rot="10800000">
            <a:off x="1491270" y="2549045"/>
            <a:ext cx="738000" cy="5250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879" name="Google Shape;879;p56"/>
          <p:cNvCxnSpPr/>
          <p:nvPr/>
        </p:nvCxnSpPr>
        <p:spPr>
          <a:xfrm>
            <a:off x="7555475" y="2857133"/>
            <a:ext cx="3870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ot"/>
            <a:round/>
            <a:headEnd len="med" w="med" type="none"/>
            <a:tailEnd len="med" w="med" type="stealth"/>
          </a:ln>
        </p:spPr>
      </p:cxnSp>
      <p:sp>
        <p:nvSpPr>
          <p:cNvPr id="880" name="Google Shape;880;p56"/>
          <p:cNvSpPr txBox="1"/>
          <p:nvPr/>
        </p:nvSpPr>
        <p:spPr>
          <a:xfrm>
            <a:off x="7932345" y="2705100"/>
            <a:ext cx="984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solidFill>
                  <a:srgbClr val="0000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deref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5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87" name="Google Shape;88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saperne di più…</a:t>
            </a:r>
            <a:endParaRPr/>
          </a:p>
        </p:txBody>
      </p:sp>
      <p:sp>
        <p:nvSpPr>
          <p:cNvPr id="888" name="Google Shape;888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Understanding smart pointers in Rust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https://blog.logrocket.com/smart-pointers-rust/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Understanding Rust smart pointers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4"/>
              </a:rPr>
              <a:t>https://medium.com/the-polyglot-programmer/undestanding-rust-smart-pointers-660d59715ab9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Smart Pointers Tutorial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5"/>
              </a:rPr>
              <a:t>https://www.koderhq.com/tutorial/rust/smart-pointer/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Smart Pointers in Rust: What, why and how?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u="sng">
                <a:solidFill>
                  <a:schemeClr val="hlink"/>
                </a:solidFill>
                <a:hlinkClick r:id="rId6"/>
              </a:rPr>
              <a:t>https://dev.to/rogertorres/smart-pointers-in-rust-what-why-and-how-oma</a:t>
            </a:r>
            <a:r>
              <a:rPr lang="it"/>
              <a:t> </a:t>
            </a:r>
            <a:endParaRPr/>
          </a:p>
        </p:txBody>
      </p:sp>
      <p:pic>
        <p:nvPicPr>
          <p:cNvPr id="889" name="Google Shape;889;p57"/>
          <p:cNvPicPr preferRelativeResize="0"/>
          <p:nvPr/>
        </p:nvPicPr>
        <p:blipFill rotWithShape="1">
          <a:blip r:embed="rId7">
            <a:alphaModFix/>
          </a:blip>
          <a:srcRect b="18806" l="17235" r="17235" t="18800"/>
          <a:stretch/>
        </p:blipFill>
        <p:spPr>
          <a:xfrm>
            <a:off x="7771925" y="105705"/>
            <a:ext cx="1249224" cy="102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