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embeddedFontLst>
    <p:embeddedFont>
      <p:font typeface="Gill Sans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illSans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GillSans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09dc9eb8c4_0_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09dc9eb8c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19f6ce588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19f6ce5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67da396aa_1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67da396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19f6ce588_0_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19f6ce58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19f6ce588_0_1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19f6ce58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19f6ce588_0_19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19f6ce58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19f6ce588_0_2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19f6ce58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19f6ce588_0_6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19f6ce58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19f6ce588_0_3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19f6ce58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19f6ce588_0_4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19f6ce58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19f6ce588_0_5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19f6ce58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19f6ce588_0_7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19f6ce58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9dc9eb8c4_0_46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09dc9eb8c4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19f6ce588_0_25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19f6ce588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19f6ce588_0_15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19f6ce588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67da396aa_1_3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67da396a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c67da396aa_1_8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c67da396aa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09dc9eb8c4_0_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109dc9eb8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19f6ce588_0_8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d19f6ce58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062f631627_0_1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062f63162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9dc9eb8c4_0_550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9dc9eb8c4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19f6ce588_0_215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19f6ce588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19f6ce588_0_233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19f6ce588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19f6ce588_0_22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d19f6ce58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19f6ce588_0_24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d19f6ce58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19f6ce588_0_26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d19f6ce588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d19f6ce588_0_45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d19f6ce588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19f6ce588_0_284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19f6ce588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19f6ce588_0_292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d19f6ce588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d19f6ce588_0_298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d19f6ce58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d19f6ce588_0_346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d19f6ce588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19f6ce588_0_367:notes"/>
          <p:cNvSpPr/>
          <p:nvPr>
            <p:ph idx="2" type="sldImg"/>
          </p:nvPr>
        </p:nvSpPr>
        <p:spPr>
          <a:xfrm>
            <a:off x="38130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d19f6ce588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163611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72566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9530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varie\logo del poli\marchio_200x200.gif"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988" y="4424363"/>
            <a:ext cx="70485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1435100" y="205978"/>
            <a:ext cx="7499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sz="4000">
                <a:solidFill>
                  <a:srgbClr val="0070C0"/>
                </a:solidFill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1435608" y="1085850"/>
            <a:ext cx="74982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rtl="0" algn="l">
              <a:spcBef>
                <a:spcPts val="600"/>
              </a:spcBef>
              <a:spcAft>
                <a:spcPts val="0"/>
              </a:spcAft>
              <a:buSzPts val="2240"/>
              <a:buChar char="●"/>
              <a:defRPr sz="2800"/>
            </a:lvl1pPr>
            <a:lvl2pPr indent="-381000" lvl="1" marL="914400" rtl="0" algn="l">
              <a:spcBef>
                <a:spcPts val="550"/>
              </a:spcBef>
              <a:spcAft>
                <a:spcPts val="0"/>
              </a:spcAft>
              <a:buSzPts val="2400"/>
              <a:buChar char="○"/>
              <a:defRPr sz="2400">
                <a:solidFill>
                  <a:srgbClr val="3E3E67"/>
                </a:solidFill>
              </a:defRPr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>
                <a:solidFill>
                  <a:srgbClr val="3E3E67"/>
                </a:solidFill>
              </a:defRPr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>
                <a:solidFill>
                  <a:srgbClr val="3E3E67"/>
                </a:solidFill>
              </a:defRPr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SzPts val="1800"/>
              <a:buChar char="○"/>
              <a:defRPr sz="1800">
                <a:solidFill>
                  <a:srgbClr val="3E3E67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613775" y="4729163"/>
            <a:ext cx="45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A3A3A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Calibri"/>
              <a:buNone/>
              <a:defRPr b="1" sz="2800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Char char="●"/>
              <a:defRPr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■"/>
              <a:defRPr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100">
                <a:solidFill>
                  <a:schemeClr val="lt1"/>
                </a:solidFill>
              </a:rPr>
              <a:t>© G. Malnati, 2021-26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163611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Polimorfismo</a:t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372566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Tratti e programmazione generica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9500" y="538920"/>
            <a:ext cx="1714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Polimorfismo: cos'è e perché serve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2"/>
            <a:ext cx="8520600" cy="36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Sebbene il processo di analisi di un dominio applicativo tenda a favorire la sua suddivisione in una molteplicità di tipi distinti (classi, strutture, funzioni, ecc.), la necessità di minimizzare il codice scritto spinge verso l’identificazione di comportamenti comuni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Che possano essere condivisi tra tali tipi per unificare la struttura del codice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Principio DRY - </a:t>
            </a:r>
            <a:r>
              <a:rPr i="1" lang="it"/>
              <a:t>Don’t Repeat Yourself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soluzione individuata è il </a:t>
            </a:r>
            <a:r>
              <a:rPr b="1" lang="it">
                <a:solidFill>
                  <a:srgbClr val="0B5394"/>
                </a:solidFill>
              </a:rPr>
              <a:t>polimorfismo</a:t>
            </a:r>
            <a:r>
              <a:rPr lang="it"/>
              <a:t>: capacità di associare comportamenti comuni ad un insieme di tipi differenti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Così da rendere più compatta e razionale la struttura del codice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Implementare il polimorfismo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Linguaggi di programmazione diversi hanno introdotto vari modi per implementare il polimorfismo: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Può basarsi sul paradigma della </a:t>
            </a:r>
            <a:r>
              <a:rPr b="1" lang="it">
                <a:solidFill>
                  <a:srgbClr val="0B5394"/>
                </a:solidFill>
              </a:rPr>
              <a:t>programmazione generica</a:t>
            </a:r>
            <a:r>
              <a:rPr lang="it"/>
              <a:t>, dove è possibile formulare funzioni o strutture dati in cui uno o più tipi non sono specificati per nome, ma tramite simboli astratti, abilitando così la scrittura di codice in grado di operare con una molteplicità di tipi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Oppure può sfruttare la definizione di </a:t>
            </a:r>
            <a:r>
              <a:rPr b="1" lang="it">
                <a:solidFill>
                  <a:srgbClr val="0B5394"/>
                </a:solidFill>
              </a:rPr>
              <a:t>interfacce</a:t>
            </a:r>
            <a:r>
              <a:rPr lang="it"/>
              <a:t> comuni, che possono essere implementate dai singoli tipi: questo consente di fare riferimento all’interfaccia invece che al tipo concreto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Nei linguaggi che implementano il concetto di </a:t>
            </a:r>
            <a:r>
              <a:rPr b="1" lang="it">
                <a:solidFill>
                  <a:srgbClr val="0B5394"/>
                </a:solidFill>
              </a:rPr>
              <a:t>ereditarietà</a:t>
            </a:r>
            <a:r>
              <a:rPr lang="it"/>
              <a:t>, il polimorfismo si può realizzare derivando più classi concrete da una super-classe in cui è definito il comportamento comune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polimorfismo in Rust si basa sui tratti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037225"/>
            <a:ext cx="8520600" cy="365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Rust un tratto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trait</a:t>
            </a:r>
            <a:r>
              <a:rPr lang="it"/>
              <a:t>) descrive un </a:t>
            </a:r>
            <a:r>
              <a:rPr b="1" lang="it">
                <a:solidFill>
                  <a:srgbClr val="0B5394"/>
                </a:solidFill>
              </a:rPr>
              <a:t>comportamento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valore può essere stampato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Due valori omogenei possono essere confrontati tra loro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contenuto di una collezione può essere esaminato un elemento alla volta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tipo, predefinito o definito dall’utente, può implementare zero, uno o più tratti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 Acquisendo  la capacità di eseguire i corrispondenti comportamenti e rendendo nota questa capacità al compilatore che ne potrà usufruire per generare e ottimizzare il codice 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tratti in Rust costituiscono l’equivalente concettuale delle interfacce di Java e C#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 tratto definisce un </a:t>
            </a:r>
            <a:r>
              <a:rPr b="1" lang="it">
                <a:solidFill>
                  <a:srgbClr val="0B5394"/>
                </a:solidFill>
              </a:rPr>
              <a:t>insieme di metodi,</a:t>
            </a:r>
            <a:r>
              <a:rPr lang="it"/>
              <a:t> eventualmente associando loro un’implementazione di default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789205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tratti abilitano costrutti reali: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println!("{}", x)</a:t>
            </a:r>
            <a:r>
              <a:rPr lang="it"/>
              <a:t> → possibile se (il tipo di)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it"/>
              <a:t> implementa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println!("{:?}", x)</a:t>
            </a:r>
            <a:r>
              <a:rPr lang="it"/>
              <a:t> → possibile se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x</a:t>
            </a:r>
            <a:r>
              <a:rPr lang="it"/>
              <a:t> implementa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Debug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for x in v {…}</a:t>
            </a:r>
            <a:r>
              <a:rPr lang="it"/>
              <a:t> → possibile se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lang="it"/>
              <a:t> implementa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IntoIterator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 == b</a:t>
            </a:r>
            <a:r>
              <a:rPr lang="it"/>
              <a:t> → possibile se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it"/>
              <a:t> implementa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PartialEq</a:t>
            </a:r>
            <a:r>
              <a:rPr lang="it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Una porzione significativa della sintassi di Rust è basata sul concetto di tratto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 su un insieme di tratti che fanno parte della libreria standard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 questi possono affiancarsi altri tratti definiti dall'utente</a:t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Definire un tratto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2783475"/>
            <a:ext cx="8520600" cy="17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tratto definisce un </a:t>
            </a:r>
            <a:r>
              <a:rPr b="1" lang="it">
                <a:solidFill>
                  <a:srgbClr val="0B5394"/>
                </a:solidFill>
              </a:rPr>
              <a:t>comportamento</a:t>
            </a:r>
            <a:r>
              <a:rPr lang="it"/>
              <a:t>, non un tipo concreto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 questo caso, stiamo dicendo che i tipi che implementeranno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alidatable </a:t>
            </a:r>
            <a:r>
              <a:rPr lang="it"/>
              <a:t>dovranno avere un meccanismo - la funzione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validate(...)</a:t>
            </a:r>
            <a:r>
              <a:rPr lang="it"/>
              <a:t> - volto a stabilire se il loro contenuto è valido (secondo una qualche interpretazione legata al dominio che modellano) o meno</a:t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2526600" y="1247800"/>
            <a:ext cx="4090800" cy="10158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trait Validatable {</a:t>
            </a:r>
            <a:endParaRPr b="1" sz="18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 fn validate(&amp;self) -&gt; bool;</a:t>
            </a:r>
            <a:endParaRPr b="1" sz="18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8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Implementare un tratto per un dato tipo</a:t>
            </a:r>
            <a:endParaRPr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6" name="Google Shape;106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Il costrutto </a:t>
            </a:r>
            <a:br>
              <a:rPr lang="it" sz="1600"/>
            </a:b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impl </a:t>
            </a:r>
            <a:r>
              <a:rPr b="1" i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&lt;trait&gt;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for </a:t>
            </a:r>
            <a:r>
              <a:rPr b="1" i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&lt;type&gt;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{ … }</a:t>
            </a:r>
            <a:r>
              <a:rPr lang="it" sz="1600"/>
              <a:t> decora il tipo con il tratto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E specifica, al tempo stesso, l'implementazione dei metodi corrispondenti 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Tale costrutto è separato da quello relativo all'implementazione dei metodi peculiari al tipo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impl &lt;type&gt; { … }</a:t>
            </a:r>
            <a:r>
              <a:rPr lang="it" sz="1400"/>
              <a:t> </a:t>
            </a:r>
            <a:endParaRPr sz="1400"/>
          </a:p>
        </p:txBody>
      </p:sp>
      <p:sp>
        <p:nvSpPr>
          <p:cNvPr id="107" name="Google Shape;107;p20"/>
          <p:cNvSpPr txBox="1"/>
          <p:nvPr/>
        </p:nvSpPr>
        <p:spPr>
          <a:xfrm>
            <a:off x="311825" y="1152475"/>
            <a:ext cx="3999900" cy="338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struct User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name: String,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age: u8;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impl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Validatable</a:t>
            </a: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for User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fn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validate</a:t>
            </a: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(&amp;self) -&gt; bool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  self.name.trim().len() &gt; 0 &amp;&amp; 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  self.age &gt;= 18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impl User { /* metodi di User */ 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 tratto può essere implementato da molti tipi</a:t>
            </a:r>
            <a:endParaRPr/>
          </a:p>
        </p:txBody>
      </p:sp>
      <p:sp>
        <p:nvSpPr>
          <p:cNvPr id="114" name="Google Shape;114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Lo stesso comportamento viene realizzato in modi differenti in base al tipo specifico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Ciò che resta comune è l'insieme dei metodi offerti dal tratto e la loro firma</a:t>
            </a:r>
            <a:endParaRPr sz="1400"/>
          </a:p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6" name="Google Shape;116;p21"/>
          <p:cNvSpPr txBox="1"/>
          <p:nvPr/>
        </p:nvSpPr>
        <p:spPr>
          <a:xfrm>
            <a:off x="311700" y="1152475"/>
            <a:ext cx="3999900" cy="338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struct Order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total: f64,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quantity: u32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impl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Validatable</a:t>
            </a: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for Order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fn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validate</a:t>
            </a: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(&amp;self) -&gt; bool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  self.total &gt; 0 &amp;&amp; 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  self.quantity &gt; 0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impl Order { /* … */ 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 tratto può essere implementato dai tipi esistenti</a:t>
            </a:r>
            <a:endParaRPr/>
          </a:p>
        </p:txBody>
      </p:sp>
      <p:sp>
        <p:nvSpPr>
          <p:cNvPr id="123" name="Google Shape;1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È lecito che un tipo esistente implementi un tratto definito dall'utente 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Rust impone regole precise su dove sia lecito scrivere un'implementazione, per evitare conflitti</a:t>
            </a:r>
            <a:endParaRPr sz="1400"/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311700" y="1152475"/>
            <a:ext cx="3999900" cy="338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impl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Validatable</a:t>
            </a: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for String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fn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validate</a:t>
            </a: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(&amp;self) -&gt; bool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  self.trim().len() &gt; 0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impl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Validatable</a:t>
            </a: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for i32 {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fn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validate</a:t>
            </a: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(&amp;self) -&gt; bool {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*self &gt; 0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Invocare i metodi di un tratto</a:t>
            </a:r>
            <a:endParaRPr/>
          </a:p>
        </p:txBody>
      </p:sp>
      <p:sp>
        <p:nvSpPr>
          <p:cNvPr id="132" name="Google Shape;132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Se il tipo concreto di un valore è noto, chiamare i metodi di un tratto non ha differenze rispetto a chiamare i metodi specifici del tipo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Non solo sul piano sintattico, ma anche su quello del codice generato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La chiamata viene risolta staticamente e non introduce penalizzazioni</a:t>
            </a:r>
            <a:endParaRPr sz="1400"/>
          </a:p>
        </p:txBody>
      </p:sp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4" name="Google Shape;134;p23"/>
          <p:cNvSpPr txBox="1"/>
          <p:nvPr/>
        </p:nvSpPr>
        <p:spPr>
          <a:xfrm>
            <a:off x="311700" y="1152475"/>
            <a:ext cx="3999900" cy="2986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let u: User = User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name: "Mario".to_string(),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age: 32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let o: Order = Order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total: 1200.0,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quantity: 8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u.validate();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o.validate();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tratti come vincoli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311700" y="2518275"/>
            <a:ext cx="8520600" cy="20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Questa funzione accetta come parametro solo valori il cui tipo implementa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Validatable</a:t>
            </a:r>
            <a:r>
              <a:rPr lang="it"/>
              <a:t>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Tentativi di passare a questa funzione tipi privi del tratto danno origine ad un errore in fase di compilazione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conoscenza specifica del tipo (rappresentato dalla meta-variabile T) permette al compilatore di ottimizzare il codice generato</a:t>
            </a:r>
            <a:endParaRPr/>
          </a:p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1152475"/>
            <a:ext cx="8520600" cy="923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fn check&lt;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T: Validatable</a:t>
            </a: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&gt;(item: &amp;T) 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  println!("{}", item.validate());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Due modi di usare un tratto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Come vincolo su un tipo generico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Quando il tipo concreto di un valore è noto al compilatore, la chiamata viene risolta staticamente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Questo è il caso più comune</a:t>
            </a:r>
            <a:endParaRPr sz="1400"/>
          </a:p>
        </p:txBody>
      </p:sp>
      <p:sp>
        <p:nvSpPr>
          <p:cNvPr id="150" name="Google Shape;150;p2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1" name="Google Shape;151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Come oggetto-tratto con invocazione dinamica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Se il tipo concreto è nascosto dietro l'interfaccia, la scelta del metodo avviene in fase di esecuzione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La parola chiave dyn indica un oggetto-tratto, ovvero ad un puntatore di cui si sa solo che punta ad un dato che implementa il tratto</a:t>
            </a:r>
            <a:endParaRPr sz="1400"/>
          </a:p>
        </p:txBody>
      </p:sp>
      <p:sp>
        <p:nvSpPr>
          <p:cNvPr id="152" name="Google Shape;152;p25"/>
          <p:cNvSpPr txBox="1"/>
          <p:nvPr/>
        </p:nvSpPr>
        <p:spPr>
          <a:xfrm>
            <a:off x="311725" y="2893100"/>
            <a:ext cx="3999900" cy="831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process1&lt;T: Validatable&gt;(</a:t>
            </a:r>
            <a:r>
              <a:rPr b="1" lang="it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x: &amp;T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println!("{}", x.validate());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3" name="Google Shape;153;p25"/>
          <p:cNvSpPr txBox="1"/>
          <p:nvPr/>
        </p:nvSpPr>
        <p:spPr>
          <a:xfrm>
            <a:off x="4832400" y="3654450"/>
            <a:ext cx="3999900" cy="831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process2(</a:t>
            </a:r>
            <a:r>
              <a:rPr b="1" lang="it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x: &amp;dyn Validatable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println!("{}", x.validate());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Invocazione dinamica</a:t>
            </a:r>
            <a:endParaRPr/>
          </a:p>
        </p:txBody>
      </p:sp>
      <p:sp>
        <p:nvSpPr>
          <p:cNvPr id="159" name="Google Shape;159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La parola chiave </a:t>
            </a:r>
            <a:r>
              <a:rPr b="1" lang="it" sz="1600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dyn</a:t>
            </a:r>
            <a:r>
              <a:rPr lang="it" sz="1600"/>
              <a:t> segnala l'uso del tratto come oggetto-tratto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I metodi vengono risolti in fase di esecuzione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Questo mette in evidenza al programmatore che il programma dovrà utilizzare il meccanismo di invocazione dinamica (</a:t>
            </a:r>
            <a:r>
              <a:rPr b="1" i="1" lang="it" sz="1400">
                <a:solidFill>
                  <a:srgbClr val="0B5394"/>
                </a:solidFill>
              </a:rPr>
              <a:t>dynamic dispatch</a:t>
            </a:r>
            <a:r>
              <a:rPr lang="it" sz="1400"/>
              <a:t>)</a:t>
            </a:r>
            <a:endParaRPr sz="1400"/>
          </a:p>
        </p:txBody>
      </p:sp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1" name="Google Shape;161;p26"/>
          <p:cNvSpPr txBox="1"/>
          <p:nvPr/>
        </p:nvSpPr>
        <p:spPr>
          <a:xfrm>
            <a:off x="311700" y="1152475"/>
            <a:ext cx="3999900" cy="2986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process(</a:t>
            </a:r>
            <a:r>
              <a:rPr b="1" lang="it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x: &amp;dyn Validatable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println!("{}", x.validate());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main()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let u = User { … };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let o = Order { … };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process(&amp;u);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process(&amp;o);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4711250" y="1125925"/>
            <a:ext cx="4121100" cy="788400"/>
          </a:xfrm>
          <a:prstGeom prst="wedgeRoundRectCallout">
            <a:avLst>
              <a:gd fmla="val -74661" name="adj1"/>
              <a:gd fmla="val -17903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Come può la funzione process(...)</a:t>
            </a:r>
            <a:br>
              <a:rPr lang="it">
                <a:latin typeface="Calibri"/>
                <a:ea typeface="Calibri"/>
                <a:cs typeface="Calibri"/>
                <a:sym typeface="Calibri"/>
              </a:rPr>
            </a:br>
            <a:r>
              <a:rPr lang="it">
                <a:latin typeface="Calibri"/>
                <a:ea typeface="Calibri"/>
                <a:cs typeface="Calibri"/>
                <a:sym typeface="Calibri"/>
              </a:rPr>
              <a:t>sapere quale versione del metodo chiamare?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Oggetti-tratto</a:t>
            </a:r>
            <a:endParaRPr/>
          </a:p>
        </p:txBody>
      </p:sp>
      <p:sp>
        <p:nvSpPr>
          <p:cNvPr id="169" name="Google Shape;169;p2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1152474"/>
            <a:ext cx="8520600" cy="11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riferimenti/puntatori ai tipi tratto vengono detti oggetti-tratto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Possono essere condivisi o mutabili e devono rispettare le regole dell’esistenza in vita del valore a cui fanno riferimento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Gli oggetti-tratto vengono implementati tramite </a:t>
            </a:r>
            <a:r>
              <a:rPr i="1" lang="it"/>
              <a:t>fat pointer</a:t>
            </a:r>
            <a:endParaRPr i="1"/>
          </a:p>
        </p:txBody>
      </p:sp>
      <p:sp>
        <p:nvSpPr>
          <p:cNvPr id="171" name="Google Shape;171;p27"/>
          <p:cNvSpPr/>
          <p:nvPr/>
        </p:nvSpPr>
        <p:spPr>
          <a:xfrm>
            <a:off x="1093525" y="3292325"/>
            <a:ext cx="1308600" cy="375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amount: f64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332100" y="3299750"/>
            <a:ext cx="68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s1:S1</a:t>
            </a:r>
            <a:endParaRPr b="1"/>
          </a:p>
        </p:txBody>
      </p:sp>
      <p:sp>
        <p:nvSpPr>
          <p:cNvPr id="173" name="Google Shape;173;p27"/>
          <p:cNvSpPr txBox="1"/>
          <p:nvPr/>
        </p:nvSpPr>
        <p:spPr>
          <a:xfrm>
            <a:off x="4173600" y="2924708"/>
            <a:ext cx="10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chemeClr val="dk1"/>
                </a:solidFill>
              </a:rPr>
              <a:t>distruttore</a:t>
            </a:r>
            <a:endParaRPr i="1"/>
          </a:p>
        </p:txBody>
      </p:sp>
      <p:grpSp>
        <p:nvGrpSpPr>
          <p:cNvPr id="174" name="Google Shape;174;p27"/>
          <p:cNvGrpSpPr/>
          <p:nvPr/>
        </p:nvGrpSpPr>
        <p:grpSpPr>
          <a:xfrm>
            <a:off x="5257800" y="2917283"/>
            <a:ext cx="1366800" cy="375030"/>
            <a:chOff x="4572000" y="3241425"/>
            <a:chExt cx="1366800" cy="416700"/>
          </a:xfrm>
        </p:grpSpPr>
        <p:sp>
          <p:nvSpPr>
            <p:cNvPr id="175" name="Google Shape;175;p27"/>
            <p:cNvSpPr/>
            <p:nvPr/>
          </p:nvSpPr>
          <p:spPr>
            <a:xfrm>
              <a:off x="4572000" y="3241425"/>
              <a:ext cx="13668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4974875" y="3332675"/>
              <a:ext cx="234300" cy="1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7" name="Google Shape;177;p27"/>
          <p:cNvCxnSpPr>
            <a:stCxn id="176" idx="3"/>
            <a:endCxn id="178" idx="1"/>
          </p:cNvCxnSpPr>
          <p:nvPr/>
        </p:nvCxnSpPr>
        <p:spPr>
          <a:xfrm>
            <a:off x="5894975" y="3087293"/>
            <a:ext cx="1564500" cy="2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9" name="Google Shape;179;p27"/>
          <p:cNvSpPr txBox="1"/>
          <p:nvPr/>
        </p:nvSpPr>
        <p:spPr>
          <a:xfrm>
            <a:off x="4057525" y="3299738"/>
            <a:ext cx="12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chemeClr val="dk1"/>
                </a:solidFill>
              </a:rPr>
              <a:t>dimensione</a:t>
            </a:r>
            <a:endParaRPr i="1"/>
          </a:p>
        </p:txBody>
      </p:sp>
      <p:sp>
        <p:nvSpPr>
          <p:cNvPr id="180" name="Google Shape;180;p27"/>
          <p:cNvSpPr/>
          <p:nvPr/>
        </p:nvSpPr>
        <p:spPr>
          <a:xfrm>
            <a:off x="5257800" y="3292313"/>
            <a:ext cx="1366800" cy="37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8</a:t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3891000" y="3674768"/>
            <a:ext cx="136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chemeClr val="dk1"/>
                </a:solidFill>
              </a:rPr>
              <a:t>allineamento</a:t>
            </a:r>
            <a:endParaRPr i="1"/>
          </a:p>
        </p:txBody>
      </p:sp>
      <p:sp>
        <p:nvSpPr>
          <p:cNvPr id="182" name="Google Shape;182;p27"/>
          <p:cNvSpPr/>
          <p:nvPr/>
        </p:nvSpPr>
        <p:spPr>
          <a:xfrm>
            <a:off x="5257800" y="3667343"/>
            <a:ext cx="1366800" cy="37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8</a:t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4106925" y="4057225"/>
            <a:ext cx="115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solidFill>
                  <a:schemeClr val="dk1"/>
                </a:solidFill>
              </a:rPr>
              <a:t>evaluate(...)</a:t>
            </a:r>
            <a:endParaRPr i="1"/>
          </a:p>
        </p:txBody>
      </p:sp>
      <p:grpSp>
        <p:nvGrpSpPr>
          <p:cNvPr id="184" name="Google Shape;184;p27"/>
          <p:cNvGrpSpPr/>
          <p:nvPr/>
        </p:nvGrpSpPr>
        <p:grpSpPr>
          <a:xfrm>
            <a:off x="5257800" y="4049798"/>
            <a:ext cx="1366800" cy="375030"/>
            <a:chOff x="4572000" y="3241425"/>
            <a:chExt cx="1366800" cy="416700"/>
          </a:xfrm>
        </p:grpSpPr>
        <p:sp>
          <p:nvSpPr>
            <p:cNvPr id="185" name="Google Shape;185;p27"/>
            <p:cNvSpPr/>
            <p:nvPr/>
          </p:nvSpPr>
          <p:spPr>
            <a:xfrm>
              <a:off x="4572000" y="3241425"/>
              <a:ext cx="13668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4974875" y="3332675"/>
              <a:ext cx="234300" cy="1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87" name="Google Shape;187;p27"/>
          <p:cNvCxnSpPr>
            <a:stCxn id="186" idx="3"/>
            <a:endCxn id="188" idx="1"/>
          </p:cNvCxnSpPr>
          <p:nvPr/>
        </p:nvCxnSpPr>
        <p:spPr>
          <a:xfrm>
            <a:off x="5894975" y="4219808"/>
            <a:ext cx="1564500" cy="2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89" name="Google Shape;189;p27"/>
          <p:cNvSpPr txBox="1"/>
          <p:nvPr/>
        </p:nvSpPr>
        <p:spPr>
          <a:xfrm>
            <a:off x="4688800" y="4403183"/>
            <a:ext cx="277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VTABLE_impl_Print_for_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90" name="Google Shape;190;p27"/>
          <p:cNvGrpSpPr/>
          <p:nvPr/>
        </p:nvGrpSpPr>
        <p:grpSpPr>
          <a:xfrm>
            <a:off x="2298850" y="2272973"/>
            <a:ext cx="1366800" cy="375030"/>
            <a:chOff x="4572000" y="3241425"/>
            <a:chExt cx="1366800" cy="416700"/>
          </a:xfrm>
        </p:grpSpPr>
        <p:sp>
          <p:nvSpPr>
            <p:cNvPr id="191" name="Google Shape;191;p27"/>
            <p:cNvSpPr/>
            <p:nvPr/>
          </p:nvSpPr>
          <p:spPr>
            <a:xfrm>
              <a:off x="4572000" y="3241425"/>
              <a:ext cx="1366800" cy="4167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5139100" y="3266989"/>
              <a:ext cx="255600" cy="1305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3" name="Google Shape;193;p27"/>
          <p:cNvCxnSpPr>
            <a:stCxn id="192" idx="2"/>
            <a:endCxn id="171" idx="0"/>
          </p:cNvCxnSpPr>
          <p:nvPr/>
        </p:nvCxnSpPr>
        <p:spPr>
          <a:xfrm rot="5400000">
            <a:off x="1931300" y="2229980"/>
            <a:ext cx="879000" cy="12459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grpSp>
        <p:nvGrpSpPr>
          <p:cNvPr id="194" name="Google Shape;194;p27"/>
          <p:cNvGrpSpPr/>
          <p:nvPr/>
        </p:nvGrpSpPr>
        <p:grpSpPr>
          <a:xfrm>
            <a:off x="3665650" y="2272973"/>
            <a:ext cx="1366800" cy="375030"/>
            <a:chOff x="4572000" y="3241425"/>
            <a:chExt cx="1366800" cy="416700"/>
          </a:xfrm>
        </p:grpSpPr>
        <p:sp>
          <p:nvSpPr>
            <p:cNvPr id="195" name="Google Shape;195;p27"/>
            <p:cNvSpPr/>
            <p:nvPr/>
          </p:nvSpPr>
          <p:spPr>
            <a:xfrm>
              <a:off x="4572000" y="3241425"/>
              <a:ext cx="1366800" cy="416700"/>
            </a:xfrm>
            <a:prstGeom prst="rect">
              <a:avLst/>
            </a:prstGeom>
            <a:solidFill>
              <a:srgbClr val="CFE2F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4974875" y="3332675"/>
              <a:ext cx="234300" cy="1953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7" name="Google Shape;197;p27"/>
          <p:cNvCxnSpPr>
            <a:stCxn id="196" idx="3"/>
            <a:endCxn id="175" idx="0"/>
          </p:cNvCxnSpPr>
          <p:nvPr/>
        </p:nvCxnSpPr>
        <p:spPr>
          <a:xfrm>
            <a:off x="4302825" y="2442983"/>
            <a:ext cx="1638300" cy="474300"/>
          </a:xfrm>
          <a:prstGeom prst="curved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78" name="Google Shape;178;p27"/>
          <p:cNvSpPr txBox="1"/>
          <p:nvPr/>
        </p:nvSpPr>
        <p:spPr>
          <a:xfrm>
            <a:off x="7459475" y="2910173"/>
            <a:ext cx="10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…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7459475" y="4042688"/>
            <a:ext cx="10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 …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455650" y="2280398"/>
            <a:ext cx="17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&amp;s1 as &amp;dyn 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Vincoli degli oggetti-tratto</a:t>
            </a:r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Non tutti i tratti possono essere referenziati dinamicamente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compilatore deve, infatti, essere in grado di costruire la vtable associata al tratto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tratto è compatibile con l'invocazione dinamica se i suoi metodi soddisfano i seguenti vincoli: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Operano su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&amp;self</a:t>
            </a:r>
            <a:r>
              <a:rPr lang="it"/>
              <a:t> 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&amp;mut self</a:t>
            </a:r>
            <a:r>
              <a:rPr lang="it"/>
              <a:t> (sono metodi a livello istanza che non consumano il ricevitore)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Non restituiscono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Non contengono parametri generici</a:t>
            </a:r>
            <a:endParaRPr/>
          </a:p>
        </p:txBody>
      </p:sp>
      <p:sp>
        <p:nvSpPr>
          <p:cNvPr id="205" name="Google Shape;205;p2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Tratti con implementazioni di default</a:t>
            </a:r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Nella definizione di un tratto è lecito indicare, per una data funzione, un’implementazione di default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 funzioni che implementano il tratto saranno libere di adottarla o potranno sovrascriverla con altro codice, purché venga rispettata la firma delle funzione (tipo dei parametri e del valore di ritorno)</a:t>
            </a:r>
            <a:endParaRPr/>
          </a:p>
        </p:txBody>
      </p:sp>
      <p:sp>
        <p:nvSpPr>
          <p:cNvPr id="212" name="Google Shape;212;p2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13" name="Google Shape;213;p29"/>
          <p:cNvSpPr txBox="1"/>
          <p:nvPr/>
        </p:nvSpPr>
        <p:spPr>
          <a:xfrm>
            <a:off x="530750" y="2472229"/>
            <a:ext cx="3957600" cy="831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trait </a:t>
            </a:r>
            <a:r>
              <a:rPr b="1" lang="it">
                <a:solidFill>
                  <a:srgbClr val="0030F2"/>
                </a:solidFill>
                <a:latin typeface="Consolas"/>
                <a:ea typeface="Consolas"/>
                <a:cs typeface="Consolas"/>
                <a:sym typeface="Consolas"/>
              </a:rPr>
              <a:t>T4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fn f() { println!(“default”); 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29"/>
          <p:cNvSpPr txBox="1"/>
          <p:nvPr/>
        </p:nvSpPr>
        <p:spPr>
          <a:xfrm>
            <a:off x="4655625" y="2472229"/>
            <a:ext cx="3957600" cy="831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SomeType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 </a:t>
            </a:r>
            <a:r>
              <a:rPr b="1" lang="it">
                <a:solidFill>
                  <a:srgbClr val="0030F2"/>
                </a:solidFill>
                <a:latin typeface="Consolas"/>
                <a:ea typeface="Consolas"/>
                <a:cs typeface="Consolas"/>
                <a:sym typeface="Consolas"/>
              </a:rPr>
              <a:t>T4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for </a:t>
            </a: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SomeType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 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//uso dell’implementazione di default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29"/>
          <p:cNvSpPr txBox="1"/>
          <p:nvPr/>
        </p:nvSpPr>
        <p:spPr>
          <a:xfrm>
            <a:off x="530750" y="3564565"/>
            <a:ext cx="3957600" cy="1046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1"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OtherType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impl </a:t>
            </a:r>
            <a:r>
              <a:rPr b="1" lang="it">
                <a:solidFill>
                  <a:srgbClr val="0030F2"/>
                </a:solidFill>
                <a:latin typeface="Consolas"/>
                <a:ea typeface="Consolas"/>
                <a:cs typeface="Consolas"/>
                <a:sym typeface="Consolas"/>
              </a:rPr>
              <a:t>T4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for </a:t>
            </a:r>
            <a:r>
              <a:rPr b="1"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OtherType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fn </a:t>
            </a:r>
            <a:r>
              <a:rPr b="1" lang="it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 println!(“Other”); 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4655625" y="3552685"/>
            <a:ext cx="3957600" cy="1046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</a:t>
            </a: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SomeType::f();  // default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OtherType::f(); // Other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311700" y="400523"/>
            <a:ext cx="8520600" cy="5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Tipi e tratti</a:t>
            </a:r>
            <a:endParaRPr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311700" y="1037226"/>
            <a:ext cx="8520600" cy="14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Poiché tipi diversi possono implementare tratti comuni, si viene a creare una forma di “parentela” alquanto articolata tra tipi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Rust introduce una ventina di tratti predefiniti, cui il compilatore associa un particolare significato, e permette al programmatore di aggiungerne altri a piacere, al fine di estendere tale comportamento</a:t>
            </a:r>
            <a:endParaRPr/>
          </a:p>
        </p:txBody>
      </p:sp>
      <p:sp>
        <p:nvSpPr>
          <p:cNvPr id="223" name="Google Shape;223;p30"/>
          <p:cNvSpPr txBox="1"/>
          <p:nvPr>
            <p:ph idx="12" type="sldNum"/>
          </p:nvPr>
        </p:nvSpPr>
        <p:spPr>
          <a:xfrm>
            <a:off x="8472458" y="4785141"/>
            <a:ext cx="548700" cy="3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1446350" y="3173130"/>
            <a:ext cx="779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Copy</a:t>
            </a:r>
            <a:endParaRPr/>
          </a:p>
        </p:txBody>
      </p:sp>
      <p:sp>
        <p:nvSpPr>
          <p:cNvPr id="225" name="Google Shape;225;p30"/>
          <p:cNvSpPr/>
          <p:nvPr/>
        </p:nvSpPr>
        <p:spPr>
          <a:xfrm>
            <a:off x="4056175" y="2779560"/>
            <a:ext cx="779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Send</a:t>
            </a:r>
            <a:endParaRPr/>
          </a:p>
        </p:txBody>
      </p:sp>
      <p:sp>
        <p:nvSpPr>
          <p:cNvPr id="226" name="Google Shape;226;p30"/>
          <p:cNvSpPr/>
          <p:nvPr/>
        </p:nvSpPr>
        <p:spPr>
          <a:xfrm>
            <a:off x="2617075" y="2474663"/>
            <a:ext cx="779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Clone</a:t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5407100" y="2474663"/>
            <a:ext cx="779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Drop</a:t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6967650" y="2779560"/>
            <a:ext cx="9813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Display</a:t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1345400" y="3777908"/>
            <a:ext cx="981300" cy="393600"/>
          </a:xfrm>
          <a:prstGeom prst="rect">
            <a:avLst/>
          </a:prstGeom>
          <a:solidFill>
            <a:srgbClr val="AFD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i32</a:t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5276283" y="3777908"/>
            <a:ext cx="981300" cy="393600"/>
          </a:xfrm>
          <a:prstGeom prst="rect">
            <a:avLst/>
          </a:prstGeom>
          <a:solidFill>
            <a:srgbClr val="AFD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String</a:t>
            </a:r>
            <a:endParaRPr/>
          </a:p>
        </p:txBody>
      </p:sp>
      <p:sp>
        <p:nvSpPr>
          <p:cNvPr id="231" name="Google Shape;231;p30"/>
          <p:cNvSpPr/>
          <p:nvPr/>
        </p:nvSpPr>
        <p:spPr>
          <a:xfrm>
            <a:off x="3310842" y="3777908"/>
            <a:ext cx="981300" cy="393600"/>
          </a:xfrm>
          <a:prstGeom prst="rect">
            <a:avLst/>
          </a:prstGeom>
          <a:solidFill>
            <a:srgbClr val="AFD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Vec&lt;T&gt;</a:t>
            </a:r>
            <a:endParaRPr/>
          </a:p>
        </p:txBody>
      </p:sp>
      <p:cxnSp>
        <p:nvCxnSpPr>
          <p:cNvPr id="232" name="Google Shape;232;p30"/>
          <p:cNvCxnSpPr>
            <a:stCxn id="229" idx="0"/>
            <a:endCxn id="224" idx="2"/>
          </p:cNvCxnSpPr>
          <p:nvPr/>
        </p:nvCxnSpPr>
        <p:spPr>
          <a:xfrm rot="10800000">
            <a:off x="1836050" y="3566708"/>
            <a:ext cx="0" cy="2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30"/>
          <p:cNvCxnSpPr>
            <a:stCxn id="229" idx="0"/>
            <a:endCxn id="225" idx="2"/>
          </p:cNvCxnSpPr>
          <p:nvPr/>
        </p:nvCxnSpPr>
        <p:spPr>
          <a:xfrm flipH="1" rot="10800000">
            <a:off x="1836050" y="3173108"/>
            <a:ext cx="2609700" cy="6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30"/>
          <p:cNvCxnSpPr>
            <a:stCxn id="230" idx="0"/>
            <a:endCxn id="226" idx="2"/>
          </p:cNvCxnSpPr>
          <p:nvPr/>
        </p:nvCxnSpPr>
        <p:spPr>
          <a:xfrm rot="10800000">
            <a:off x="3006633" y="2868308"/>
            <a:ext cx="2760300" cy="9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0"/>
          <p:cNvCxnSpPr>
            <a:stCxn id="229" idx="0"/>
            <a:endCxn id="228" idx="2"/>
          </p:cNvCxnSpPr>
          <p:nvPr/>
        </p:nvCxnSpPr>
        <p:spPr>
          <a:xfrm flipH="1" rot="10800000">
            <a:off x="1836050" y="3173108"/>
            <a:ext cx="5622300" cy="6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30"/>
          <p:cNvCxnSpPr>
            <a:stCxn id="230" idx="0"/>
            <a:endCxn id="228" idx="2"/>
          </p:cNvCxnSpPr>
          <p:nvPr/>
        </p:nvCxnSpPr>
        <p:spPr>
          <a:xfrm flipH="1" rot="10800000">
            <a:off x="5766933" y="3173108"/>
            <a:ext cx="1691400" cy="6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30"/>
          <p:cNvCxnSpPr>
            <a:stCxn id="230" idx="0"/>
            <a:endCxn id="225" idx="2"/>
          </p:cNvCxnSpPr>
          <p:nvPr/>
        </p:nvCxnSpPr>
        <p:spPr>
          <a:xfrm rot="10800000">
            <a:off x="4445733" y="3173108"/>
            <a:ext cx="1321200" cy="6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30"/>
          <p:cNvCxnSpPr>
            <a:stCxn id="231" idx="0"/>
            <a:endCxn id="226" idx="2"/>
          </p:cNvCxnSpPr>
          <p:nvPr/>
        </p:nvCxnSpPr>
        <p:spPr>
          <a:xfrm rot="10800000">
            <a:off x="3006792" y="2868308"/>
            <a:ext cx="794700" cy="9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30"/>
          <p:cNvCxnSpPr>
            <a:stCxn id="231" idx="0"/>
            <a:endCxn id="227" idx="2"/>
          </p:cNvCxnSpPr>
          <p:nvPr/>
        </p:nvCxnSpPr>
        <p:spPr>
          <a:xfrm flipH="1" rot="10800000">
            <a:off x="3801492" y="2868308"/>
            <a:ext cx="1995300" cy="9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30"/>
          <p:cNvCxnSpPr>
            <a:stCxn id="231" idx="0"/>
            <a:endCxn id="225" idx="2"/>
          </p:cNvCxnSpPr>
          <p:nvPr/>
        </p:nvCxnSpPr>
        <p:spPr>
          <a:xfrm flipH="1" rot="10800000">
            <a:off x="3801492" y="3173108"/>
            <a:ext cx="644400" cy="6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30"/>
          <p:cNvSpPr/>
          <p:nvPr/>
        </p:nvSpPr>
        <p:spPr>
          <a:xfrm>
            <a:off x="7241725" y="3777908"/>
            <a:ext cx="981300" cy="393600"/>
          </a:xfrm>
          <a:prstGeom prst="rect">
            <a:avLst/>
          </a:prstGeom>
          <a:solidFill>
            <a:srgbClr val="AFD7F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...</a:t>
            </a:r>
            <a:endParaRPr/>
          </a:p>
        </p:txBody>
      </p:sp>
      <p:cxnSp>
        <p:nvCxnSpPr>
          <p:cNvPr id="242" name="Google Shape;242;p30"/>
          <p:cNvCxnSpPr>
            <a:stCxn id="224" idx="0"/>
            <a:endCxn id="226" idx="2"/>
          </p:cNvCxnSpPr>
          <p:nvPr/>
        </p:nvCxnSpPr>
        <p:spPr>
          <a:xfrm flipH="1" rot="10800000">
            <a:off x="1836050" y="2868330"/>
            <a:ext cx="1170600" cy="30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30"/>
          <p:cNvCxnSpPr>
            <a:stCxn id="230" idx="0"/>
            <a:endCxn id="227" idx="2"/>
          </p:cNvCxnSpPr>
          <p:nvPr/>
        </p:nvCxnSpPr>
        <p:spPr>
          <a:xfrm flipH="1" rot="10800000">
            <a:off x="5766933" y="2868308"/>
            <a:ext cx="30000" cy="90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p30"/>
          <p:cNvSpPr/>
          <p:nvPr/>
        </p:nvSpPr>
        <p:spPr>
          <a:xfrm>
            <a:off x="316250" y="4345125"/>
            <a:ext cx="8564400" cy="354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In Rust i tratti non classificano i tipi in una gerarchia unica, ma descrivono proprietà e comportamenti trasversali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Programmazione generica</a:t>
            </a:r>
            <a:endParaRPr/>
          </a:p>
        </p:txBody>
      </p:sp>
      <p:sp>
        <p:nvSpPr>
          <p:cNvPr id="250" name="Google Shape;250;p3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51" name="Google Shape;25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Notazione che permette di scrivere funzioni, strutture dati e tratti che utilizzano diversi tipi di dati senza duplicare il codice, tramite </a:t>
            </a:r>
            <a:r>
              <a:rPr b="1" lang="it">
                <a:solidFill>
                  <a:srgbClr val="0B5394"/>
                </a:solidFill>
              </a:rPr>
              <a:t>parametri generici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Consente di mantenere il codice flessibile, riutilizzabile e sicuro grazie al controllo dei tipi in fase di compilazione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Rust la programmazione generica si combina naturalmente con i tratti, che permettono di vincolare i tipi generici a comportamenti specifici</a:t>
            </a:r>
            <a:endParaRPr/>
          </a:p>
        </p:txBody>
      </p:sp>
      <p:sp>
        <p:nvSpPr>
          <p:cNvPr id="252" name="Google Shape;252;p31"/>
          <p:cNvSpPr txBox="1"/>
          <p:nvPr/>
        </p:nvSpPr>
        <p:spPr>
          <a:xfrm>
            <a:off x="1662450" y="3737575"/>
            <a:ext cx="5819100" cy="831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fn first&lt;</a:t>
            </a:r>
            <a:r>
              <a:rPr b="1" lang="it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&gt;(slice: &amp;[</a:t>
            </a:r>
            <a:r>
              <a:rPr b="1" lang="it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 -&gt; Option&lt;&amp;</a:t>
            </a:r>
            <a:r>
              <a:rPr b="1" lang="it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slice.get(0)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3" name="Google Shape;253;p31"/>
          <p:cNvSpPr/>
          <p:nvPr/>
        </p:nvSpPr>
        <p:spPr>
          <a:xfrm>
            <a:off x="449200" y="3195950"/>
            <a:ext cx="4694700" cy="393600"/>
          </a:xfrm>
          <a:prstGeom prst="wedgeRoundRectCallout">
            <a:avLst>
              <a:gd fmla="val -5342" name="adj1"/>
              <a:gd fmla="val 9723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it">
                <a:latin typeface="Calibri"/>
                <a:ea typeface="Calibri"/>
                <a:cs typeface="Calibri"/>
                <a:sym typeface="Calibri"/>
              </a:rPr>
              <a:t>: parametro generico che rappresenta un tipo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Funzioni generiche</a:t>
            </a:r>
            <a:endParaRPr/>
          </a:p>
        </p:txBody>
      </p:sp>
      <p:sp>
        <p:nvSpPr>
          <p:cNvPr id="259" name="Google Shape;259;p32"/>
          <p:cNvSpPr txBox="1"/>
          <p:nvPr>
            <p:ph idx="1" type="body"/>
          </p:nvPr>
        </p:nvSpPr>
        <p:spPr>
          <a:xfrm>
            <a:off x="311700" y="1152475"/>
            <a:ext cx="8520600" cy="11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può definire una funzione in modo che operi su un tipo di dato non ancora precisato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Rappresentato da un segnaposto racchiuso tra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è generico ma non arbitrario: deve implementare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PartialOrd</a:t>
            </a:r>
            <a:r>
              <a:rPr lang="it"/>
              <a:t> </a:t>
            </a:r>
            <a:endParaRPr/>
          </a:p>
        </p:txBody>
      </p:sp>
      <p:sp>
        <p:nvSpPr>
          <p:cNvPr id="260" name="Google Shape;260;p3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1" name="Google Shape;261;p32"/>
          <p:cNvSpPr txBox="1"/>
          <p:nvPr/>
        </p:nvSpPr>
        <p:spPr>
          <a:xfrm>
            <a:off x="2594400" y="2904914"/>
            <a:ext cx="3955200" cy="1563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fn max&lt;</a:t>
            </a:r>
            <a:r>
              <a:rPr b="1" lang="it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&gt;(</a:t>
            </a: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t1: </a:t>
            </a:r>
            <a:r>
              <a:rPr b="1" lang="it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,  t2: </a:t>
            </a:r>
            <a:r>
              <a:rPr b="1" lang="it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) -&gt; T </a:t>
            </a:r>
            <a:endParaRPr b="1"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it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T: PartialOrd</a:t>
            </a: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if t1 &gt; t2 { t1 } </a:t>
            </a:r>
            <a:endParaRPr b="1"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    else { t2 }</a:t>
            </a:r>
            <a:endParaRPr b="1"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chemeClr val="dk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Dall'astrazione al codice concreto</a:t>
            </a:r>
            <a:endParaRPr/>
          </a:p>
        </p:txBody>
      </p:sp>
      <p:sp>
        <p:nvSpPr>
          <p:cNvPr id="267" name="Google Shape;26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Al momento della chiamata, il compilatore: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Deduce il tipo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Controlla che soddisfi tutti i vincoli cui è soggetto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Genera una versione specializzata della funzione per quel tipo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la funzione generica viene invocata in più punti del programma con tipi diversi…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compilatore genererà tante versioni della funzione quanti sono i tipi con cui viene utilizzata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Questo processo si chiama </a:t>
            </a:r>
            <a:r>
              <a:rPr b="1" lang="it">
                <a:solidFill>
                  <a:srgbClr val="0B5394"/>
                </a:solidFill>
              </a:rPr>
              <a:t>monomorfizzazione</a:t>
            </a:r>
            <a:r>
              <a:rPr lang="it"/>
              <a:t> </a:t>
            </a:r>
            <a:endParaRPr/>
          </a:p>
        </p:txBody>
      </p:sp>
      <p:sp>
        <p:nvSpPr>
          <p:cNvPr id="268" name="Google Shape;268;p3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Tipi generici</a:t>
            </a:r>
            <a:endParaRPr/>
          </a:p>
        </p:txBody>
      </p:sp>
      <p:sp>
        <p:nvSpPr>
          <p:cNvPr id="274" name="Google Shape;274;p34"/>
          <p:cNvSpPr txBox="1"/>
          <p:nvPr>
            <p:ph idx="1" type="body"/>
          </p:nvPr>
        </p:nvSpPr>
        <p:spPr>
          <a:xfrm>
            <a:off x="311700" y="1152473"/>
            <a:ext cx="8520600" cy="26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Si possono usare costrutti generici anche per definire un tipo composto (struct, tupla, enum) basato su parti variabili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Ciascuna meta-variabile può essere soggetta ad eventuali restrizioni, indicate come l’insieme dei tratti </a:t>
            </a:r>
            <a:r>
              <a:rPr lang="it"/>
              <a:t>che</a:t>
            </a:r>
            <a:r>
              <a:rPr lang="it"/>
              <a:t> deve implementare e/o come il tempo di vita che deve garantire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Se una struttura generica implementa dei metodi, i nomi delle meta-variabili ed i vincoli cui sono soggette vengono ripetuti nel blocco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impl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5" name="Google Shape;275;p3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6" name="Google Shape;276;p34"/>
          <p:cNvSpPr txBox="1"/>
          <p:nvPr/>
        </p:nvSpPr>
        <p:spPr>
          <a:xfrm>
            <a:off x="520725" y="3370154"/>
            <a:ext cx="4051200" cy="1046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struct MyStruct&lt;T&gt;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where T: SomeTrait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value: T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4781100" y="3370154"/>
            <a:ext cx="4051200" cy="1046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impl&lt;T&gt; 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MyStruct&lt;T&gt;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where T: SomeTrait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fn process(&amp;self) { /</a:t>
            </a:r>
            <a:r>
              <a:rPr b="1" i="1" lang="it">
                <a:latin typeface="Consolas"/>
                <a:ea typeface="Consolas"/>
                <a:cs typeface="Consolas"/>
                <a:sym typeface="Consolas"/>
              </a:rPr>
              <a:t>…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}</a:t>
            </a:r>
            <a:br>
              <a:rPr b="1" lang="it">
                <a:latin typeface="Consolas"/>
                <a:ea typeface="Consolas"/>
                <a:cs typeface="Consolas"/>
                <a:sym typeface="Consolas"/>
              </a:rPr>
            </a:b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Sintassi dei tipi generici</a:t>
            </a:r>
            <a:endParaRPr/>
          </a:p>
        </p:txBody>
      </p:sp>
      <p:sp>
        <p:nvSpPr>
          <p:cNvPr id="283" name="Google Shape;283;p35"/>
          <p:cNvSpPr txBox="1"/>
          <p:nvPr>
            <p:ph idx="1" type="body"/>
          </p:nvPr>
        </p:nvSpPr>
        <p:spPr>
          <a:xfrm>
            <a:off x="311700" y="1152474"/>
            <a:ext cx="85206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offre due modi per specificare la sintassi dei vincoli sui tipi generici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Una versione compatta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&lt;T: SomeTrait&gt;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versione estesa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&lt;T&gt; … where T: SomeTrait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In entrambi i casi, se è necessario indicare che il tipo deve implementare più tratti, questi possono essere combinati con il segno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4" name="Google Shape;284;p3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85" name="Google Shape;285;p35"/>
          <p:cNvSpPr txBox="1"/>
          <p:nvPr/>
        </p:nvSpPr>
        <p:spPr>
          <a:xfrm>
            <a:off x="429600" y="2771458"/>
            <a:ext cx="7915200" cy="400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fn f&lt;T: </a:t>
            </a:r>
            <a:r>
              <a:rPr b="1"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Read </a:t>
            </a:r>
            <a:r>
              <a:rPr b="1" lang="it">
                <a:solidFill>
                  <a:srgbClr val="0030F2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Write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&gt;(x: T) { ...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6" name="Google Shape;286;p35"/>
          <p:cNvSpPr txBox="1"/>
          <p:nvPr/>
        </p:nvSpPr>
        <p:spPr>
          <a:xfrm>
            <a:off x="429600" y="3387248"/>
            <a:ext cx="7915200" cy="831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fn g&lt;T&gt;( x: T) 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where T: </a:t>
            </a:r>
            <a:r>
              <a:rPr b="1"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Read</a:t>
            </a:r>
            <a:r>
              <a:rPr b="1"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0030F2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b="1" lang="it"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rPr>
              <a:t> Write</a:t>
            </a:r>
            <a:endParaRPr b="1">
              <a:highlight>
                <a:srgbClr val="00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{ ...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Tratti con tipi associati</a:t>
            </a:r>
            <a:endParaRPr/>
          </a:p>
        </p:txBody>
      </p:sp>
      <p:sp>
        <p:nvSpPr>
          <p:cNvPr id="292" name="Google Shape;29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tratto può associare uno o più tipi al comportamento che descrive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tipo associato fa parte della definizione del tratto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Chi implementa il tratto deve specificarne il valore concreto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E' utile quando un comportamento dipende anche da un tipo collegato</a:t>
            </a:r>
            <a:endParaRPr/>
          </a:p>
        </p:txBody>
      </p:sp>
      <p:sp>
        <p:nvSpPr>
          <p:cNvPr id="293" name="Google Shape;293;p3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4" name="Google Shape;294;p36"/>
          <p:cNvSpPr txBox="1"/>
          <p:nvPr/>
        </p:nvSpPr>
        <p:spPr>
          <a:xfrm>
            <a:off x="614400" y="2371650"/>
            <a:ext cx="3836700" cy="1262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trait Container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type Item;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fn  get(&amp;self) -&gt; &amp;Self::Item;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4724925" y="2371650"/>
            <a:ext cx="3836700" cy="2124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struct IntBox(i32);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impl Container for IntBox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type Item = i32;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fn get(&amp;self) -&gt; &amp;Self::Item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&amp;self.0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6" name="Google Shape;296;p36"/>
          <p:cNvSpPr/>
          <p:nvPr/>
        </p:nvSpPr>
        <p:spPr>
          <a:xfrm>
            <a:off x="571625" y="3890575"/>
            <a:ext cx="3879600" cy="678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Un tratto non descrive solo metodi,</a:t>
            </a:r>
            <a:br>
              <a:rPr lang="it" sz="1600">
                <a:latin typeface="Calibri"/>
                <a:ea typeface="Calibri"/>
                <a:cs typeface="Calibri"/>
                <a:sym typeface="Calibri"/>
              </a:rPr>
            </a:b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 ma anche tipi associati al comportamento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Tipi associati e generics</a:t>
            </a:r>
            <a:endParaRPr/>
          </a:p>
        </p:txBody>
      </p:sp>
      <p:sp>
        <p:nvSpPr>
          <p:cNvPr id="302" name="Google Shape;30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tipi associati possono dipendere da un parametro generico del tipo che implementa il tratto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tratto definisce il tipo associato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L'implementazione concreta ne specifica il valore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il tipo che implementa il tratto è generico, anche il tipo associato può dipendere da quel parametro</a:t>
            </a:r>
            <a:endParaRPr/>
          </a:p>
        </p:txBody>
      </p:sp>
      <p:sp>
        <p:nvSpPr>
          <p:cNvPr id="303" name="Google Shape;303;p37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04" name="Google Shape;304;p37"/>
          <p:cNvSpPr txBox="1"/>
          <p:nvPr/>
        </p:nvSpPr>
        <p:spPr>
          <a:xfrm>
            <a:off x="614400" y="2666301"/>
            <a:ext cx="3836700" cy="1262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trait Container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type Item;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fn  get(&amp;self) -&gt; &amp;Self::Item;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" name="Google Shape;305;p37"/>
          <p:cNvSpPr txBox="1"/>
          <p:nvPr/>
        </p:nvSpPr>
        <p:spPr>
          <a:xfrm>
            <a:off x="4724925" y="2676123"/>
            <a:ext cx="3836700" cy="2124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struct Boxed&lt;T&gt;(T);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impl&lt;T&gt; Container for Boxed&lt;T&gt;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type Item = T;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fn get(&amp;self) -&gt; &amp;Self::Item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&amp;self.0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37"/>
          <p:cNvSpPr/>
          <p:nvPr/>
        </p:nvSpPr>
        <p:spPr>
          <a:xfrm>
            <a:off x="614325" y="4030825"/>
            <a:ext cx="3836700" cy="678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Il tipo associato in questo caso coincide </a:t>
            </a:r>
            <a:br>
              <a:rPr lang="it" sz="1600">
                <a:latin typeface="Calibri"/>
                <a:ea typeface="Calibri"/>
                <a:cs typeface="Calibri"/>
                <a:sym typeface="Calibri"/>
              </a:rPr>
            </a:b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con il parametro generico T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Super-tratti</a:t>
            </a:r>
            <a:endParaRPr/>
          </a:p>
        </p:txBody>
      </p:sp>
      <p:sp>
        <p:nvSpPr>
          <p:cNvPr id="312" name="Google Shape;31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Un tratto può richiedere che chi lo implementa implementi anche un altro tratto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TrattoB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it"/>
              <a:t>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TrattoA</a:t>
            </a:r>
            <a:r>
              <a:rPr lang="it"/>
              <a:t>, allora ogni tipo che implementa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TrattoB</a:t>
            </a:r>
            <a:r>
              <a:rPr lang="it"/>
              <a:t> deve implementare anche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TrattoA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permette di costruire tratti più specifici a partire da tratti più generali</a:t>
            </a:r>
            <a:endParaRPr/>
          </a:p>
        </p:txBody>
      </p:sp>
      <p:sp>
        <p:nvSpPr>
          <p:cNvPr id="313" name="Google Shape;313;p38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4" name="Google Shape;314;p38"/>
          <p:cNvSpPr txBox="1"/>
          <p:nvPr/>
        </p:nvSpPr>
        <p:spPr>
          <a:xfrm>
            <a:off x="650200" y="2371650"/>
            <a:ext cx="3921900" cy="831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trait Printable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fn print(&amp;self);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5" name="Google Shape;315;p38"/>
          <p:cNvSpPr/>
          <p:nvPr/>
        </p:nvSpPr>
        <p:spPr>
          <a:xfrm>
            <a:off x="311700" y="4217300"/>
            <a:ext cx="8351400" cy="393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Un super-tratto esprime una dipendenza tra tratti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4741100" y="2371650"/>
            <a:ext cx="3921900" cy="1477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trait AdvancedPrintable: Printable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fn print_twice(&amp;self)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self.print();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   self.print();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  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i="1" lang="it">
                <a:latin typeface="Consolas"/>
                <a:ea typeface="Consolas"/>
                <a:cs typeface="Consolas"/>
                <a:sym typeface="Consolas"/>
              </a:rPr>
              <a:t>dyn Trait</a:t>
            </a:r>
            <a:r>
              <a:rPr lang="it"/>
              <a:t> e </a:t>
            </a:r>
            <a:r>
              <a:rPr i="1" lang="it">
                <a:latin typeface="Consolas"/>
                <a:ea typeface="Consolas"/>
                <a:cs typeface="Consolas"/>
                <a:sym typeface="Consolas"/>
              </a:rPr>
              <a:t>T: Trait</a:t>
            </a:r>
            <a:r>
              <a:rPr lang="it"/>
              <a:t> a confronto</a:t>
            </a:r>
            <a:endParaRPr/>
          </a:p>
        </p:txBody>
      </p:sp>
      <p:sp>
        <p:nvSpPr>
          <p:cNvPr id="322" name="Google Shape;322;p3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&amp;dyn Trait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tipo concreto è nascosto dietro l'oggetto-tratto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Invocazione dinamica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Nessuna monomorfizzazione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Richiede tratti </a:t>
            </a:r>
            <a:r>
              <a:rPr i="1" lang="it"/>
              <a:t>object-safe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Adatto quando si vuole un'unica interfaccia per tipi diversi</a:t>
            </a:r>
            <a:endParaRPr/>
          </a:p>
        </p:txBody>
      </p:sp>
      <p:sp>
        <p:nvSpPr>
          <p:cNvPr id="323" name="Google Shape;323;p39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4" name="Google Shape;324;p3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T: Trait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è noto al compilatore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Invocazione statica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Codice specializzato tramite monomorfizzazione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Possibile combinare più vincoli con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Adatto quando conta l'efficienza e l'eterogeneità del codice generato non è un problema</a:t>
            </a:r>
            <a:endParaRPr/>
          </a:p>
        </p:txBody>
      </p:sp>
      <p:sp>
        <p:nvSpPr>
          <p:cNvPr id="325" name="Google Shape;325;p39"/>
          <p:cNvSpPr/>
          <p:nvPr/>
        </p:nvSpPr>
        <p:spPr>
          <a:xfrm>
            <a:off x="480900" y="3922775"/>
            <a:ext cx="8351400" cy="6462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In Rust il polimorfismo dinamico non è implicito: si usa dyn solo quando serve davvero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Calibri"/>
                <a:ea typeface="Calibri"/>
                <a:cs typeface="Calibri"/>
                <a:sym typeface="Calibri"/>
              </a:rPr>
              <a:t>Nel caso normale, i tratti vengono sfruttati tramite tipi generici e invocazione statica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Approfondimento: tratti nella libreria standard</a:t>
            </a:r>
            <a:endParaRPr/>
          </a:p>
        </p:txBody>
      </p:sp>
      <p:sp>
        <p:nvSpPr>
          <p:cNvPr id="331" name="Google Shape;33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Rust definisce un insieme di tratti la cui implementazione abilita l'uso degli operatori presenti nel linguaggio con i tipi definiti dall'utente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L'implementazione di alcuni di questi tratti può essere aggiunta automaticamente ai tipi definiti dall'utente attraverso la macro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#[derive(...)]</a:t>
            </a:r>
            <a:r>
              <a:rPr lang="it"/>
              <a:t>   </a:t>
            </a:r>
            <a:endParaRPr/>
          </a:p>
        </p:txBody>
      </p:sp>
      <p:sp>
        <p:nvSpPr>
          <p:cNvPr id="332" name="Google Shape;332;p40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3" name="Google Shape;333;p40"/>
          <p:cNvSpPr txBox="1"/>
          <p:nvPr/>
        </p:nvSpPr>
        <p:spPr>
          <a:xfrm>
            <a:off x="730700" y="2700409"/>
            <a:ext cx="2986200" cy="1262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B21E00"/>
                </a:solidFill>
                <a:latin typeface="Consolas"/>
                <a:ea typeface="Consolas"/>
                <a:cs typeface="Consolas"/>
                <a:sym typeface="Consolas"/>
              </a:rPr>
              <a:t>#[derive(PartialEq)]</a:t>
            </a:r>
            <a:endParaRPr b="1">
              <a:solidFill>
                <a:schemeClr val="dk1"/>
              </a:solidFill>
              <a:highlight>
                <a:srgbClr val="F6F7F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 </a:t>
            </a:r>
            <a:r>
              <a:rPr b="1" lang="it">
                <a:solidFill>
                  <a:srgbClr val="0030F2"/>
                </a:solidFill>
                <a:latin typeface="Consolas"/>
                <a:ea typeface="Consolas"/>
                <a:cs typeface="Consolas"/>
                <a:sym typeface="Consolas"/>
              </a:rPr>
              <a:t>Foo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&lt;T&gt;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a: 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b: T,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/>
          </a:p>
        </p:txBody>
      </p:sp>
      <p:sp>
        <p:nvSpPr>
          <p:cNvPr id="334" name="Google Shape;334;p40"/>
          <p:cNvSpPr txBox="1"/>
          <p:nvPr/>
        </p:nvSpPr>
        <p:spPr>
          <a:xfrm>
            <a:off x="4258700" y="2700409"/>
            <a:ext cx="4331100" cy="14775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impl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&lt;T: </a:t>
            </a:r>
            <a:r>
              <a:rPr b="1" lang="it">
                <a:solidFill>
                  <a:srgbClr val="B21E00"/>
                </a:solidFill>
                <a:latin typeface="Consolas"/>
                <a:ea typeface="Consolas"/>
                <a:cs typeface="Consolas"/>
                <a:sym typeface="Consolas"/>
              </a:rPr>
              <a:t>PartialEq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 </a:t>
            </a:r>
            <a:r>
              <a:rPr b="1" lang="it">
                <a:solidFill>
                  <a:srgbClr val="B21E00"/>
                </a:solidFill>
                <a:latin typeface="Consolas"/>
                <a:ea typeface="Consolas"/>
                <a:cs typeface="Consolas"/>
                <a:sym typeface="Consolas"/>
              </a:rPr>
              <a:t>PartialEq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Foo&lt;T&gt;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fn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it">
                <a:solidFill>
                  <a:srgbClr val="0030F2"/>
                </a:solidFill>
                <a:latin typeface="Consolas"/>
                <a:ea typeface="Consolas"/>
                <a:cs typeface="Consolas"/>
                <a:sym typeface="Consolas"/>
              </a:rPr>
              <a:t>eq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</a:t>
            </a: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other: &amp;Foo&lt;T&gt;) -&gt; </a:t>
            </a:r>
            <a:r>
              <a:rPr b="1" lang="it">
                <a:solidFill>
                  <a:srgbClr val="B21E00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.a == other.a &amp;&amp; 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it">
                <a:solidFill>
                  <a:srgbClr val="9D00EC"/>
                </a:solidFill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.b == other.b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/>
          </a:p>
        </p:txBody>
      </p:sp>
      <p:sp>
        <p:nvSpPr>
          <p:cNvPr id="335" name="Google Shape;335;p40"/>
          <p:cNvSpPr/>
          <p:nvPr/>
        </p:nvSpPr>
        <p:spPr>
          <a:xfrm>
            <a:off x="2976250" y="2789078"/>
            <a:ext cx="1209600" cy="25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Confronto tra valori</a:t>
            </a:r>
            <a:endParaRPr/>
          </a:p>
        </p:txBody>
      </p:sp>
      <p:sp>
        <p:nvSpPr>
          <p:cNvPr id="341" name="Google Shape;34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PartialEq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Tratto che permette di verificare l’uguaglianza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==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!=</a:t>
            </a:r>
            <a:r>
              <a:rPr lang="it"/>
              <a:t>) tra valori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Non richiede che tutti i valori siano confrontabili (es.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NaN</a:t>
            </a:r>
            <a:r>
              <a:rPr lang="it"/>
              <a:t> nei float)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Estende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PartialEq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Indica che l’uguaglianza è totale (ogni valore è confrontabile con sé stesso)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PartialOrd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Permette confronti di ordine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it"/>
              <a:t>,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 &lt;=</a:t>
            </a:r>
            <a:r>
              <a:rPr lang="it"/>
              <a:t>,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&gt;=</a:t>
            </a:r>
            <a:r>
              <a:rPr lang="it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Può essere parziale (alcuni confronti non sono definiti)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Estende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PartialOrd</a:t>
            </a:r>
            <a:r>
              <a:rPr lang="it"/>
              <a:t> ed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Eq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Definisce un ordinamento totale (tutti i valori sono confrontabili)</a:t>
            </a:r>
            <a:endParaRPr/>
          </a:p>
        </p:txBody>
      </p:sp>
      <p:sp>
        <p:nvSpPr>
          <p:cNvPr id="342" name="Google Shape;342;p41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3" name="Google Shape;343;p41"/>
          <p:cNvSpPr/>
          <p:nvPr/>
        </p:nvSpPr>
        <p:spPr>
          <a:xfrm>
            <a:off x="6821225" y="98950"/>
            <a:ext cx="1256700" cy="30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PartialEq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4" name="Google Shape;344;p41"/>
          <p:cNvSpPr/>
          <p:nvPr/>
        </p:nvSpPr>
        <p:spPr>
          <a:xfrm>
            <a:off x="5962000" y="644200"/>
            <a:ext cx="1256700" cy="30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Eq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5" name="Google Shape;345;p41"/>
          <p:cNvCxnSpPr>
            <a:stCxn id="344" idx="0"/>
            <a:endCxn id="343" idx="2"/>
          </p:cNvCxnSpPr>
          <p:nvPr/>
        </p:nvCxnSpPr>
        <p:spPr>
          <a:xfrm flipH="1" rot="10800000">
            <a:off x="6590350" y="406900"/>
            <a:ext cx="859200" cy="2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6" name="Google Shape;346;p41"/>
          <p:cNvSpPr/>
          <p:nvPr/>
        </p:nvSpPr>
        <p:spPr>
          <a:xfrm>
            <a:off x="7764450" y="644200"/>
            <a:ext cx="1256700" cy="30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PartialOrd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7" name="Google Shape;347;p41"/>
          <p:cNvCxnSpPr>
            <a:stCxn id="346" idx="0"/>
            <a:endCxn id="343" idx="2"/>
          </p:cNvCxnSpPr>
          <p:nvPr/>
        </p:nvCxnSpPr>
        <p:spPr>
          <a:xfrm rot="10800000">
            <a:off x="7449600" y="406900"/>
            <a:ext cx="943200" cy="2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8" name="Google Shape;348;p41"/>
          <p:cNvSpPr/>
          <p:nvPr/>
        </p:nvSpPr>
        <p:spPr>
          <a:xfrm>
            <a:off x="6821225" y="1189450"/>
            <a:ext cx="1256700" cy="307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Ord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9" name="Google Shape;349;p41"/>
          <p:cNvCxnSpPr>
            <a:stCxn id="348" idx="0"/>
            <a:endCxn id="346" idx="2"/>
          </p:cNvCxnSpPr>
          <p:nvPr/>
        </p:nvCxnSpPr>
        <p:spPr>
          <a:xfrm flipH="1" rot="10800000">
            <a:off x="7449575" y="951850"/>
            <a:ext cx="9432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41"/>
          <p:cNvCxnSpPr>
            <a:stCxn id="348" idx="0"/>
            <a:endCxn id="344" idx="2"/>
          </p:cNvCxnSpPr>
          <p:nvPr/>
        </p:nvCxnSpPr>
        <p:spPr>
          <a:xfrm rot="10800000">
            <a:off x="6590375" y="951850"/>
            <a:ext cx="859200" cy="23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Visualizzare i contenuti</a:t>
            </a:r>
            <a:endParaRPr/>
          </a:p>
        </p:txBody>
      </p:sp>
      <p:sp>
        <p:nvSpPr>
          <p:cNvPr id="356" name="Google Shape;356;p42"/>
          <p:cNvSpPr txBox="1"/>
          <p:nvPr>
            <p:ph idx="1" type="body"/>
          </p:nvPr>
        </p:nvSpPr>
        <p:spPr>
          <a:xfrm>
            <a:off x="311700" y="1152472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Display </a:t>
            </a:r>
            <a:r>
              <a:rPr lang="it"/>
              <a:t>crea una visualizzazionecomprensibile ad un </a:t>
            </a:r>
            <a:r>
              <a:rPr b="1" lang="it">
                <a:solidFill>
                  <a:srgbClr val="0B5394"/>
                </a:solidFill>
              </a:rPr>
              <a:t>utente finale</a:t>
            </a:r>
            <a:endParaRPr b="1"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Deve essere implementato manualmente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Da un punto di vista pratico, la sua implementazione richiede la definizione di un solo metodo</a:t>
            </a:r>
            <a:endParaRPr/>
          </a:p>
        </p:txBody>
      </p:sp>
      <p:sp>
        <p:nvSpPr>
          <p:cNvPr id="357" name="Google Shape;357;p42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8" name="Google Shape;358;p42"/>
          <p:cNvSpPr txBox="1"/>
          <p:nvPr/>
        </p:nvSpPr>
        <p:spPr>
          <a:xfrm>
            <a:off x="1416642" y="2182342"/>
            <a:ext cx="6431100" cy="8313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24292F"/>
                </a:solidFill>
                <a:latin typeface="Consolas"/>
                <a:ea typeface="Consolas"/>
                <a:cs typeface="Consolas"/>
                <a:sym typeface="Consolas"/>
              </a:rPr>
              <a:t>trait Display {</a:t>
            </a:r>
            <a:endParaRPr b="1">
              <a:solidFill>
                <a:srgbClr val="24292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24292F"/>
                </a:solidFill>
                <a:latin typeface="Consolas"/>
                <a:ea typeface="Consolas"/>
                <a:cs typeface="Consolas"/>
                <a:sym typeface="Consolas"/>
              </a:rPr>
              <a:t>    fn fmt(&amp;self, f: &amp;mut fmt::Formatter&lt;'_&gt;) -&gt; fmt::Result;</a:t>
            </a:r>
            <a:endParaRPr b="1">
              <a:solidFill>
                <a:srgbClr val="24292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24292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rgbClr val="24292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9" name="Google Shape;359;p42"/>
          <p:cNvSpPr txBox="1"/>
          <p:nvPr>
            <p:ph idx="1" type="body"/>
          </p:nvPr>
        </p:nvSpPr>
        <p:spPr>
          <a:xfrm>
            <a:off x="311700" y="3234712"/>
            <a:ext cx="8520600" cy="14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Debug</a:t>
            </a:r>
            <a:r>
              <a:rPr lang="it"/>
              <a:t> ha la stessa firma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Display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suo scopo, tuttavia, è differente: creare una rappresentazione comprensibile al programmatore del valore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Viene attivato usando il segnaposto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{:?}</a:t>
            </a:r>
            <a:endParaRPr>
              <a:solidFill>
                <a:srgbClr val="0B5394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Può essere sintetizzato automaticamente attraverso l’annotazione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#[derive(Debug)]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Copia e duplicazione</a:t>
            </a:r>
            <a:endParaRPr/>
          </a:p>
        </p:txBody>
      </p:sp>
      <p:sp>
        <p:nvSpPr>
          <p:cNvPr id="365" name="Google Shape;36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Clone</a:t>
            </a:r>
            <a:r>
              <a:rPr lang="it"/>
              <a:t> indica la capacità di un tipo di creare un duplicato di un valore dato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può essere usato per trasformare un riferimento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&amp;T</a:t>
            </a:r>
            <a:r>
              <a:rPr lang="it"/>
              <a:t>) in un valore posseduto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Tale trasformazione, ovviamente, può essere molto costosa in termini di tempo e memoria, tuttavia è sempre sotto il controllo del programmatore perché tale funzionalità non è mai attivata automaticamente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lang="it"/>
              <a:t> è un sotto-tratto di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Clone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Esso implica il fatto che la copia ottenuta sia - a tutti gli effetti - il solo duplicato dei bit presenti nel valore originale, senza nessuna trasformazione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La sua implementazione può essere veloce ed efficiente (si basa sulla duplicazione bit-a-bit del valore)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tratto può essere implementato solo da strutture dati i cui campi implementino il tratto stesso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La presenza del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r>
              <a:rPr lang="it"/>
              <a:t> trasforma la semantica delle operazioni di assegnazione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Quello che normalmente determina un </a:t>
            </a:r>
            <a:r>
              <a:rPr b="1" lang="it">
                <a:solidFill>
                  <a:srgbClr val="0B5394"/>
                </a:solidFill>
              </a:rPr>
              <a:t>movimento</a:t>
            </a:r>
            <a:r>
              <a:rPr lang="it"/>
              <a:t>, che rende inaccessibile il valore originale, diventa una </a:t>
            </a:r>
            <a:r>
              <a:rPr b="1" lang="it">
                <a:solidFill>
                  <a:srgbClr val="0B5394"/>
                </a:solidFill>
              </a:rPr>
              <a:t>copia</a:t>
            </a:r>
            <a:endParaRPr/>
          </a:p>
        </p:txBody>
      </p:sp>
      <p:sp>
        <p:nvSpPr>
          <p:cNvPr id="366" name="Google Shape;366;p43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Rilasciare le risorse</a:t>
            </a:r>
            <a:endParaRPr/>
          </a:p>
        </p:txBody>
      </p:sp>
      <p:sp>
        <p:nvSpPr>
          <p:cNvPr id="372" name="Google Shape;37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Drop</a:t>
            </a:r>
            <a:r>
              <a:rPr lang="it"/>
              <a:t> permette di definire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drop(&amp;mut self)</a:t>
            </a:r>
            <a:r>
              <a:rPr lang="it"/>
              <a:t> che fa le veci del distruttore nel linguaggio C++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compilatore Rust garantisce che tale metodo sarà chiamato nel momento in cui la variabile che contiene un valore di questo tipo uscirà dal proprio scope sintattico o subito prima che le venga assegnato un nuovo valore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permette di rilasciare eventuali risorse possedute dalla struttura dati o abilitare comportamenti duali a quelli della creazione dell’oggetto, tipici del pattern RAII - Resource Acquisition Is Initialization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Questo tratto è mutuamente esclusivo con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Questo vincolo elimina, in assenza di blocchi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unsafe {...}</a:t>
            </a:r>
            <a:r>
              <a:rPr lang="it"/>
              <a:t>, la possibilità di avere un doppio rilascio delle risorse presenti sullo heap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Questo tratto si accompagna alla funzione globale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fn drop&lt;T&gt;(_x:T) {}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Essa forza il passaggio di possesso di un valore ad una nuova variabile (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_x</a:t>
            </a:r>
            <a:r>
              <a:rPr lang="it"/>
              <a:t>) che uscirà di scena subito, provocandone la distruzione  </a:t>
            </a:r>
            <a:endParaRPr/>
          </a:p>
        </p:txBody>
      </p:sp>
      <p:sp>
        <p:nvSpPr>
          <p:cNvPr id="373" name="Google Shape;373;p44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Conversione tra tipi</a:t>
            </a:r>
            <a:endParaRPr/>
          </a:p>
        </p:txBody>
      </p:sp>
      <p:sp>
        <p:nvSpPr>
          <p:cNvPr id="379" name="Google Shape;37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tratti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it"/>
              <a:t> 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lang="it"/>
              <a:t> permettono di effettuare conversioni di tipo, prendono possesso del valore lo convertono e ritornano il possesso al chiamante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tratti sono perfettamente duali, scrivere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T: From&lt;i32&gt;</a:t>
            </a:r>
            <a:r>
              <a:rPr lang="it"/>
              <a:t> equivale a scrivere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i32: Into&lt;T&gt;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Se si implementa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it"/>
              <a:t>, 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lang="it">
                <a:solidFill>
                  <a:srgbClr val="0B5394"/>
                </a:solidFill>
              </a:rPr>
              <a:t> </a:t>
            </a:r>
            <a:r>
              <a:rPr lang="it"/>
              <a:t>viene generato automaticamente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L’implementazione del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it">
                <a:solidFill>
                  <a:srgbClr val="0B5394"/>
                </a:solidFill>
              </a:rPr>
              <a:t> </a:t>
            </a:r>
            <a:r>
              <a:rPr b="1" lang="it"/>
              <a:t>non è simmetrica</a:t>
            </a:r>
            <a:r>
              <a:rPr lang="it"/>
              <a:t>: se è possibile passare dal 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al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it"/>
              <a:t>, non è affatto detto che sia possibile tornare indietro  dal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</a:t>
            </a:r>
            <a:r>
              <a:rPr lang="it"/>
              <a:t> al tipo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it"/>
              <a:t> 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5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81" name="Google Shape;381;p45"/>
          <p:cNvSpPr txBox="1"/>
          <p:nvPr/>
        </p:nvSpPr>
        <p:spPr>
          <a:xfrm>
            <a:off x="1589850" y="2932685"/>
            <a:ext cx="5964300" cy="16932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trait </a:t>
            </a:r>
            <a:r>
              <a:rPr b="1" lang="it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it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&gt;: Sized {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fn </a:t>
            </a:r>
            <a:r>
              <a:rPr b="1" lang="it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(other: </a:t>
            </a:r>
            <a:r>
              <a:rPr b="1" lang="it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-&gt; Self;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trait </a:t>
            </a:r>
            <a:r>
              <a:rPr b="1" lang="it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it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&gt;: Sized {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 fn </a:t>
            </a:r>
            <a:r>
              <a:rPr b="1" lang="it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(self) -&gt; </a:t>
            </a:r>
            <a:r>
              <a:rPr b="1" lang="it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Conversione tra tipi</a:t>
            </a:r>
            <a:endParaRPr/>
          </a:p>
        </p:txBody>
      </p:sp>
      <p:sp>
        <p:nvSpPr>
          <p:cNvPr id="387" name="Google Shape;38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Il tratto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FromStr</a:t>
            </a:r>
            <a:r>
              <a:rPr lang="it">
                <a:solidFill>
                  <a:srgbClr val="0B5394"/>
                </a:solidFill>
              </a:rPr>
              <a:t> </a:t>
            </a:r>
            <a:r>
              <a:rPr lang="it"/>
              <a:t>permette di gestire la conversione da stringa e l’eventuale fallimento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from_str()</a:t>
            </a:r>
            <a:r>
              <a:rPr lang="it"/>
              <a:t> viene implicitamente richiamato tutte le volte che si utilizza il metodo </a:t>
            </a:r>
            <a:r>
              <a:rPr b="1" lang="it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parse()</a:t>
            </a:r>
            <a:r>
              <a:rPr lang="it"/>
              <a:t> </a:t>
            </a:r>
            <a:endParaRPr/>
          </a:p>
        </p:txBody>
      </p:sp>
      <p:sp>
        <p:nvSpPr>
          <p:cNvPr id="388" name="Google Shape;388;p46"/>
          <p:cNvSpPr txBox="1"/>
          <p:nvPr>
            <p:ph idx="12" type="sldNum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89" name="Google Shape;389;p46"/>
          <p:cNvSpPr txBox="1"/>
          <p:nvPr/>
        </p:nvSpPr>
        <p:spPr>
          <a:xfrm>
            <a:off x="636900" y="2522478"/>
            <a:ext cx="7870200" cy="14160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 trait </a:t>
            </a:r>
            <a:r>
              <a:rPr b="1" lang="it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FromStr </a:t>
            </a: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type </a:t>
            </a:r>
            <a:r>
              <a:rPr b="1" lang="it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fn </a:t>
            </a:r>
            <a:r>
              <a:rPr b="1" lang="it" sz="1600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</a:rPr>
              <a:t>from_str</a:t>
            </a: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(s: &amp;str) -&gt; Result&lt;Self, Self::</a:t>
            </a:r>
            <a:r>
              <a:rPr b="1" lang="it" sz="1600">
                <a:solidFill>
                  <a:srgbClr val="9900FF"/>
                </a:solidFill>
                <a:latin typeface="Consolas"/>
                <a:ea typeface="Consolas"/>
                <a:cs typeface="Consolas"/>
                <a:sym typeface="Consolas"/>
              </a:rPr>
              <a:t>Err</a:t>
            </a: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&gt;;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