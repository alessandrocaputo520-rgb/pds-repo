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7602D8-39B5-40AC-80FE-D487C74DA6AF}">
  <a:tblStyle styleId="{D77602D8-39B5-40AC-80FE-D487C74DA6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42f2e7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c42f2e7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42f2e7f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42f2e7f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4534d0d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4534d0d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2f2e7f4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2f2e7f4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42f2e7f4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42f2e7f4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42f2e7f4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42f2e7f4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42f2e7f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42f2e7f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534d0dd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534d0dd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2f2e7f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42f2e7f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98558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98558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42f2e7f4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42f2e7f4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42f2e7f4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42f2e7f4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42f2e7f4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42f2e7f4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42f2e7f4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42f2e7f4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42f2e7f4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42f2e7f4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42f2e7f4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42f2e7f4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42f2e7f4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42f2e7f4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42f2e7f4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42f2e7f4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42f2e7f4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42f2e7f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42f2e7f4c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42f2e7f4c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42f2e7f4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42f2e7f4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42f2e7f4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42f2e7f4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42f2e7f4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42f2e7f4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42f2e7f4c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c42f2e7f4c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42f2e7f4c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42f2e7f4c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42f2e7f4c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c42f2e7f4c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42f2e7f4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42f2e7f4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42f2e7f4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42f2e7f4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42f2e7f4c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c42f2e7f4c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42f2e7f4c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c42f2e7f4c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42f2e7f4c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42f2e7f4c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42f2e7f4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42f2e7f4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42f2e7f4c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42f2e7f4c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42f2e7f4c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42f2e7f4c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42f2e7f4c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42f2e7f4c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42f2e7f4c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c42f2e7f4c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42f2e7f4c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42f2e7f4c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c42f2e7f4c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c42f2e7f4c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42f2e7f4c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c42f2e7f4c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c42f2e7f4c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c42f2e7f4c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c42f2e7f4c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c42f2e7f4c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c42f2e7f4c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c42f2e7f4c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c42f2e7f4c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c42f2e7f4c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c42f2e7f4c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c42f2e7f4c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c42f2e7f4c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c42f2e7f4c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c42f2e7f4c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c42f2e7f4c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42f2e7f4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c42f2e7f4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c43a94ff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c43a94ff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43a94ff0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c43a94ff0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42f2e7f4c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c42f2e7f4c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42f2e7f4c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c42f2e7f4c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42f2e7f4c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c42f2e7f4c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c42f2e7f4c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c42f2e7f4c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42f2e7f4c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c42f2e7f4c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c42f2e7f4c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c42f2e7f4c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4534d0dd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c4534d0dd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c4534d0d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c4534d0d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c42f2e7f4c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c42f2e7f4c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c42f2e7f4c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c42f2e7f4c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42f2e7f4c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c42f2e7f4c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42f2e7f4c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c42f2e7f4c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c42f2e7f4c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c42f2e7f4c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c42f2e7f4c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c42f2e7f4c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c42f2e7f4c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c42f2e7f4c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42f2e7f4c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c42f2e7f4c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c4534d0d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c4534d0d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42f2e7f4c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c42f2e7f4c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en.wikipedia.org/wiki/Dangling_pointer" TargetMode="External"/><Relationship Id="rId4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en.wikipedia.org/wiki/Memory_safety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gist.github.com/CMCDragonkai/10ab53654b2aa6ce55c11cfc5b2432a4" TargetMode="External"/><Relationship Id="rId4" Type="http://schemas.openxmlformats.org/officeDocument/2006/relationships/hyperlink" Target="https://www.squash.io/how-to-manage-memory-with-python/" TargetMode="External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311708" y="1582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4000"/>
              <a:t>Allocazione della memoria</a:t>
            </a:r>
            <a:endParaRPr sz="4000"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311700" y="3672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2025-26</a:t>
            </a:r>
            <a:endParaRPr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000" y="313900"/>
            <a:ext cx="2358000" cy="23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Obiettivi </a:t>
            </a:r>
            <a:endParaRPr/>
          </a:p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Comprendere lo spazio di indirizzamento virtuale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Conoscere la differenza tra stack e heap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Saper spiegare perché i puntatori sono pericolosi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Conoscere quali bug tipici nascono in C/C++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Spiegare perché Rust introduce i concetti di possesso, prestito, smart pointer</a:t>
            </a:r>
            <a:endParaRPr/>
          </a:p>
        </p:txBody>
      </p:sp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8200" y="0"/>
            <a:ext cx="1635801" cy="163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studiare come è organizzata la memoria?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90% dei bug di sistema ⇒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Accessi illeciti alla memoria o  mancata sincronizzazione in programmi concorrenti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Rust ⇒ risposta a questi problemi</a:t>
            </a:r>
            <a:endParaRPr/>
          </a:p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832400" y="1152475"/>
            <a:ext cx="3999900" cy="1713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p =    </a:t>
            </a:r>
            <a:br>
              <a:rPr lang="it"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(int*)malloc(sizeof(int));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free(p);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*p = 5; </a:t>
            </a:r>
            <a:r>
              <a:rPr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// cosa succede?</a:t>
            </a:r>
            <a:endParaRPr i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54;p10"/>
          <p:cNvSpPr/>
          <p:nvPr/>
        </p:nvSpPr>
        <p:spPr>
          <a:xfrm>
            <a:off x="578750" y="3472575"/>
            <a:ext cx="8253600" cy="51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Questo è il tipo di errori che vogliamo eliminare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Programmi e loro esecuzione</a:t>
            </a:r>
            <a:endParaRPr/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programma eseguibile è costituito da un  insieme di istruzioni macchina, dati, valori di configurazione e controllo rappresentati come sequenze di numeri binari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significato delle istruzioni macchina è cablato all'interno del processore specifico per cui il programma è stato creato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significato delle informazioni restanti è contenuto, in parte, nelle istruzioni macchina e, per la parte restante, dipende dal sistema operativo (se c'è) o da particolari caratteristiche del processore stesso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poter essere eseguito, un programma deve essere caricato all'interno della memoria accessibile al processore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Nei sistemi più piccoli (es., Arduino) questo avviene grazie ad hardware specifico che memorizza in modo semipermanente quanto necessario nella memoria flash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Nei sistemi più grandi, un modulo del sistema operativo (</a:t>
            </a:r>
            <a:r>
              <a:rPr b="1" i="1" lang="it">
                <a:solidFill>
                  <a:srgbClr val="0B5394"/>
                </a:solidFill>
              </a:rPr>
              <a:t>loader</a:t>
            </a:r>
            <a:r>
              <a:rPr lang="it"/>
              <a:t>) si occupa di trasferire dal disco alla memoria RAM il contenuto del file eseguibile</a:t>
            </a:r>
            <a:endParaRPr/>
          </a:p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Programmi e loro esecuzione</a:t>
            </a:r>
            <a:endParaRPr/>
          </a:p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volta che il programma è presente in memoria, può essere eseguito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processore preleva dalla memoria, una alla volta, le istruzioni macchina del programma e provvede ad eseguirle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L'esecuzione di un'istruzione determina quali effetti collaterali debbano avvenire e quale debba essere la prossima istruzione da eseguire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Modifiche nelle informazioni contenute nel processore stesso e/o nella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Eventuali interazioni con altre periferiche collegate al processore stesso (I/O)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modello base di esecuzione prevede l'alternarsi continuo di tre fasi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- Un'istruzione viene trasferita dalla memoria all'interno del processore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Decode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- L'istruzione prelevata viene trasformata in comandi da eseguire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Execute</a:t>
            </a: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- I comandi vengono eseguiti</a:t>
            </a:r>
            <a:endParaRPr/>
          </a:p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Spazio di indirizzamento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L’esecuzione di un programma avviene nel suo </a:t>
            </a:r>
            <a:r>
              <a:rPr b="1" lang="it">
                <a:solidFill>
                  <a:srgbClr val="0B5394"/>
                </a:solidFill>
              </a:rPr>
              <a:t>spazio di indirizzamento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Sottoinsieme delle celle indirizzabili, gestito dal sistema operativo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Dati, istruzioni, informazioni di controllo, … sono memorizzati come valori al suo interno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Lo spazio di indirizzamento può essere immaginato come un enorme array di byte, che possono essere letti individualmente, a coppie, a gruppi di 4, 8 alla volta, in base al parallelismo del processore (8, 16, 32 o 64 bit)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numero di celle </a:t>
            </a:r>
            <a:r>
              <a:rPr b="1" lang="it">
                <a:solidFill>
                  <a:srgbClr val="0B5394"/>
                </a:solidFill>
              </a:rPr>
              <a:t>potenzialmente</a:t>
            </a:r>
            <a:r>
              <a:rPr lang="it"/>
              <a:t> presenti nello spazio di indirizzamento dipende dal processore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numero di celle </a:t>
            </a:r>
            <a:r>
              <a:rPr b="1" lang="it">
                <a:solidFill>
                  <a:srgbClr val="0B5394"/>
                </a:solidFill>
              </a:rPr>
              <a:t>effettivamente</a:t>
            </a:r>
            <a:r>
              <a:rPr lang="it"/>
              <a:t> presenti, è limitato dalla quantità di RAM disponibile ed è controllato dal sistema operativo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 caso di CPU Intel x64, il processore opera a 64 bit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 lo spazio di indirizzamento si estende tra 0 e 2</a:t>
            </a:r>
            <a:r>
              <a:rPr baseline="30000" lang="it"/>
              <a:t>48</a:t>
            </a:r>
            <a:r>
              <a:rPr lang="it"/>
              <a:t>-1 (scelta di implementazione)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All'interno di questo, però, solo una piccola parte di indirizzi è effettivamente presente</a:t>
            </a:r>
            <a:endParaRPr/>
          </a:p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Spazio di indirizzamento</a:t>
            </a:r>
            <a:endParaRPr/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Gli indirizzi che un programma utilizza non corrispondono - in generale - all'effettiva posizione che un dato assume in memoria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Il codice fa riferimento ad </a:t>
            </a:r>
            <a:r>
              <a:rPr b="1" lang="it">
                <a:solidFill>
                  <a:srgbClr val="0B5394"/>
                </a:solidFill>
              </a:rPr>
              <a:t>indirizzi virtuali</a:t>
            </a:r>
            <a:endParaRPr b="1">
              <a:solidFill>
                <a:srgbClr val="0B5394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L'hardware utilizza </a:t>
            </a:r>
            <a:r>
              <a:rPr b="1" lang="it">
                <a:solidFill>
                  <a:srgbClr val="0B5394"/>
                </a:solidFill>
              </a:rPr>
              <a:t>indirizzi fisici</a:t>
            </a:r>
            <a:r>
              <a:rPr lang="it"/>
              <a:t> </a:t>
            </a:r>
            <a:endParaRPr/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apposito blocco hardware presente nel processore (</a:t>
            </a:r>
            <a:r>
              <a:rPr b="1" lang="it">
                <a:solidFill>
                  <a:srgbClr val="0B5394"/>
                </a:solidFill>
              </a:rPr>
              <a:t>MMU - Memory Management Unit</a:t>
            </a:r>
            <a:r>
              <a:rPr lang="it"/>
              <a:t>) si occupa di tradurre l'indirizzo virtuale in indirizzo fisico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Tale traduzione garantisce che programmi diversi contemporaneamente in esecuzione non possano </a:t>
            </a:r>
            <a:r>
              <a:rPr b="1" lang="it">
                <a:solidFill>
                  <a:srgbClr val="0B5394"/>
                </a:solidFill>
              </a:rPr>
              <a:t>interferire</a:t>
            </a:r>
            <a:r>
              <a:rPr lang="it"/>
              <a:t> tra loro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Consente di controllare quali </a:t>
            </a:r>
            <a:r>
              <a:rPr b="1" lang="it">
                <a:solidFill>
                  <a:srgbClr val="0B5394"/>
                </a:solidFill>
              </a:rPr>
              <a:t>operazioni</a:t>
            </a:r>
            <a:r>
              <a:rPr lang="it"/>
              <a:t> siano </a:t>
            </a:r>
            <a:r>
              <a:rPr b="1" lang="it">
                <a:solidFill>
                  <a:srgbClr val="0B5394"/>
                </a:solidFill>
              </a:rPr>
              <a:t>possibili</a:t>
            </a:r>
            <a:r>
              <a:rPr lang="it"/>
              <a:t> (lettura, scrittura, esecuzione)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Permette inoltre di scrivere programmi che manipolano </a:t>
            </a:r>
            <a:r>
              <a:rPr b="1" lang="it">
                <a:solidFill>
                  <a:srgbClr val="0B5394"/>
                </a:solidFill>
              </a:rPr>
              <a:t>dati più grossi della memoria fisica </a:t>
            </a:r>
            <a:r>
              <a:rPr lang="it"/>
              <a:t>effettivamente presente</a:t>
            </a:r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0" y="1017725"/>
            <a:ext cx="3667125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Effetti pratici</a:t>
            </a:r>
            <a:endParaRPr/>
          </a:p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Segmentation fault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Tentativo di accedere ad indirizzo non mappato o senza gli adeguati permessi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processore blocca l'esecuzione e rimanda al sistema operativo (che termina brutalmente il programma)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Page fault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Tentativo di accedere ad un indirizzo appartenente ad un blocco il cui contenuto è stato salvato su disco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processore richiede l'intervento del sistema operativo che ricerca una pagina fisica libera e vi trasferisce il contenuto del blocco presente nel file di paginazione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 termine il processore ritenta l'accesso e procede normalmente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Trashing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programma cerca di accedere rapidamente ad una grande quantità di dati paginati, il sistema passa più tempo a spostare pagine tra disco e memoria fisica di quanto ne possa dedicare all'esecuzione vera e propria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Gerarchia di memoria</a:t>
            </a:r>
            <a:endParaRPr/>
          </a:p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Nei sistemi non elementari, il processore </a:t>
            </a:r>
            <a:r>
              <a:rPr b="1" lang="it">
                <a:solidFill>
                  <a:srgbClr val="0B5394"/>
                </a:solidFill>
              </a:rPr>
              <a:t>non legge/scrive</a:t>
            </a:r>
            <a:r>
              <a:rPr lang="it"/>
              <a:t> direttamente dalla memoria 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 i due elementi viene interposta la memoria </a:t>
            </a:r>
            <a:r>
              <a:rPr b="1" lang="it">
                <a:solidFill>
                  <a:srgbClr val="0B5394"/>
                </a:solidFill>
              </a:rPr>
              <a:t>cache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Questa ha il compito di velocizzare l'accesso alle informazioni cercando di anticipare il bisogno di informazioni da parte della CPU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basa sul </a:t>
            </a:r>
            <a:r>
              <a:rPr b="1" lang="it">
                <a:solidFill>
                  <a:srgbClr val="0B5394"/>
                </a:solidFill>
              </a:rPr>
              <a:t>principio di località</a:t>
            </a:r>
            <a:r>
              <a:rPr lang="it"/>
              <a:t> dei programmi: se è stato appena fatto accesso all'indirizzo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it"/>
              <a:t>, è molto probabile che venga fatto subito dopo accesso all'indirizzo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I+Δ </a:t>
            </a:r>
            <a:r>
              <a:rPr lang="it"/>
              <a:t>(con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it"/>
              <a:t> molto piccolo)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memoria cache si basa su dispositivi il cui tempo di accesso è molto più rapido di quello offerto dalla memoria RAM tradizionale, ma dotati di una capacità molto inferiore (pochi KB/MB)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78750" y="4136663"/>
            <a:ext cx="8253600" cy="51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Per questo </a:t>
            </a: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Vec&lt;T&gt;</a:t>
            </a: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 è quasi sempre meglio di </a:t>
            </a: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LinkedList&lt;T&gt;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Località</a:t>
            </a:r>
            <a:endParaRPr/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503175" y="1127516"/>
            <a:ext cx="80868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2192175" y="1127516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2544075" y="1127516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2895975" y="1127516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247875" y="1127516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</a:t>
            </a: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2924775" y="2006091"/>
            <a:ext cx="1263600" cy="625225"/>
            <a:chOff x="390650" y="2315825"/>
            <a:chExt cx="1263600" cy="625225"/>
          </a:xfrm>
        </p:grpSpPr>
        <p:grpSp>
          <p:nvGrpSpPr>
            <p:cNvPr id="112" name="Google Shape;112;p17"/>
            <p:cNvGrpSpPr/>
            <p:nvPr/>
          </p:nvGrpSpPr>
          <p:grpSpPr>
            <a:xfrm>
              <a:off x="503175" y="2315825"/>
              <a:ext cx="1055700" cy="360600"/>
              <a:chOff x="503175" y="2315825"/>
              <a:chExt cx="1055700" cy="360600"/>
            </a:xfrm>
          </p:grpSpPr>
          <p:sp>
            <p:nvSpPr>
              <p:cNvPr id="113" name="Google Shape;113;p17"/>
              <p:cNvSpPr/>
              <p:nvPr/>
            </p:nvSpPr>
            <p:spPr>
              <a:xfrm>
                <a:off x="503175" y="2315825"/>
                <a:ext cx="351900" cy="360600"/>
              </a:xfrm>
              <a:prstGeom prst="rect">
                <a:avLst/>
              </a:prstGeom>
              <a:solidFill>
                <a:srgbClr val="F9CB9C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/>
                  <a:t> </a:t>
                </a:r>
                <a:endParaRPr/>
              </a:p>
            </p:txBody>
          </p:sp>
          <p:sp>
            <p:nvSpPr>
              <p:cNvPr id="114" name="Google Shape;114;p17"/>
              <p:cNvSpPr/>
              <p:nvPr/>
            </p:nvSpPr>
            <p:spPr>
              <a:xfrm>
                <a:off x="855075" y="2315825"/>
                <a:ext cx="351900" cy="360600"/>
              </a:xfrm>
              <a:prstGeom prst="rect">
                <a:avLst/>
              </a:prstGeom>
              <a:solidFill>
                <a:srgbClr val="F9CB9C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/>
                  <a:t> </a:t>
                </a:r>
                <a:endParaRPr/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1206975" y="2315825"/>
                <a:ext cx="351900" cy="360600"/>
              </a:xfrm>
              <a:prstGeom prst="rect">
                <a:avLst/>
              </a:prstGeom>
              <a:solidFill>
                <a:srgbClr val="F9CB9C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7"/>
              <p:cNvSpPr/>
              <p:nvPr/>
            </p:nvSpPr>
            <p:spPr>
              <a:xfrm>
                <a:off x="619875" y="2511150"/>
                <a:ext cx="118500" cy="1212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971775" y="2511150"/>
                <a:ext cx="118500" cy="1212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1323675" y="2511150"/>
                <a:ext cx="118500" cy="1212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17"/>
            <p:cNvSpPr txBox="1"/>
            <p:nvPr/>
          </p:nvSpPr>
          <p:spPr>
            <a:xfrm>
              <a:off x="390650" y="25717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756675" y="25717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1105550" y="25717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limit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2" name="Google Shape;122;p17"/>
          <p:cNvCxnSpPr>
            <a:stCxn id="117" idx="0"/>
            <a:endCxn id="109" idx="2"/>
          </p:cNvCxnSpPr>
          <p:nvPr/>
        </p:nvCxnSpPr>
        <p:spPr>
          <a:xfrm flipH="1" rot="5400000">
            <a:off x="2961850" y="1598116"/>
            <a:ext cx="713400" cy="4932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23" name="Google Shape;123;p17"/>
          <p:cNvCxnSpPr>
            <a:stCxn id="118" idx="0"/>
            <a:endCxn id="124" idx="2"/>
          </p:cNvCxnSpPr>
          <p:nvPr/>
        </p:nvCxnSpPr>
        <p:spPr>
          <a:xfrm flipH="1" rot="5400000">
            <a:off x="3489700" y="1774066"/>
            <a:ext cx="713400" cy="1413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124" name="Google Shape;124;p17"/>
          <p:cNvSpPr/>
          <p:nvPr/>
        </p:nvSpPr>
        <p:spPr>
          <a:xfrm>
            <a:off x="3599775" y="1127516"/>
            <a:ext cx="351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17"/>
          <p:cNvCxnSpPr>
            <a:stCxn id="116" idx="0"/>
            <a:endCxn id="107" idx="2"/>
          </p:cNvCxnSpPr>
          <p:nvPr/>
        </p:nvCxnSpPr>
        <p:spPr>
          <a:xfrm flipH="1" rot="5400000">
            <a:off x="2434000" y="1422166"/>
            <a:ext cx="713400" cy="8451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126" name="Google Shape;126;p17"/>
          <p:cNvSpPr/>
          <p:nvPr/>
        </p:nvSpPr>
        <p:spPr>
          <a:xfrm>
            <a:off x="469175" y="3331641"/>
            <a:ext cx="80868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17"/>
          <p:cNvGrpSpPr/>
          <p:nvPr/>
        </p:nvGrpSpPr>
        <p:grpSpPr>
          <a:xfrm>
            <a:off x="2924775" y="4084275"/>
            <a:ext cx="1263600" cy="625225"/>
            <a:chOff x="845325" y="2910425"/>
            <a:chExt cx="1263600" cy="625225"/>
          </a:xfrm>
        </p:grpSpPr>
        <p:sp>
          <p:nvSpPr>
            <p:cNvPr id="128" name="Google Shape;128;p17"/>
            <p:cNvSpPr/>
            <p:nvPr/>
          </p:nvSpPr>
          <p:spPr>
            <a:xfrm>
              <a:off x="957850" y="29104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309750" y="29104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074550" y="3105750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1661650" y="29104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3</a:t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1426450" y="3105750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845325" y="31663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1211350" y="31663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560225" y="3166350"/>
              <a:ext cx="5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count</a:t>
              </a:r>
              <a:endParaRPr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17"/>
          <p:cNvSpPr/>
          <p:nvPr/>
        </p:nvSpPr>
        <p:spPr>
          <a:xfrm>
            <a:off x="1331925" y="3331641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500">
                <a:solidFill>
                  <a:schemeClr val="dk1"/>
                </a:solidFill>
              </a:rPr>
              <a:t>NULL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980025" y="3331641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</a:t>
            </a:r>
            <a:endParaRPr/>
          </a:p>
        </p:txBody>
      </p:sp>
      <p:grpSp>
        <p:nvGrpSpPr>
          <p:cNvPr id="138" name="Google Shape;138;p17"/>
          <p:cNvGrpSpPr/>
          <p:nvPr/>
        </p:nvGrpSpPr>
        <p:grpSpPr>
          <a:xfrm>
            <a:off x="6608000" y="3331641"/>
            <a:ext cx="351900" cy="360600"/>
            <a:chOff x="1110250" y="3062825"/>
            <a:chExt cx="351900" cy="360600"/>
          </a:xfrm>
        </p:grpSpPr>
        <p:sp>
          <p:nvSpPr>
            <p:cNvPr id="139" name="Google Shape;139;p17"/>
            <p:cNvSpPr/>
            <p:nvPr/>
          </p:nvSpPr>
          <p:spPr>
            <a:xfrm>
              <a:off x="1110250" y="30628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1226950" y="3111418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/>
          <p:nvPr/>
        </p:nvSpPr>
        <p:spPr>
          <a:xfrm>
            <a:off x="6256100" y="3331641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</a:t>
            </a:r>
            <a:endParaRPr/>
          </a:p>
        </p:txBody>
      </p:sp>
      <p:grpSp>
        <p:nvGrpSpPr>
          <p:cNvPr id="142" name="Google Shape;142;p17"/>
          <p:cNvGrpSpPr/>
          <p:nvPr/>
        </p:nvGrpSpPr>
        <p:grpSpPr>
          <a:xfrm>
            <a:off x="1683825" y="3331641"/>
            <a:ext cx="351900" cy="360600"/>
            <a:chOff x="1110250" y="3062825"/>
            <a:chExt cx="351900" cy="360600"/>
          </a:xfrm>
        </p:grpSpPr>
        <p:sp>
          <p:nvSpPr>
            <p:cNvPr id="143" name="Google Shape;143;p17"/>
            <p:cNvSpPr/>
            <p:nvPr/>
          </p:nvSpPr>
          <p:spPr>
            <a:xfrm>
              <a:off x="1110250" y="30628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1226950" y="3258150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6959900" y="3331641"/>
            <a:ext cx="351900" cy="360600"/>
            <a:chOff x="1110250" y="3062825"/>
            <a:chExt cx="351900" cy="360600"/>
          </a:xfrm>
        </p:grpSpPr>
        <p:sp>
          <p:nvSpPr>
            <p:cNvPr id="146" name="Google Shape;146;p17"/>
            <p:cNvSpPr/>
            <p:nvPr/>
          </p:nvSpPr>
          <p:spPr>
            <a:xfrm>
              <a:off x="1110250" y="30628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1226950" y="3105750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4044900" y="3331641"/>
            <a:ext cx="351900" cy="360600"/>
            <a:chOff x="1110250" y="3062825"/>
            <a:chExt cx="351900" cy="360600"/>
          </a:xfrm>
        </p:grpSpPr>
        <p:sp>
          <p:nvSpPr>
            <p:cNvPr id="149" name="Google Shape;149;p17"/>
            <p:cNvSpPr/>
            <p:nvPr/>
          </p:nvSpPr>
          <p:spPr>
            <a:xfrm>
              <a:off x="1110250" y="3062825"/>
              <a:ext cx="351900" cy="3606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 </a:t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226950" y="3258150"/>
              <a:ext cx="118500" cy="1212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7"/>
          <p:cNvSpPr/>
          <p:nvPr/>
        </p:nvSpPr>
        <p:spPr>
          <a:xfrm>
            <a:off x="3693000" y="3331641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396800" y="3331641"/>
            <a:ext cx="351900" cy="3606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500">
                <a:solidFill>
                  <a:schemeClr val="dk1"/>
                </a:solidFill>
              </a:rPr>
              <a:t>NULL</a:t>
            </a:r>
            <a:endParaRPr/>
          </a:p>
        </p:txBody>
      </p:sp>
      <p:cxnSp>
        <p:nvCxnSpPr>
          <p:cNvPr id="153" name="Google Shape;153;p17"/>
          <p:cNvCxnSpPr>
            <a:stCxn id="144" idx="0"/>
            <a:endCxn id="141" idx="0"/>
          </p:cNvCxnSpPr>
          <p:nvPr/>
        </p:nvCxnSpPr>
        <p:spPr>
          <a:xfrm rot="-5400000">
            <a:off x="4048275" y="1143166"/>
            <a:ext cx="195300" cy="4572300"/>
          </a:xfrm>
          <a:prstGeom prst="curvedConnector3">
            <a:avLst>
              <a:gd fmla="val 221941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54" name="Google Shape;154;p17"/>
          <p:cNvCxnSpPr>
            <a:stCxn id="140" idx="2"/>
            <a:endCxn id="137" idx="2"/>
          </p:cNvCxnSpPr>
          <p:nvPr/>
        </p:nvCxnSpPr>
        <p:spPr>
          <a:xfrm rot="5400000">
            <a:off x="3874550" y="782834"/>
            <a:ext cx="190800" cy="5628000"/>
          </a:xfrm>
          <a:prstGeom prst="curvedConnector3">
            <a:avLst>
              <a:gd fmla="val 224807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55" name="Google Shape;155;p17"/>
          <p:cNvCxnSpPr>
            <a:stCxn id="147" idx="2"/>
            <a:endCxn id="151" idx="2"/>
          </p:cNvCxnSpPr>
          <p:nvPr/>
        </p:nvCxnSpPr>
        <p:spPr>
          <a:xfrm rot="5400000">
            <a:off x="5404100" y="1960516"/>
            <a:ext cx="196500" cy="3267000"/>
          </a:xfrm>
          <a:prstGeom prst="curvedConnector3">
            <a:avLst>
              <a:gd fmla="val 221170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56" name="Google Shape;156;p17"/>
          <p:cNvCxnSpPr>
            <a:stCxn id="150" idx="0"/>
            <a:endCxn id="141" idx="0"/>
          </p:cNvCxnSpPr>
          <p:nvPr/>
        </p:nvCxnSpPr>
        <p:spPr>
          <a:xfrm rot="-5400000">
            <a:off x="5228850" y="2323666"/>
            <a:ext cx="195300" cy="2211300"/>
          </a:xfrm>
          <a:prstGeom prst="curvedConnector3">
            <a:avLst>
              <a:gd fmla="val 221941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57" name="Google Shape;157;p17"/>
          <p:cNvCxnSpPr>
            <a:stCxn id="130" idx="0"/>
            <a:endCxn id="137" idx="2"/>
          </p:cNvCxnSpPr>
          <p:nvPr/>
        </p:nvCxnSpPr>
        <p:spPr>
          <a:xfrm flipH="1" rot="5400000">
            <a:off x="1890850" y="2957200"/>
            <a:ext cx="587400" cy="20574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158" name="Google Shape;158;p17"/>
          <p:cNvCxnSpPr>
            <a:stCxn id="132" idx="0"/>
            <a:endCxn id="151" idx="2"/>
          </p:cNvCxnSpPr>
          <p:nvPr/>
        </p:nvCxnSpPr>
        <p:spPr>
          <a:xfrm rot="-5400000">
            <a:off x="3423400" y="3833950"/>
            <a:ext cx="587400" cy="3039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159" name="Google Shape;159;p17"/>
          <p:cNvSpPr txBox="1"/>
          <p:nvPr/>
        </p:nvSpPr>
        <p:spPr>
          <a:xfrm>
            <a:off x="4257125" y="1956866"/>
            <a:ext cx="29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Vec&lt;T&gt;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257125" y="4009850"/>
            <a:ext cx="29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LinkedList</a:t>
            </a:r>
            <a:r>
              <a:rPr lang="it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&lt;T&gt;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Esecuzione e programmi di alto livello</a:t>
            </a:r>
            <a:endParaRPr/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Utilizzando linguaggi di programmazione ad alto livello, i dettagli legati al meccanismo di esecuzione sono normalmente </a:t>
            </a:r>
            <a:r>
              <a:rPr b="1" lang="it">
                <a:solidFill>
                  <a:srgbClr val="0B5394"/>
                </a:solidFill>
              </a:rPr>
              <a:t>invisibili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Tuttavia, per poter garantire il livello di astrazione necessario, essi devono introdurre delle sovrastrutture che impattano sul codice che viene scritto dal programmatore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…e introducono un insieme di </a:t>
            </a:r>
            <a:r>
              <a:rPr b="1" lang="it">
                <a:solidFill>
                  <a:srgbClr val="0B5394"/>
                </a:solidFill>
              </a:rPr>
              <a:t>vincoli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</a:rPr>
              <a:t>restrizioni</a:t>
            </a:r>
            <a:r>
              <a:rPr lang="it"/>
              <a:t> di cui è necessario essere pienamente coscienti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Modello di esecuzione di un programma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linguaggio di programmazione propone uno specifico modello di esecuzione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Insieme di comportamenti attuati dall'elaboratore a fronte dei costrutti di alto livello del linguaggio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Tale modello per lo più non corrisponde a quello di un dispositivo reale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E' compito del </a:t>
            </a:r>
            <a:r>
              <a:rPr b="1" lang="it">
                <a:solidFill>
                  <a:srgbClr val="0B5394"/>
                </a:solidFill>
              </a:rPr>
              <a:t>compilatore</a:t>
            </a:r>
            <a:r>
              <a:rPr lang="it"/>
              <a:t> introdurre uno strato di adattamento che implementi il modello nei termini offerti dal dispositivo soggiacente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strato è composto, da un lato, da una specifica modalità di traduzione dei costrutti di alto livello in istruzioni macchina e, dall'altro, da un insieme di funzionalità di supporto offerte sotto forma di libreria di supporto all'esecuzione (</a:t>
            </a:r>
            <a:r>
              <a:rPr b="1" lang="it">
                <a:solidFill>
                  <a:srgbClr val="0B5394"/>
                </a:solidFill>
              </a:rPr>
              <a:t>run-time library</a:t>
            </a:r>
            <a:r>
              <a:rPr lang="it"/>
              <a:t>)</a:t>
            </a:r>
            <a:endParaRPr/>
          </a:p>
        </p:txBody>
      </p:sp>
      <p:sp>
        <p:nvSpPr>
          <p:cNvPr id="174" name="Google Shape;174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Livelli di astrazione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compilazione trasforma il programma sorgente in un nuovo programma dotato di un modello di esecuzione ed un insieme di istruzioni più semplice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 può essere eseguito da una macchina fisica (CPU) o subire un'ulteriore trasformazione (esecuzione virtuale)</a:t>
            </a:r>
            <a:br>
              <a:rPr lang="it"/>
            </a:b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775" y="2884908"/>
            <a:ext cx="1960500" cy="10623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Programma </a:t>
            </a:r>
            <a:b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 alto </a:t>
            </a:r>
            <a:b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livello</a:t>
            </a:r>
            <a:endParaRPr sz="1800"/>
          </a:p>
        </p:txBody>
      </p:sp>
      <p:sp>
        <p:nvSpPr>
          <p:cNvPr id="183" name="Google Shape;183;p20"/>
          <p:cNvSpPr/>
          <p:nvPr/>
        </p:nvSpPr>
        <p:spPr>
          <a:xfrm>
            <a:off x="3510108" y="3032601"/>
            <a:ext cx="1805700" cy="752100"/>
          </a:xfrm>
          <a:prstGeom prst="rect">
            <a:avLst/>
          </a:prstGeom>
          <a:gradFill>
            <a:gsLst>
              <a:gs pos="0">
                <a:srgbClr val="CCE3E5"/>
              </a:gs>
              <a:gs pos="50000">
                <a:srgbClr val="C0DCDF"/>
              </a:gs>
              <a:gs pos="97000">
                <a:srgbClr val="ADD1D6"/>
              </a:gs>
              <a:gs pos="100000">
                <a:srgbClr val="A6CFD4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4380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5400">
              <a:srgbClr val="000000">
                <a:alpha val="427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Compilatore</a:t>
            </a:r>
            <a:endParaRPr sz="1800"/>
          </a:p>
        </p:txBody>
      </p:sp>
      <p:sp>
        <p:nvSpPr>
          <p:cNvPr id="184" name="Google Shape;184;p20"/>
          <p:cNvSpPr/>
          <p:nvPr/>
        </p:nvSpPr>
        <p:spPr>
          <a:xfrm>
            <a:off x="5613164" y="3242562"/>
            <a:ext cx="383100" cy="298500"/>
          </a:xfrm>
          <a:prstGeom prst="rightArrow">
            <a:avLst>
              <a:gd fmla="val 50000" name="adj1"/>
              <a:gd fmla="val 50001" name="adj2"/>
            </a:avLst>
          </a:prstGeom>
          <a:solidFill>
            <a:srgbClr val="5C92B5"/>
          </a:solidFill>
          <a:ln cap="flat" cmpd="sng" w="9525">
            <a:solidFill>
              <a:srgbClr val="0B539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dir="5400000" dist="26940">
              <a:srgbClr val="000000">
                <a:alpha val="427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6618288" y="2351490"/>
            <a:ext cx="2140800" cy="7521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Programma eseguibile</a:t>
            </a:r>
            <a:endParaRPr sz="1800"/>
          </a:p>
        </p:txBody>
      </p:sp>
      <p:sp>
        <p:nvSpPr>
          <p:cNvPr id="186" name="Google Shape;186;p20"/>
          <p:cNvSpPr/>
          <p:nvPr/>
        </p:nvSpPr>
        <p:spPr>
          <a:xfrm>
            <a:off x="6293625" y="2344500"/>
            <a:ext cx="136200" cy="2094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618288" y="3687093"/>
            <a:ext cx="2140800" cy="7521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Libreria di esecuzione</a:t>
            </a:r>
            <a:endParaRPr sz="1800"/>
          </a:p>
        </p:txBody>
      </p:sp>
      <p:sp>
        <p:nvSpPr>
          <p:cNvPr id="188" name="Google Shape;188;p20"/>
          <p:cNvSpPr/>
          <p:nvPr/>
        </p:nvSpPr>
        <p:spPr>
          <a:xfrm>
            <a:off x="7491528" y="3260961"/>
            <a:ext cx="394200" cy="310200"/>
          </a:xfrm>
          <a:prstGeom prst="mathPlus">
            <a:avLst>
              <a:gd fmla="val 23520" name="adj1"/>
            </a:avLst>
          </a:prstGeom>
          <a:solidFill>
            <a:srgbClr val="A04DA3"/>
          </a:solidFill>
          <a:ln cap="flat" cmpd="sng" w="25400">
            <a:solidFill>
              <a:srgbClr val="743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829639" y="3242562"/>
            <a:ext cx="383100" cy="298500"/>
          </a:xfrm>
          <a:prstGeom prst="rightArrow">
            <a:avLst>
              <a:gd fmla="val 50000" name="adj1"/>
              <a:gd fmla="val 50001" name="adj2"/>
            </a:avLst>
          </a:prstGeom>
          <a:solidFill>
            <a:srgbClr val="5C92B5"/>
          </a:solidFill>
          <a:ln cap="flat" cmpd="sng" w="9525">
            <a:solidFill>
              <a:srgbClr val="0B539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dir="5400000" dist="26940">
              <a:srgbClr val="000000">
                <a:alpha val="427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Offrono agli applicativi meccanismi di base per il loro funzionamento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Supportano le astrazioni del linguaggio di programmazione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Forniscono un'interfaccia uniforme tra i diversi S.O. per le funzioni ad essi demandate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Costituite da due tipi di funzioni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Alcune, invisibili al programmatore, sono inserite in fase di compilazione per supportare l'esecuzione (es.: controllo dello stack, copia di aree di memoria,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Altre offrono al programmatore funzionalità standard, gestendo opportune strutture dati ausiliarie e/o richiedendo al S.O. quelle non altrimenti realizzabili (es.: malloc, fopen, …) </a:t>
            </a:r>
            <a:endParaRPr/>
          </a:p>
        </p:txBody>
      </p:sp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Librerie di esecuzione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Modello di esecuzione nei linguaggi C e C++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programmi sono pensati come se fossero gli unici utilizzatori di un elaboratore, completamente dedicato loro (isolamento)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eventuali interazioni si riducono al più all'uso di risorse persistenti come il file system o le connessioni di rete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L'isolamento è reso possibile dal meccanismo di indirizzamento virtuale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programma C/C++ assume di poter accedere a qualsiasi indirizzo di memoria presente nello spazio di indirizzamento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All'interno del quale può leggere o scrivere dati o dal quale può eseguire codice macchina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realtà, gli indirizzi effettivamente accessibili sono molti meno, formano uno spazio sparso e non tutti consentono ogni tipo di operazione</a:t>
            </a:r>
            <a:endParaRPr/>
          </a:p>
        </p:txBody>
      </p:sp>
      <p:sp>
        <p:nvSpPr>
          <p:cNvPr id="203" name="Google Shape;203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Esecuzione sequenziale sincrona, senza limitazioni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programma C/C++ è formato da un insieme di istruzioni eseguite, una per volta, nell'ordine indicato dal programmatore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ci sono limiti sul numero di  istruzioni da eseguire, sul tempo richiesto alla loro esecuzione, né sulla memoria necessaria</a:t>
            </a:r>
            <a:br>
              <a:rPr lang="it"/>
            </a:b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realtà, tali limiti esistono e condizionano la scrittura dei programmi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Richiedendo al programmatore la comprensione del modello concettuale soggiacente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Da qui nasce la necessità di un modello di gestione della memoria sicuro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All'interno del flusso principale di esecuzione è possibile attivare flussi di elaborazione secondari, detti </a:t>
            </a:r>
            <a:r>
              <a:rPr b="1" i="1" lang="it">
                <a:solidFill>
                  <a:srgbClr val="0B5394"/>
                </a:solidFill>
              </a:rPr>
              <a:t>thread</a:t>
            </a:r>
            <a:endParaRPr b="1" i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Questi abilitano l'esecuzione concorrente (effettivamente parallela se la CPU è multicore) e introducono un ordine di grandezza nel livello di complessità della scrittura dei programmi</a:t>
            </a:r>
            <a:endParaRPr/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Flusso di esecuzione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programma è costituito, come minimo, da un flusso di esecuzione il cui punto di partenza è predefinito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r>
              <a:rPr lang="it"/>
              <a:t> nel linguaggio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costruttori delle variabili globali in C++, seguiti dalla chiamata alla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r>
              <a:rPr lang="it"/>
              <a:t> 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struttura a pila, lo </a:t>
            </a:r>
            <a:r>
              <a:rPr b="1" i="1" lang="it">
                <a:solidFill>
                  <a:srgbClr val="0B5394"/>
                </a:solidFill>
              </a:rPr>
              <a:t>stack</a:t>
            </a:r>
            <a:r>
              <a:rPr lang="it"/>
              <a:t>, permette di gestire chiamate annidate tra funzioni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Essa supporta la ricorsione e l'uso di variabili locali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C++, supporta anche la gestione strutturata delle eccezioni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seconda struttura dati, lo </a:t>
            </a:r>
            <a:r>
              <a:rPr b="1" i="1" lang="it">
                <a:solidFill>
                  <a:srgbClr val="0B5394"/>
                </a:solidFill>
              </a:rPr>
              <a:t>heap</a:t>
            </a:r>
            <a:r>
              <a:rPr lang="it"/>
              <a:t>, offre supporto per gestire dinamicamente l'utilizzo della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Secondo logiche non strettamente correlate al procedere dell'esecuzione</a:t>
            </a:r>
            <a:endParaRPr/>
          </a:p>
        </p:txBody>
      </p:sp>
      <p:sp>
        <p:nvSpPr>
          <p:cNvPr id="217" name="Google Shape;217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Blocco di memoria allocato automaticamente all'avvio di un programma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Ha il compito di supportare l'esecuzione tenendo traccia della storia delle chiamate a funzione, degli argomenti passati ad ogni invocazione, dei valori di ritorno e delle variabili locali e temporanee presenti al loro interno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Viene utilizzato a partire da un estremo, espandendosi verso l'estremo opposto ogni volta che avviene una chiamata e contraendosi verso l'inizio quando una funzione ritorna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Poiché ha dimensione finita, limita la profondità massima di ricorsione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Così come la dimensione totale delle variabili locali complessivamente utilizzabili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Se, a seguito di un numero troppo elevato di chiamate o all'allocazione di variabili troppo grandi, si espande oltre il proprio limite, il sistema operativo (o il processore) interviene terminando l'esecuzione del programma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Stack overflow</a:t>
            </a:r>
            <a:endParaRPr/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578750" y="4248681"/>
            <a:ext cx="8253600" cy="51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Stack = automatico, veloce, tempo di vita deterministico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460975" y="3380200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460975" y="3608800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5634995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9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5695945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256" name="Google Shape;256;p27"/>
          <p:cNvSpPr/>
          <p:nvPr/>
        </p:nvSpPr>
        <p:spPr>
          <a:xfrm>
            <a:off x="6063520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62" name="Google Shape;262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460975" y="3810013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5634995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5695945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271" name="Google Shape;271;p28"/>
          <p:cNvSpPr/>
          <p:nvPr/>
        </p:nvSpPr>
        <p:spPr>
          <a:xfrm>
            <a:off x="6784067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6418844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</a:rPr>
              <a:t>a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6001558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5931734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res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6369608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9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83" name="Google Shape;283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460975" y="1256195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5630524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5691474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292" name="Google Shape;292;p29"/>
          <p:cNvSpPr/>
          <p:nvPr/>
        </p:nvSpPr>
        <p:spPr>
          <a:xfrm>
            <a:off x="7160595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6365137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6426948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</a:t>
            </a:r>
            <a:endParaRPr b="1"/>
          </a:p>
        </p:txBody>
      </p:sp>
      <p:sp>
        <p:nvSpPr>
          <p:cNvPr id="295" name="Google Shape;295;p29"/>
          <p:cNvSpPr/>
          <p:nvPr/>
        </p:nvSpPr>
        <p:spPr>
          <a:xfrm>
            <a:off x="6737137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chemeClr val="dk1"/>
                </a:solidFill>
              </a:rPr>
              <a:t>ret</a:t>
            </a:r>
            <a:br>
              <a:rPr lang="it" sz="700">
                <a:solidFill>
                  <a:schemeClr val="dk1"/>
                </a:solidFill>
              </a:rPr>
            </a:br>
            <a:r>
              <a:rPr lang="it" sz="700">
                <a:solidFill>
                  <a:schemeClr val="dk1"/>
                </a:solidFill>
              </a:rPr>
              <a:t>addr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29"/>
          <p:cNvCxnSpPr>
            <a:stCxn id="295" idx="2"/>
            <a:endCxn id="296" idx="7"/>
          </p:cNvCxnSpPr>
          <p:nvPr/>
        </p:nvCxnSpPr>
        <p:spPr>
          <a:xfrm rot="5400000">
            <a:off x="3204037" y="141550"/>
            <a:ext cx="1696500" cy="5741700"/>
          </a:xfrm>
          <a:prstGeom prst="curvedConnector3">
            <a:avLst>
              <a:gd fmla="val 4940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98" name="Google Shape;298;p29"/>
          <p:cNvSpPr/>
          <p:nvPr/>
        </p:nvSpPr>
        <p:spPr>
          <a:xfrm>
            <a:off x="5997086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5939839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07" name="Google Shape;307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460975" y="1458898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316" name="Google Shape;316;p30"/>
          <p:cNvSpPr/>
          <p:nvPr/>
        </p:nvSpPr>
        <p:spPr>
          <a:xfrm>
            <a:off x="7545321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7179353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i</a:t>
            </a:r>
            <a:endParaRPr b="1"/>
          </a:p>
        </p:txBody>
      </p:sp>
      <p:sp>
        <p:nvSpPr>
          <p:cNvPr id="319" name="Google Shape;319;p30"/>
          <p:cNvSpPr/>
          <p:nvPr/>
        </p:nvSpPr>
        <p:spPr>
          <a:xfrm>
            <a:off x="6368863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6430674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</a:t>
            </a:r>
            <a:endParaRPr b="1"/>
          </a:p>
        </p:txBody>
      </p:sp>
      <p:sp>
        <p:nvSpPr>
          <p:cNvPr id="321" name="Google Shape;321;p30"/>
          <p:cNvSpPr/>
          <p:nvPr/>
        </p:nvSpPr>
        <p:spPr>
          <a:xfrm>
            <a:off x="6740863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chemeClr val="dk1"/>
                </a:solidFill>
              </a:rPr>
              <a:t>ret</a:t>
            </a:r>
            <a:br>
              <a:rPr lang="it" sz="700">
                <a:solidFill>
                  <a:schemeClr val="dk1"/>
                </a:solidFill>
              </a:rPr>
            </a:br>
            <a:r>
              <a:rPr lang="it" sz="700">
                <a:solidFill>
                  <a:schemeClr val="dk1"/>
                </a:solidFill>
              </a:rPr>
              <a:t>addr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6000813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5943565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cxnSp>
        <p:nvCxnSpPr>
          <p:cNvPr id="324" name="Google Shape;324;p30"/>
          <p:cNvCxnSpPr>
            <a:stCxn id="321" idx="2"/>
            <a:endCxn id="317" idx="7"/>
          </p:cNvCxnSpPr>
          <p:nvPr/>
        </p:nvCxnSpPr>
        <p:spPr>
          <a:xfrm rot="5400000">
            <a:off x="3205963" y="139750"/>
            <a:ext cx="1696500" cy="5745300"/>
          </a:xfrm>
          <a:prstGeom prst="curvedConnector3">
            <a:avLst>
              <a:gd fmla="val 4940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25" name="Google Shape;325;p30"/>
          <p:cNvSpPr/>
          <p:nvPr/>
        </p:nvSpPr>
        <p:spPr>
          <a:xfrm>
            <a:off x="7104966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5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33" name="Google Shape;333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460975" y="1886475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342" name="Google Shape;342;p31"/>
          <p:cNvSpPr/>
          <p:nvPr/>
        </p:nvSpPr>
        <p:spPr>
          <a:xfrm>
            <a:off x="5619439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31"/>
          <p:cNvCxnSpPr>
            <a:stCxn id="345" idx="2"/>
            <a:endCxn id="343" idx="7"/>
          </p:cNvCxnSpPr>
          <p:nvPr/>
        </p:nvCxnSpPr>
        <p:spPr>
          <a:xfrm rot="5400000">
            <a:off x="3199687" y="146050"/>
            <a:ext cx="1696500" cy="5732700"/>
          </a:xfrm>
          <a:prstGeom prst="curvedConnector3">
            <a:avLst>
              <a:gd fmla="val 4940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46" name="Google Shape;346;p31"/>
          <p:cNvSpPr txBox="1"/>
          <p:nvPr/>
        </p:nvSpPr>
        <p:spPr>
          <a:xfrm>
            <a:off x="7179353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i</a:t>
            </a:r>
            <a:endParaRPr b="1"/>
          </a:p>
        </p:txBody>
      </p:sp>
      <p:sp>
        <p:nvSpPr>
          <p:cNvPr id="347" name="Google Shape;347;p31"/>
          <p:cNvSpPr/>
          <p:nvPr/>
        </p:nvSpPr>
        <p:spPr>
          <a:xfrm>
            <a:off x="6356287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6430674" y="125597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</a:t>
            </a:r>
            <a:endParaRPr b="1"/>
          </a:p>
        </p:txBody>
      </p:sp>
      <p:sp>
        <p:nvSpPr>
          <p:cNvPr id="345" name="Google Shape;345;p31"/>
          <p:cNvSpPr/>
          <p:nvPr/>
        </p:nvSpPr>
        <p:spPr>
          <a:xfrm>
            <a:off x="6728287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chemeClr val="dk1"/>
                </a:solidFill>
              </a:rPr>
              <a:t>ret</a:t>
            </a:r>
            <a:br>
              <a:rPr lang="it" sz="700">
                <a:solidFill>
                  <a:schemeClr val="dk1"/>
                </a:solidFill>
              </a:rPr>
            </a:br>
            <a:r>
              <a:rPr lang="it" sz="700">
                <a:solidFill>
                  <a:schemeClr val="dk1"/>
                </a:solidFill>
              </a:rPr>
              <a:t>addr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5988237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14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5943215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res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709239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59" name="Google Shape;359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65" name="Google Shape;365;p32"/>
          <p:cNvSpPr/>
          <p:nvPr/>
        </p:nvSpPr>
        <p:spPr>
          <a:xfrm>
            <a:off x="460975" y="3804051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</a:rPr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2"/>
          <p:cNvSpPr/>
          <p:nvPr/>
        </p:nvSpPr>
        <p:spPr>
          <a:xfrm flipH="1">
            <a:off x="6097521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14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77" name="Google Shape;377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81" name="Google Shape;381;p33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460975" y="4030415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14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/>
          </a:p>
        </p:txBody>
      </p:sp>
      <p:sp>
        <p:nvSpPr>
          <p:cNvPr id="386" name="Google Shape;386;p33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0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res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94" name="Google Shape;394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i = 5;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a+i;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a-1;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9;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460975" y="4233864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1063450" y="384034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"/>
          <p:cNvSpPr/>
          <p:nvPr/>
        </p:nvSpPr>
        <p:spPr>
          <a:xfrm flipH="1">
            <a:off x="5691370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10" name="Google Shape;4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L'allocazione ed il rilascio sullo stack sono estremamente efficienti, grazie alla particolare politica di espansione / contrazione adottata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 contro, la durata dei valori memorizzati al suo interno è strettamente correlata alla durata dell'invocazione di un funzione</a:t>
            </a:r>
            <a:br>
              <a:rPr lang="it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Non è possibile memorizzare nello stack un dato che duri </a:t>
            </a:r>
            <a:r>
              <a:rPr b="1" lang="it">
                <a:solidFill>
                  <a:srgbClr val="0B5394"/>
                </a:solidFill>
              </a:rPr>
              <a:t>più a lungo</a:t>
            </a:r>
            <a:r>
              <a:rPr lang="it"/>
              <a:t> della funzione in cui è stato allocato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 questo motivo, il chiamante di una funzione ha la responsabilità di pre-allocare lo spazio in cui dovrà essere memorizzato il risultato prodotto dalla funzione chiamata</a:t>
            </a:r>
            <a:br>
              <a:rPr lang="it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Inoltre, poiché lo spazio complessivo dello stack è definito a priori, non è possibile memorizzare un dato la cui dimensione </a:t>
            </a:r>
            <a:r>
              <a:rPr b="1" lang="it">
                <a:solidFill>
                  <a:srgbClr val="0B5394"/>
                </a:solidFill>
              </a:rPr>
              <a:t>superi</a:t>
            </a:r>
            <a:r>
              <a:rPr lang="it"/>
              <a:t> tale spazio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 generale, occorre limitare la dimensione massima del dato allocato ad una grandezza compatibile con il livello di profondità di chiamate e la dimensione degli altri dati che devono essere memorizzati complessivamente nello stack</a:t>
            </a:r>
            <a:endParaRPr/>
          </a:p>
        </p:txBody>
      </p:sp>
      <p:sp>
        <p:nvSpPr>
          <p:cNvPr id="411" name="Google Shape;411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311700" y="1152475"/>
            <a:ext cx="8520600" cy="36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Tutte le volte in cui un dato ha un ciclo di vita non collegato al tempo di esecuzione della funzione in cui è stato creato o la cui dimensione è cospicua oppure non nota in fase di compilazione, occorre richiederne la memorizzazione in una struttura a parte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linguaggi C e C++ offrono un'apposita area, chiamata </a:t>
            </a:r>
            <a:r>
              <a:rPr b="1" lang="it">
                <a:solidFill>
                  <a:srgbClr val="0B5394"/>
                </a:solidFill>
              </a:rPr>
              <a:t>Heap</a:t>
            </a:r>
            <a:r>
              <a:rPr lang="it"/>
              <a:t> o </a:t>
            </a:r>
            <a:r>
              <a:rPr b="1" lang="it">
                <a:solidFill>
                  <a:srgbClr val="0B5394"/>
                </a:solidFill>
              </a:rPr>
              <a:t>Free Store</a:t>
            </a:r>
            <a:r>
              <a:rPr lang="it"/>
              <a:t>, all'interno della quale è possibile allocare e rilasciare blocchi di dimensione arbitraria (entro il limite della memoria disponibile)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 differenza di quanto avviene per lo stack, le aree allocate sullo heap non sono associate, a livello di linguaggio sorgente, ad un nome di variabile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accede al loro contenuto esclusivamente tramite </a:t>
            </a:r>
            <a:r>
              <a:rPr b="1" lang="it">
                <a:solidFill>
                  <a:srgbClr val="0B5394"/>
                </a:solidFill>
              </a:rPr>
              <a:t>puntatori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Inoltre, è responsabilità del programmatore rilasciare, prima o poi, la memoria allocata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Altrimenti si verificherà una perdita di memoria (memory leak) che, se reiterata, porta il sistema operativo a distruggere il processo</a:t>
            </a:r>
            <a:endParaRPr/>
          </a:p>
        </p:txBody>
      </p:sp>
      <p:sp>
        <p:nvSpPr>
          <p:cNvPr id="418" name="Google Shape;418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24" name="Google Shape;424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28" name="Google Shape;428;p37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460975" y="2961473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7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38" name="Google Shape;438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9" name="Google Shape;439;p38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8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42" name="Google Shape;442;p38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44" name="Google Shape;444;p38"/>
          <p:cNvSpPr/>
          <p:nvPr/>
        </p:nvSpPr>
        <p:spPr>
          <a:xfrm>
            <a:off x="460975" y="3177497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8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</a:rPr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2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6063520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55" name="Google Shape;455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9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61" name="Google Shape;461;p39"/>
          <p:cNvSpPr/>
          <p:nvPr/>
        </p:nvSpPr>
        <p:spPr>
          <a:xfrm>
            <a:off x="460975" y="3391285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Google Shape;463;p39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464" name="Google Shape;464;p39"/>
          <p:cNvSpPr txBox="1"/>
          <p:nvPr/>
        </p:nvSpPr>
        <p:spPr>
          <a:xfrm>
            <a:off x="5695200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7206520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9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6378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69" name="Google Shape;469;p39"/>
          <p:cNvSpPr txBox="1"/>
          <p:nvPr/>
        </p:nvSpPr>
        <p:spPr>
          <a:xfrm>
            <a:off x="5948661" y="125597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</a:rPr>
              <a:t>buf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70" name="Google Shape;470;p39"/>
          <p:cNvSpPr txBox="1"/>
          <p:nvPr/>
        </p:nvSpPr>
        <p:spPr>
          <a:xfrm>
            <a:off x="6320661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res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6813048" y="1267050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</a:rPr>
              <a:t>a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6752098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2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78" name="Google Shape;478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9" name="Google Shape;479;p40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82" name="Google Shape;482;p40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480648" y="1243410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0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p40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7587520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0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6378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92" name="Google Shape;492;p40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493" name="Google Shape;493;p40"/>
          <p:cNvSpPr txBox="1"/>
          <p:nvPr/>
        </p:nvSpPr>
        <p:spPr>
          <a:xfrm>
            <a:off x="6320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res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94" name="Google Shape;494;p40"/>
          <p:cNvSpPr txBox="1"/>
          <p:nvPr/>
        </p:nvSpPr>
        <p:spPr>
          <a:xfrm>
            <a:off x="6813048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6752098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1823102" y="335619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7" name="Google Shape;497;p40"/>
          <p:cNvCxnSpPr>
            <a:stCxn id="498" idx="2"/>
            <a:endCxn id="496" idx="7"/>
          </p:cNvCxnSpPr>
          <p:nvPr/>
        </p:nvCxnSpPr>
        <p:spPr>
          <a:xfrm rot="5400000">
            <a:off x="4018589" y="86775"/>
            <a:ext cx="1212300" cy="5367000"/>
          </a:xfrm>
          <a:prstGeom prst="curvedConnector3">
            <a:avLst>
              <a:gd fmla="val 49166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98" name="Google Shape;498;p40"/>
          <p:cNvSpPr/>
          <p:nvPr/>
        </p:nvSpPr>
        <p:spPr>
          <a:xfrm>
            <a:off x="7122239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980000"/>
                </a:solidFill>
              </a:rPr>
              <a:t>ret</a:t>
            </a:r>
            <a:br>
              <a:rPr lang="it" sz="700">
                <a:solidFill>
                  <a:srgbClr val="980000"/>
                </a:solidFill>
              </a:rPr>
            </a:br>
            <a:r>
              <a:rPr lang="it" sz="700">
                <a:solidFill>
                  <a:srgbClr val="980000"/>
                </a:solidFill>
              </a:rPr>
              <a:t>addr</a:t>
            </a:r>
            <a:endParaRPr sz="7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04" name="Google Shape;504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5" name="Google Shape;505;p41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1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508" name="Google Shape;508;p41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1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10" name="Google Shape;510;p41"/>
          <p:cNvSpPr/>
          <p:nvPr/>
        </p:nvSpPr>
        <p:spPr>
          <a:xfrm>
            <a:off x="480648" y="1688034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1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2" name="Google Shape;512;p41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513" name="Google Shape;513;p41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6" name="Google Shape;516;p41"/>
          <p:cNvSpPr/>
          <p:nvPr/>
        </p:nvSpPr>
        <p:spPr>
          <a:xfrm>
            <a:off x="6378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17" name="Google Shape;517;p41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518" name="Google Shape;518;p41"/>
          <p:cNvSpPr txBox="1"/>
          <p:nvPr/>
        </p:nvSpPr>
        <p:spPr>
          <a:xfrm>
            <a:off x="6320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res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19" name="Google Shape;519;p41"/>
          <p:cNvSpPr txBox="1"/>
          <p:nvPr/>
        </p:nvSpPr>
        <p:spPr>
          <a:xfrm>
            <a:off x="6813048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20" name="Google Shape;520;p41"/>
          <p:cNvSpPr/>
          <p:nvPr/>
        </p:nvSpPr>
        <p:spPr>
          <a:xfrm>
            <a:off x="6752098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1823102" y="3356199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2" name="Google Shape;522;p41"/>
          <p:cNvCxnSpPr>
            <a:stCxn id="523" idx="2"/>
            <a:endCxn id="521" idx="7"/>
          </p:cNvCxnSpPr>
          <p:nvPr/>
        </p:nvCxnSpPr>
        <p:spPr>
          <a:xfrm rot="5400000">
            <a:off x="4018589" y="86775"/>
            <a:ext cx="1212300" cy="5367000"/>
          </a:xfrm>
          <a:prstGeom prst="curvedConnector3">
            <a:avLst>
              <a:gd fmla="val 49166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23" name="Google Shape;523;p41"/>
          <p:cNvSpPr/>
          <p:nvPr/>
        </p:nvSpPr>
        <p:spPr>
          <a:xfrm>
            <a:off x="7122239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chemeClr val="dk1"/>
                </a:solidFill>
              </a:rPr>
              <a:t>ret</a:t>
            </a:r>
            <a:br>
              <a:rPr lang="it" sz="700">
                <a:solidFill>
                  <a:schemeClr val="dk1"/>
                </a:solidFill>
              </a:rPr>
            </a:br>
            <a:r>
              <a:rPr lang="it" sz="700">
                <a:solidFill>
                  <a:schemeClr val="dk1"/>
                </a:solidFill>
              </a:rPr>
              <a:t>addr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6320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6692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6493791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" name="Google Shape;527;p41"/>
          <p:cNvCxnSpPr>
            <a:stCxn id="526" idx="4"/>
            <a:endCxn id="524" idx="0"/>
          </p:cNvCxnSpPr>
          <p:nvPr/>
        </p:nvCxnSpPr>
        <p:spPr>
          <a:xfrm rot="5400000">
            <a:off x="5945691" y="2516606"/>
            <a:ext cx="1178100" cy="564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33" name="Google Shape;533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34" name="Google Shape;534;p42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42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2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537" name="Google Shape;537;p42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2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39" name="Google Shape;539;p42"/>
          <p:cNvSpPr/>
          <p:nvPr/>
        </p:nvSpPr>
        <p:spPr>
          <a:xfrm>
            <a:off x="480648" y="3374774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1" name="Google Shape;541;p42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542" name="Google Shape;542;p42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43" name="Google Shape;543;p42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5" name="Google Shape;545;p42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546" name="Google Shape;546;p42"/>
          <p:cNvSpPr/>
          <p:nvPr/>
        </p:nvSpPr>
        <p:spPr>
          <a:xfrm>
            <a:off x="6320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47" name="Google Shape;547;p42"/>
          <p:cNvSpPr/>
          <p:nvPr/>
        </p:nvSpPr>
        <p:spPr>
          <a:xfrm>
            <a:off x="6692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…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48" name="Google Shape;548;p42"/>
          <p:cNvSpPr/>
          <p:nvPr/>
        </p:nvSpPr>
        <p:spPr>
          <a:xfrm>
            <a:off x="6112791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9" name="Google Shape;549;p42"/>
          <p:cNvCxnSpPr>
            <a:stCxn id="548" idx="4"/>
            <a:endCxn id="546" idx="0"/>
          </p:cNvCxnSpPr>
          <p:nvPr/>
        </p:nvCxnSpPr>
        <p:spPr>
          <a:xfrm flipH="1" rot="-5400000">
            <a:off x="5755191" y="2382506"/>
            <a:ext cx="1178100" cy="324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50" name="Google Shape;550;p42"/>
          <p:cNvSpPr/>
          <p:nvPr/>
        </p:nvSpPr>
        <p:spPr>
          <a:xfrm flipH="1">
            <a:off x="6478521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56" name="Google Shape;556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7" name="Google Shape;557;p43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3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560" name="Google Shape;560;p43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3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62" name="Google Shape;562;p43"/>
          <p:cNvSpPr/>
          <p:nvPr/>
        </p:nvSpPr>
        <p:spPr>
          <a:xfrm>
            <a:off x="480648" y="3603374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3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4" name="Google Shape;564;p43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565" name="Google Shape;565;p43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8" name="Google Shape;568;p43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569" name="Google Shape;569;p43"/>
          <p:cNvSpPr/>
          <p:nvPr/>
        </p:nvSpPr>
        <p:spPr>
          <a:xfrm>
            <a:off x="6320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6692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1" name="Google Shape;571;p43"/>
          <p:cNvSpPr/>
          <p:nvPr/>
        </p:nvSpPr>
        <p:spPr>
          <a:xfrm>
            <a:off x="6112791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2" name="Google Shape;572;p43"/>
          <p:cNvCxnSpPr>
            <a:stCxn id="571" idx="4"/>
            <a:endCxn id="569" idx="0"/>
          </p:cNvCxnSpPr>
          <p:nvPr/>
        </p:nvCxnSpPr>
        <p:spPr>
          <a:xfrm flipH="1" rot="-5400000">
            <a:off x="5755191" y="2382506"/>
            <a:ext cx="1178100" cy="324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78" name="Google Shape;578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79" name="Google Shape;579;p44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4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582" name="Google Shape;582;p44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4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584" name="Google Shape;584;p44"/>
          <p:cNvSpPr/>
          <p:nvPr/>
        </p:nvSpPr>
        <p:spPr>
          <a:xfrm>
            <a:off x="480648" y="3805332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4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6" name="Google Shape;586;p44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587" name="Google Shape;587;p44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9" name="Google Shape;589;p44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0" name="Google Shape;590;p44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591" name="Google Shape;591;p44"/>
          <p:cNvSpPr/>
          <p:nvPr/>
        </p:nvSpPr>
        <p:spPr>
          <a:xfrm>
            <a:off x="6112791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2" name="Google Shape;592;p44"/>
          <p:cNvCxnSpPr>
            <a:stCxn id="591" idx="4"/>
            <a:endCxn id="593" idx="0"/>
          </p:cNvCxnSpPr>
          <p:nvPr/>
        </p:nvCxnSpPr>
        <p:spPr>
          <a:xfrm flipH="1" rot="-5400000">
            <a:off x="5755191" y="2382506"/>
            <a:ext cx="1178100" cy="324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94" name="Google Shape;594;p44"/>
          <p:cNvSpPr/>
          <p:nvPr/>
        </p:nvSpPr>
        <p:spPr>
          <a:xfrm>
            <a:off x="6266700" y="3805325"/>
            <a:ext cx="2565600" cy="867600"/>
          </a:xfrm>
          <a:prstGeom prst="wedgeRectCallout">
            <a:avLst>
              <a:gd fmla="val -40794" name="adj1"/>
              <a:gd fmla="val -10421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L'area è stata rilasciata,</a:t>
            </a:r>
            <a:br>
              <a:rPr lang="it"/>
            </a:br>
            <a:r>
              <a:rPr lang="it"/>
              <a:t>ma il puntatore rimane!!!</a:t>
            </a:r>
            <a:endParaRPr/>
          </a:p>
        </p:txBody>
      </p:sp>
      <p:pic>
        <p:nvPicPr>
          <p:cNvPr id="595" name="Google Shape;5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8250" y="2273987"/>
            <a:ext cx="919049" cy="91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601" name="Google Shape;601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02" name="Google Shape;602;p45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45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5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605" name="Google Shape;605;p45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5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607" name="Google Shape;607;p45"/>
          <p:cNvSpPr/>
          <p:nvPr/>
        </p:nvSpPr>
        <p:spPr>
          <a:xfrm>
            <a:off x="480648" y="4021356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609" name="Google Shape;609;p45"/>
          <p:cNvSpPr txBox="1"/>
          <p:nvPr/>
        </p:nvSpPr>
        <p:spPr>
          <a:xfrm>
            <a:off x="5695200" y="1261511"/>
            <a:ext cx="2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5634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1" name="Google Shape;611;p45"/>
          <p:cNvSpPr/>
          <p:nvPr/>
        </p:nvSpPr>
        <p:spPr>
          <a:xfrm>
            <a:off x="6006250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2" name="Google Shape;612;p45"/>
          <p:cNvSpPr txBox="1"/>
          <p:nvPr/>
        </p:nvSpPr>
        <p:spPr>
          <a:xfrm>
            <a:off x="5948661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buf</a:t>
            </a:r>
            <a:endParaRPr b="1"/>
          </a:p>
        </p:txBody>
      </p:sp>
      <p:sp>
        <p:nvSpPr>
          <p:cNvPr id="613" name="Google Shape;613;p45"/>
          <p:cNvSpPr/>
          <p:nvPr/>
        </p:nvSpPr>
        <p:spPr>
          <a:xfrm>
            <a:off x="6112791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4" name="Google Shape;614;p45"/>
          <p:cNvCxnSpPr>
            <a:stCxn id="613" idx="4"/>
            <a:endCxn id="615" idx="0"/>
          </p:cNvCxnSpPr>
          <p:nvPr/>
        </p:nvCxnSpPr>
        <p:spPr>
          <a:xfrm flipH="1" rot="-5400000">
            <a:off x="5755191" y="2382506"/>
            <a:ext cx="1178100" cy="324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16" name="Google Shape;616;p45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</a:rPr>
              <a:t>0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622" name="Google Shape;622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3" name="Google Shape;623;p46"/>
          <p:cNvSpPr txBox="1"/>
          <p:nvPr/>
        </p:nvSpPr>
        <p:spPr>
          <a:xfrm>
            <a:off x="429600" y="1151325"/>
            <a:ext cx="36192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int* f(int a)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(a&gt;0)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new int[a];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return nullptr;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 v =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int* buf = f(v);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//process buf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delete[] buf;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46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6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626" name="Google Shape;626;p46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628" name="Google Shape;628;p46"/>
          <p:cNvSpPr/>
          <p:nvPr/>
        </p:nvSpPr>
        <p:spPr>
          <a:xfrm>
            <a:off x="480648" y="4249956"/>
            <a:ext cx="3378300" cy="2226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6"/>
          <p:cNvSpPr txBox="1"/>
          <p:nvPr/>
        </p:nvSpPr>
        <p:spPr>
          <a:xfrm>
            <a:off x="5194886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630" name="Google Shape;630;p46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1" name="Google Shape;631;p46"/>
          <p:cNvSpPr/>
          <p:nvPr/>
        </p:nvSpPr>
        <p:spPr>
          <a:xfrm flipH="1">
            <a:off x="5716521" y="1872525"/>
            <a:ext cx="304500" cy="22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Organizzazione dello spazio di indirizzamento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Codice eseguibile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Contiene le istruzioni in codice macchina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Accesso in lettura ed esecuzione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Costanti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Accesso in sola lettura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Variabili globali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Accesso lettura/scrittura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Contiene indirizzi e valori di ritorno, parametri e variabili locali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Accesso lettura/scrittura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Heap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Insieme di blocchi di memoria disponibili per l’allocazione dinamica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Gestiti tramite funzioni di libreria (malloc, new, free, …) che li frammentano e ricompattano in base alle richieste del programma</a:t>
            </a:r>
            <a:endParaRPr/>
          </a:p>
        </p:txBody>
      </p:sp>
      <p:sp>
        <p:nvSpPr>
          <p:cNvPr id="638" name="Google Shape;638;p4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Organizzazione dello spazio di indirizzamento</a:t>
            </a:r>
            <a:endParaRPr/>
          </a:p>
        </p:txBody>
      </p:sp>
      <p:sp>
        <p:nvSpPr>
          <p:cNvPr id="644" name="Google Shape;64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 sistema operativo Linux, è facile verificare come sia organizzato lo spazio di indirizzamento di un programma in esecuzione (processo)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Ogni processo è identificato univocamente da un numero intero (PID)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ps -ef</a:t>
            </a:r>
            <a:r>
              <a:rPr lang="it"/>
              <a:t> permette di elencare tutti i processi esistenti all'atto della sua esecuzione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sistema operativo crea, per ciascun processo attivo, un file virtuale denominato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/proc/&lt;pid&gt;/maps</a:t>
            </a:r>
            <a:r>
              <a:rPr lang="it"/>
              <a:t> che descrive lo spazio di indirizzamento con informazioni sui diversi segmenti al suo interno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46" name="Google Shape;646;p48"/>
          <p:cNvSpPr txBox="1"/>
          <p:nvPr/>
        </p:nvSpPr>
        <p:spPr>
          <a:xfrm>
            <a:off x="478275" y="3293100"/>
            <a:ext cx="81765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cat /proc/4742/maps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…altre righe…</a:t>
            </a:r>
            <a:endParaRPr i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7f4e3161d000-7f4e3161e000 r-xp 00001000 00:00 3538         /home/user/testmem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7fffc62c6000-7fffc62e7000 rw-p 00000000 00:00 0            [heap]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7fffcdb6d000-7fffce36d000 rw-p 00000000 00:00 0            [stack]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7fffceaee000-7fffceaef000 r-xp 00000000 00:00 0            [vdso]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7" name="Google Shape;6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150" y="167125"/>
            <a:ext cx="985350" cy="9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Ciclo di vita delle variabili</a:t>
            </a:r>
            <a:endParaRPr/>
          </a:p>
        </p:txBody>
      </p:sp>
      <p:sp>
        <p:nvSpPr>
          <p:cNvPr id="653" name="Google Shape;65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modello di esecuzione dei linguaggi C/C++ distingue diverse </a:t>
            </a:r>
            <a:r>
              <a:rPr b="1" lang="it">
                <a:solidFill>
                  <a:srgbClr val="0B5394"/>
                </a:solidFill>
              </a:rPr>
              <a:t>tipologie </a:t>
            </a:r>
            <a:r>
              <a:rPr lang="it"/>
              <a:t>di variabili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Globali, locali, dinamiche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Ciascuna classe ha un proprio </a:t>
            </a:r>
            <a:r>
              <a:rPr b="1" lang="it">
                <a:solidFill>
                  <a:srgbClr val="0B5394"/>
                </a:solidFill>
              </a:rPr>
              <a:t>ciclo di vita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Intervallo di tempo in cui è garantito l'accesso alle informazioni contenute al loro interno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Variabili globali e locali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variabili </a:t>
            </a:r>
            <a:r>
              <a:rPr b="1" lang="it">
                <a:solidFill>
                  <a:srgbClr val="0B5394"/>
                </a:solidFill>
              </a:rPr>
              <a:t>globali </a:t>
            </a:r>
            <a:r>
              <a:rPr lang="it"/>
              <a:t>hanno un indirizzo fisso, determinato dal compilatore e dal linker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Accessibili in ogni momento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All’avvio del programma, contengono l’eventuale valore di inizializzazione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variabili </a:t>
            </a:r>
            <a:r>
              <a:rPr b="1" lang="it">
                <a:solidFill>
                  <a:srgbClr val="0B5394"/>
                </a:solidFill>
              </a:rPr>
              <a:t>locali</a:t>
            </a:r>
            <a:r>
              <a:rPr lang="it"/>
              <a:t> hanno un indirizzo relativo alla cima dello 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Ciclo di vita coincidente con quello della funzione/blocco in cui sono dichiarate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Valore iniziale casuale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Variabili dinamiche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variabili </a:t>
            </a:r>
            <a:r>
              <a:rPr b="1" lang="it">
                <a:solidFill>
                  <a:srgbClr val="0B5394"/>
                </a:solidFill>
              </a:rPr>
              <a:t>dinamiche </a:t>
            </a:r>
            <a:r>
              <a:rPr lang="it"/>
              <a:t>hanno un indirizzo assoluto, determinato in fase di esecuzione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Accessibili solo tramite puntatori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programmatore ne controlla il ciclo di vita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valore iniziale può essere inizializzato o meno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L'uso di questo tipo di variabili presuppone un'infrastruttura di supporto che offra meccanismi di allocazione e di rilascio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Fornita dalla libreria di esecuzione e dal S.O.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Allocazione della memoria</a:t>
            </a:r>
            <a:endParaRPr/>
          </a:p>
        </p:txBody>
      </p:sp>
      <p:sp>
        <p:nvSpPr>
          <p:cNvPr id="674" name="Google Shape;67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libreria standard C offre vari meccanismi per ottenere l'indirizzo di un blocco allocato dinamicamente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void *malloc(size_t s)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void *calloc(int n, size_t s)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void *realloc(void* p, size_t s)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caso di fallimento, viene restituito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realloc(…)</a:t>
            </a:r>
            <a:r>
              <a:rPr lang="it"/>
              <a:t> fallisce, il blocco originale non viene toccato e il puntatore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it"/>
              <a:t> resta valido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C++ viene definito il costrutto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new NomeTipo{argomenti…}</a:t>
            </a:r>
            <a:endParaRPr/>
          </a:p>
        </p:txBody>
      </p:sp>
      <p:sp>
        <p:nvSpPr>
          <p:cNvPr id="675" name="Google Shape;675;p5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Rilascio della memoria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Opportune funzioni di libreria permettono di restituire i blocchi precedentemente allocati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Procedendo alla loro compattazione, se possibile, attraverso opportuni meccanismi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Poiché ogni funzione di allocazione mantiene le proprie strutture dati, occorre che un blocco sia rilasciato dalla </a:t>
            </a:r>
            <a:r>
              <a:rPr b="1" lang="it">
                <a:solidFill>
                  <a:srgbClr val="0B5394"/>
                </a:solidFill>
              </a:rPr>
              <a:t>funzione duale</a:t>
            </a:r>
            <a:r>
              <a:rPr lang="it"/>
              <a:t> di quella con cui è stato allocato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malloc(…) / free(…), new / delete, new …[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num_elements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] / delete[ ]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il blocco non viene rilasciato si crea una perdita di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Che, a lungo andare, provoca l'esaurimento dello spazio di indirizzamento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il blocco viene rilasciato più volte o viene rilasciato con la funzione sbagliata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corrompono le strutture dati degli allocatori, con conseguenze imprevedibili</a:t>
            </a:r>
            <a:endParaRPr/>
          </a:p>
        </p:txBody>
      </p:sp>
      <p:sp>
        <p:nvSpPr>
          <p:cNvPr id="682" name="Google Shape;682;p5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Puntatori</a:t>
            </a:r>
            <a:endParaRPr/>
          </a:p>
        </p:txBody>
      </p:sp>
      <p:sp>
        <p:nvSpPr>
          <p:cNvPr id="688" name="Google Shape;688;p5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89" name="Google Shape;68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disponibilità di uno spazio di allocazione dinamico abilita l'implementazione di una vasta gamma di algoritmi e strutture dati che altrimenti risulterebbero di difficile implementazione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Tuttavia implica che il programmatore gestisca esplicitamente l'allocazione ed il rilascio dei blocchi al loro interno e ne manipoli il contenuto attraverso l'uso dei puntatori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puntatori sono uno strumento al tempo stesso estremamente potente ed estremamente pericoloso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loro utilizzo espone infatti il programmatore ad una vasta gamma di errori, le cui conseguenze portano - nella maggior parte dei casi - a </a:t>
            </a:r>
            <a:r>
              <a:rPr b="1" lang="it">
                <a:solidFill>
                  <a:srgbClr val="0B5394"/>
                </a:solidFill>
              </a:rPr>
              <a:t>comportamenti non definiti</a:t>
            </a:r>
            <a:r>
              <a:rPr lang="it"/>
              <a:t> (undefined behavior), le cui conseguenze sono disastrose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Puntatori in Java</a:t>
            </a:r>
            <a:endParaRPr/>
          </a:p>
        </p:txBody>
      </p:sp>
      <p:sp>
        <p:nvSpPr>
          <p:cNvPr id="695" name="Google Shape;695;p55"/>
          <p:cNvSpPr/>
          <p:nvPr/>
        </p:nvSpPr>
        <p:spPr>
          <a:xfrm>
            <a:off x="5264100" y="1803550"/>
            <a:ext cx="3568200" cy="360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5"/>
          <p:cNvSpPr txBox="1"/>
          <p:nvPr/>
        </p:nvSpPr>
        <p:spPr>
          <a:xfrm>
            <a:off x="4486325" y="178375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697" name="Google Shape;697;p55"/>
          <p:cNvSpPr/>
          <p:nvPr/>
        </p:nvSpPr>
        <p:spPr>
          <a:xfrm>
            <a:off x="5264100" y="3133900"/>
            <a:ext cx="3568200" cy="360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5"/>
          <p:cNvSpPr txBox="1"/>
          <p:nvPr/>
        </p:nvSpPr>
        <p:spPr>
          <a:xfrm>
            <a:off x="4486325" y="309430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699" name="Google Shape;699;p55"/>
          <p:cNvSpPr/>
          <p:nvPr/>
        </p:nvSpPr>
        <p:spPr>
          <a:xfrm>
            <a:off x="5264709" y="180355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0" name="Google Shape;700;p55"/>
          <p:cNvSpPr txBox="1"/>
          <p:nvPr/>
        </p:nvSpPr>
        <p:spPr>
          <a:xfrm>
            <a:off x="5194886" y="1267050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</a:t>
            </a:r>
            <a:endParaRPr/>
          </a:p>
        </p:txBody>
      </p:sp>
      <p:sp>
        <p:nvSpPr>
          <p:cNvPr id="701" name="Google Shape;701;p55"/>
          <p:cNvSpPr txBox="1"/>
          <p:nvPr/>
        </p:nvSpPr>
        <p:spPr>
          <a:xfrm>
            <a:off x="420100" y="1806050"/>
            <a:ext cx="36192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var al = new ArrayList&lt;String&gt;();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al.add("Uno");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al.add("Due");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al.add("Tre");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55"/>
          <p:cNvSpPr/>
          <p:nvPr/>
        </p:nvSpPr>
        <p:spPr>
          <a:xfrm>
            <a:off x="5643756" y="1803525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3" name="Google Shape;703;p55"/>
          <p:cNvSpPr txBox="1"/>
          <p:nvPr/>
        </p:nvSpPr>
        <p:spPr>
          <a:xfrm>
            <a:off x="5586167" y="1261511"/>
            <a:ext cx="4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al</a:t>
            </a:r>
            <a:endParaRPr b="1"/>
          </a:p>
        </p:txBody>
      </p:sp>
      <p:sp>
        <p:nvSpPr>
          <p:cNvPr id="704" name="Google Shape;704;p55"/>
          <p:cNvSpPr/>
          <p:nvPr/>
        </p:nvSpPr>
        <p:spPr>
          <a:xfrm>
            <a:off x="6320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5" name="Google Shape;705;p55"/>
          <p:cNvSpPr/>
          <p:nvPr/>
        </p:nvSpPr>
        <p:spPr>
          <a:xfrm>
            <a:off x="6692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6" name="Google Shape;706;p55"/>
          <p:cNvSpPr/>
          <p:nvPr/>
        </p:nvSpPr>
        <p:spPr>
          <a:xfrm>
            <a:off x="5750297" y="181745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7" name="Google Shape;707;p55"/>
          <p:cNvCxnSpPr>
            <a:stCxn id="706" idx="4"/>
            <a:endCxn id="704" idx="0"/>
          </p:cNvCxnSpPr>
          <p:nvPr/>
        </p:nvCxnSpPr>
        <p:spPr>
          <a:xfrm flipH="1" rot="-5400000">
            <a:off x="5574047" y="2201156"/>
            <a:ext cx="1178100" cy="6873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08" name="Google Shape;708;p55"/>
          <p:cNvSpPr/>
          <p:nvPr/>
        </p:nvSpPr>
        <p:spPr>
          <a:xfrm>
            <a:off x="70646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9" name="Google Shape;709;p55"/>
          <p:cNvSpPr/>
          <p:nvPr/>
        </p:nvSpPr>
        <p:spPr>
          <a:xfrm>
            <a:off x="5502125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1"/>
                </a:solidFill>
              </a:rPr>
              <a:t>Due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10" name="Google Shape;710;p55"/>
          <p:cNvSpPr/>
          <p:nvPr/>
        </p:nvSpPr>
        <p:spPr>
          <a:xfrm>
            <a:off x="762375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1"/>
                </a:solidFill>
              </a:rPr>
              <a:t>Tre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11" name="Google Shape;711;p55"/>
          <p:cNvSpPr/>
          <p:nvPr/>
        </p:nvSpPr>
        <p:spPr>
          <a:xfrm>
            <a:off x="8285600" y="3133900"/>
            <a:ext cx="372000" cy="360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chemeClr val="dk1"/>
                </a:solidFill>
              </a:rPr>
              <a:t>Uno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12" name="Google Shape;712;p55"/>
          <p:cNvSpPr/>
          <p:nvPr/>
        </p:nvSpPr>
        <p:spPr>
          <a:xfrm>
            <a:off x="6412147" y="313390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3" name="Google Shape;713;p55"/>
          <p:cNvCxnSpPr>
            <a:stCxn id="712" idx="4"/>
            <a:endCxn id="711" idx="2"/>
          </p:cNvCxnSpPr>
          <p:nvPr/>
        </p:nvCxnSpPr>
        <p:spPr>
          <a:xfrm flipH="1" rot="-5400000">
            <a:off x="7365247" y="2388256"/>
            <a:ext cx="222300" cy="1990200"/>
          </a:xfrm>
          <a:prstGeom prst="curvedConnector3">
            <a:avLst>
              <a:gd fmla="val 39226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14" name="Google Shape;714;p55"/>
          <p:cNvSpPr/>
          <p:nvPr/>
        </p:nvSpPr>
        <p:spPr>
          <a:xfrm>
            <a:off x="6809363" y="313390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5" name="Google Shape;715;p55"/>
          <p:cNvCxnSpPr>
            <a:stCxn id="714" idx="4"/>
            <a:endCxn id="709" idx="2"/>
          </p:cNvCxnSpPr>
          <p:nvPr/>
        </p:nvCxnSpPr>
        <p:spPr>
          <a:xfrm rot="5400000">
            <a:off x="6172163" y="2788156"/>
            <a:ext cx="222300" cy="1190400"/>
          </a:xfrm>
          <a:prstGeom prst="curvedConnector3">
            <a:avLst>
              <a:gd fmla="val 20711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16" name="Google Shape;716;p55"/>
          <p:cNvSpPr/>
          <p:nvPr/>
        </p:nvSpPr>
        <p:spPr>
          <a:xfrm>
            <a:off x="7169829" y="3133906"/>
            <a:ext cx="138300" cy="138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7" name="Google Shape;717;p55"/>
          <p:cNvCxnSpPr>
            <a:stCxn id="716" idx="4"/>
            <a:endCxn id="710" idx="2"/>
          </p:cNvCxnSpPr>
          <p:nvPr/>
        </p:nvCxnSpPr>
        <p:spPr>
          <a:xfrm flipH="1" rot="-5400000">
            <a:off x="7413279" y="3097906"/>
            <a:ext cx="222300" cy="570900"/>
          </a:xfrm>
          <a:prstGeom prst="curvedConnector3">
            <a:avLst>
              <a:gd fmla="val 20711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18" name="Google Shape;718;p5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costo del rilascio automatico</a:t>
            </a:r>
            <a:endParaRPr/>
          </a:p>
        </p:txBody>
      </p:sp>
      <p:sp>
        <p:nvSpPr>
          <p:cNvPr id="724" name="Google Shape;72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linguaggi gestiti, come Java, JavaScript, Python, C#, … gestiscono automaticamente il rilascio dei blocchi di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farlo, tengono traccia di chi punta a chi altro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Se, a partire dalle variabili presenti nello stack, un blocco non risulta più raggiungibile, questo può essere liberato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poter applicare questo algoritmo occorre "fermare il mondo"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Ovvero sospendere temporaneamente l'esecuzione del programma intero per poter osservare una situazione statica e procedere con la compattazione dello heap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può comportare lo spostamento di blocchi e il cambiamento del valore contenuto nei rispettivi puntatori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L'operazione di rilascio può comportare pause non deterministiche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Talvolta incompatibili con contesti di esecuzione in  tempo reale</a:t>
            </a:r>
            <a:endParaRPr/>
          </a:p>
        </p:txBody>
      </p:sp>
      <p:sp>
        <p:nvSpPr>
          <p:cNvPr id="725" name="Google Shape;725;p5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Puntatori in C / C++</a:t>
            </a:r>
            <a:endParaRPr/>
          </a:p>
        </p:txBody>
      </p:sp>
      <p:sp>
        <p:nvSpPr>
          <p:cNvPr id="731" name="Google Shape;73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Permettono l’accesso diretto ad un blocco di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Tale blocco può appartenere ad altri oggetti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 A=10;  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int* pA = &amp;A;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Essere allocato allo scopo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int* pB = new int{24};</a:t>
            </a:r>
            <a:r>
              <a:rPr lang="it"/>
              <a:t>  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Possono essere esplicitamente invalidi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valore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NULL ⇒ ((void *)0)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parola-chiave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nullptr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(C++11 e superiori)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Quando si usano i puntatori, occorre stabilire quali responsabilità/permessi sono associati al loro uso</a:t>
            </a:r>
            <a:endParaRPr/>
          </a:p>
        </p:txBody>
      </p:sp>
      <p:sp>
        <p:nvSpPr>
          <p:cNvPr id="732" name="Google Shape;732;p5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Le ambiguità dei puntatori in C / C++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Contiene un indirizzo valido?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Quanto è grosso il blocco puntato?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Fino a quando è garantito l’accesso?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ne può modificare il contenuto?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Occorre rilasciarlo?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Lo si può rilasciare o altri conoscono lo stesso indirizzo?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Viene usato come modo per esprimere l'opzionalità del dato?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40" name="Google Shape;7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222513"/>
            <a:ext cx="1017726" cy="101772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8"/>
          <p:cNvSpPr/>
          <p:nvPr/>
        </p:nvSpPr>
        <p:spPr>
          <a:xfrm>
            <a:off x="345400" y="3985975"/>
            <a:ext cx="8520600" cy="50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In C/C++ il programmatore è responsabile; in Rust la responsabilità è codificata nel sistema dei tipi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Problemi legati ai puntatori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C, la gestione della memoria è totalmente affidata al programmatore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ci sono supporti sintattici per automatizzare il ciclo di vita del blocco puntato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Né meccanismi per associare una specifica semantica al puntatore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C++ sono state introdotte nuove astrazioni (riferimenti, smart pointer) che sollevano il programmatore da alcune responsabilità, facilitando la creazione di programmi più robusti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 richiedono in ogni caso una comprensione approfondita del problema e l'uso attento e coerente dei puntatori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Responsabilità del programmatore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Limitare gli accessi ad un blocco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Nello spazio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it"/>
              <a:t>Non accedere alle locazioni che lo precedono o che lo seguono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 tempo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it"/>
              <a:t>Non accedere al blocco al di fuori del suo ciclo di vita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assegnare a puntatori valori che corrispondono ad indirizzi non mappati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Possibile nel caso di </a:t>
            </a:r>
            <a:r>
              <a:rPr i="1" lang="it"/>
              <a:t>cast </a:t>
            </a:r>
            <a:r>
              <a:rPr lang="it"/>
              <a:t>o di assegnazione improprie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Rilasciare tutta la memoria dinamica allocata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e una sola volta, usando la funzione duale di quella usata per la sua allocazione</a:t>
            </a:r>
            <a:endParaRPr/>
          </a:p>
        </p:txBody>
      </p:sp>
      <p:sp>
        <p:nvSpPr>
          <p:cNvPr id="755" name="Google Shape;755;p6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56" name="Google Shape;75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6075" y="221400"/>
            <a:ext cx="1019976" cy="101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Rischi</a:t>
            </a:r>
            <a:endParaRPr/>
          </a:p>
        </p:txBody>
      </p:sp>
      <p:sp>
        <p:nvSpPr>
          <p:cNvPr id="762" name="Google Shape;76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Accedere ad un indirizzo quando il corrispondente ciclo di vita è terminato, ha </a:t>
            </a:r>
            <a:r>
              <a:rPr b="1" lang="it">
                <a:solidFill>
                  <a:srgbClr val="0B5394"/>
                </a:solidFill>
              </a:rPr>
              <a:t>effetti impredicibili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it" u="sng">
                <a:solidFill>
                  <a:schemeClr val="hlink"/>
                </a:solidFill>
                <a:hlinkClick r:id="rId3"/>
              </a:rPr>
              <a:t>Dangling pointer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memoria indirizzata può essere inutilizzata, in uso ad altre parti del programma o non mappata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rilasciare la memoria non più in uso, </a:t>
            </a:r>
            <a:r>
              <a:rPr b="1" lang="it">
                <a:solidFill>
                  <a:srgbClr val="0B5394"/>
                </a:solidFill>
              </a:rPr>
              <a:t>spreca risorse</a:t>
            </a:r>
            <a:r>
              <a:rPr lang="it"/>
              <a:t> del sistema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Char char="○"/>
            </a:pPr>
            <a:r>
              <a:rPr b="1" i="1" lang="it">
                <a:solidFill>
                  <a:srgbClr val="0B5394"/>
                </a:solidFill>
              </a:rPr>
              <a:t>Memory leakage</a:t>
            </a:r>
            <a:endParaRPr b="1" i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si continua ad allocare senza mai rilasciare, si può saturare lo spazio di indirizzamento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Rilasciare la memoria più volte</a:t>
            </a:r>
            <a:r>
              <a:rPr b="1" lang="it">
                <a:solidFill>
                  <a:srgbClr val="0B5394"/>
                </a:solidFill>
              </a:rPr>
              <a:t> corrompe le strutture</a:t>
            </a:r>
            <a:r>
              <a:rPr lang="it"/>
              <a:t> usate dallo heap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it">
                <a:solidFill>
                  <a:srgbClr val="0B5394"/>
                </a:solidFill>
              </a:rPr>
              <a:t>Double free</a:t>
            </a:r>
            <a:endParaRPr i="1"/>
          </a:p>
        </p:txBody>
      </p:sp>
      <p:sp>
        <p:nvSpPr>
          <p:cNvPr id="763" name="Google Shape;763;p6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64" name="Google Shape;76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7225" y="146313"/>
            <a:ext cx="1017726" cy="10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Rischi</a:t>
            </a:r>
            <a:endParaRPr/>
          </a:p>
        </p:txBody>
      </p:sp>
      <p:sp>
        <p:nvSpPr>
          <p:cNvPr id="770" name="Google Shape;77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si assegna ad un puntatore un indirizzo non mappato nello spazio di indirizzamento e si usa quel puntatore, viene generata una</a:t>
            </a:r>
            <a:r>
              <a:rPr b="1" lang="it">
                <a:solidFill>
                  <a:srgbClr val="0B5394"/>
                </a:solidFill>
              </a:rPr>
              <a:t> interruzione del processore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S.O. intercetta tale interruzione e termina il processo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non si inizializza un puntatore e lo si usa, il suo contenuto potrebbe </a:t>
            </a:r>
            <a:r>
              <a:rPr b="1" lang="it">
                <a:solidFill>
                  <a:srgbClr val="0B5394"/>
                </a:solidFill>
              </a:rPr>
              <a:t>puntare ovunque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Char char="○"/>
            </a:pPr>
            <a:r>
              <a:rPr b="1" i="1" lang="it">
                <a:solidFill>
                  <a:srgbClr val="0B5394"/>
                </a:solidFill>
              </a:rPr>
              <a:t>Wild pointer</a:t>
            </a:r>
            <a:endParaRPr b="1" i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causare una violazione di accesso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corrompere un'area di memoria in uso ad altre parti del programma</a:t>
            </a:r>
            <a:endParaRPr/>
          </a:p>
        </p:txBody>
      </p:sp>
      <p:sp>
        <p:nvSpPr>
          <p:cNvPr id="771" name="Google Shape;771;p6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72" name="Google Shape;7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225" y="146313"/>
            <a:ext cx="1017726" cy="10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Problemi dei puntatori in C/C++</a:t>
            </a:r>
            <a:endParaRPr/>
          </a:p>
        </p:txBody>
      </p:sp>
      <p:sp>
        <p:nvSpPr>
          <p:cNvPr id="778" name="Google Shape;778;p6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79" name="Google Shape;779;p63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{D77602D8-39B5-40AC-80FE-D487C74DA6AF}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Conseguenza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dangling / wild pointer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crash / UB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 free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corruzione heap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esaurimento della memoria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race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risultati casuali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risposte di Rust</a:t>
            </a:r>
            <a:endParaRPr/>
          </a:p>
        </p:txBody>
      </p:sp>
      <p:sp>
        <p:nvSpPr>
          <p:cNvPr id="785" name="Google Shape;785;p6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86" name="Google Shape;786;p6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{D77602D8-39B5-40AC-80FE-D487C74DA6AF}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 C / C++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Strumento Rust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dangling / wild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 checker + tempo di vita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 free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gestione del possesso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 RAII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nullptr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Option&lt;T&gt;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gestione del rilascio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tipi Box&lt;T&gt; / RC&lt;T&gt; / Arc&lt;T&gt;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Gestire i puntatori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Chi alloca un blocco di memoria è </a:t>
            </a:r>
            <a:r>
              <a:rPr b="1" lang="it">
                <a:solidFill>
                  <a:srgbClr val="0B5394"/>
                </a:solidFill>
              </a:rPr>
              <a:t>responsabile</a:t>
            </a:r>
            <a:r>
              <a:rPr lang="it"/>
              <a:t> di mettere in atto un meccanismo che ne garantisca il successivo </a:t>
            </a:r>
            <a:r>
              <a:rPr b="1" lang="it">
                <a:solidFill>
                  <a:srgbClr val="0B5394"/>
                </a:solidFill>
              </a:rPr>
              <a:t>rilascio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Viene detto “possessore” del blocco</a:t>
            </a:r>
            <a:br>
              <a:rPr lang="it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Cosa capita se si effettua una </a:t>
            </a:r>
            <a:r>
              <a:rPr b="1" lang="it">
                <a:solidFill>
                  <a:srgbClr val="0B5394"/>
                </a:solidFill>
              </a:rPr>
              <a:t>copia</a:t>
            </a:r>
            <a:r>
              <a:rPr lang="it"/>
              <a:t> di un puntatore?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secondo puntatore si trova coinvolto, suo malgrado, nel ciclo di vita del dato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Occorre introdurre un meccanismo per gestire efficacemente la semantica di un puntatore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Possesso della memoria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vincolo di rilascio risulta problematico per via dell'</a:t>
            </a:r>
            <a:r>
              <a:rPr b="1" lang="it">
                <a:solidFill>
                  <a:srgbClr val="0B5394"/>
                </a:solidFill>
              </a:rPr>
              <a:t>ambiguità</a:t>
            </a:r>
            <a:r>
              <a:rPr lang="it"/>
              <a:t> del concetto di puntatore all'interno del linguaggio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Dato un indirizzo non nullo, non è possibile distinguere se sia </a:t>
            </a:r>
            <a:r>
              <a:rPr b="1" lang="it">
                <a:solidFill>
                  <a:srgbClr val="0B5394"/>
                </a:solidFill>
              </a:rPr>
              <a:t>valido o meno</a:t>
            </a:r>
            <a:r>
              <a:rPr lang="it"/>
              <a:t>, né  </a:t>
            </a:r>
            <a:r>
              <a:rPr b="1" lang="it">
                <a:solidFill>
                  <a:srgbClr val="0B5394"/>
                </a:solidFill>
              </a:rPr>
              <a:t>a quale area appartenga</a:t>
            </a:r>
            <a:r>
              <a:rPr lang="it"/>
              <a:t>, né se occorra o meno </a:t>
            </a:r>
            <a:r>
              <a:rPr b="1" lang="it">
                <a:solidFill>
                  <a:srgbClr val="0B5394"/>
                </a:solidFill>
              </a:rPr>
              <a:t>rilasciarlo</a:t>
            </a:r>
            <a:r>
              <a:rPr lang="it"/>
              <a:t> 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volta in cui si alloca un blocco dinamico e se ne salva l'indirizzo in una variabile puntatore, quella variabile diventa </a:t>
            </a:r>
            <a:r>
              <a:rPr b="1" lang="it">
                <a:solidFill>
                  <a:srgbClr val="0B5394"/>
                </a:solidFill>
              </a:rPr>
              <a:t>proprietaria </a:t>
            </a:r>
            <a:r>
              <a:rPr lang="it"/>
              <a:t>del blocco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Ha la responsabilità di </a:t>
            </a:r>
            <a:r>
              <a:rPr b="1" lang="it">
                <a:solidFill>
                  <a:srgbClr val="0B5394"/>
                </a:solidFill>
              </a:rPr>
              <a:t>liberarlo</a:t>
            </a:r>
            <a:endParaRPr b="1">
              <a:solidFill>
                <a:srgbClr val="0B5394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Possesso della memoria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tutti i puntatori posseggono il blocco a cui puntano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ad un puntatore viene assegnato l'indirizzo di un'altra variabile, la proprietà è della libreria di esecuzione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problema si complica se un puntatore che possiede il proprio blocco viene copiato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Quale delle due copie è responsabile del rilascio?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Dipendenze</a:t>
            </a:r>
            <a:endParaRPr/>
          </a:p>
        </p:txBody>
      </p:sp>
      <p:sp>
        <p:nvSpPr>
          <p:cNvPr id="813" name="Google Shape;813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Quando si introducono strutture dati complesse, è comune che tali strutture debbano appoggiarsi a blocchi di memoria ausiliari in cui memorizzare le informazioni che esse gestiscono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std::vector&lt;T&gt;</a:t>
            </a:r>
            <a:r>
              <a:rPr lang="it"/>
              <a:t>, in C++, incapsula un array dinamico di dati di tipo generico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: tali dati possono essere aggiunti, rimossi, sostituiti, … tramite opportuni metodi sull'oggetto stesso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Tali blocchi ausiliari sono di proprietà dell'oggetto: vengono gestiti dai suoi metodi e devono essere rilasciati quando l'oggetto viene distrutto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Analogamente, altre strutture dati possono mantenere riferimenti a oggetti del sistema operativo (handle a file, socket, timer,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Anche in questo caso le risorse corrispondenti risultano di proprietà dell'oggetto che le gestisce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Collettivamente, questi tipi di dato prendono il nome di </a:t>
            </a:r>
            <a:r>
              <a:rPr b="1" lang="it">
                <a:solidFill>
                  <a:srgbClr val="0B5394"/>
                </a:solidFill>
              </a:rPr>
              <a:t>dipendenze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14" name="Google Shape;814;p6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Dipendenze</a:t>
            </a:r>
            <a:endParaRPr/>
          </a:p>
        </p:txBody>
      </p:sp>
      <p:sp>
        <p:nvSpPr>
          <p:cNvPr id="820" name="Google Shape;820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linguaggio C non offre nessun supporto sintattico per la gestione delle dipendenze e lascia al programmatore la completa responsabilità della loro gestione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 contrario, il linguaggio C++ offre, per gli oggetti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it"/>
              <a:t>,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union</a:t>
            </a:r>
            <a:r>
              <a:rPr lang="it"/>
              <a:t> (!), la possibilità di specificare particolari funzioni membro dette rispettivamente </a:t>
            </a:r>
            <a:r>
              <a:rPr b="1" lang="it">
                <a:solidFill>
                  <a:srgbClr val="0B5394"/>
                </a:solidFill>
              </a:rPr>
              <a:t>costruttori </a:t>
            </a:r>
            <a:r>
              <a:rPr lang="it"/>
              <a:t>e </a:t>
            </a:r>
            <a:r>
              <a:rPr b="1" lang="it">
                <a:solidFill>
                  <a:srgbClr val="0B5394"/>
                </a:solidFill>
              </a:rPr>
              <a:t>distruttori</a:t>
            </a:r>
            <a:endParaRPr b="1">
              <a:solidFill>
                <a:srgbClr val="0B539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costruttore è una funzione membro che ha il compito di inizializzare un oggetto, provvedendo ad acquisire - se necessario - le sue dipendenze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distruttore è una funzione membro che viene invocata automaticamente dal compilatore quando l'oggetto raggiunge la fine della propria esistenza ed ha il compito di rilasciare correttamente le dipendenze possedute dall'oggetto stesso</a:t>
            </a:r>
            <a:endParaRPr/>
          </a:p>
        </p:txBody>
      </p:sp>
      <p:sp>
        <p:nvSpPr>
          <p:cNvPr id="821" name="Google Shape;821;p6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 non basta scrivere un programma "giusto"?</a:t>
            </a:r>
            <a:endParaRPr/>
          </a:p>
        </p:txBody>
      </p: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Sì, basterebbe se fosse possibile essere certi che lo è!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realtà le cose sono molto più complesse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Raramente i programmi sono scritti da una singola persona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lo più si appoggiano a librerie scritte da altri che hanno fatto opportune assunzioni su come debbano essere utilizzate, ma non è detto che tali assunzioni siano rispettate né (talvolta) conosciute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Spesso si lavora in gruppo e la comunicazione è imperfetta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Al crescere della dimensione del programma, la quantità di particolari a cui occorre badare cresce molto più in fretta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Ed è estremamente probabile dimenticarsi delle proprie assunzioni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70% delle vulnerabilità rilevate all'interno di Windows sono dovute a problemi di gestione della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https://en.wikipedia.org/wiki/Memory_safety</a:t>
            </a:r>
            <a:r>
              <a:rPr lang="it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828" name="Google Shape;828;p7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questo problema non si verifica in altri linguaggi?</a:t>
            </a:r>
            <a:endParaRPr/>
          </a:p>
        </p:txBody>
      </p:sp>
      <p:sp>
        <p:nvSpPr>
          <p:cNvPr id="834" name="Google Shape;834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Nella maggior parte dei linguaggi di alto livello il problema della gestione della memoria non si pone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Pur  offrendo, a vario titolo, il concetto di puntatore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Java, C#, Python, JavaScript, …,  basano il proprio meccanismo di rilascio su un algoritmo di </a:t>
            </a:r>
            <a:r>
              <a:rPr b="1" lang="it">
                <a:solidFill>
                  <a:srgbClr val="0B5394"/>
                </a:solidFill>
              </a:rPr>
              <a:t>Garbage Collection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 libera il programmatore dalla responsabilità di rilasciare esplicitamente la memoria dinamica allocata, in cambio della perdita di controllo su </a:t>
            </a:r>
            <a:r>
              <a:rPr b="1" lang="it">
                <a:solidFill>
                  <a:srgbClr val="0B5394"/>
                </a:solidFill>
              </a:rPr>
              <a:t>quando </a:t>
            </a:r>
            <a:r>
              <a:rPr lang="it"/>
              <a:t>e </a:t>
            </a:r>
            <a:r>
              <a:rPr b="1" lang="it">
                <a:solidFill>
                  <a:srgbClr val="0B5394"/>
                </a:solidFill>
              </a:rPr>
              <a:t>come</a:t>
            </a:r>
            <a:r>
              <a:rPr lang="it"/>
              <a:t> tale rilascio avvenga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maggior parte di tali linguaggi basa la propria strategia di gestione della memoria su una combinazione dei seguenti algoritmi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Reference counting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Mark and Sweep</a:t>
            </a:r>
            <a:endParaRPr/>
          </a:p>
        </p:txBody>
      </p:sp>
      <p:sp>
        <p:nvSpPr>
          <p:cNvPr id="835" name="Google Shape;835;p7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Confronto</a:t>
            </a:r>
            <a:endParaRPr/>
          </a:p>
        </p:txBody>
      </p:sp>
      <p:sp>
        <p:nvSpPr>
          <p:cNvPr id="841" name="Google Shape;841;p7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Gestione manuale in C/C++</a:t>
            </a:r>
            <a:endParaRPr b="1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rilascio avviene invocando 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free()</a:t>
            </a:r>
            <a:r>
              <a:rPr lang="it"/>
              <a:t> o l'operatore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momento in cui avviene il rilascio è controllato dal programmatore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C++, gli oggetti dispongono di un distruttore che gestisce il rilascio esplicito delle dipendenze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rilascio non comporta tempi supplementari di attesa, che sarebbero incompatibili con i sistemi in tempo reale 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Si possono verificare memory leak, doppi rilasci, dangling pointer, wild pointer,...</a:t>
            </a:r>
            <a:endParaRPr/>
          </a:p>
        </p:txBody>
      </p:sp>
      <p:sp>
        <p:nvSpPr>
          <p:cNvPr id="842" name="Google Shape;842;p7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3" name="Google Shape;843;p7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Gestione automatica (Java/C#/Python/Js)</a:t>
            </a:r>
            <a:endParaRPr b="1"/>
          </a:p>
          <a:p>
            <a:pPr indent="-31496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rilascio è eseguito automaticamente dal garbage collector</a:t>
            </a:r>
            <a:endParaRPr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momento in cui avviene il rilascio è controllato dal garbage collector, che viene eseguito periodicamente</a:t>
            </a:r>
            <a:endParaRPr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concetto di distruttore non è parte del linguaggio (ecc. Java, con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finalize()</a:t>
            </a:r>
            <a:r>
              <a:rPr lang="it"/>
              <a:t> ora deprecato)</a:t>
            </a:r>
            <a:endParaRPr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Quando si attiva la garbage collection, il programma si arresta fino al termine dell'algoritmo, mettendo a rischio il funzionamento di un sistema in tempo reale</a:t>
            </a:r>
            <a:endParaRPr/>
          </a:p>
          <a:p>
            <a:pPr indent="-3149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Non possono verificarsi errori sulla gestione della memoria</a:t>
            </a:r>
            <a:endParaRPr/>
          </a:p>
        </p:txBody>
      </p:sp>
      <p:pic>
        <p:nvPicPr>
          <p:cNvPr id="844" name="Google Shape;84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3174" y="94875"/>
            <a:ext cx="857976" cy="85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Prossime lezioni: possesso = modello tipizzato di heap/stack</a:t>
            </a:r>
            <a:endParaRPr/>
          </a:p>
        </p:txBody>
      </p:sp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Rilascio automatico una e una sola volta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Impossibilità di creare puntatori dangling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Nessun costo in cicli macchina</a:t>
            </a:r>
            <a:endParaRPr/>
          </a:p>
        </p:txBody>
      </p:sp>
      <p:sp>
        <p:nvSpPr>
          <p:cNvPr id="851" name="Google Shape;851;p7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852" name="Google Shape;8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249" y="1152475"/>
            <a:ext cx="1871925" cy="18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2000">
                <a:solidFill>
                  <a:srgbClr val="1F2328"/>
                </a:solidFill>
                <a:highlight>
                  <a:srgbClr val="FFFFFF"/>
                </a:highlight>
              </a:rPr>
              <a:t>Memory Management Algorithms and Implementation in C/C++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Bill Blunden, Wordware Publishing, Inc., 2003, ISBN 1-55622-347-1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Trattazione esaustiva, anche se datata, dei diversi algoritmi di allocazione della memoria, con i relativi limiti e prestazioni 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2000">
                <a:solidFill>
                  <a:srgbClr val="1F2328"/>
                </a:solidFill>
                <a:highlight>
                  <a:srgbClr val="FFFFFF"/>
                </a:highlight>
              </a:rPr>
              <a:t>Understanding the Memory Layout of Linux Executables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https://gist.github.com/CMCDragonkai/10ab53654b2aa6ce55c11cfc5b2432a4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Approfondimento sulla struttura di un processo in Linux</a:t>
            </a:r>
            <a:endParaRPr/>
          </a:p>
          <a:p>
            <a:pPr indent="-3429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2000">
                <a:solidFill>
                  <a:srgbClr val="1F2328"/>
                </a:solidFill>
                <a:highlight>
                  <a:srgbClr val="FFFFFF"/>
                </a:highlight>
              </a:rPr>
              <a:t>How to Manage Memory with Python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https://www.squash.io/how-to-manage-memory-with-python/</a:t>
            </a:r>
            <a:r>
              <a:rPr lang="it"/>
              <a:t>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Descrizione dei meccanismi utilizzati dagli interpreti Python per la gestione della memoria</a:t>
            </a:r>
            <a:endParaRPr/>
          </a:p>
        </p:txBody>
      </p:sp>
      <p:sp>
        <p:nvSpPr>
          <p:cNvPr id="859" name="Google Shape;859;p7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860" name="Google Shape;860;p74"/>
          <p:cNvPicPr preferRelativeResize="0"/>
          <p:nvPr/>
        </p:nvPicPr>
        <p:blipFill rotWithShape="1">
          <a:blip r:embed="rId5">
            <a:alphaModFix/>
          </a:blip>
          <a:srcRect b="18805" l="17234" r="17234" t="18799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