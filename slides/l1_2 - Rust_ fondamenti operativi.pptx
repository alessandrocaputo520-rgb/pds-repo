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42ff6140c_1_20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42ff6140c_1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673e199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673e199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673e1994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673e1994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73e1994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73e1994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673e1994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673e1994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673e19940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c673e1994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673e19940_0_6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673e1994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673e19940_0_11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673e1994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673e19940_0_1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673e1994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673e19940_0_16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673e1994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673e19940_0_17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673e1994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673e19940_0_18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673e1994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673e19940_0_21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673e1994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673e19940_0_51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673e19940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673e19940_0_51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673e19940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673e19940_0_55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673e19940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673e19940_0_59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c673e19940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673e19940_0_64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673e19940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673e19940_0_70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673e19940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673e19940_0_22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c673e19940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673e19940_0_26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c673e19940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673e19940_0_30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c673e19940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673e19940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c673e1994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c673e19940_0_38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c673e19940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673e19940_0_39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c673e19940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673e19940_0_33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c673e19940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673e19940_0_34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c673e19940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673e19940_0_3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c673e19940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673e19940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c673e19940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673e19940_0_44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c673e19940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673e19940_0_4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c673e19940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673e19940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673e1994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673e19940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c673e19940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673e19940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c673e19940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673e19940_0_42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c673e19940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673e19940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c673e19940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42ff6140c_1_28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c42ff6140c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177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3862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59530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7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" name="Google Shape;37;p8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crates.io" TargetMode="External"/><Relationship Id="rId4" Type="http://schemas.openxmlformats.org/officeDocument/2006/relationships/hyperlink" Target="https://rustup.r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oc.rust-lang.org/book/" TargetMode="External"/><Relationship Id="rId4" Type="http://schemas.openxmlformats.org/officeDocument/2006/relationships/hyperlink" Target="https://doc.rust-lang.org/stable/reference/" TargetMode="External"/><Relationship Id="rId5" Type="http://schemas.openxmlformats.org/officeDocument/2006/relationships/hyperlink" Target="https://github.com/ctjhoa/rust-learning" TargetMode="External"/><Relationship Id="rId6" Type="http://schemas.openxmlformats.org/officeDocument/2006/relationships/hyperlink" Target="https://lborb.github.io/book/" TargetMode="External"/><Relationship Id="rId7" Type="http://schemas.openxmlformats.org/officeDocument/2006/relationships/hyperlink" Target="https://github.com/sger/RustBooks" TargetMode="External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ctrTitle"/>
          </p:nvPr>
        </p:nvSpPr>
        <p:spPr>
          <a:xfrm>
            <a:off x="311708" y="17732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Rust</a:t>
            </a:r>
            <a:endParaRPr/>
          </a:p>
        </p:txBody>
      </p:sp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311700" y="3862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Fondamenti operativi</a:t>
            </a:r>
            <a:endParaRPr sz="2800"/>
          </a:p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6187" y="750883"/>
            <a:ext cx="1449293" cy="1449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Obiettivi</a:t>
            </a:r>
            <a:endParaRPr/>
          </a:p>
        </p:txBody>
      </p:sp>
      <p:sp>
        <p:nvSpPr>
          <p:cNvPr id="91" name="Google Shape;9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Capire che tipo di linguaggio sia 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Sapere scrivere programmi semplici e completi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Capire cosa il compilatore garantisca e perché questo sia utile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Preparare le condizioni per i successivi approfondimenti</a:t>
            </a:r>
            <a:endParaRPr/>
          </a:p>
        </p:txBody>
      </p:sp>
      <p:pic>
        <p:nvPicPr>
          <p:cNvPr id="92" name="Google Shape;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8200" y="0"/>
            <a:ext cx="1635801" cy="16358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Rust nel contesto della programmazione di sistema</a:t>
            </a:r>
            <a:endParaRPr/>
          </a:p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Linguaggio compilato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Correttezza degli accessi alla memoria senza uso di garbage collector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Prestazioni comparabili a C / C++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Basato sul principio del possesso esplicito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Strumenti di sviluppo e struttura di progetto</a:t>
            </a:r>
            <a:endParaRPr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311700" y="1152475"/>
            <a:ext cx="8520600" cy="36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rustc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Compilatore del linguaggio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Può generare file eseguibili o librerie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Raramente viene invocato direttamente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Gestore della struttura e della costruzione del progetto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</a:t>
            </a:r>
            <a:r>
              <a:rPr lang="it"/>
              <a:t>utomatizza l'intero </a:t>
            </a:r>
            <a:r>
              <a:rPr b="1" lang="it">
                <a:solidFill>
                  <a:srgbClr val="0B5394"/>
                </a:solidFill>
              </a:rPr>
              <a:t>ciclo di vita </a:t>
            </a:r>
            <a:r>
              <a:rPr lang="it"/>
              <a:t>del software, dalla compilazione alla profilazione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Risolve e scarica automaticamente le </a:t>
            </a:r>
            <a:r>
              <a:rPr b="1" lang="it">
                <a:solidFill>
                  <a:srgbClr val="0B5394"/>
                </a:solidFill>
              </a:rPr>
              <a:t>librerie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</a:rPr>
              <a:t>esterne</a:t>
            </a:r>
            <a:r>
              <a:rPr lang="it"/>
              <a:t> elencate nel file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Cargo.toml</a:t>
            </a:r>
            <a:r>
              <a:rPr lang="it"/>
              <a:t>, interfacciandosi con il registro ufficiale </a:t>
            </a:r>
            <a:r>
              <a:rPr lang="it" u="sng">
                <a:solidFill>
                  <a:schemeClr val="hlink"/>
                </a:solidFill>
                <a:hlinkClick r:id="rId3"/>
              </a:rPr>
              <a:t>crates.io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Fornisce comandi integrati per l'esecuzione di </a:t>
            </a:r>
            <a:r>
              <a:rPr b="1" lang="it">
                <a:solidFill>
                  <a:srgbClr val="0B5394"/>
                </a:solidFill>
              </a:rPr>
              <a:t>test</a:t>
            </a:r>
            <a:r>
              <a:rPr lang="it"/>
              <a:t> e per la </a:t>
            </a:r>
            <a:r>
              <a:rPr b="1" lang="it">
                <a:solidFill>
                  <a:srgbClr val="0B5394"/>
                </a:solidFill>
              </a:rPr>
              <a:t>profilazione</a:t>
            </a:r>
            <a:r>
              <a:rPr lang="it"/>
              <a:t> delle prestazioni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rustup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Installatore ufficiale della catena di strumenti di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Permette di configurare e aggiornare tutti gli strumenti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installarlo, si accede al sito </a:t>
            </a:r>
            <a:r>
              <a:rPr lang="it" u="sng">
                <a:solidFill>
                  <a:schemeClr val="hlink"/>
                </a:solidFill>
                <a:hlinkClick r:id="rId4"/>
              </a:rPr>
              <a:t>https://rustup.rs</a:t>
            </a:r>
            <a:r>
              <a:rPr lang="it"/>
              <a:t>   e si seguono le istruzioni riportate</a:t>
            </a:r>
            <a:endParaRPr/>
          </a:p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Creare e gestire un progetto</a:t>
            </a:r>
            <a:endParaRPr/>
          </a:p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new &lt;name&gt;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Crea una sottocartella con il nome indicato e inizializza al suo interno un progetto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build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Compila il progetto posto nella cartella corrente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run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Compila, se necessario, il progetto della cartella corrente e lo esegue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check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Analizza il progetto della cartella corrente e riporta eventuali errori senza generare codice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cargo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Esegue i test presenti nel progetto corrente e riporta i risultati</a:t>
            </a:r>
            <a:endParaRPr/>
          </a:p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it"/>
              <a:t>Terminologia</a:t>
            </a:r>
            <a:endParaRPr/>
          </a:p>
        </p:txBody>
      </p:sp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>
                <a:solidFill>
                  <a:srgbClr val="0C5394"/>
                </a:solidFill>
              </a:rPr>
              <a:t>Crate</a:t>
            </a:r>
            <a:endParaRPr b="1">
              <a:solidFill>
                <a:srgbClr val="0C5394"/>
              </a:solidFill>
            </a:endParaRPr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Unità di compilazione che può dare origine ad un programma eseguibile (binario) o ad una libreria</a:t>
            </a:r>
            <a:endParaRPr/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Può contenere riferimenti a moduli contenuti in ulteriori file sorgenti: questi sono inclusi nel file corrente prima di avviarne la compilazione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>
                <a:solidFill>
                  <a:srgbClr val="0C5394"/>
                </a:solidFill>
              </a:rPr>
              <a:t>Module</a:t>
            </a:r>
            <a:endParaRPr b="1">
              <a:solidFill>
                <a:srgbClr val="0C5394"/>
              </a:solidFill>
            </a:endParaRPr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Meccanismo usato per suddividere gerarchicamente il codice sorgente in unità logiche differenti e regolarne la visibilità reciproca</a:t>
            </a:r>
            <a:endParaRPr/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Un modulo può contenere funzioni, tipi ed altri moduli</a:t>
            </a:r>
            <a:endParaRPr/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Un sotto-modulo può essere contenuto nel file sorgente del suo genitore, essere scritto in un file sorgente a parte o essere memorizzato in una sottocartella della cartella in cui è ospitato il suo contenitore</a:t>
            </a:r>
            <a:endParaRPr/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 moduli non sono compilati individualmente, ma solo come parte di un crate che li contiene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>
                <a:solidFill>
                  <a:srgbClr val="0C5394"/>
                </a:solidFill>
              </a:rPr>
              <a:t>Package</a:t>
            </a:r>
            <a:endParaRPr b="1">
              <a:solidFill>
                <a:srgbClr val="0C5394"/>
              </a:solidFill>
            </a:endParaRPr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Insieme di uno o più crates volti a fornire un insieme di funzionalità (progetto)</a:t>
            </a:r>
            <a:endParaRPr/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Un package è ospitato in una cartella che contiene il file Cargo.toml: esso descrive come costruire i crate di cui è composto il package</a:t>
            </a:r>
            <a:endParaRPr/>
          </a:p>
          <a:p>
            <a:pPr indent="-3041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Un package può contenere al massimo una libreria</a:t>
            </a:r>
            <a:endParaRPr/>
          </a:p>
        </p:txBody>
      </p:sp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Struttura di un progetto eseguibile 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8" name="Google Shape;128;p26"/>
          <p:cNvSpPr/>
          <p:nvPr/>
        </p:nvSpPr>
        <p:spPr>
          <a:xfrm>
            <a:off x="538450" y="1003703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MyPackage</a:t>
            </a:r>
            <a:endParaRPr/>
          </a:p>
        </p:txBody>
      </p:sp>
      <p:sp>
        <p:nvSpPr>
          <p:cNvPr id="129" name="Google Shape;129;p26"/>
          <p:cNvSpPr/>
          <p:nvPr/>
        </p:nvSpPr>
        <p:spPr>
          <a:xfrm>
            <a:off x="1774450" y="2858665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src</a:t>
            </a:r>
            <a:endParaRPr/>
          </a:p>
        </p:txBody>
      </p:sp>
      <p:cxnSp>
        <p:nvCxnSpPr>
          <p:cNvPr id="130" name="Google Shape;130;p26"/>
          <p:cNvCxnSpPr>
            <a:stCxn id="128" idx="1"/>
            <a:endCxn id="129" idx="2"/>
          </p:cNvCxnSpPr>
          <p:nvPr/>
        </p:nvCxnSpPr>
        <p:spPr>
          <a:xfrm flipH="1" rot="-5400000">
            <a:off x="636400" y="1917353"/>
            <a:ext cx="16581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6"/>
          <p:cNvSpPr/>
          <p:nvPr/>
        </p:nvSpPr>
        <p:spPr>
          <a:xfrm>
            <a:off x="1682050" y="3982821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Cargo.toml</a:t>
            </a:r>
            <a:endParaRPr/>
          </a:p>
        </p:txBody>
      </p:sp>
      <p:cxnSp>
        <p:nvCxnSpPr>
          <p:cNvPr id="132" name="Google Shape;132;p26"/>
          <p:cNvCxnSpPr>
            <a:stCxn id="128" idx="1"/>
            <a:endCxn id="131" idx="1"/>
          </p:cNvCxnSpPr>
          <p:nvPr/>
        </p:nvCxnSpPr>
        <p:spPr>
          <a:xfrm flipH="1" rot="-5400000">
            <a:off x="28150" y="2525603"/>
            <a:ext cx="2782200" cy="525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6"/>
          <p:cNvSpPr/>
          <p:nvPr/>
        </p:nvSpPr>
        <p:spPr>
          <a:xfrm>
            <a:off x="3010450" y="3324100"/>
            <a:ext cx="1236000" cy="3936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</a:rPr>
              <a:t>main.rs</a:t>
            </a:r>
            <a:endParaRPr b="1">
              <a:solidFill>
                <a:srgbClr val="0B5394"/>
              </a:solidFill>
            </a:endParaRPr>
          </a:p>
        </p:txBody>
      </p:sp>
      <p:cxnSp>
        <p:nvCxnSpPr>
          <p:cNvPr id="134" name="Google Shape;134;p26"/>
          <p:cNvCxnSpPr>
            <a:stCxn id="129" idx="1"/>
            <a:endCxn id="133" idx="1"/>
          </p:cNvCxnSpPr>
          <p:nvPr/>
        </p:nvCxnSpPr>
        <p:spPr>
          <a:xfrm flipH="1" rot="-5400000">
            <a:off x="2567200" y="3077515"/>
            <a:ext cx="2685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6"/>
          <p:cNvSpPr txBox="1"/>
          <p:nvPr/>
        </p:nvSpPr>
        <p:spPr>
          <a:xfrm>
            <a:off x="4466750" y="3340840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accent5"/>
                </a:solidFill>
              </a:rPr>
              <a:t>crate root </a:t>
            </a:r>
            <a:r>
              <a:rPr lang="it">
                <a:solidFill>
                  <a:schemeClr val="accent5"/>
                </a:solidFill>
              </a:rPr>
              <a:t>- contiene la funzione main()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3157975" y="3993148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Fornisce indicazioni su come è fatto MyPackage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1774450" y="1853728"/>
            <a:ext cx="1236000" cy="393600"/>
          </a:xfrm>
          <a:prstGeom prst="snip2SameRect">
            <a:avLst>
              <a:gd fmla="val 24545" name="adj1"/>
              <a:gd fmla="val 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target</a:t>
            </a:r>
            <a:endParaRPr/>
          </a:p>
        </p:txBody>
      </p:sp>
      <p:sp>
        <p:nvSpPr>
          <p:cNvPr id="138" name="Google Shape;138;p26"/>
          <p:cNvSpPr txBox="1"/>
          <p:nvPr/>
        </p:nvSpPr>
        <p:spPr>
          <a:xfrm>
            <a:off x="3157975" y="1853728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accent5"/>
                </a:solidFill>
              </a:rPr>
              <a:t>Cartella che contiene i file compilati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139" name="Google Shape;139;p26"/>
          <p:cNvCxnSpPr>
            <a:stCxn id="128" idx="1"/>
            <a:endCxn id="137" idx="2"/>
          </p:cNvCxnSpPr>
          <p:nvPr/>
        </p:nvCxnSpPr>
        <p:spPr>
          <a:xfrm flipH="1" rot="-5400000">
            <a:off x="1138900" y="1414853"/>
            <a:ext cx="653100" cy="618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Anatomia minima di un programma Rust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punto di ingresso di un programma è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 main() { … 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Normalmente si trova nel file main.rs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stampare su </a:t>
            </a:r>
            <a:r>
              <a:rPr i="1" lang="it"/>
              <a:t>stdout</a:t>
            </a:r>
            <a:r>
              <a:rPr lang="it"/>
              <a:t>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print!(…)</a:t>
            </a:r>
            <a:r>
              <a:rPr lang="it"/>
              <a:t> oppure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println!(…)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primo parametro è una stringa di formato: per ciascuna coppia di </a:t>
            </a:r>
            <a:r>
              <a:rPr b="1" lang="it"/>
              <a:t>{} </a:t>
            </a:r>
            <a:r>
              <a:rPr lang="it"/>
              <a:t>presenti al suo interno deve essere indicato un parametro successivo, il cui contenuto sarà inserito al posto delle graffe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Tutto quello che non sta nelle graffe viene stampato così com’è</a:t>
            </a:r>
            <a:br>
              <a:rPr lang="it"/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println!("Hello, {}!" , "world"); // → Hello, world!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lang="it"/>
              <a:t>Per stampare su </a:t>
            </a:r>
            <a:r>
              <a:rPr i="1" lang="it"/>
              <a:t>stderr</a:t>
            </a:r>
            <a:r>
              <a:rPr lang="it"/>
              <a:t>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eprint!(…)</a:t>
            </a:r>
            <a:r>
              <a:rPr lang="it"/>
              <a:t> oppure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eprintln!(…)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blocchi di codice sono racchiusi da graffe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{ … }</a:t>
            </a:r>
            <a:r>
              <a:rPr lang="it"/>
              <a:t>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L'ultima istruzione del blocco, se non seguita da "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it"/>
              <a:t>" costituisce il valore del blocco o il valore di ritorno se il blocco racchiude l'intera funzione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 square(a: i32): i32 { a * a }</a:t>
            </a:r>
            <a:r>
              <a:rPr lang="it"/>
              <a:t> </a:t>
            </a:r>
            <a:endParaRPr/>
          </a:p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Variabili e tipi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Una variabile lega un valore ad un nome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Viene introdotta dalla parola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Rust favorisce l’</a:t>
            </a:r>
            <a:r>
              <a:rPr b="1" lang="it">
                <a:solidFill>
                  <a:srgbClr val="0B5394"/>
                </a:solidFill>
              </a:rPr>
              <a:t>immutabilità</a:t>
            </a:r>
            <a:endParaRPr b="1">
              <a:solidFill>
                <a:srgbClr val="0B5394"/>
              </a:solidFill>
            </a:endParaRPr>
          </a:p>
          <a:p>
            <a:pPr indent="-310832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Di base, una variabile può essere legata ad UN SOLO VALORE, per tutta la sua esistenza</a:t>
            </a:r>
            <a:endParaRPr/>
          </a:p>
          <a:p>
            <a:pPr indent="-310832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E’ possibile indicare che la variabile potrà essere legata, in futuro, ad un altro valore (dello stesso tipo) aggiungendo alla parola chiave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it"/>
              <a:t> il modificatore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432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Ad ogni variabile è associato </a:t>
            </a:r>
            <a:r>
              <a:rPr b="1" lang="it">
                <a:solidFill>
                  <a:srgbClr val="0B5394"/>
                </a:solidFill>
              </a:rPr>
              <a:t>staticamente</a:t>
            </a:r>
            <a:r>
              <a:rPr lang="it"/>
              <a:t> (cioè, per tutta la durata del programma) un tipo</a:t>
            </a:r>
            <a:endParaRPr/>
          </a:p>
          <a:p>
            <a:pPr indent="-310832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Il tipo definisce l’insieme dei valori che possono essere memorizzati in una variabile, così come l’insieme delle operazioni che possono essere effettuate su tali valori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Il tipo associato ad una variabile può essere esplicitamente definito nella clausola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</a:t>
            </a:r>
            <a:r>
              <a:rPr lang="it"/>
              <a:t>che introduce la variabile</a:t>
            </a:r>
            <a:endParaRPr/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28571"/>
              <a:buChar char="○"/>
            </a:pPr>
            <a:r>
              <a:rPr lang="it"/>
              <a:t>Il motore di inferenza dei tipi consente, nella maggior parte dei casi, di dedurre il tipo di una variabile dal valore con cui è stata inizializzata</a:t>
            </a:r>
            <a:r>
              <a:rPr lang="it" sz="1800"/>
              <a:t>, </a:t>
            </a:r>
            <a:r>
              <a:rPr lang="it"/>
              <a:t>rendendo opzionale la dichiarazione esplicita</a:t>
            </a:r>
            <a:endParaRPr/>
          </a:p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Variabili e tipi</a:t>
            </a:r>
            <a:endParaRPr/>
          </a:p>
        </p:txBody>
      </p:sp>
      <p:sp>
        <p:nvSpPr>
          <p:cNvPr id="159" name="Google Shape;159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549300" y="1152472"/>
            <a:ext cx="8045400" cy="2555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v: i32 = 123;  // v è immutabile e ha tipo i32 (intero a 32 bit con segno)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// v = -5;	     // ERRORE: Non è possibile riassegnare il valore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mut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w = v;     // w può essere riassegnata, ha lo stesso tipo di v (i32)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w = -5;		     // OK. Ora w vale -5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x = 1.3278;    // x è immutabile di tipo f64 (floating point a 64 bit)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y = 1.3278f32; // y è immutabile di tipo f32 (floating point a 32 bit)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one_million = 1_000_000 // si possono usare ‘_’ per separare le cifre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549300" y="4199100"/>
            <a:ext cx="80454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Calibri"/>
                <a:ea typeface="Calibri"/>
                <a:cs typeface="Calibri"/>
                <a:sym typeface="Calibri"/>
              </a:rPr>
              <a:t>Immutabilità di default = scelta di sicurezza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Valori ed espressioni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Un’espressione è un costrutto sintattico la cui esecuzione produce un valore di un dato tipo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4 + ( 3 * 2 )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espressioni sono valutate bottom-up, si possono usare le parentesi tonde per modificare l’ordine con cui un’espressione viene valutata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Una variabile è un modo comodo per catturare il risultato di un’espressione attribuendogli un nome, per poterlo usare in seguito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Tutte le espressioni producono un valore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differenza di quanto avviene in C e in C++, la maggior parte delle istruzioni vengono viste come espressioni (e, di conseguenza, producono un valore)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Ma, al contrario, alcuni costrutti che in C e C++ restituiscono un valore (come le assegnazioni), in Rust hanno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it"/>
              <a:t> - che corrisponde al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it"/>
              <a:t> del C/C++</a:t>
            </a:r>
            <a:endParaRPr/>
          </a:p>
        </p:txBody>
      </p: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Tipi scalari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Numeri interi con segno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i8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i16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i128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Numerici interi senza segno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u8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u16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u32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u64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u128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virgola mobile (IEEE 754)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f64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Logici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Caratteri (32 bit, Unicode Scalar Value)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Unit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it"/>
              <a:t> - rappresenta una tupla di 0 elementi,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it"/>
              <a:t> indica sia il tipo che il suo unico possibile valore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Corrisponde al tipo void in C/C++</a:t>
            </a:r>
            <a:endParaRPr/>
          </a:p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offre due modi principali per rappresentare le stringhe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Come sequenze </a:t>
            </a:r>
            <a:r>
              <a:rPr b="1" lang="it">
                <a:solidFill>
                  <a:srgbClr val="0B5394"/>
                </a:solidFill>
              </a:rPr>
              <a:t>immutabili</a:t>
            </a:r>
            <a:r>
              <a:rPr lang="it"/>
              <a:t> di caratteri (slice):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Come oggetti </a:t>
            </a:r>
            <a:r>
              <a:rPr b="1" lang="it">
                <a:solidFill>
                  <a:srgbClr val="0B5394"/>
                </a:solidFill>
              </a:rPr>
              <a:t>mutabili</a:t>
            </a:r>
            <a:r>
              <a:rPr lang="it"/>
              <a:t> allocati </a:t>
            </a:r>
            <a:r>
              <a:rPr b="1" lang="it">
                <a:solidFill>
                  <a:srgbClr val="0B5394"/>
                </a:solidFill>
              </a:rPr>
              <a:t>dinamicamente</a:t>
            </a:r>
            <a:r>
              <a:rPr lang="it"/>
              <a:t> sullo heap: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b="1">
              <a:solidFill>
                <a:srgbClr val="0B539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costanti di tipo stringa sono racchiuse tra doppi apici (</a:t>
            </a:r>
            <a:r>
              <a:rPr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it"/>
              <a:t>)</a:t>
            </a:r>
            <a:endParaRPr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compilatore provvede ad inserirle in un’apposita area statica di memoria, in modo compatto, senza aggiungere alcun terminatore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loro tipo è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&amp;str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crea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it"/>
              <a:t> a partire da uno slice nel seguente modo: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immutable_slice = "Hello World!";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mut mutable_string = String::from( immutable_slice );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ricava uno slice da una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it"/>
              <a:t> nel seguente modo: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s = String::from("Rust");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slice = s.as_str();</a:t>
            </a:r>
            <a:r>
              <a:rPr lang="it"/>
              <a:t> </a:t>
            </a:r>
            <a:endParaRPr/>
          </a:p>
        </p:txBody>
      </p:sp>
      <p:sp>
        <p:nvSpPr>
          <p:cNvPr id="182" name="Google Shape;182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Gli oggetti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it"/>
              <a:t> contengono un puntatore ad un buffer allocato dinamicamente, l’effettiva lunghezza della stringa e la capacità del buffer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la stringa è mutabile e vengono inseriti al suo interno più caratteri di quelli che il buffer può contenere, il buffer viene automaticamente allocato nuovamente con una capacità maggiore, così da ospitare quanto richiesto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Tutti i metodi che sono leciti su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&amp;str</a:t>
            </a:r>
            <a:r>
              <a:rPr lang="it"/>
              <a:t> sono anche disponibili per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Inoltre, se una funzione accetta un parametro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&amp;str</a:t>
            </a:r>
            <a:r>
              <a:rPr lang="it"/>
              <a:t>, è possibile passare come argomento corrispondente il riferimento ad un oggetto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1037228"/>
            <a:ext cx="3999900" cy="307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let hello: &amp;str = "hello,";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s = String::new();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s.push_str(hello);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s.push_str(" world!");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p34"/>
          <p:cNvSpPr txBox="1"/>
          <p:nvPr>
            <p:ph idx="12" type="sldNum"/>
          </p:nvPr>
        </p:nvSpPr>
        <p:spPr>
          <a:xfrm>
            <a:off x="8472458" y="4778381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4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199" name="Google Shape;199;p34"/>
          <p:cNvSpPr txBox="1"/>
          <p:nvPr/>
        </p:nvSpPr>
        <p:spPr>
          <a:xfrm>
            <a:off x="5371450" y="114034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hello</a:t>
            </a:r>
            <a:endParaRPr b="1"/>
          </a:p>
        </p:txBody>
      </p:sp>
      <p:sp>
        <p:nvSpPr>
          <p:cNvPr id="200" name="Google Shape;200;p34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01" name="Google Shape;201;p34"/>
          <p:cNvSpPr/>
          <p:nvPr/>
        </p:nvSpPr>
        <p:spPr>
          <a:xfrm>
            <a:off x="6142785" y="1685272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/>
          <p:nvPr/>
        </p:nvSpPr>
        <p:spPr>
          <a:xfrm>
            <a:off x="5264100" y="4051232"/>
            <a:ext cx="3568200" cy="3246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/>
        </p:nvSpPr>
        <p:spPr>
          <a:xfrm>
            <a:off x="4486325" y="401782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static</a:t>
            </a:r>
            <a:endParaRPr/>
          </a:p>
        </p:txBody>
      </p:sp>
      <p:grpSp>
        <p:nvGrpSpPr>
          <p:cNvPr id="204" name="Google Shape;204;p34"/>
          <p:cNvGrpSpPr/>
          <p:nvPr/>
        </p:nvGrpSpPr>
        <p:grpSpPr>
          <a:xfrm>
            <a:off x="5371450" y="1623172"/>
            <a:ext cx="741125" cy="324540"/>
            <a:chOff x="5371450" y="1803525"/>
            <a:chExt cx="741125" cy="360600"/>
          </a:xfrm>
        </p:grpSpPr>
        <p:grpSp>
          <p:nvGrpSpPr>
            <p:cNvPr id="205" name="Google Shape;205;p34"/>
            <p:cNvGrpSpPr/>
            <p:nvPr/>
          </p:nvGrpSpPr>
          <p:grpSpPr>
            <a:xfrm>
              <a:off x="5371450" y="1803525"/>
              <a:ext cx="741125" cy="360600"/>
              <a:chOff x="5493725" y="1803525"/>
              <a:chExt cx="741125" cy="360600"/>
            </a:xfrm>
          </p:grpSpPr>
          <p:sp>
            <p:nvSpPr>
              <p:cNvPr id="206" name="Google Shape;206;p34"/>
              <p:cNvSpPr/>
              <p:nvPr/>
            </p:nvSpPr>
            <p:spPr>
              <a:xfrm>
                <a:off x="549372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98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4"/>
              <p:cNvSpPr/>
              <p:nvPr/>
            </p:nvSpPr>
            <p:spPr>
              <a:xfrm>
                <a:off x="5862850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98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>
                    <a:solidFill>
                      <a:srgbClr val="980000"/>
                    </a:solidFill>
                  </a:rPr>
                  <a:t>6</a:t>
                </a:r>
                <a:endParaRPr>
                  <a:solidFill>
                    <a:srgbClr val="980000"/>
                  </a:solidFill>
                </a:endParaRPr>
              </a:p>
            </p:txBody>
          </p:sp>
        </p:grpSp>
        <p:sp>
          <p:nvSpPr>
            <p:cNvPr id="208" name="Google Shape;208;p34"/>
            <p:cNvSpPr/>
            <p:nvPr/>
          </p:nvSpPr>
          <p:spPr>
            <a:xfrm>
              <a:off x="5472949" y="1872525"/>
              <a:ext cx="171300" cy="139200"/>
            </a:xfrm>
            <a:prstGeom prst="rect">
              <a:avLst/>
            </a:prstGeom>
            <a:solidFill>
              <a:srgbClr val="AFD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34"/>
          <p:cNvSpPr/>
          <p:nvPr/>
        </p:nvSpPr>
        <p:spPr>
          <a:xfrm>
            <a:off x="613375" y="1539892"/>
            <a:ext cx="3378300" cy="2004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4"/>
          <p:cNvSpPr txBox="1"/>
          <p:nvPr/>
        </p:nvSpPr>
        <p:spPr>
          <a:xfrm>
            <a:off x="5447650" y="1346085"/>
            <a:ext cx="71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ptr, size</a:t>
            </a:r>
            <a:endParaRPr sz="1200"/>
          </a:p>
        </p:txBody>
      </p:sp>
      <p:cxnSp>
        <p:nvCxnSpPr>
          <p:cNvPr id="211" name="Google Shape;211;p34"/>
          <p:cNvCxnSpPr>
            <a:stCxn id="208" idx="2"/>
            <a:endCxn id="212" idx="0"/>
          </p:cNvCxnSpPr>
          <p:nvPr/>
        </p:nvCxnSpPr>
        <p:spPr>
          <a:xfrm rot="5400000">
            <a:off x="4423549" y="2916203"/>
            <a:ext cx="2240700" cy="29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12" name="Google Shape;212;p34"/>
          <p:cNvSpPr/>
          <p:nvPr/>
        </p:nvSpPr>
        <p:spPr>
          <a:xfrm>
            <a:off x="543577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3" name="Google Shape;213;p34"/>
          <p:cNvSpPr/>
          <p:nvPr/>
        </p:nvSpPr>
        <p:spPr>
          <a:xfrm>
            <a:off x="562496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58060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34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4"/>
          <p:cNvSpPr/>
          <p:nvPr/>
        </p:nvSpPr>
        <p:spPr>
          <a:xfrm>
            <a:off x="599408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34"/>
          <p:cNvSpPr/>
          <p:nvPr/>
        </p:nvSpPr>
        <p:spPr>
          <a:xfrm>
            <a:off x="618211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34"/>
          <p:cNvSpPr/>
          <p:nvPr/>
        </p:nvSpPr>
        <p:spPr>
          <a:xfrm>
            <a:off x="6370138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" name="Google Shape;219;p34"/>
          <p:cNvSpPr/>
          <p:nvPr/>
        </p:nvSpPr>
        <p:spPr>
          <a:xfrm>
            <a:off x="6746213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6934239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1" name="Google Shape;221;p34"/>
          <p:cNvSpPr/>
          <p:nvPr/>
        </p:nvSpPr>
        <p:spPr>
          <a:xfrm>
            <a:off x="712226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2" name="Google Shape;222;p34"/>
          <p:cNvSpPr/>
          <p:nvPr/>
        </p:nvSpPr>
        <p:spPr>
          <a:xfrm>
            <a:off x="729841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7479514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" name="Google Shape;224;p34"/>
          <p:cNvSpPr/>
          <p:nvPr/>
        </p:nvSpPr>
        <p:spPr>
          <a:xfrm>
            <a:off x="7665561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78466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037228"/>
            <a:ext cx="3999900" cy="307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hello: &amp;str = "hello,";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let mut s = String::new();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s.push_str(hello);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s.push_str(" world!");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472458" y="4776860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3" name="Google Shape;233;p35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5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35" name="Google Shape;235;p35"/>
          <p:cNvSpPr txBox="1"/>
          <p:nvPr/>
        </p:nvSpPr>
        <p:spPr>
          <a:xfrm>
            <a:off x="5371450" y="114034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hello</a:t>
            </a:r>
            <a:endParaRPr b="1"/>
          </a:p>
        </p:txBody>
      </p:sp>
      <p:sp>
        <p:nvSpPr>
          <p:cNvPr id="236" name="Google Shape;236;p35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37" name="Google Shape;237;p35"/>
          <p:cNvSpPr/>
          <p:nvPr/>
        </p:nvSpPr>
        <p:spPr>
          <a:xfrm>
            <a:off x="7469310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" name="Google Shape;238;p35"/>
          <p:cNvGrpSpPr/>
          <p:nvPr/>
        </p:nvGrpSpPr>
        <p:grpSpPr>
          <a:xfrm>
            <a:off x="6169225" y="1623826"/>
            <a:ext cx="1110249" cy="324540"/>
            <a:chOff x="5493725" y="1803525"/>
            <a:chExt cx="1110249" cy="360600"/>
          </a:xfrm>
        </p:grpSpPr>
        <p:sp>
          <p:nvSpPr>
            <p:cNvPr id="239" name="Google Shape;239;p35"/>
            <p:cNvSpPr/>
            <p:nvPr/>
          </p:nvSpPr>
          <p:spPr>
            <a:xfrm>
              <a:off x="5493725" y="1803525"/>
              <a:ext cx="372000" cy="360600"/>
            </a:xfrm>
            <a:prstGeom prst="rect">
              <a:avLst/>
            </a:prstGeom>
            <a:solidFill>
              <a:srgbClr val="AFD7F7"/>
            </a:solidFill>
            <a:ln cap="flat" cmpd="sng" w="1905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980000"/>
                  </a:solidFill>
                </a:rPr>
                <a:t>x</a:t>
              </a:r>
              <a:endParaRPr>
                <a:solidFill>
                  <a:srgbClr val="980000"/>
                </a:solidFill>
              </a:endParaRPr>
            </a:p>
          </p:txBody>
        </p:sp>
        <p:sp>
          <p:nvSpPr>
            <p:cNvPr id="240" name="Google Shape;240;p35"/>
            <p:cNvSpPr/>
            <p:nvPr/>
          </p:nvSpPr>
          <p:spPr>
            <a:xfrm>
              <a:off x="5862850" y="1803525"/>
              <a:ext cx="372000" cy="360600"/>
            </a:xfrm>
            <a:prstGeom prst="rect">
              <a:avLst/>
            </a:prstGeom>
            <a:solidFill>
              <a:srgbClr val="AFD7F7"/>
            </a:solidFill>
            <a:ln cap="flat" cmpd="sng" w="1905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980000"/>
                  </a:solidFill>
                </a:rPr>
                <a:t>0</a:t>
              </a:r>
              <a:endParaRPr>
                <a:solidFill>
                  <a:srgbClr val="980000"/>
                </a:solidFill>
              </a:endParaRPr>
            </a:p>
          </p:txBody>
        </p:sp>
        <p:sp>
          <p:nvSpPr>
            <p:cNvPr id="241" name="Google Shape;241;p35"/>
            <p:cNvSpPr/>
            <p:nvPr/>
          </p:nvSpPr>
          <p:spPr>
            <a:xfrm>
              <a:off x="6231975" y="1803525"/>
              <a:ext cx="372000" cy="360600"/>
            </a:xfrm>
            <a:prstGeom prst="rect">
              <a:avLst/>
            </a:prstGeom>
            <a:solidFill>
              <a:srgbClr val="AFD7F7"/>
            </a:solidFill>
            <a:ln cap="flat" cmpd="sng" w="19050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rgbClr val="980000"/>
                  </a:solidFill>
                </a:rPr>
                <a:t>0</a:t>
              </a:r>
              <a:endParaRPr>
                <a:solidFill>
                  <a:srgbClr val="980000"/>
                </a:solidFill>
              </a:endParaRPr>
            </a:p>
          </p:txBody>
        </p:sp>
      </p:grpSp>
      <p:sp>
        <p:nvSpPr>
          <p:cNvPr id="242" name="Google Shape;242;p35"/>
          <p:cNvSpPr txBox="1"/>
          <p:nvPr/>
        </p:nvSpPr>
        <p:spPr>
          <a:xfrm>
            <a:off x="4486325" y="401782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static</a:t>
            </a:r>
            <a:endParaRPr/>
          </a:p>
        </p:txBody>
      </p:sp>
      <p:grpSp>
        <p:nvGrpSpPr>
          <p:cNvPr id="243" name="Google Shape;243;p35"/>
          <p:cNvGrpSpPr/>
          <p:nvPr/>
        </p:nvGrpSpPr>
        <p:grpSpPr>
          <a:xfrm>
            <a:off x="5371450" y="1623172"/>
            <a:ext cx="741125" cy="324540"/>
            <a:chOff x="5371450" y="1803525"/>
            <a:chExt cx="741125" cy="360600"/>
          </a:xfrm>
        </p:grpSpPr>
        <p:grpSp>
          <p:nvGrpSpPr>
            <p:cNvPr id="244" name="Google Shape;244;p35"/>
            <p:cNvGrpSpPr/>
            <p:nvPr/>
          </p:nvGrpSpPr>
          <p:grpSpPr>
            <a:xfrm>
              <a:off x="5371450" y="1803525"/>
              <a:ext cx="741125" cy="360600"/>
              <a:chOff x="5493725" y="1803525"/>
              <a:chExt cx="741125" cy="360600"/>
            </a:xfrm>
          </p:grpSpPr>
          <p:sp>
            <p:nvSpPr>
              <p:cNvPr id="245" name="Google Shape;245;p35"/>
              <p:cNvSpPr/>
              <p:nvPr/>
            </p:nvSpPr>
            <p:spPr>
              <a:xfrm>
                <a:off x="549372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35"/>
              <p:cNvSpPr/>
              <p:nvPr/>
            </p:nvSpPr>
            <p:spPr>
              <a:xfrm>
                <a:off x="5862850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/>
                  <a:t>6</a:t>
                </a:r>
                <a:endParaRPr/>
              </a:p>
            </p:txBody>
          </p:sp>
        </p:grpSp>
        <p:sp>
          <p:nvSpPr>
            <p:cNvPr id="247" name="Google Shape;247;p35"/>
            <p:cNvSpPr/>
            <p:nvPr/>
          </p:nvSpPr>
          <p:spPr>
            <a:xfrm>
              <a:off x="5472949" y="1872525"/>
              <a:ext cx="171300" cy="139200"/>
            </a:xfrm>
            <a:prstGeom prst="rect">
              <a:avLst/>
            </a:prstGeom>
            <a:solidFill>
              <a:srgbClr val="AFD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8" name="Google Shape;248;p35"/>
          <p:cNvCxnSpPr>
            <a:stCxn id="247" idx="2"/>
            <a:endCxn id="249" idx="0"/>
          </p:cNvCxnSpPr>
          <p:nvPr/>
        </p:nvCxnSpPr>
        <p:spPr>
          <a:xfrm rot="5400000">
            <a:off x="4423549" y="2916203"/>
            <a:ext cx="2240700" cy="29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50" name="Google Shape;250;p35"/>
          <p:cNvSpPr/>
          <p:nvPr/>
        </p:nvSpPr>
        <p:spPr>
          <a:xfrm>
            <a:off x="622500" y="1951450"/>
            <a:ext cx="3378300" cy="2004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5"/>
          <p:cNvSpPr txBox="1"/>
          <p:nvPr/>
        </p:nvSpPr>
        <p:spPr>
          <a:xfrm>
            <a:off x="6466300" y="1152473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</a:t>
            </a:r>
            <a:endParaRPr b="1"/>
          </a:p>
        </p:txBody>
      </p:sp>
      <p:sp>
        <p:nvSpPr>
          <p:cNvPr id="252" name="Google Shape;252;p35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5447650" y="1346085"/>
            <a:ext cx="71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ptr, size</a:t>
            </a:r>
            <a:endParaRPr sz="1200"/>
          </a:p>
        </p:txBody>
      </p:sp>
      <p:sp>
        <p:nvSpPr>
          <p:cNvPr id="254" name="Google Shape;254;p35"/>
          <p:cNvSpPr txBox="1"/>
          <p:nvPr/>
        </p:nvSpPr>
        <p:spPr>
          <a:xfrm>
            <a:off x="6233123" y="1346085"/>
            <a:ext cx="15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ptr, size, capacity</a:t>
            </a:r>
            <a:endParaRPr sz="1200"/>
          </a:p>
        </p:txBody>
      </p:sp>
      <p:sp>
        <p:nvSpPr>
          <p:cNvPr id="255" name="Google Shape;255;p35"/>
          <p:cNvSpPr/>
          <p:nvPr/>
        </p:nvSpPr>
        <p:spPr>
          <a:xfrm>
            <a:off x="5264100" y="4051232"/>
            <a:ext cx="3568200" cy="3246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543577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562496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58060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8" name="Google Shape;258;p35"/>
          <p:cNvSpPr/>
          <p:nvPr/>
        </p:nvSpPr>
        <p:spPr>
          <a:xfrm>
            <a:off x="599408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618211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6370138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6746213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6934239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712226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35"/>
          <p:cNvSpPr/>
          <p:nvPr/>
        </p:nvSpPr>
        <p:spPr>
          <a:xfrm>
            <a:off x="729841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7479514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7665561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78466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311700" y="1037228"/>
            <a:ext cx="3999900" cy="307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hello: &amp;str = "hello,";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s = String::new();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s.push_str(hello);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s.push_str(" world!");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36"/>
          <p:cNvSpPr txBox="1"/>
          <p:nvPr>
            <p:ph idx="12" type="sldNum"/>
          </p:nvPr>
        </p:nvSpPr>
        <p:spPr>
          <a:xfrm>
            <a:off x="8472458" y="4786194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5" name="Google Shape;275;p36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6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77" name="Google Shape;277;p36"/>
          <p:cNvSpPr txBox="1"/>
          <p:nvPr/>
        </p:nvSpPr>
        <p:spPr>
          <a:xfrm>
            <a:off x="5371450" y="114034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hello</a:t>
            </a:r>
            <a:endParaRPr b="1"/>
          </a:p>
        </p:txBody>
      </p:sp>
      <p:sp>
        <p:nvSpPr>
          <p:cNvPr id="278" name="Google Shape;278;p36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4486325" y="401782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static</a:t>
            </a:r>
            <a:endParaRPr/>
          </a:p>
        </p:txBody>
      </p:sp>
      <p:grpSp>
        <p:nvGrpSpPr>
          <p:cNvPr id="280" name="Google Shape;280;p36"/>
          <p:cNvGrpSpPr/>
          <p:nvPr/>
        </p:nvGrpSpPr>
        <p:grpSpPr>
          <a:xfrm>
            <a:off x="5371450" y="1623172"/>
            <a:ext cx="741125" cy="324540"/>
            <a:chOff x="5371450" y="1803525"/>
            <a:chExt cx="741125" cy="360600"/>
          </a:xfrm>
        </p:grpSpPr>
        <p:grpSp>
          <p:nvGrpSpPr>
            <p:cNvPr id="281" name="Google Shape;281;p36"/>
            <p:cNvGrpSpPr/>
            <p:nvPr/>
          </p:nvGrpSpPr>
          <p:grpSpPr>
            <a:xfrm>
              <a:off x="5371450" y="1803525"/>
              <a:ext cx="741125" cy="360600"/>
              <a:chOff x="5493725" y="1803525"/>
              <a:chExt cx="741125" cy="360600"/>
            </a:xfrm>
          </p:grpSpPr>
          <p:sp>
            <p:nvSpPr>
              <p:cNvPr id="282" name="Google Shape;282;p36"/>
              <p:cNvSpPr/>
              <p:nvPr/>
            </p:nvSpPr>
            <p:spPr>
              <a:xfrm>
                <a:off x="549372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36"/>
              <p:cNvSpPr/>
              <p:nvPr/>
            </p:nvSpPr>
            <p:spPr>
              <a:xfrm>
                <a:off x="5862850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/>
                  <a:t>6</a:t>
                </a:r>
                <a:endParaRPr/>
              </a:p>
            </p:txBody>
          </p:sp>
        </p:grpSp>
        <p:sp>
          <p:nvSpPr>
            <p:cNvPr id="284" name="Google Shape;284;p36"/>
            <p:cNvSpPr/>
            <p:nvPr/>
          </p:nvSpPr>
          <p:spPr>
            <a:xfrm>
              <a:off x="5472949" y="1872525"/>
              <a:ext cx="171300" cy="139200"/>
            </a:xfrm>
            <a:prstGeom prst="rect">
              <a:avLst/>
            </a:prstGeom>
            <a:solidFill>
              <a:srgbClr val="AFD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85" name="Google Shape;285;p36"/>
          <p:cNvCxnSpPr>
            <a:stCxn id="284" idx="2"/>
            <a:endCxn id="286" idx="0"/>
          </p:cNvCxnSpPr>
          <p:nvPr/>
        </p:nvCxnSpPr>
        <p:spPr>
          <a:xfrm rot="5400000">
            <a:off x="4423549" y="2916203"/>
            <a:ext cx="2240700" cy="29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87" name="Google Shape;287;p36"/>
          <p:cNvSpPr/>
          <p:nvPr/>
        </p:nvSpPr>
        <p:spPr>
          <a:xfrm>
            <a:off x="622500" y="2357049"/>
            <a:ext cx="3378300" cy="2004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6"/>
          <p:cNvSpPr txBox="1"/>
          <p:nvPr/>
        </p:nvSpPr>
        <p:spPr>
          <a:xfrm>
            <a:off x="6466300" y="1152473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</a:t>
            </a:r>
            <a:endParaRPr b="1"/>
          </a:p>
        </p:txBody>
      </p:sp>
      <p:grpSp>
        <p:nvGrpSpPr>
          <p:cNvPr id="289" name="Google Shape;289;p36"/>
          <p:cNvGrpSpPr/>
          <p:nvPr/>
        </p:nvGrpSpPr>
        <p:grpSpPr>
          <a:xfrm>
            <a:off x="6169225" y="1623826"/>
            <a:ext cx="1110249" cy="324540"/>
            <a:chOff x="6169225" y="1804251"/>
            <a:chExt cx="1110249" cy="360600"/>
          </a:xfrm>
        </p:grpSpPr>
        <p:grpSp>
          <p:nvGrpSpPr>
            <p:cNvPr id="290" name="Google Shape;290;p36"/>
            <p:cNvGrpSpPr/>
            <p:nvPr/>
          </p:nvGrpSpPr>
          <p:grpSpPr>
            <a:xfrm>
              <a:off x="6169225" y="1804251"/>
              <a:ext cx="1110249" cy="360600"/>
              <a:chOff x="5493725" y="1803525"/>
              <a:chExt cx="1110249" cy="360600"/>
            </a:xfrm>
          </p:grpSpPr>
          <p:sp>
            <p:nvSpPr>
              <p:cNvPr id="291" name="Google Shape;291;p36"/>
              <p:cNvSpPr/>
              <p:nvPr/>
            </p:nvSpPr>
            <p:spPr>
              <a:xfrm>
                <a:off x="549372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98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980000"/>
                  </a:solidFill>
                </a:endParaRPr>
              </a:p>
            </p:txBody>
          </p:sp>
          <p:sp>
            <p:nvSpPr>
              <p:cNvPr id="292" name="Google Shape;292;p36"/>
              <p:cNvSpPr/>
              <p:nvPr/>
            </p:nvSpPr>
            <p:spPr>
              <a:xfrm>
                <a:off x="5862850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98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>
                    <a:solidFill>
                      <a:srgbClr val="980000"/>
                    </a:solidFill>
                  </a:rPr>
                  <a:t>6</a:t>
                </a:r>
                <a:endParaRPr>
                  <a:solidFill>
                    <a:srgbClr val="980000"/>
                  </a:solidFill>
                </a:endParaRPr>
              </a:p>
            </p:txBody>
          </p:sp>
          <p:sp>
            <p:nvSpPr>
              <p:cNvPr id="293" name="Google Shape;293;p36"/>
              <p:cNvSpPr/>
              <p:nvPr/>
            </p:nvSpPr>
            <p:spPr>
              <a:xfrm>
                <a:off x="623197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98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>
                    <a:solidFill>
                      <a:srgbClr val="980000"/>
                    </a:solidFill>
                  </a:rPr>
                  <a:t>8</a:t>
                </a:r>
                <a:endParaRPr>
                  <a:solidFill>
                    <a:srgbClr val="980000"/>
                  </a:solidFill>
                </a:endParaRPr>
              </a:p>
            </p:txBody>
          </p:sp>
        </p:grpSp>
        <p:sp>
          <p:nvSpPr>
            <p:cNvPr id="294" name="Google Shape;294;p36"/>
            <p:cNvSpPr/>
            <p:nvPr/>
          </p:nvSpPr>
          <p:spPr>
            <a:xfrm>
              <a:off x="6281051" y="1956651"/>
              <a:ext cx="148800" cy="55200"/>
            </a:xfrm>
            <a:prstGeom prst="rect">
              <a:avLst/>
            </a:prstGeom>
            <a:solidFill>
              <a:srgbClr val="AFD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80000"/>
                </a:solidFill>
              </a:endParaRPr>
            </a:p>
          </p:txBody>
        </p:sp>
      </p:grpSp>
      <p:cxnSp>
        <p:nvCxnSpPr>
          <p:cNvPr id="295" name="Google Shape;295;p36"/>
          <p:cNvCxnSpPr>
            <a:stCxn id="294" idx="2"/>
            <a:endCxn id="296" idx="0"/>
          </p:cNvCxnSpPr>
          <p:nvPr/>
        </p:nvCxnSpPr>
        <p:spPr>
          <a:xfrm rot="5400000">
            <a:off x="5567801" y="2030416"/>
            <a:ext cx="1007400" cy="5679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97" name="Google Shape;297;p36"/>
          <p:cNvSpPr txBox="1"/>
          <p:nvPr/>
        </p:nvSpPr>
        <p:spPr>
          <a:xfrm>
            <a:off x="5447650" y="1346085"/>
            <a:ext cx="71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ptr, size</a:t>
            </a:r>
            <a:endParaRPr sz="1200"/>
          </a:p>
        </p:txBody>
      </p:sp>
      <p:sp>
        <p:nvSpPr>
          <p:cNvPr id="298" name="Google Shape;298;p36"/>
          <p:cNvSpPr txBox="1"/>
          <p:nvPr/>
        </p:nvSpPr>
        <p:spPr>
          <a:xfrm>
            <a:off x="6233123" y="1346085"/>
            <a:ext cx="15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ptr, size, capacity</a:t>
            </a:r>
            <a:endParaRPr sz="1200"/>
          </a:p>
        </p:txBody>
      </p:sp>
      <p:sp>
        <p:nvSpPr>
          <p:cNvPr id="299" name="Google Shape;299;p36"/>
          <p:cNvSpPr/>
          <p:nvPr/>
        </p:nvSpPr>
        <p:spPr>
          <a:xfrm>
            <a:off x="5264100" y="4051232"/>
            <a:ext cx="3568200" cy="3246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543577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562496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58060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2" name="Google Shape;302;p36"/>
          <p:cNvSpPr/>
          <p:nvPr/>
        </p:nvSpPr>
        <p:spPr>
          <a:xfrm>
            <a:off x="599408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618211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6370138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6746213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36"/>
          <p:cNvSpPr/>
          <p:nvPr/>
        </p:nvSpPr>
        <p:spPr>
          <a:xfrm>
            <a:off x="6934239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712226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729841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7479514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7665561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78466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5264100" y="2818178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6"/>
          <p:cNvSpPr/>
          <p:nvPr/>
        </p:nvSpPr>
        <p:spPr>
          <a:xfrm>
            <a:off x="5694125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3" name="Google Shape;313;p36"/>
          <p:cNvSpPr/>
          <p:nvPr/>
        </p:nvSpPr>
        <p:spPr>
          <a:xfrm>
            <a:off x="5883312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36"/>
          <p:cNvSpPr/>
          <p:nvPr/>
        </p:nvSpPr>
        <p:spPr>
          <a:xfrm>
            <a:off x="6064411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36"/>
          <p:cNvSpPr/>
          <p:nvPr/>
        </p:nvSpPr>
        <p:spPr>
          <a:xfrm>
            <a:off x="6252437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36"/>
          <p:cNvSpPr/>
          <p:nvPr/>
        </p:nvSpPr>
        <p:spPr>
          <a:xfrm>
            <a:off x="6440463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6628488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36"/>
          <p:cNvSpPr/>
          <p:nvPr/>
        </p:nvSpPr>
        <p:spPr>
          <a:xfrm>
            <a:off x="6811589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36"/>
          <p:cNvSpPr/>
          <p:nvPr/>
        </p:nvSpPr>
        <p:spPr>
          <a:xfrm>
            <a:off x="6999615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325" name="Google Shape;325;p37"/>
          <p:cNvSpPr txBox="1"/>
          <p:nvPr>
            <p:ph idx="1" type="body"/>
          </p:nvPr>
        </p:nvSpPr>
        <p:spPr>
          <a:xfrm>
            <a:off x="311700" y="1037228"/>
            <a:ext cx="3999900" cy="307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hello: &amp;str = "hello,";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s = String::new();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s.push_str(hello);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    s.push_str(" world!");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6" name="Google Shape;326;p37"/>
          <p:cNvSpPr txBox="1"/>
          <p:nvPr>
            <p:ph idx="12" type="sldNum"/>
          </p:nvPr>
        </p:nvSpPr>
        <p:spPr>
          <a:xfrm>
            <a:off x="8472458" y="4786194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7" name="Google Shape;327;p37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8" name="Google Shape;328;p37"/>
          <p:cNvGrpSpPr/>
          <p:nvPr/>
        </p:nvGrpSpPr>
        <p:grpSpPr>
          <a:xfrm>
            <a:off x="5371450" y="1623172"/>
            <a:ext cx="741125" cy="324540"/>
            <a:chOff x="5371450" y="1803525"/>
            <a:chExt cx="741125" cy="360600"/>
          </a:xfrm>
        </p:grpSpPr>
        <p:grpSp>
          <p:nvGrpSpPr>
            <p:cNvPr id="329" name="Google Shape;329;p37"/>
            <p:cNvGrpSpPr/>
            <p:nvPr/>
          </p:nvGrpSpPr>
          <p:grpSpPr>
            <a:xfrm>
              <a:off x="5371450" y="1803525"/>
              <a:ext cx="741125" cy="360600"/>
              <a:chOff x="5493725" y="1803525"/>
              <a:chExt cx="741125" cy="360600"/>
            </a:xfrm>
          </p:grpSpPr>
          <p:sp>
            <p:nvSpPr>
              <p:cNvPr id="330" name="Google Shape;330;p37"/>
              <p:cNvSpPr/>
              <p:nvPr/>
            </p:nvSpPr>
            <p:spPr>
              <a:xfrm>
                <a:off x="549372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7"/>
              <p:cNvSpPr/>
              <p:nvPr/>
            </p:nvSpPr>
            <p:spPr>
              <a:xfrm>
                <a:off x="5862850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/>
                  <a:t>6</a:t>
                </a:r>
                <a:endParaRPr/>
              </a:p>
            </p:txBody>
          </p:sp>
        </p:grpSp>
        <p:sp>
          <p:nvSpPr>
            <p:cNvPr id="332" name="Google Shape;332;p37"/>
            <p:cNvSpPr/>
            <p:nvPr/>
          </p:nvSpPr>
          <p:spPr>
            <a:xfrm>
              <a:off x="5472949" y="1872525"/>
              <a:ext cx="171300" cy="139200"/>
            </a:xfrm>
            <a:prstGeom prst="rect">
              <a:avLst/>
            </a:prstGeom>
            <a:solidFill>
              <a:srgbClr val="AFD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3" name="Google Shape;333;p37"/>
          <p:cNvCxnSpPr>
            <a:stCxn id="332" idx="2"/>
            <a:endCxn id="334" idx="0"/>
          </p:cNvCxnSpPr>
          <p:nvPr/>
        </p:nvCxnSpPr>
        <p:spPr>
          <a:xfrm rot="5400000">
            <a:off x="4423549" y="2916203"/>
            <a:ext cx="2240700" cy="294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5" name="Google Shape;335;p37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36" name="Google Shape;336;p37"/>
          <p:cNvSpPr txBox="1"/>
          <p:nvPr/>
        </p:nvSpPr>
        <p:spPr>
          <a:xfrm>
            <a:off x="5371450" y="114034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hello</a:t>
            </a:r>
            <a:endParaRPr b="1"/>
          </a:p>
        </p:txBody>
      </p:sp>
      <p:sp>
        <p:nvSpPr>
          <p:cNvPr id="337" name="Google Shape;337;p37"/>
          <p:cNvSpPr/>
          <p:nvPr/>
        </p:nvSpPr>
        <p:spPr>
          <a:xfrm>
            <a:off x="5264100" y="2818178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7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39" name="Google Shape;339;p37"/>
          <p:cNvSpPr txBox="1"/>
          <p:nvPr/>
        </p:nvSpPr>
        <p:spPr>
          <a:xfrm>
            <a:off x="4486325" y="401782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static</a:t>
            </a:r>
            <a:endParaRPr/>
          </a:p>
        </p:txBody>
      </p:sp>
      <p:sp>
        <p:nvSpPr>
          <p:cNvPr id="340" name="Google Shape;340;p37"/>
          <p:cNvSpPr/>
          <p:nvPr/>
        </p:nvSpPr>
        <p:spPr>
          <a:xfrm>
            <a:off x="622500" y="2759272"/>
            <a:ext cx="3378300" cy="2004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7"/>
          <p:cNvSpPr txBox="1"/>
          <p:nvPr/>
        </p:nvSpPr>
        <p:spPr>
          <a:xfrm>
            <a:off x="6466300" y="1152473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</a:t>
            </a:r>
            <a:endParaRPr b="1"/>
          </a:p>
        </p:txBody>
      </p:sp>
      <p:grpSp>
        <p:nvGrpSpPr>
          <p:cNvPr id="342" name="Google Shape;342;p37"/>
          <p:cNvGrpSpPr/>
          <p:nvPr/>
        </p:nvGrpSpPr>
        <p:grpSpPr>
          <a:xfrm>
            <a:off x="6169225" y="1623826"/>
            <a:ext cx="1110249" cy="324540"/>
            <a:chOff x="6169225" y="1804251"/>
            <a:chExt cx="1110249" cy="360600"/>
          </a:xfrm>
        </p:grpSpPr>
        <p:grpSp>
          <p:nvGrpSpPr>
            <p:cNvPr id="343" name="Google Shape;343;p37"/>
            <p:cNvGrpSpPr/>
            <p:nvPr/>
          </p:nvGrpSpPr>
          <p:grpSpPr>
            <a:xfrm>
              <a:off x="6169225" y="1804251"/>
              <a:ext cx="1110249" cy="360600"/>
              <a:chOff x="5493725" y="1803525"/>
              <a:chExt cx="1110249" cy="360600"/>
            </a:xfrm>
          </p:grpSpPr>
          <p:sp>
            <p:nvSpPr>
              <p:cNvPr id="344" name="Google Shape;344;p37"/>
              <p:cNvSpPr/>
              <p:nvPr/>
            </p:nvSpPr>
            <p:spPr>
              <a:xfrm>
                <a:off x="549372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980000"/>
                  </a:solidFill>
                </a:endParaRPr>
              </a:p>
            </p:txBody>
          </p:sp>
          <p:sp>
            <p:nvSpPr>
              <p:cNvPr id="345" name="Google Shape;345;p37"/>
              <p:cNvSpPr/>
              <p:nvPr/>
            </p:nvSpPr>
            <p:spPr>
              <a:xfrm>
                <a:off x="5862850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54000" spcFirstLastPara="1" rIns="5400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>
                    <a:solidFill>
                      <a:srgbClr val="980000"/>
                    </a:solidFill>
                  </a:rPr>
                  <a:t>13</a:t>
                </a:r>
                <a:endParaRPr>
                  <a:solidFill>
                    <a:srgbClr val="980000"/>
                  </a:solidFill>
                </a:endParaRPr>
              </a:p>
            </p:txBody>
          </p:sp>
          <p:sp>
            <p:nvSpPr>
              <p:cNvPr id="346" name="Google Shape;346;p37"/>
              <p:cNvSpPr/>
              <p:nvPr/>
            </p:nvSpPr>
            <p:spPr>
              <a:xfrm>
                <a:off x="6231975" y="1803525"/>
                <a:ext cx="372000" cy="360600"/>
              </a:xfrm>
              <a:prstGeom prst="rect">
                <a:avLst/>
              </a:prstGeom>
              <a:solidFill>
                <a:srgbClr val="AFD7F7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54000" spcFirstLastPara="1" rIns="54000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>
                    <a:solidFill>
                      <a:srgbClr val="980000"/>
                    </a:solidFill>
                  </a:rPr>
                  <a:t>16</a:t>
                </a:r>
                <a:endParaRPr>
                  <a:solidFill>
                    <a:srgbClr val="980000"/>
                  </a:solidFill>
                </a:endParaRPr>
              </a:p>
            </p:txBody>
          </p:sp>
        </p:grpSp>
        <p:sp>
          <p:nvSpPr>
            <p:cNvPr id="347" name="Google Shape;347;p37"/>
            <p:cNvSpPr/>
            <p:nvPr/>
          </p:nvSpPr>
          <p:spPr>
            <a:xfrm>
              <a:off x="6281051" y="1956651"/>
              <a:ext cx="148800" cy="55200"/>
            </a:xfrm>
            <a:prstGeom prst="rect">
              <a:avLst/>
            </a:prstGeom>
            <a:solidFill>
              <a:srgbClr val="AFD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980000"/>
                </a:solidFill>
              </a:endParaRPr>
            </a:p>
          </p:txBody>
        </p:sp>
      </p:grpSp>
      <p:cxnSp>
        <p:nvCxnSpPr>
          <p:cNvPr id="348" name="Google Shape;348;p37"/>
          <p:cNvCxnSpPr>
            <a:stCxn id="347" idx="2"/>
            <a:endCxn id="349" idx="0"/>
          </p:cNvCxnSpPr>
          <p:nvPr/>
        </p:nvCxnSpPr>
        <p:spPr>
          <a:xfrm rot="5400000">
            <a:off x="5567801" y="2030416"/>
            <a:ext cx="1007400" cy="5679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50" name="Google Shape;350;p37"/>
          <p:cNvSpPr txBox="1"/>
          <p:nvPr/>
        </p:nvSpPr>
        <p:spPr>
          <a:xfrm>
            <a:off x="5447650" y="1346085"/>
            <a:ext cx="71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ptr, size</a:t>
            </a:r>
            <a:endParaRPr sz="1200"/>
          </a:p>
        </p:txBody>
      </p:sp>
      <p:sp>
        <p:nvSpPr>
          <p:cNvPr id="351" name="Google Shape;351;p37"/>
          <p:cNvSpPr txBox="1"/>
          <p:nvPr/>
        </p:nvSpPr>
        <p:spPr>
          <a:xfrm>
            <a:off x="6233123" y="1346085"/>
            <a:ext cx="156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ptr, size, capacity</a:t>
            </a:r>
            <a:endParaRPr sz="1200"/>
          </a:p>
        </p:txBody>
      </p:sp>
      <p:sp>
        <p:nvSpPr>
          <p:cNvPr id="352" name="Google Shape;352;p37"/>
          <p:cNvSpPr/>
          <p:nvPr/>
        </p:nvSpPr>
        <p:spPr>
          <a:xfrm>
            <a:off x="5264100" y="4051232"/>
            <a:ext cx="3568200" cy="3246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7"/>
          <p:cNvSpPr/>
          <p:nvPr/>
        </p:nvSpPr>
        <p:spPr>
          <a:xfrm>
            <a:off x="543577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37"/>
          <p:cNvSpPr/>
          <p:nvPr/>
        </p:nvSpPr>
        <p:spPr>
          <a:xfrm>
            <a:off x="562496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37"/>
          <p:cNvSpPr/>
          <p:nvPr/>
        </p:nvSpPr>
        <p:spPr>
          <a:xfrm>
            <a:off x="58060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37"/>
          <p:cNvSpPr/>
          <p:nvPr/>
        </p:nvSpPr>
        <p:spPr>
          <a:xfrm>
            <a:off x="599408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37"/>
          <p:cNvSpPr/>
          <p:nvPr/>
        </p:nvSpPr>
        <p:spPr>
          <a:xfrm>
            <a:off x="618211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6370138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8" name="Google Shape;358;p37"/>
          <p:cNvSpPr/>
          <p:nvPr/>
        </p:nvSpPr>
        <p:spPr>
          <a:xfrm>
            <a:off x="6746213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6934239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0" name="Google Shape;360;p37"/>
          <p:cNvSpPr/>
          <p:nvPr/>
        </p:nvSpPr>
        <p:spPr>
          <a:xfrm>
            <a:off x="712226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37"/>
          <p:cNvSpPr/>
          <p:nvPr/>
        </p:nvSpPr>
        <p:spPr>
          <a:xfrm>
            <a:off x="729841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37"/>
          <p:cNvSpPr/>
          <p:nvPr/>
        </p:nvSpPr>
        <p:spPr>
          <a:xfrm>
            <a:off x="7479514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37"/>
          <p:cNvSpPr/>
          <p:nvPr/>
        </p:nvSpPr>
        <p:spPr>
          <a:xfrm>
            <a:off x="7665561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37"/>
          <p:cNvSpPr/>
          <p:nvPr/>
        </p:nvSpPr>
        <p:spPr>
          <a:xfrm>
            <a:off x="78466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5694125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5883312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37"/>
          <p:cNvSpPr/>
          <p:nvPr/>
        </p:nvSpPr>
        <p:spPr>
          <a:xfrm>
            <a:off x="6064411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6252437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6440463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6628488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" name="Google Shape;370;p37"/>
          <p:cNvSpPr/>
          <p:nvPr/>
        </p:nvSpPr>
        <p:spPr>
          <a:xfrm>
            <a:off x="6811589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p37"/>
          <p:cNvSpPr/>
          <p:nvPr/>
        </p:nvSpPr>
        <p:spPr>
          <a:xfrm>
            <a:off x="6999615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p37"/>
          <p:cNvSpPr/>
          <p:nvPr/>
        </p:nvSpPr>
        <p:spPr>
          <a:xfrm>
            <a:off x="7187641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3" name="Google Shape;373;p37"/>
          <p:cNvSpPr/>
          <p:nvPr/>
        </p:nvSpPr>
        <p:spPr>
          <a:xfrm>
            <a:off x="7363792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4" name="Google Shape;374;p37"/>
          <p:cNvSpPr/>
          <p:nvPr/>
        </p:nvSpPr>
        <p:spPr>
          <a:xfrm>
            <a:off x="7544891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7730938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" name="Google Shape;376;p37"/>
          <p:cNvSpPr/>
          <p:nvPr/>
        </p:nvSpPr>
        <p:spPr>
          <a:xfrm>
            <a:off x="7912036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" name="Google Shape;377;p37"/>
          <p:cNvSpPr/>
          <p:nvPr/>
        </p:nvSpPr>
        <p:spPr>
          <a:xfrm>
            <a:off x="8098089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8284689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p37"/>
          <p:cNvSpPr/>
          <p:nvPr/>
        </p:nvSpPr>
        <p:spPr>
          <a:xfrm>
            <a:off x="8471289" y="2818178"/>
            <a:ext cx="186600" cy="324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385" name="Google Shape;385;p38"/>
          <p:cNvSpPr txBox="1"/>
          <p:nvPr>
            <p:ph idx="1" type="body"/>
          </p:nvPr>
        </p:nvSpPr>
        <p:spPr>
          <a:xfrm>
            <a:off x="311700" y="1037228"/>
            <a:ext cx="3999900" cy="307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hello: &amp;str = "hello,";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s = String::new();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s.push_str(hello);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s.push_str(" world!");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p38"/>
          <p:cNvSpPr txBox="1"/>
          <p:nvPr>
            <p:ph idx="12" type="sldNum"/>
          </p:nvPr>
        </p:nvSpPr>
        <p:spPr>
          <a:xfrm>
            <a:off x="8472458" y="4784673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7" name="Google Shape;387;p38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8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89" name="Google Shape;389;p38"/>
          <p:cNvSpPr/>
          <p:nvPr/>
        </p:nvSpPr>
        <p:spPr>
          <a:xfrm>
            <a:off x="5264100" y="2818178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8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91" name="Google Shape;391;p38"/>
          <p:cNvSpPr/>
          <p:nvPr/>
        </p:nvSpPr>
        <p:spPr>
          <a:xfrm flipH="1">
            <a:off x="5371459" y="1685294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"/>
          <p:cNvSpPr txBox="1"/>
          <p:nvPr/>
        </p:nvSpPr>
        <p:spPr>
          <a:xfrm>
            <a:off x="4486325" y="401782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static</a:t>
            </a:r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373125" y="3169455"/>
            <a:ext cx="3378300" cy="200400"/>
          </a:xfrm>
          <a:prstGeom prst="roundRect">
            <a:avLst>
              <a:gd fmla="val 16667" name="adj"/>
            </a:avLst>
          </a:prstGeom>
          <a:solidFill>
            <a:srgbClr val="EEFF41">
              <a:alpha val="19130"/>
            </a:srgbClr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8"/>
          <p:cNvSpPr/>
          <p:nvPr/>
        </p:nvSpPr>
        <p:spPr>
          <a:xfrm>
            <a:off x="5264100" y="4051232"/>
            <a:ext cx="3568200" cy="3246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8"/>
          <p:cNvSpPr/>
          <p:nvPr/>
        </p:nvSpPr>
        <p:spPr>
          <a:xfrm>
            <a:off x="543577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6" name="Google Shape;396;p38"/>
          <p:cNvSpPr/>
          <p:nvPr/>
        </p:nvSpPr>
        <p:spPr>
          <a:xfrm>
            <a:off x="562496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7" name="Google Shape;397;p38"/>
          <p:cNvSpPr/>
          <p:nvPr/>
        </p:nvSpPr>
        <p:spPr>
          <a:xfrm>
            <a:off x="58060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599408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6182112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38"/>
          <p:cNvSpPr/>
          <p:nvPr/>
        </p:nvSpPr>
        <p:spPr>
          <a:xfrm>
            <a:off x="6370138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6746213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6934239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7122265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7298416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7479514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7665561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7" name="Google Shape;407;p38"/>
          <p:cNvSpPr/>
          <p:nvPr/>
        </p:nvSpPr>
        <p:spPr>
          <a:xfrm>
            <a:off x="7846660" y="4051232"/>
            <a:ext cx="186600" cy="3246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!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Stringhe</a:t>
            </a:r>
            <a:endParaRPr/>
          </a:p>
        </p:txBody>
      </p:sp>
      <p:sp>
        <p:nvSpPr>
          <p:cNvPr id="413" name="Google Shape;413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14" name="Google Shape;414;p39"/>
          <p:cNvPicPr preferRelativeResize="0"/>
          <p:nvPr/>
        </p:nvPicPr>
        <p:blipFill rotWithShape="1">
          <a:blip r:embed="rId3">
            <a:alphaModFix/>
          </a:blip>
          <a:srcRect b="1036" l="787" r="797" t="2101"/>
          <a:stretch/>
        </p:blipFill>
        <p:spPr>
          <a:xfrm>
            <a:off x="2790825" y="727088"/>
            <a:ext cx="3206115" cy="373061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9"/>
          <p:cNvSpPr txBox="1"/>
          <p:nvPr/>
        </p:nvSpPr>
        <p:spPr>
          <a:xfrm>
            <a:off x="2057400" y="4389120"/>
            <a:ext cx="4876800" cy="4002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https://www.programmersought.com/article/41316303245/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Vec&lt;T&gt;</a:t>
            </a:r>
            <a:endParaRPr/>
          </a:p>
        </p:txBody>
      </p:sp>
      <p:sp>
        <p:nvSpPr>
          <p:cNvPr id="421" name="Google Shape;42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Vec&lt;T&gt;</a:t>
            </a:r>
            <a:r>
              <a:rPr lang="it"/>
              <a:t> rappresenta una sequenza dinamica di elementi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, allocati sullo heap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Offre una serie di metodi per accedere al suo contenuto e per inserire/togliere valori al suo interno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può inserire un nuovo elemento al fondo del buffer con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push(...)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è presente spazio non ancora usato, il valore verrà collocato nella prima posizione libera e verrà incrementato l’intero che indica il numero di elementi effettivamente presenti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Nel caso in cui il buffer fosse già completo, verrà allocato un nuovo buffer di dimensioni maggiori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accede al contenuto del vettore usando la notazione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v[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indice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it"/>
              <a:t> oppure tramite i metodi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get(...)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get_mut(...)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Nel primo caso, verrà generato un panic se l’indice non ricade nell’intervallo lecito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Nel secondo caso, verrà restituito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Option::None</a:t>
            </a:r>
            <a:r>
              <a:rPr lang="it"/>
              <a:t> piuttosto che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Option::Some(ref)</a:t>
            </a:r>
            <a:endParaRPr/>
          </a:p>
        </p:txBody>
      </p:sp>
      <p:sp>
        <p:nvSpPr>
          <p:cNvPr id="422" name="Google Shape;422;p4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Istruzioni ed espressioni</a:t>
            </a:r>
            <a:endParaRPr/>
          </a:p>
        </p:txBody>
      </p:sp>
      <p:sp>
        <p:nvSpPr>
          <p:cNvPr id="428" name="Google Shape;42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corpo di una funzione è costituito da istruzioni e/o espressioni separate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Una istruzione ha come tipo di ritorno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it"/>
              <a:t>, un’espressione può restituire un tipo arbitrario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costrutti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…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let mut …</a:t>
            </a:r>
            <a:r>
              <a:rPr lang="it"/>
              <a:t> sono istruzioni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Creano un legame tra la variabile indicata ed il valore assegnato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blocco racchiuso tra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{...}</a:t>
            </a:r>
            <a:r>
              <a:rPr lang="it"/>
              <a:t> è un’espressione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Restituisce il valore corrispondente all’ultima espressione, a condizione che non sia terminata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costrutto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if … else …</a:t>
            </a:r>
            <a:r>
              <a:rPr lang="it"/>
              <a:t> è un’espressione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ramo positivo ed il ramo negativo sono costituiti da blocchi che devono restituire lo stesso tipo di dato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costrutto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loop …</a:t>
            </a:r>
            <a:r>
              <a:rPr lang="it"/>
              <a:t> è un’espressione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Crea un iterazione infinita che può essere interrotta eseguendo l’istruzione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it"/>
              <a:t> seguita dal valore di ritorno (se presente)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Una singola iterazione può essere parzialmente saltata eseguendo l’istruzione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429" name="Google Shape;429;p4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Controllo di flusso</a:t>
            </a:r>
            <a:endParaRPr/>
          </a:p>
        </p:txBody>
      </p:sp>
      <p:sp>
        <p:nvSpPr>
          <p:cNvPr id="435" name="Google Shape;435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36" name="Google Shape;436;p42"/>
          <p:cNvSpPr txBox="1"/>
          <p:nvPr>
            <p:ph idx="4294967295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let i = 42;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let s = if i % 2 == 0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"even"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} else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"odd"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};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println!("{} is {}", i, s);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7" name="Google Shape;437;p42"/>
          <p:cNvSpPr txBox="1"/>
          <p:nvPr>
            <p:ph idx="4294967295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let mut counter = 0;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let result = loop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counter += 1;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if counter == 10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    break counter * 2;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println!("{}", result); // 20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Iterazioni</a:t>
            </a:r>
            <a:endParaRPr/>
          </a:p>
        </p:txBody>
      </p:sp>
      <p:sp>
        <p:nvSpPr>
          <p:cNvPr id="443" name="Google Shape;44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L’istruzione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while …</a:t>
            </a:r>
            <a:r>
              <a:rPr lang="it"/>
              <a:t> permette di subordinare l’esecuzione del ciclo al verificarsi di una condizione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modo analogo a quanto avviene in altri linguaggi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L’istruzione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for …</a:t>
            </a:r>
            <a:r>
              <a:rPr lang="it"/>
              <a:t> ha una sintassi particolare: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expression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code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6684E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it"/>
              <a:t>expression</a:t>
            </a:r>
            <a:r>
              <a:rPr lang="it"/>
              <a:t> deve restituire un valore che sia (o possa essere convertito in) un iteratore: sono leciti, ad esempio, </a:t>
            </a:r>
            <a:r>
              <a:rPr i="1" lang="it"/>
              <a:t>array</a:t>
            </a:r>
            <a:r>
              <a:rPr lang="it"/>
              <a:t>, </a:t>
            </a:r>
            <a:r>
              <a:rPr i="1" lang="it"/>
              <a:t>slice</a:t>
            </a:r>
            <a:r>
              <a:rPr lang="it"/>
              <a:t> e </a:t>
            </a:r>
            <a:r>
              <a:rPr i="1" lang="it"/>
              <a:t>range</a:t>
            </a:r>
            <a:r>
              <a:rPr lang="it"/>
              <a:t> (nella forma </a:t>
            </a: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low</a:t>
            </a:r>
            <a:r>
              <a:rPr lang="it">
                <a:solidFill>
                  <a:srgbClr val="6684E1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high</a:t>
            </a:r>
            <a:r>
              <a:rPr lang="it"/>
              <a:t>)</a:t>
            </a:r>
            <a:endParaRPr/>
          </a:p>
        </p:txBody>
      </p:sp>
      <p:sp>
        <p:nvSpPr>
          <p:cNvPr id="444" name="Google Shape;444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5" name="Google Shape;445;p43"/>
          <p:cNvSpPr txBox="1"/>
          <p:nvPr>
            <p:ph idx="1" type="body"/>
          </p:nvPr>
        </p:nvSpPr>
        <p:spPr>
          <a:xfrm>
            <a:off x="4572000" y="3236285"/>
            <a:ext cx="3999900" cy="1332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for s in ["a","b","c"]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    println!("{}", s);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43"/>
          <p:cNvSpPr txBox="1"/>
          <p:nvPr>
            <p:ph idx="1" type="body"/>
          </p:nvPr>
        </p:nvSpPr>
        <p:spPr>
          <a:xfrm>
            <a:off x="311700" y="3236285"/>
            <a:ext cx="3999900" cy="1332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for i in 0..10 {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    println!("{}", i);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Iterazioni</a:t>
            </a:r>
            <a:endParaRPr/>
          </a:p>
        </p:txBody>
      </p:sp>
      <p:sp>
        <p:nvSpPr>
          <p:cNvPr id="452" name="Google Shape;452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53" name="Google Shape;453;p44"/>
          <p:cNvSpPr txBox="1"/>
          <p:nvPr/>
        </p:nvSpPr>
        <p:spPr>
          <a:xfrm>
            <a:off x="549300" y="1161461"/>
            <a:ext cx="8045400" cy="3417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std::time::{Duration, Instant};    // Importa dalla libreria standard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mut counter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time_limit = Duration::new(1,0); // Crea una durata di 1 secondo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let start = Instant::now();		  // Determina l’ora attuale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while (Instant::now() - start) &lt; time_limit {  // Finché non è passato 1 s...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counter += 1;                              // ...incrementa il contatore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}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println!(“{}”, counter);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Match</a:t>
            </a:r>
            <a:endParaRPr/>
          </a:p>
        </p:txBody>
      </p:sp>
      <p:sp>
        <p:nvSpPr>
          <p:cNvPr id="459" name="Google Shape;45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L’espressione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match …</a:t>
            </a:r>
            <a:r>
              <a:rPr lang="it"/>
              <a:t> permette di eseguire in modo condizionale blocchi di codice confrontando un valore con una serie di pattern alternativi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Essa confronta la </a:t>
            </a:r>
            <a:r>
              <a:rPr b="1" lang="it">
                <a:solidFill>
                  <a:srgbClr val="0B5394"/>
                </a:solidFill>
              </a:rPr>
              <a:t>struttura</a:t>
            </a:r>
            <a:r>
              <a:rPr lang="it"/>
              <a:t> del valore con i singoli pattern indicati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Tali pattern possono contenere </a:t>
            </a:r>
            <a:r>
              <a:rPr b="1" lang="it">
                <a:solidFill>
                  <a:srgbClr val="0B5394"/>
                </a:solidFill>
              </a:rPr>
              <a:t>variabili</a:t>
            </a:r>
            <a:r>
              <a:rPr lang="it"/>
              <a:t>, che - in caso di corrispondenza delle parti costanti - vengono legate al corrispondente frammento del valore confrontato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L’elenco dei pattern deve essere </a:t>
            </a:r>
            <a:r>
              <a:rPr b="1" lang="it">
                <a:solidFill>
                  <a:srgbClr val="0B5394"/>
                </a:solidFill>
              </a:rPr>
              <a:t>esaustivo</a:t>
            </a:r>
            <a:r>
              <a:rPr lang="it"/>
              <a:t> del dominio dell’espressione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Ciascun pattern è separato dal blocco di codice da eseguire dal simbolo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pattern può essere annotato con una clausola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if …</a:t>
            </a:r>
            <a:r>
              <a:rPr lang="it"/>
              <a:t> per limitarne l’applicabilità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diversi rami sono separati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espressioni di confronto contenute nel pattern possono essere annotate con un identificatore seguito da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lang="it"/>
              <a:t>, per legare il valore confrontato al nome dato, così da poter fare riferimento ad esso nel blocco corrispondente</a:t>
            </a:r>
            <a:endParaRPr/>
          </a:p>
        </p:txBody>
      </p:sp>
      <p:sp>
        <p:nvSpPr>
          <p:cNvPr id="460" name="Google Shape;460;p4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Match</a:t>
            </a:r>
            <a:endParaRPr/>
          </a:p>
        </p:txBody>
      </p:sp>
      <p:sp>
        <p:nvSpPr>
          <p:cNvPr id="466" name="Google Shape;46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L’espressione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lang="it"/>
              <a:t> offre una sintassi concisa e sofisticata per confrontare valori multipli così come per estrarre valori da tipi complessi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indicare un singolo valore, non occorre nessun operatore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sintassi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..= val</a:t>
            </a:r>
            <a:r>
              <a:rPr b="1" baseline="-25000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it"/>
              <a:t> indica un intervallo chiuso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Una barra verticale singola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it"/>
              <a:t> può essere usata per indicare una disgiunzione (or)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segno di sottolineatura _ corrisponde a qualsiasi valore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pattern sono valutati nell’ordine indicato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Alla prima corrispondenza, viene valutato il blocco associato, il cui valore diventa il valore dell’espressione complessiva</a:t>
            </a:r>
            <a:endParaRPr/>
          </a:p>
        </p:txBody>
      </p:sp>
      <p:sp>
        <p:nvSpPr>
          <p:cNvPr id="467" name="Google Shape;467;p4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Match</a:t>
            </a:r>
            <a:endParaRPr/>
          </a:p>
        </p:txBody>
      </p:sp>
      <p:sp>
        <p:nvSpPr>
          <p:cNvPr id="473" name="Google Shape;473;p4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74" name="Google Shape;474;p47"/>
          <p:cNvSpPr txBox="1"/>
          <p:nvPr/>
        </p:nvSpPr>
        <p:spPr>
          <a:xfrm>
            <a:off x="311700" y="1115100"/>
            <a:ext cx="8520600" cy="1293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let s = match item {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=&gt; "zero",	 		           		// valore singolo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10 ..= 20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=&gt; "tra dieci e venti", 			// intervallo inclusivo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40 | 80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=&gt; "quaranta o ottanta",  			// alternativa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_</a:t>
            </a: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 =&gt;  "altro", 			       		// qualunque cosa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p47"/>
          <p:cNvSpPr txBox="1"/>
          <p:nvPr>
            <p:ph idx="1" type="body"/>
          </p:nvPr>
        </p:nvSpPr>
        <p:spPr>
          <a:xfrm>
            <a:off x="311700" y="2571361"/>
            <a:ext cx="8520600" cy="2068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matcher(val: Vec&lt;i32&gt;)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match val[..]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[] =&gt; println!("Vuoto"),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[a] =&gt; println!("Singolo {}", a),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[a, b] =&gt; println!("Coppia {} {}", a, b),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[a, b, c] =&gt; println!("Tripla {} {} {}", a, b, c),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_ =&gt; println!("Altro: {:?}", val)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Valori opzionali e risultati della computazione</a:t>
            </a:r>
            <a:endParaRPr/>
          </a:p>
        </p:txBody>
      </p:sp>
      <p:sp>
        <p:nvSpPr>
          <p:cNvPr id="481" name="Google Shape;48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Option&lt;T&gt;</a:t>
            </a:r>
            <a:r>
              <a:rPr lang="it"/>
              <a:t> permette di rappresentare un valore di tipo generico T che può essere presente o assente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Some(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it"/>
              <a:t>: contiene il dato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it"/>
              <a:t>: indica l'assenza del valore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Result&lt;T,E&gt;</a:t>
            </a:r>
            <a:r>
              <a:rPr lang="it"/>
              <a:t> rappresenta l'esito di una computazione che può aver successo o fallire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it"/>
              <a:t>: la computazione ha avuto successo e il risultato è il valore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Err(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it"/>
              <a:t>: la computazione è fallita; il dato </a:t>
            </a:r>
            <a:r>
              <a:rPr b="1" i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it"/>
              <a:t>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it"/>
              <a:t> ne descrive le ragioni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utilizza il costrutto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match</a:t>
            </a:r>
            <a:r>
              <a:rPr lang="it"/>
              <a:t> per gestire i diversi casi e accedere ai valori contenuti all'interno di questi tipi</a:t>
            </a:r>
            <a:endParaRPr/>
          </a:p>
        </p:txBody>
      </p:sp>
      <p:sp>
        <p:nvSpPr>
          <p:cNvPr id="482" name="Google Shape;482;p4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I/O da console</a:t>
            </a:r>
            <a:endParaRPr/>
          </a:p>
        </p:txBody>
      </p:sp>
      <p:sp>
        <p:nvSpPr>
          <p:cNvPr id="488" name="Google Shape;488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crate (package)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std::io</a:t>
            </a:r>
            <a:r>
              <a:rPr lang="it">
                <a:solidFill>
                  <a:srgbClr val="0B5394"/>
                </a:solidFill>
              </a:rPr>
              <a:t> </a:t>
            </a:r>
            <a:r>
              <a:rPr lang="it"/>
              <a:t>contiene la definizione delle strutture dati per accedere i flussi standard di ingresso/uscita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tipo di operazioni, per definizione, possono fallire: di conseguenza tutti i metodi offerti restituiscono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Result&lt;T,Error&gt;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che incapsula, alternativamente, il valore atteso, se l’operazione ha avuto successo, o un 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it"/>
              <a:t>, in caso di fallimento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garantire la correttezza del programma, occorre gestire esplicitamente l’eventuale errore, verificando il contenuto del valore ritornato tramite il costrutto match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Esso consente non solo di comprendere quale delle due opzioni sia rappresentato, ma anche di accedere al valore presente al suo interno</a:t>
            </a:r>
            <a:endParaRPr/>
          </a:p>
        </p:txBody>
      </p:sp>
      <p:sp>
        <p:nvSpPr>
          <p:cNvPr id="489" name="Google Shape;489;p4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I/O da console</a:t>
            </a:r>
            <a:endParaRPr/>
          </a:p>
        </p:txBody>
      </p:sp>
      <p:sp>
        <p:nvSpPr>
          <p:cNvPr id="495" name="Google Shape;495;p5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96" name="Google Shape;496;p50"/>
          <p:cNvSpPr txBox="1"/>
          <p:nvPr/>
        </p:nvSpPr>
        <p:spPr>
          <a:xfrm>
            <a:off x="558635" y="1251069"/>
            <a:ext cx="8045400" cy="3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std::io;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std::process::exit;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mut s = String::new();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println!("Type a name:");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match io::stdin().read_line(&amp;mut s)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Ok(()) =&gt; </a:t>
            </a: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println!("Got {}", s.trim()),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	   Err(why) =&gt;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    eprintln!("Error: {}", why);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    exit(1);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}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Lettura di file riga per riga</a:t>
            </a:r>
            <a:endParaRPr/>
          </a:p>
        </p:txBody>
      </p:sp>
      <p:sp>
        <p:nvSpPr>
          <p:cNvPr id="502" name="Google Shape;502;p5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03" name="Google Shape;503;p51"/>
          <p:cNvSpPr txBox="1"/>
          <p:nvPr>
            <p:ph idx="4294967295" type="body"/>
          </p:nvPr>
        </p:nvSpPr>
        <p:spPr>
          <a:xfrm>
            <a:off x="311700" y="1012452"/>
            <a:ext cx="8520600" cy="3615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use std::fs::File;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use std::io::{BufRead, BufReader};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use std::process::exit;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let file = match File::open("input.txt")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Ok(file) =&gt; file,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Err(why) =&gt; { eprintln!("Couldn't open file: {}", why); exit(1); },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for (line_number, result) in BufReader::new(file).lines().enumerate()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match result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    Ok(line) =&gt; println!("{:4}: {}", line_number+1, line),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    Err(why) =&gt; { eprintln!("Error in line {}: {}", line_number+1, why);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                  exit(2);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Scrivere un file</a:t>
            </a:r>
            <a:endParaRPr/>
          </a:p>
        </p:txBody>
      </p:sp>
      <p:sp>
        <p:nvSpPr>
          <p:cNvPr id="509" name="Google Shape;509;p5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0" name="Google Shape;510;p52"/>
          <p:cNvSpPr txBox="1"/>
          <p:nvPr>
            <p:ph idx="4294967295" type="body"/>
          </p:nvPr>
        </p:nvSpPr>
        <p:spPr>
          <a:xfrm>
            <a:off x="311700" y="1152492"/>
            <a:ext cx="8520600" cy="3374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use std::fs::File;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use std::io::Write;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use std::process::exit;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let file = match File::create("output.txt")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    Ok(file) =&gt; file,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    Err(why) =&gt; { eprintln!("Couldn't create file: {}", why); exit(1); },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match file.write_all("Hello, Rust!".as_bytes())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    Ok(_) =&gt; {},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    Err(why) =&gt; { eprintln!("Failed writing file: {}, why); exit(2); 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Elencare il contenuto di una cartella</a:t>
            </a:r>
            <a:endParaRPr/>
          </a:p>
        </p:txBody>
      </p:sp>
      <p:sp>
        <p:nvSpPr>
          <p:cNvPr id="516" name="Google Shape;516;p5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7" name="Google Shape;517;p53"/>
          <p:cNvSpPr txBox="1"/>
          <p:nvPr>
            <p:ph idx="4294967295" type="body"/>
          </p:nvPr>
        </p:nvSpPr>
        <p:spPr>
          <a:xfrm>
            <a:off x="311700" y="1152475"/>
            <a:ext cx="8520600" cy="3493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use std::fs;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use std::process::exit;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let entries = match fs::read_dir(".")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Ok(entries) =&gt; entries,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Err(why) =&gt; { eprintln!("Failed to read dir: {}", why); exit(1);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for entry in entries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match entry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    Ok(entry) =&gt; 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println!("{}", entry.path().display()),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	        Err(why) =&gt; { eprintln!("Failed: {}", why); </a:t>
            </a: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exit(1);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Riga di comando</a:t>
            </a:r>
            <a:endParaRPr/>
          </a:p>
        </p:txBody>
      </p:sp>
      <p:sp>
        <p:nvSpPr>
          <p:cNvPr id="523" name="Google Shape;523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Analogamente al C/C++, anche Rust consente di progettare eseguibili che adattano il comportamento in base ai parametri passati sulla riga di comando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Tali parametri si trovano dentro il contenitore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std::env::args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Composto da valori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Nessun bisogno di </a:t>
            </a:r>
            <a:r>
              <a:rPr b="1" i="1" lang="it">
                <a:solidFill>
                  <a:srgbClr val="0B5394"/>
                </a:solidFill>
              </a:rPr>
              <a:t>argc</a:t>
            </a:r>
            <a:r>
              <a:rPr lang="it"/>
              <a:t>: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args.len()</a:t>
            </a:r>
            <a:r>
              <a:rPr lang="it"/>
              <a:t> ritorna il numero di parametri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può accedere come un classico </a:t>
            </a:r>
            <a:r>
              <a:rPr b="1" i="1" lang="it">
                <a:solidFill>
                  <a:srgbClr val="0B5394"/>
                </a:solidFill>
              </a:rPr>
              <a:t>argv</a:t>
            </a:r>
            <a:r>
              <a:rPr lang="it"/>
              <a:t> del C/C++ con gli indici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Sfruttabile anche con altri costrutti più evoluti</a:t>
            </a:r>
            <a:endParaRPr/>
          </a:p>
        </p:txBody>
      </p:sp>
      <p:sp>
        <p:nvSpPr>
          <p:cNvPr id="524" name="Google Shape;524;p5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Riga di comando</a:t>
            </a:r>
            <a:endParaRPr/>
          </a:p>
        </p:txBody>
      </p:sp>
      <p:sp>
        <p:nvSpPr>
          <p:cNvPr id="530" name="Google Shape;530;p5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31" name="Google Shape;531;p55"/>
          <p:cNvSpPr txBox="1"/>
          <p:nvPr/>
        </p:nvSpPr>
        <p:spPr>
          <a:xfrm>
            <a:off x="549300" y="1101750"/>
            <a:ext cx="8045400" cy="363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use std::env::args;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args: Vec&lt;String&gt; = args().collect();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let program_name = &amp;args[0];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print!("Running {}", program_name);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if args.len() == 1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println!(" with no arguments");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println!(" with arguments:");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for i in 1..args.len()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    println!(" - {}", args[i]);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</a:t>
            </a:r>
            <a:endParaRPr/>
          </a:p>
        </p:txBody>
      </p:sp>
      <p:sp>
        <p:nvSpPr>
          <p:cNvPr id="537" name="Google Shape;53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The Book - </a:t>
            </a:r>
            <a:r>
              <a:rPr lang="it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https://doc.rust-lang.org/book/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tutorial ufficiale del linguaggio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The Rust Reference - </a:t>
            </a:r>
            <a:r>
              <a:rPr lang="it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https://doc.rust-lang.org/stable/reference/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guida di riferimento ufficiale del linguaggio: utile per approfondire specifici concetti dopo che si è imparata la struttura generale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Rust-learning - </a:t>
            </a:r>
            <a:r>
              <a:rPr lang="it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https://github.com/ctjhoa/rust-learning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Una ampia collezione curata ed aggiornata di link ad articoli e video legati all’apprendimento di Rust, suddivisi per argomento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The Little Book of Rust Books - </a:t>
            </a:r>
            <a:r>
              <a:rPr lang="it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https://lborb.github.io/book/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Collezione curata ed aggiornata di libri online su Rust e sul suo ecosistema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Books - </a:t>
            </a:r>
            <a:r>
              <a:rPr lang="it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https://github.com/sger/RustBooks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Raccolta di riferimenti a libri cartacei (e digitali) con link ai relativi editori e/o venditori </a:t>
            </a:r>
            <a:endParaRPr/>
          </a:p>
        </p:txBody>
      </p:sp>
      <p:sp>
        <p:nvSpPr>
          <p:cNvPr id="538" name="Google Shape;538;p5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539" name="Google Shape;539;p56"/>
          <p:cNvPicPr preferRelativeResize="0"/>
          <p:nvPr/>
        </p:nvPicPr>
        <p:blipFill rotWithShape="1">
          <a:blip r:embed="rId8">
            <a:alphaModFix/>
          </a:blip>
          <a:srcRect b="18805" l="17234" r="17234" t="18799"/>
          <a:stretch/>
        </p:blipFill>
        <p:spPr>
          <a:xfrm>
            <a:off x="7771925" y="117450"/>
            <a:ext cx="1249224" cy="11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