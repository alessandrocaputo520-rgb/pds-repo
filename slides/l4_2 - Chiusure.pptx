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DDF97F-F3BA-4C7D-A1CC-469345751FB9}">
  <a:tblStyle styleId="{F3DDF97F-F3BA-4C7D-A1CC-469345751F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0b48571d88_0_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10b48571d8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b48571d88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b48571d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0ab265b867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0ab265b8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6fa4026ea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6fa4026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6fa4026ea_0_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6fa4026e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ab265b867_0_5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0ab265b86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0ab265b867_0_7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0ab265b86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6fa4026ea_0_2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6fa4026e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ab265b867_0_9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0ab265b86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6fa4026ea_0_3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6fa4026e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6fa4026ea_0_3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6fa4026e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6fa4026ea_0_4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6fa4026e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6fa4026ea_0_5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6fa4026e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0ab265b867_0_18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0ab265b867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c2bc5abcc8_0_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c2bc5abcc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bc78d8eb3b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bc78d8eb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170469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79424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9530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2021-26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medium.com/coderhack-com/functional-programming-using-rust-3776c10cfc6" TargetMode="External"/><Relationship Id="rId4" Type="http://schemas.openxmlformats.org/officeDocument/2006/relationships/hyperlink" Target="https://marketsplash.com/tutorials/rust/rust-functional-programming/" TargetMode="External"/><Relationship Id="rId5" Type="http://schemas.openxmlformats.org/officeDocument/2006/relationships/hyperlink" Target="https://dhghomon.github.io/easy_rust/Chapter_37.html" TargetMode="External"/><Relationship Id="rId6" Type="http://schemas.openxmlformats.org/officeDocument/2006/relationships/hyperlink" Target="https://hashrust.com/blog/a-guide-to-closures-in-rust/" TargetMode="External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170469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Chiusure</a:t>
            </a:r>
            <a:endParaRPr/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0" y="325463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379424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Puntatori a funzione e tratti funzionali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Funzioni e chiusure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programmazione in stile funzionale introduce il concetto di </a:t>
            </a:r>
            <a:r>
              <a:rPr b="1" lang="it">
                <a:solidFill>
                  <a:srgbClr val="0B5394"/>
                </a:solidFill>
              </a:rPr>
              <a:t>funzioni di ordine superiore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Funzioni i cui parametri e/o il cui tipo di ritorno sono a loro volta una funzione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offre vari modi di trattare il comportamento eseguibile come valore: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Puntatori a funzione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fn(T</a:t>
            </a:r>
            <a:r>
              <a:rPr b="1" baseline="-25000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, …, T</a:t>
            </a:r>
            <a:r>
              <a:rPr b="1" baseline="-25000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) -&gt; U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Chiusure, introdotte dalla sintassi lambda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|p</a:t>
            </a:r>
            <a:r>
              <a:rPr b="1" baseline="-25000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: T</a:t>
            </a:r>
            <a:r>
              <a:rPr b="1" baseline="-25000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, …, p</a:t>
            </a:r>
            <a:r>
              <a:rPr b="1" baseline="-25000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:T</a:t>
            </a:r>
            <a:r>
              <a:rPr b="1" baseline="-25000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| -&gt; R {…}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Parametri generici vincolati da tratti funzionali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FnOnce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FnMut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differenza chiave non è sintattica, ma semantica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valori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fn(…)</a:t>
            </a:r>
            <a:r>
              <a:rPr lang="it"/>
              <a:t> non catturano stato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Le chiusure e i tipi derivati possono includere uno stato catturato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scelta del tipo di valore invocabile influenza vari aspetti: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rappresentazione del valore, prestiti e possesso, modalità di invocazione, possibilità di riuso</a:t>
            </a:r>
            <a:endParaRPr/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Puntatori a funzione (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fn</a:t>
            </a:r>
            <a:r>
              <a:rPr lang="it"/>
              <a:t> )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Un valore di tipo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fn(A, B) -&gt; R</a:t>
            </a:r>
            <a:r>
              <a:rPr lang="it" sz="1600"/>
              <a:t> è un puntatore a funzione con firma compatibile</a:t>
            </a:r>
            <a:endParaRPr sz="16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it" sz="1400"/>
              <a:t>Può essere invocato come funzione normale: </a:t>
            </a: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f(x, y)</a:t>
            </a:r>
            <a:endParaRPr b="1" sz="14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E' adatto quando:</a:t>
            </a:r>
            <a:endParaRPr sz="16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it" sz="1400"/>
              <a:t>Il comportamento da eseguire è già definito</a:t>
            </a:r>
            <a:endParaRPr sz="14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it" sz="1400"/>
              <a:t>Non serve catturare stato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4832400" y="1152475"/>
            <a:ext cx="3999900" cy="2955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add(a: i32, b: i32) -&gt; i32 { a + b }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multiply(a: i32, b: i32) -&gt; i32 { a * b }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choose(c: bool) -&gt; </a:t>
            </a:r>
            <a:r>
              <a:rPr b="1" lang="it" sz="12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fn(i32, i32) -&gt; i32</a:t>
            </a: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c { add } else { multiply }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f1 = choose(true);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f2 = choose(false);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println!("f1 =&gt; {}", f1(2, 3)); // 5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println!("f2 =&gt; {}", f2(2, 3)); // 6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13900" y="4242525"/>
            <a:ext cx="8520600" cy="480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Consolas"/>
                <a:ea typeface="Consolas"/>
                <a:cs typeface="Consolas"/>
                <a:sym typeface="Consolas"/>
              </a:rPr>
              <a:t>fn(…)</a:t>
            </a: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 rappresenta codice invocabile senza stato catturato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Chiusure: codice + ambiente catturato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puntatore a funzione invoca solo codice; non incorpora un ambiente lessicale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Una chiusura è un valore invocabile che può catturare variabili visibili nel punto in cui è definita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Le variabili catturate diventano parte dello stato della chiusura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Ogni chiusura ha un tipo proprio, unico e anonimo generato dal compilatore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Tale tipo implementa almeno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FnOnce</a:t>
            </a:r>
            <a:r>
              <a:rPr lang="it"/>
              <a:t>, ed eventualmente anche i tratti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FnMut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</a:t>
            </a:r>
            <a:r>
              <a:rPr lang="it"/>
              <a:t> </a:t>
            </a:r>
            <a:endParaRPr/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313900" y="3875934"/>
            <a:ext cx="8520600" cy="722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Una chiusura è simile ad una struct anonima con alcuni campi catturati </a:t>
            </a:r>
            <a:br>
              <a:rPr lang="it" sz="1800">
                <a:latin typeface="Calibri"/>
                <a:ea typeface="Calibri"/>
                <a:cs typeface="Calibri"/>
                <a:sym typeface="Calibri"/>
              </a:rPr>
            </a:b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e con un'operazione di chiamata definita dal compilatore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Differenza essenziale: una chiusura cattura l'ambiente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fn add_one(x: i32) -&gt; i32 {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x + 1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let </a:t>
            </a:r>
            <a:r>
              <a:rPr b="1"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= 10;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let f_ptr: fn(i32)-&gt;i32 = add_one;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let closure = |x| { x + </a:t>
            </a:r>
            <a:r>
              <a:rPr b="1"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};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println!("{}", f_ptr(5));   // 6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println!("{}", closure(5)); // 15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1" name="Google Shape;9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>
                <a:solidFill>
                  <a:srgbClr val="0B5394"/>
                </a:solidFill>
              </a:rPr>
              <a:t>f_ptr</a:t>
            </a:r>
            <a:r>
              <a:rPr lang="it"/>
              <a:t> non dispone di ambiente catturato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Il suo risultato dipende solo dagli argomenti e da ciò che la funzione può già raggiungere senza cattura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closure(…)</a:t>
            </a:r>
            <a:r>
              <a:rPr lang="it"/>
              <a:t> usa anche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it"/>
              <a:t> che appartiene al contesto lessicale esterno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it"/>
              <a:t> è una variabile libera nel corpo della chiusura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Il compilatore decide come catturarla: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Come riferimento condiviso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Come riferimento mutabile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Per valore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719300" y="4020400"/>
            <a:ext cx="4113000" cy="683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Una chiusura è una funzione accompagnata dal proprio ambiente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Chiusure che non catturano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Una chiusura viene invocata come una funzione: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f(5)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</a:rPr>
              <a:t>non cattura variabili</a:t>
            </a:r>
            <a:r>
              <a:rPr lang="it"/>
              <a:t>, può essere convertita a puntatore a funzione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invece cattura un ambiente, la si descrive tramite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impl Fn…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impl FnMut…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impl FnOnce…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Oppure come oggetto tratto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Box&lt;dyn Fn…&gt;</a:t>
            </a:r>
            <a:r>
              <a:rPr lang="it"/>
              <a:t>) quando occorre implementare il dispatch dinamico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355775" y="3359530"/>
            <a:ext cx="3983100" cy="738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fn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ret_fun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() -&gt; fn(i32) -&gt; i32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|x|{ x + 1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859600" y="4190825"/>
            <a:ext cx="3054600" cy="572700"/>
          </a:xfrm>
          <a:prstGeom prst="wedgeRoundRectCallout">
            <a:avLst>
              <a:gd fmla="val -26995" name="adj1"/>
              <a:gd fmla="val -108351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Questo esempio funziona perché la funzione ritornata non cattura valori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572000" y="3359530"/>
            <a:ext cx="3983100" cy="738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fn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ret_closure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(i: i32) -&gt; impl Fn(i32)-&gt;i32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move |x|{ x + i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5346400" y="4150600"/>
            <a:ext cx="3054600" cy="572700"/>
          </a:xfrm>
          <a:prstGeom prst="wedgeRoundRectCallout">
            <a:avLst>
              <a:gd fmla="val -26995" name="adj1"/>
              <a:gd fmla="val -108351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Qui viene catturata la variabile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Modalità di cattura in Rust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</a:t>
            </a:r>
            <a:r>
              <a:rPr lang="it"/>
              <a:t>na chiusura cattura ogni variabile libera nel modo meno restrittivo compatibile con il suo utilizzo nel corpo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la variabile è solo letta, la cattura avviene tramite riferimento condiviso </a:t>
            </a:r>
            <a:r>
              <a:rPr lang="it"/>
              <a:t>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it"/>
              <a:t>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nel corpo richiede modifica dello stato catturato, la chiusura richiede accesso mutabile al proprio ambiente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 mut f = |...| {...};</a:t>
            </a:r>
            <a:r>
              <a:rPr lang="it"/>
              <a:t>)</a:t>
            </a:r>
            <a:r>
              <a:rPr lang="it"/>
              <a:t> e implementa tipicamente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FnMut</a:t>
            </a:r>
            <a:r>
              <a:rPr lang="it"/>
              <a:t>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il corpo consuma un valore catturato, la chiusura implementa il tratto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FnOnce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borrow checker verifica la coerenza tra catture, prestiti e  il tempo di vita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parola chiave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move</a:t>
            </a:r>
            <a:r>
              <a:rPr lang="it"/>
              <a:t> forza la cattura per valore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 f = move |...| {...};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move</a:t>
            </a:r>
            <a:r>
              <a:rPr lang="it">
                <a:solidFill>
                  <a:schemeClr val="dk1"/>
                </a:solidFill>
              </a:rPr>
              <a:t> non implica necessariamente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FnOnce</a:t>
            </a:r>
            <a:r>
              <a:rPr lang="it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Il tratto implementato dalla chiusura dipende da come il valore viene usato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Modello mentale: le chiusure come struct anonime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3999900" cy="835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let y: Y = …;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let z: Z = …;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let f = |x| x+ y.m() + z;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Il compilatore materializza l’ambiente catturato come campi di un tipo anonimo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Senza </a:t>
            </a: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move</a:t>
            </a:r>
            <a:r>
              <a:rPr lang="it" sz="1400"/>
              <a:t>, la cattura può avvenire per riferimento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Con </a:t>
            </a: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move</a:t>
            </a:r>
            <a:r>
              <a:rPr lang="it" sz="1400"/>
              <a:t>, i campi dell’ambiente vengono catturati per valore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Il corpo della chiusura opera su questi campi</a:t>
            </a:r>
            <a:endParaRPr sz="1400"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2660275"/>
            <a:ext cx="3999900" cy="1908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struct __Closure&lt;'a&gt;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y: &amp;'a Y,  // o Y o &amp;mut Y in base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         // all'uso nel corpo 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z: &amp;'a Z,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// impl Fn / FnMut / FnOnce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// per __Closure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2037300" y="2085175"/>
            <a:ext cx="548700" cy="477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/>
          <p:nvPr/>
        </p:nvSpPr>
        <p:spPr>
          <a:xfrm>
            <a:off x="1150425" y="2827823"/>
            <a:ext cx="1291200" cy="679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(any mem)</a:t>
            </a:r>
            <a:endParaRPr sz="1200"/>
          </a:p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Cattura delle variabili in Rust</a:t>
            </a:r>
            <a:endParaRPr/>
          </a:p>
        </p:txBody>
      </p:sp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457700" y="1258043"/>
            <a:ext cx="3896400" cy="400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let f1 = | x |{ x + y.f() + z };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11688" y="2166998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1025628" y="2184815"/>
            <a:ext cx="33285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1636050" y="1659893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f1</a:t>
            </a:r>
            <a:endParaRPr b="1"/>
          </a:p>
        </p:txBody>
      </p:sp>
      <p:grpSp>
        <p:nvGrpSpPr>
          <p:cNvPr id="132" name="Google Shape;132;p21"/>
          <p:cNvGrpSpPr/>
          <p:nvPr/>
        </p:nvGrpSpPr>
        <p:grpSpPr>
          <a:xfrm>
            <a:off x="1895700" y="2184806"/>
            <a:ext cx="372000" cy="324540"/>
            <a:chOff x="3978500" y="3918875"/>
            <a:chExt cx="372000" cy="360600"/>
          </a:xfrm>
        </p:grpSpPr>
        <p:sp>
          <p:nvSpPr>
            <p:cNvPr id="133" name="Google Shape;133;p21"/>
            <p:cNvSpPr/>
            <p:nvPr/>
          </p:nvSpPr>
          <p:spPr>
            <a:xfrm>
              <a:off x="3978500" y="3918875"/>
              <a:ext cx="372000" cy="360600"/>
            </a:xfrm>
            <a:prstGeom prst="rect">
              <a:avLst/>
            </a:prstGeom>
            <a:solidFill>
              <a:srgbClr val="AFD7F7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1"/>
            <p:cNvSpPr/>
            <p:nvPr/>
          </p:nvSpPr>
          <p:spPr>
            <a:xfrm>
              <a:off x="4117700" y="3938165"/>
              <a:ext cx="100500" cy="990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21"/>
          <p:cNvGrpSpPr/>
          <p:nvPr/>
        </p:nvGrpSpPr>
        <p:grpSpPr>
          <a:xfrm>
            <a:off x="1523860" y="2184806"/>
            <a:ext cx="372000" cy="324540"/>
            <a:chOff x="3978500" y="3918875"/>
            <a:chExt cx="372000" cy="360600"/>
          </a:xfrm>
        </p:grpSpPr>
        <p:sp>
          <p:nvSpPr>
            <p:cNvPr id="136" name="Google Shape;136;p21"/>
            <p:cNvSpPr/>
            <p:nvPr/>
          </p:nvSpPr>
          <p:spPr>
            <a:xfrm>
              <a:off x="3978500" y="3918875"/>
              <a:ext cx="372000" cy="360600"/>
            </a:xfrm>
            <a:prstGeom prst="rect">
              <a:avLst/>
            </a:prstGeom>
            <a:solidFill>
              <a:srgbClr val="AFD7F7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4117700" y="3938165"/>
              <a:ext cx="100500" cy="990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8" name="Google Shape;138;p21"/>
          <p:cNvCxnSpPr>
            <a:stCxn id="137" idx="4"/>
          </p:cNvCxnSpPr>
          <p:nvPr/>
        </p:nvCxnSpPr>
        <p:spPr>
          <a:xfrm flipH="1" rot="-5400000">
            <a:off x="1418560" y="2586017"/>
            <a:ext cx="610800" cy="21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9" name="Google Shape;139;p21"/>
          <p:cNvSpPr/>
          <p:nvPr/>
        </p:nvSpPr>
        <p:spPr>
          <a:xfrm rot="5400000">
            <a:off x="1821450" y="1747222"/>
            <a:ext cx="90600" cy="636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1230875" y="2902005"/>
            <a:ext cx="1131900" cy="3246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y</a:t>
            </a:r>
            <a:endParaRPr/>
          </a:p>
        </p:txBody>
      </p:sp>
      <p:sp>
        <p:nvSpPr>
          <p:cNvPr id="141" name="Google Shape;141;p21"/>
          <p:cNvSpPr/>
          <p:nvPr/>
        </p:nvSpPr>
        <p:spPr>
          <a:xfrm>
            <a:off x="2737750" y="2827823"/>
            <a:ext cx="994200" cy="679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(any mem)</a:t>
            </a:r>
            <a:endParaRPr sz="1200"/>
          </a:p>
        </p:txBody>
      </p:sp>
      <p:sp>
        <p:nvSpPr>
          <p:cNvPr id="142" name="Google Shape;142;p21"/>
          <p:cNvSpPr/>
          <p:nvPr/>
        </p:nvSpPr>
        <p:spPr>
          <a:xfrm>
            <a:off x="3048860" y="2901994"/>
            <a:ext cx="372000" cy="3246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z</a:t>
            </a:r>
            <a:endParaRPr/>
          </a:p>
        </p:txBody>
      </p:sp>
      <p:cxnSp>
        <p:nvCxnSpPr>
          <p:cNvPr id="143" name="Google Shape;143;p21"/>
          <p:cNvCxnSpPr>
            <a:stCxn id="134" idx="4"/>
            <a:endCxn id="142" idx="0"/>
          </p:cNvCxnSpPr>
          <p:nvPr/>
        </p:nvCxnSpPr>
        <p:spPr>
          <a:xfrm flipH="1" rot="-5400000">
            <a:off x="2354550" y="2021867"/>
            <a:ext cx="610800" cy="1149600"/>
          </a:xfrm>
          <a:prstGeom prst="curvedConnector3">
            <a:avLst>
              <a:gd fmla="val 49999" name="adj1"/>
            </a:avLst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4" name="Google Shape;144;p21"/>
          <p:cNvSpPr txBox="1"/>
          <p:nvPr/>
        </p:nvSpPr>
        <p:spPr>
          <a:xfrm>
            <a:off x="4935875" y="1258043"/>
            <a:ext cx="3896400" cy="400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let f2 = move | x |{ x + y.f() + z };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5503803" y="2184815"/>
            <a:ext cx="33285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 txBox="1"/>
          <p:nvPr/>
        </p:nvSpPr>
        <p:spPr>
          <a:xfrm>
            <a:off x="4793388" y="2166998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5869682" y="2184818"/>
            <a:ext cx="11319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y</a:t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7001454" y="218481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z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076347" y="1676205"/>
            <a:ext cx="10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f2</a:t>
            </a:r>
            <a:endParaRPr b="1"/>
          </a:p>
        </p:txBody>
      </p:sp>
      <p:sp>
        <p:nvSpPr>
          <p:cNvPr id="150" name="Google Shape;150;p21"/>
          <p:cNvSpPr/>
          <p:nvPr/>
        </p:nvSpPr>
        <p:spPr>
          <a:xfrm rot="5400000">
            <a:off x="6576200" y="1329735"/>
            <a:ext cx="90600" cy="1503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21"/>
          <p:cNvCxnSpPr/>
          <p:nvPr/>
        </p:nvCxnSpPr>
        <p:spPr>
          <a:xfrm>
            <a:off x="4638800" y="1358235"/>
            <a:ext cx="0" cy="23268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1"/>
          <p:cNvSpPr txBox="1"/>
          <p:nvPr/>
        </p:nvSpPr>
        <p:spPr>
          <a:xfrm>
            <a:off x="524000" y="4025525"/>
            <a:ext cx="822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Il diagramma è qualitativo: in assenza di </a:t>
            </a:r>
            <a:r>
              <a:rPr i="1" lang="it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move</a:t>
            </a:r>
            <a:r>
              <a:rPr lang="it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la modalità di cattura dipende dall’uso; </a:t>
            </a:r>
            <a:r>
              <a:rPr i="1" lang="it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move </a:t>
            </a:r>
            <a:r>
              <a:rPr lang="it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forza invece la cattura per valore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Gerarchia dei tratti funzionali</a:t>
            </a:r>
            <a:endParaRPr/>
          </a:p>
        </p:txBody>
      </p:sp>
      <p:sp>
        <p:nvSpPr>
          <p:cNvPr id="158" name="Google Shape;158;p2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159" name="Google Shape;159;p22"/>
          <p:cNvGraphicFramePr/>
          <p:nvPr/>
        </p:nvGraphicFramePr>
        <p:xfrm>
          <a:off x="7117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{F3DDF97F-F3BA-4C7D-A1CC-469345751FB9}</a:tableStyleId>
              </a:tblPr>
              <a:tblGrid>
                <a:gridCol w="1940175"/>
                <a:gridCol w="1940175"/>
                <a:gridCol w="1940175"/>
                <a:gridCol w="1940175"/>
              </a:tblGrid>
              <a:tr h="5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Tratto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Ricevitore concettuale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Ambiente catturato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Invocazioni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FnOnce</a:t>
                      </a:r>
                      <a:endParaRPr b="1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self</a:t>
                      </a:r>
                      <a:endParaRPr b="1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può essere consumato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 più una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FnMut</a:t>
                      </a:r>
                      <a:endParaRPr b="1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&amp;mut self</a:t>
                      </a:r>
                      <a:endParaRPr b="1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può essere modificato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o più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Fn</a:t>
                      </a:r>
                      <a:endParaRPr b="1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&amp;self</a:t>
                      </a:r>
                      <a:endParaRPr b="1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solo lettura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o più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22"/>
          <p:cNvSpPr/>
          <p:nvPr/>
        </p:nvSpPr>
        <p:spPr>
          <a:xfrm>
            <a:off x="1379300" y="1150075"/>
            <a:ext cx="6347400" cy="514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8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  ⊂  FnMut  ⊂  FnOnce </a:t>
            </a:r>
            <a:endParaRPr b="1" sz="18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FnOnce</a:t>
            </a:r>
            <a:r>
              <a:rPr lang="it"/>
              <a:t> </a:t>
            </a:r>
            <a:r>
              <a:rPr i="1" lang="it"/>
              <a:t>vs</a:t>
            </a:r>
            <a:r>
              <a:rPr lang="it"/>
              <a:t>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FnMut</a:t>
            </a:r>
            <a:endParaRPr/>
          </a:p>
        </p:txBody>
      </p:sp>
      <p:sp>
        <p:nvSpPr>
          <p:cNvPr id="166" name="Google Shape;166;p23"/>
          <p:cNvSpPr txBox="1"/>
          <p:nvPr>
            <p:ph idx="1" type="body"/>
          </p:nvPr>
        </p:nvSpPr>
        <p:spPr>
          <a:xfrm>
            <a:off x="311700" y="2893450"/>
            <a:ext cx="3999900" cy="16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range.count()</a:t>
            </a:r>
            <a:r>
              <a:rPr lang="it"/>
              <a:t> consuma range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Il valore catturato viene tolto dall'ambiente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Quindi la chiusura può essere chiamata una sola volta →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f: FnOnce() -&gt; usize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8" name="Google Shape;168;p23"/>
          <p:cNvSpPr txBox="1"/>
          <p:nvPr>
            <p:ph idx="2" type="body"/>
          </p:nvPr>
        </p:nvSpPr>
        <p:spPr>
          <a:xfrm>
            <a:off x="4832400" y="2893450"/>
            <a:ext cx="3999900" cy="16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L</a:t>
            </a:r>
            <a:r>
              <a:rPr lang="it"/>
              <a:t>a chiusura modifica il proprio ambiente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Occorre invocarla tramite accesso mutabile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Per questo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f: FnMut(i32) -&gt; ()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311700" y="1152475"/>
            <a:ext cx="3999900" cy="1461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let range = 1..10;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let f = || range.count();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let n1 = f();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let n2 = f(); 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errore: range è stato consumato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4832400" y="1152475"/>
            <a:ext cx="3999900" cy="1461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let mut sum = 0;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let mut f = |x| sum += x;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f(5);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f(7);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sum vale 12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Fn</a:t>
            </a:r>
            <a:endParaRPr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311700" y="2824688"/>
            <a:ext cx="85206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Una chiusura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Fn(…)</a:t>
            </a:r>
            <a:r>
              <a:rPr lang="it"/>
              <a:t> accede all'ambiente catturato senza consumarlo né mutarlo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Può essere chiamata ripetutamente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Tipicamente, la cattura avviene tramite accesso in sola lettura al dato esterno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È il caso più restrittivo, ma anche il più riusabile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" name="Google Shape;177;p2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311700" y="1152475"/>
            <a:ext cx="8160900" cy="1461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let s = "hello";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let f = |v| v &lt; s;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f("world"); // false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f("bye"); // true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Chiusure come argomenti</a:t>
            </a:r>
            <a:endParaRPr/>
          </a:p>
        </p:txBody>
      </p:sp>
      <p:sp>
        <p:nvSpPr>
          <p:cNvPr id="184" name="Google Shape;18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Ogni chiusura ha un tipo anonimo distinto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Per accettare una chiusura come parametro si usa spesso un tipo generico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Il vincolo posto su tale tipo dipende dall'uso previsto: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FnOnce</a:t>
            </a:r>
            <a:r>
              <a:rPr lang="it"/>
              <a:t> se basta una chiamata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FnMut</a:t>
            </a:r>
            <a:r>
              <a:rPr lang="it"/>
              <a:t> se occorre modificare l'ambiente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</a:t>
            </a:r>
            <a:r>
              <a:rPr lang="it"/>
              <a:t> se vengono solo effettuate letture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La presenza del parametro generico dà origine a monomorfizzazione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Se serve eterogeneità in fase di esecuzione, si può usare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Box&lt;dyn Fn(…) -&gt; R&gt;</a:t>
            </a:r>
            <a:r>
              <a:rPr lang="it"/>
              <a:t> </a:t>
            </a:r>
            <a:endParaRPr/>
          </a:p>
        </p:txBody>
      </p:sp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6" name="Google Shape;186;p25"/>
          <p:cNvSpPr txBox="1"/>
          <p:nvPr>
            <p:ph idx="2" type="body"/>
          </p:nvPr>
        </p:nvSpPr>
        <p:spPr>
          <a:xfrm>
            <a:off x="4365225" y="1152475"/>
            <a:ext cx="44670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Questa funzione accetta qualsiasi oggetto 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chiamabile (fn, Fn, Box&lt;dyn Fn&gt;)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fn apply&lt;F&gt;(x: i32, f: F) -&gt; i32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where F: Fn(i32) -&gt; i32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f(x)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Se occorre rappresentare in modo omogeno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oggetti invocabili, occorre usare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il polimorfismo dinamico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struct PipelineStep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op: Box&lt;dyn Fn(i32)-&gt;i32&gt;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impl PipelineStep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fn run(&amp;self, v: i32) -&gt; i32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(self.op)(v)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Restituire una chiusura in sicurezza</a:t>
            </a:r>
            <a:endParaRPr/>
          </a:p>
        </p:txBody>
      </p:sp>
      <p:sp>
        <p:nvSpPr>
          <p:cNvPr id="192" name="Google Shape;19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una funzione restituisce una chiusura, il valore restituito deve essere slegato dallo </a:t>
            </a:r>
            <a:r>
              <a:rPr i="1" lang="it"/>
              <a:t>stack frame</a:t>
            </a:r>
            <a:r>
              <a:rPr lang="it"/>
              <a:t> locale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move</a:t>
            </a:r>
            <a:r>
              <a:rPr lang="it"/>
              <a:t> trasferisce il possesso dei valori alla chiusura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impl Fn() -&gt; T</a:t>
            </a:r>
            <a:r>
              <a:rPr lang="it"/>
              <a:t> nasconde il tipo anonimo concreto della chiusura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L'invocazione del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clone()</a:t>
            </a:r>
            <a:r>
              <a:rPr lang="it"/>
              <a:t> permette di restituire ogni volta un nuovo valore senza consumare quello catturato</a:t>
            </a:r>
            <a:endParaRPr/>
          </a:p>
        </p:txBody>
      </p:sp>
      <p:sp>
        <p:nvSpPr>
          <p:cNvPr id="193" name="Google Shape;193;p2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313900" y="3063850"/>
            <a:ext cx="8520600" cy="831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fn value_source&lt;T&gt;(v: T) -&gt; impl Fn()-&gt;T where T: Clone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move || { v.clone() 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313900" y="4194365"/>
            <a:ext cx="8520600" cy="480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move</a:t>
            </a: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 serve spesso a rendere la chiusura restituita autosufficiente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Chiusure con stato</a:t>
            </a:r>
            <a:endParaRPr/>
          </a:p>
        </p:txBody>
      </p:sp>
      <p:sp>
        <p:nvSpPr>
          <p:cNvPr id="201" name="Google Shape;201;p2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311700" y="1161600"/>
            <a:ext cx="3999900" cy="3201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generator(prefix: &amp;str) -&gt; 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impl FnMut() -&gt; String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i = 0;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 = prefix.to_string();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move || {i+=1; format!("{}{}",b,i)}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let mut f = generator("id_");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for _ in 1..5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println!("{}",f());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3440325" y="3319150"/>
            <a:ext cx="1035000" cy="1152900"/>
          </a:xfrm>
          <a:prstGeom prst="wedgeRoundRectCallout">
            <a:avLst>
              <a:gd fmla="val -105816" name="adj1"/>
              <a:gd fmla="val -31783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id_1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id_2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id_3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id_4</a:t>
            </a:r>
            <a:endParaRPr/>
          </a:p>
        </p:txBody>
      </p:sp>
      <p:sp>
        <p:nvSpPr>
          <p:cNvPr id="204" name="Google Shape;204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Questa chiusura cattura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it" sz="1400"/>
              <a:t> per valore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it" sz="1400"/>
              <a:t> per valore, mantenendolo come stato interno mutabile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Ogni invocazione aggiorna lo stato e produce un risultato diverso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Il tratto associato è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FnMut</a:t>
            </a:r>
            <a:r>
              <a:rPr lang="it" sz="1600"/>
              <a:t>, perché l'ambiente viene modificato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Questo pattern è utile quando si vuole incapsulare uno stato senza definire esplicitamente  una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it" sz="1600"/>
              <a:t> dedicata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 saperne di più</a:t>
            </a:r>
            <a:endParaRPr/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Functional Programming using Rust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https://medium.com/coderhack-com/functional-programming-using-rust-3776c10cfc6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Introduzione alla programmazione funzionale in Rust con esempi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Functional Programming In Rust: Unlocking Expressive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https://marketsplash.com/tutorials/rust/rust-functional-programming/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Rivisitazione degli aspetti funzionali presenti in Rust corredati da semplici esempi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Easy Rust - Closures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5"/>
              </a:rPr>
              <a:t>https://dhghomon.github.io/easy_rust/Chapter_37.html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Presentazione del concetto di chiusura in Rust con approccio narrativo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 guide to closures in Rust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6"/>
              </a:rPr>
              <a:t>https://hashrust.com/blog/a-guide-to-closures-in-rust/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Trattazione approfondita del concetto di chiusura in Rust con esempi e indicazioni di come il compilatore tratti tale tipo di dato</a:t>
            </a:r>
            <a:endParaRPr/>
          </a:p>
        </p:txBody>
      </p:sp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12" name="Google Shape;212;p28"/>
          <p:cNvPicPr preferRelativeResize="0"/>
          <p:nvPr/>
        </p:nvPicPr>
        <p:blipFill rotWithShape="1">
          <a:blip r:embed="rId7">
            <a:alphaModFix/>
          </a:blip>
          <a:srcRect b="18806" l="17235" r="17235" t="18800"/>
          <a:stretch/>
        </p:blipFill>
        <p:spPr>
          <a:xfrm>
            <a:off x="7771925" y="105705"/>
            <a:ext cx="1249224" cy="102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