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c42f2e80f3_0_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" name="Google Shape;34;g3c42f2e80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c42f2e80f3_0_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g3c42f2e80f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c42f2e80f3_0_14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3c42f2e80f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ce7bfb37b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ce7bfb37b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c42f2e80f3_0_2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c42f2e80f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c42f2e80f3_0_158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c42f2e80f3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42f2e80f3_0_164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42f2e80f3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c42f2e80f3_0_172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c42f2e80f3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42f2e80f3_0_178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c42f2e80f3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42f2e80f3_0_184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c42f2e80f3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42f2e80f3_0_19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42f2e80f3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42f2e80f3_0_196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c42f2e80f3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42f2e80f3_0_206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42f2e80f3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42f2e80f3_0_213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c42f2e80f3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c42f2e80f3_0_219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c42f2e80f3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42f2e80f3_0_226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c42f2e80f3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c42f2e80f3_0_232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c42f2e80f3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c42f2e80f3_0_239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c42f2e80f3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c42f2e80f3_0_245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c42f2e80f3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c42f2e80f3_0_251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c42f2e80f3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42f2e80f3_0_25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c42f2e80f3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42f2e80f3_0_264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c42f2e80f3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c42f2e80f3_0_27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c42f2e80f3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c42f2e80f3_0_276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c42f2e80f3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8" y="17129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38024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4787168"/>
            <a:ext cx="9144000" cy="35633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  <a:defRPr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</a:defRPr>
            </a:lvl1pPr>
            <a:lvl2pPr lvl="1" algn="r">
              <a:buNone/>
              <a:defRPr sz="1000">
                <a:solidFill>
                  <a:schemeClr val="lt1"/>
                </a:solidFill>
              </a:defRPr>
            </a:lvl2pPr>
            <a:lvl3pPr lvl="2" algn="r">
              <a:buNone/>
              <a:defRPr sz="1000">
                <a:solidFill>
                  <a:schemeClr val="lt1"/>
                </a:solidFill>
              </a:defRPr>
            </a:lvl3pPr>
            <a:lvl4pPr lvl="3" algn="r">
              <a:buNone/>
              <a:defRPr sz="1000">
                <a:solidFill>
                  <a:schemeClr val="lt1"/>
                </a:solidFill>
              </a:defRPr>
            </a:lvl4pPr>
            <a:lvl5pPr lvl="4" algn="r">
              <a:buNone/>
              <a:defRPr sz="1000">
                <a:solidFill>
                  <a:schemeClr val="lt1"/>
                </a:solidFill>
              </a:defRPr>
            </a:lvl5pPr>
            <a:lvl6pPr lvl="5" algn="r">
              <a:buNone/>
              <a:defRPr sz="1000">
                <a:solidFill>
                  <a:schemeClr val="lt1"/>
                </a:solidFill>
              </a:defRPr>
            </a:lvl6pPr>
            <a:lvl7pPr lvl="6" algn="r">
              <a:buNone/>
              <a:defRPr sz="1000">
                <a:solidFill>
                  <a:schemeClr val="lt1"/>
                </a:solidFill>
              </a:defRPr>
            </a:lvl7pPr>
            <a:lvl8pPr lvl="7" algn="r">
              <a:buNone/>
              <a:defRPr sz="1000">
                <a:solidFill>
                  <a:schemeClr val="lt1"/>
                </a:solidFill>
              </a:defRPr>
            </a:lvl8pPr>
            <a:lvl9pPr lvl="8" algn="r">
              <a:buNone/>
              <a:defRPr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1019175" y="4806045"/>
            <a:ext cx="66771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100">
                <a:solidFill>
                  <a:schemeClr val="lt1"/>
                </a:solidFill>
              </a:rPr>
              <a:t>© G. Malnati, 2021-26</a:t>
            </a:r>
            <a:endParaRPr i="1" sz="1100">
              <a:solidFill>
                <a:schemeClr val="lt1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medium.com/coinmonks/rust-error-handling-in-practice-376d86ba12ca" TargetMode="External"/><Relationship Id="rId4" Type="http://schemas.openxmlformats.org/officeDocument/2006/relationships/hyperlink" Target="https://kerkour.com/rust-error-handling" TargetMode="External"/><Relationship Id="rId5" Type="http://schemas.openxmlformats.org/officeDocument/2006/relationships/hyperlink" Target="https://www.learnrust.blog/p/idiomatic-error-handling-in-rust" TargetMode="External"/><Relationship Id="rId6" Type="http://schemas.openxmlformats.org/officeDocument/2006/relationships/hyperlink" Target="https://www.lpalmieri.com/posts/error-handling-rust/" TargetMode="External"/><Relationship Id="rId7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ctrTitle"/>
          </p:nvPr>
        </p:nvSpPr>
        <p:spPr>
          <a:xfrm>
            <a:off x="311708" y="17129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Gestione degli errori</a:t>
            </a:r>
            <a:endParaRPr/>
          </a:p>
        </p:txBody>
      </p:sp>
      <p:sp>
        <p:nvSpPr>
          <p:cNvPr id="37" name="Google Shape;37;p8"/>
          <p:cNvSpPr txBox="1"/>
          <p:nvPr>
            <p:ph idx="1" type="subTitle"/>
          </p:nvPr>
        </p:nvSpPr>
        <p:spPr>
          <a:xfrm>
            <a:off x="311700" y="38024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Computazioni invalide</a:t>
            </a:r>
            <a:endParaRPr/>
          </a:p>
        </p:txBody>
      </p:sp>
      <p:pic>
        <p:nvPicPr>
          <p:cNvPr id="38" name="Google Shape;3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3574" y="560801"/>
            <a:ext cx="2317101" cy="2317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type="title"/>
          </p:nvPr>
        </p:nvSpPr>
        <p:spPr>
          <a:xfrm>
            <a:off x="311700" y="400523"/>
            <a:ext cx="8520600" cy="5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Errori ed eccezioni</a:t>
            </a:r>
            <a:endParaRPr/>
          </a:p>
        </p:txBody>
      </p:sp>
      <p:sp>
        <p:nvSpPr>
          <p:cNvPr id="44" name="Google Shape;44;p9"/>
          <p:cNvSpPr txBox="1"/>
          <p:nvPr>
            <p:ph idx="1" type="body"/>
          </p:nvPr>
        </p:nvSpPr>
        <p:spPr>
          <a:xfrm>
            <a:off x="311700" y="1037228"/>
            <a:ext cx="8520600" cy="30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Tutte le computazioni possono fallire prematuramente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Impedendo che possa essere restituito il valore atteso o che vengano eseguiti tutti gli effetti collaterali richiesti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Questi fallimenti possono essere dovuti a cause differenti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Alcune facilmente prevedibili (argomenti illeciti, conversione da testo a numero, …)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Altre dovute a limiti del sistema di elaborazione (memoria/spazio su disco esauriti, malfunzionamento della rete o di altre periferiche, …)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Indipendentemente dalle cause che li hanno prodotti, i fallimenti possono essere catalogati in due gruppi principali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Malfunzionamenti </a:t>
            </a:r>
            <a:r>
              <a:rPr b="1" lang="it">
                <a:solidFill>
                  <a:srgbClr val="0B5394"/>
                </a:solidFill>
              </a:rPr>
              <a:t>recuperabili</a:t>
            </a:r>
            <a:r>
              <a:rPr lang="it"/>
              <a:t> - quelli che non hanno compromesso lo stato del programma, per cui è possibile attivare una strategia di ripristino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Malfunzionamenti </a:t>
            </a:r>
            <a:r>
              <a:rPr b="1" lang="it">
                <a:solidFill>
                  <a:srgbClr val="0B5394"/>
                </a:solidFill>
              </a:rPr>
              <a:t>non recuperabili</a:t>
            </a:r>
            <a:r>
              <a:rPr b="1" lang="it">
                <a:solidFill>
                  <a:srgbClr val="4A86E8"/>
                </a:solidFill>
              </a:rPr>
              <a:t> </a:t>
            </a:r>
            <a:r>
              <a:rPr lang="it"/>
              <a:t>- quelli che causano un’alterazione impredicibile dello stato o che indicano l’impossibilità di procedere ulteriormente nella computazione</a:t>
            </a:r>
            <a:endParaRPr/>
          </a:p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786194"/>
            <a:ext cx="548700" cy="3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46" name="Google Shape;46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7325" y="291892"/>
            <a:ext cx="967455" cy="967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type="title"/>
          </p:nvPr>
        </p:nvSpPr>
        <p:spPr>
          <a:xfrm>
            <a:off x="311700" y="400523"/>
            <a:ext cx="8520600" cy="5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Errori ed eccezioni</a:t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1037228"/>
            <a:ext cx="8520600" cy="30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Nei casi irrecuperabili, occorre terminare il processo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Eventualmente eseguendo qualche operazione di pulizia sull’ambiente esterno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Negli altri, occorre mettere in atto una strategia di ripristino dello stato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Ritentare l’operazione, richiedere l’intervento dell’utente/amministratore, utilizzare una strategia alternativa, …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Non è detto che il punto in cui si verifica il fallimento possegga abbastanza contesto per discriminare come comportarsi 	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Occorre fare in modo che, in caso di fallimento della computazione all’interno di una funzione, il controllo torni al suo chiamante, corredato di una opportuna descrizione di quanto successo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Questo requisito tende ad aumentare la complessità del codice, introducendo rami diversi (if/else, switch/case, match…) lungo i quali la computazione può procedere, favorendo l’introduzione di errori logici legati alla quantità di dettagli cui occorre badare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Per questo motivo, i linguaggi “moderni” includono particolari costrutti a supporto della gestione delle eccezioni</a:t>
            </a:r>
            <a:endParaRPr/>
          </a:p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776860"/>
            <a:ext cx="548700" cy="3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Spazio di scelta</a:t>
            </a:r>
            <a:endParaRPr/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E' possibile / sensato ritentare l'esecuzione? 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Se l'errore è frutto di un condizione transitoria (es.: congestione di rete, file in uso, …) potrebbe avere senso, a patto di evitare cicli infiniti e introdurre opportune pause tra un tentativo e l'altro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E' possibile continuare l'esecuzione utilizzando un valore di default o attivando una strategia alternativa per calcolare il valore mancante?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In alcuni casi è possibile provare a procedere ugualmente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E' possibile coinvolgere l'utente nella risoluzione del problema?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Se l'applicazione è interattiva e l'errore deriva dal comportamente dell'utente questo potrebbe funzionare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E' possibile isolare l'errore e mantenere il resto del sistema in funzione?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E' un bug o è stato violato un invariante, per cui occorre terminare il programma?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>
            <p:ph type="title"/>
          </p:nvPr>
        </p:nvSpPr>
        <p:spPr>
          <a:xfrm>
            <a:off x="311700" y="400523"/>
            <a:ext cx="8520600" cy="5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Supporto sintattico alla gestione degli errori</a:t>
            </a:r>
            <a:endParaRPr/>
          </a:p>
        </p:txBody>
      </p:sp>
      <p:sp>
        <p:nvSpPr>
          <p:cNvPr id="65" name="Google Shape;65;p12"/>
          <p:cNvSpPr txBox="1"/>
          <p:nvPr>
            <p:ph idx="1" type="body"/>
          </p:nvPr>
        </p:nvSpPr>
        <p:spPr>
          <a:xfrm>
            <a:off x="311700" y="1037228"/>
            <a:ext cx="8520600" cy="30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linguaggio C non fornisce alcun supporto sintattico alla modellazione degli errori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Lasciando completamente al programmatore la responsabilità di gestire la situazione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linguaggio C++ (come molti altri linguaggi, come Java, C#, JavaScript, …) introduce il concetto di eccezione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Offre le parole-chiave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try/catch/throw</a:t>
            </a:r>
            <a:r>
              <a:rPr b="1" lang="it"/>
              <a:t> </a:t>
            </a:r>
            <a:r>
              <a:rPr lang="it"/>
              <a:t>per esprimere la logica di notifica e gestione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Impone una particolare struttura del contesto di esecuzione per supportare tale genere di astrazione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Rust non utilizza il concetto di eccezione, ma offre i tipi algebrici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Result&lt;T,E&gt;</a:t>
            </a:r>
            <a:r>
              <a:rPr lang="it"/>
              <a:t> 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Option&lt;T&gt;</a:t>
            </a:r>
            <a:r>
              <a:rPr lang="it"/>
              <a:t> per esprimere gli esiti delle computazioni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Offre inoltre la macro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panic!(...)</a:t>
            </a:r>
            <a:r>
              <a:rPr lang="it"/>
              <a:t> per forzare l’interruzione del thread corrente producendo una descrizione testuale di quanto successo</a:t>
            </a:r>
            <a:endParaRPr/>
          </a:p>
        </p:txBody>
      </p:sp>
      <p:sp>
        <p:nvSpPr>
          <p:cNvPr id="66" name="Google Shape;66;p12"/>
          <p:cNvSpPr txBox="1"/>
          <p:nvPr>
            <p:ph idx="12" type="sldNum"/>
          </p:nvPr>
        </p:nvSpPr>
        <p:spPr>
          <a:xfrm>
            <a:off x="8472458" y="4797050"/>
            <a:ext cx="548700" cy="3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type="title"/>
          </p:nvPr>
        </p:nvSpPr>
        <p:spPr>
          <a:xfrm>
            <a:off x="311700" y="400523"/>
            <a:ext cx="8520600" cy="5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 limiti della gestione delle eccezioni</a:t>
            </a:r>
            <a:endParaRPr/>
          </a:p>
        </p:txBody>
      </p:sp>
      <p:sp>
        <p:nvSpPr>
          <p:cNvPr id="72" name="Google Shape;72;p13"/>
          <p:cNvSpPr txBox="1"/>
          <p:nvPr>
            <p:ph idx="1" type="body"/>
          </p:nvPr>
        </p:nvSpPr>
        <p:spPr>
          <a:xfrm>
            <a:off x="311700" y="1152472"/>
            <a:ext cx="8520600" cy="353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Il compilatore non è in grado di identificare dove vengano restituite eccezioni 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Conseguentemente, non forza l’utilizzo di costrutti in grado di gestirle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La generazione di un’eccezione blocca l’esecuzione del codice seguente e riporta tipicamente un singolo tipo di errore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Rendendo, ad esempio, onerosa la validazione contemporanea di più criteri 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La possibilità che un’eccezione dello stesso tipo possa essere generata in parti diverse della computazione, ma gestita in un unico punto a monte, rende complessa la scelta delle contromisure da applicare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Richiedendo l’ispezione (manuale) della catena delle chiamate fallite per identificare il punto di rottura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Per permettere la corretta contrazione dello stack e il ritorno al blocco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try {...}</a:t>
            </a:r>
            <a:r>
              <a:rPr lang="it"/>
              <a:t> più recente occorre imporre una certa sovrastruttura allo stack ed al contesto di esecuzione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Tale sovrastruttura non si adatta particolarmente alle assunzioni che vengono fatte nel kernel di Linux e questo è uno dei principali motivi per cui non è possibile scrivere moduli kernel in C++ per quel sistema operativo</a:t>
            </a:r>
            <a:endParaRPr/>
          </a:p>
        </p:txBody>
      </p:sp>
      <p:sp>
        <p:nvSpPr>
          <p:cNvPr id="73" name="Google Shape;73;p13"/>
          <p:cNvSpPr txBox="1"/>
          <p:nvPr>
            <p:ph idx="12" type="sldNum"/>
          </p:nvPr>
        </p:nvSpPr>
        <p:spPr>
          <a:xfrm>
            <a:off x="8472458" y="4786402"/>
            <a:ext cx="548700" cy="3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311700" y="400523"/>
            <a:ext cx="8520600" cy="5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Gestioni delle eccezioni in Rust</a:t>
            </a:r>
            <a:endParaRPr/>
          </a:p>
        </p:txBody>
      </p:sp>
      <p:sp>
        <p:nvSpPr>
          <p:cNvPr id="79" name="Google Shape;79;p14"/>
          <p:cNvSpPr txBox="1"/>
          <p:nvPr>
            <p:ph idx="1" type="body"/>
          </p:nvPr>
        </p:nvSpPr>
        <p:spPr>
          <a:xfrm>
            <a:off x="311700" y="1037228"/>
            <a:ext cx="8520600" cy="30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Rust offre una risposta funzionale al problema della modellazione degli errori basata sul tipo algebrico generico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Result&lt;T,E&gt;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Modella l’unione di tutti i possibili risultati con successo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it"/>
              <a:t> e tutti gli errori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lang="it"/>
              <a:t> che possono verificarsi nell’esecuzione di una funzione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8472458" y="4786402"/>
            <a:ext cx="548700" cy="3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81" name="Google Shape;81;p14"/>
          <p:cNvSpPr txBox="1"/>
          <p:nvPr/>
        </p:nvSpPr>
        <p:spPr>
          <a:xfrm>
            <a:off x="572825" y="2357078"/>
            <a:ext cx="2564700" cy="1169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latin typeface="Consolas"/>
                <a:ea typeface="Consolas"/>
                <a:cs typeface="Consolas"/>
                <a:sym typeface="Consolas"/>
              </a:rPr>
              <a:t>enum Result&lt;T, E&gt; {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latin typeface="Consolas"/>
                <a:ea typeface="Consolas"/>
                <a:cs typeface="Consolas"/>
                <a:sym typeface="Consolas"/>
              </a:rPr>
              <a:t>  Ok(T),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latin typeface="Consolas"/>
                <a:ea typeface="Consolas"/>
                <a:cs typeface="Consolas"/>
                <a:sym typeface="Consolas"/>
              </a:rPr>
              <a:t>  Err(E),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3345675" y="2357078"/>
            <a:ext cx="5298600" cy="2586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fn read_file(name: &amp;str)-&gt; Result&lt;String,io::Error&gt; {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let r1 = File::open(name);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let mut file = match r1 {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Err(why) =&gt; return Err(why),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Ok(file) =&gt; file,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};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let mut s = String::new();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let r2 = file.read_to_string(&amp;mut s);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match (r2) {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Err(why) =&gt; Err(why),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Ok(_) =&gt; Ok(s),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/>
          <p:nvPr>
            <p:ph type="title"/>
          </p:nvPr>
        </p:nvSpPr>
        <p:spPr>
          <a:xfrm>
            <a:off x="311700" y="400523"/>
            <a:ext cx="8520600" cy="5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Elaborare i risultati</a:t>
            </a:r>
            <a:endParaRPr/>
          </a:p>
        </p:txBody>
      </p:sp>
      <p:sp>
        <p:nvSpPr>
          <p:cNvPr id="88" name="Google Shape;88;p15"/>
          <p:cNvSpPr txBox="1"/>
          <p:nvPr>
            <p:ph idx="1" type="body"/>
          </p:nvPr>
        </p:nvSpPr>
        <p:spPr>
          <a:xfrm>
            <a:off x="311700" y="1037225"/>
            <a:ext cx="8520600" cy="34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Result&lt;T,E&gt;</a:t>
            </a:r>
            <a:r>
              <a:rPr lang="it"/>
              <a:t> mette a disposizione svariati metodi che consentono di accedere ai dati contenuti al suo interno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 metodi 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is_ok(&amp;self)</a:t>
            </a:r>
            <a:r>
              <a:rPr lang="it"/>
              <a:t> 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is_err(&amp;self</a:t>
            </a:r>
            <a:r>
              <a:rPr lang="it"/>
              <a:t>) permettono, rispettivamente, di determinare se l'esito di un'operazione ha avuto successo o meno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 metodi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ok(self)</a:t>
            </a:r>
            <a:r>
              <a:rPr lang="it"/>
              <a:t> 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err(self)</a:t>
            </a:r>
            <a:r>
              <a:rPr lang="it"/>
              <a:t> consumano il risultato trasformandolo in un oggetto di tipo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Option&lt;T&gt;</a:t>
            </a:r>
            <a:r>
              <a:rPr lang="it"/>
              <a:t> piuttosto che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Option&lt;E&gt;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metodo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map(self, op: F)-&gt;Result&lt;U,E&gt;</a:t>
            </a:r>
            <a:r>
              <a:rPr lang="it"/>
              <a:t> applica la funzione al valore contenuto nel risultato, se questo è ok, altrimenti lascia l'errore invariato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metodo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contains(&amp;self, x: &amp;U)</a:t>
            </a:r>
            <a:r>
              <a:rPr lang="it"/>
              <a:t> restituisce vero se il risultato è valido e contiene un valore che equivale all'argomento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metodo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unwrap(self)-&gt;T</a:t>
            </a:r>
            <a:r>
              <a:rPr lang="it"/>
              <a:t> restituisce il valore contenuto, se è valido, ma invoca la macro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panic!(...)</a:t>
            </a:r>
            <a:r>
              <a:rPr lang="it"/>
              <a:t> se il risultato contiene un errore </a:t>
            </a:r>
            <a:endParaRPr/>
          </a:p>
        </p:txBody>
      </p:sp>
      <p:sp>
        <p:nvSpPr>
          <p:cNvPr id="89" name="Google Shape;89;p15"/>
          <p:cNvSpPr txBox="1"/>
          <p:nvPr>
            <p:ph idx="12" type="sldNum"/>
          </p:nvPr>
        </p:nvSpPr>
        <p:spPr>
          <a:xfrm>
            <a:off x="8472458" y="4787716"/>
            <a:ext cx="548700" cy="3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title"/>
          </p:nvPr>
        </p:nvSpPr>
        <p:spPr>
          <a:xfrm>
            <a:off x="311700" y="400523"/>
            <a:ext cx="8520600" cy="5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Gestire gli errori</a:t>
            </a:r>
            <a:endParaRPr/>
          </a:p>
        </p:txBody>
      </p:sp>
      <p:sp>
        <p:nvSpPr>
          <p:cNvPr id="95" name="Google Shape;95;p16"/>
          <p:cNvSpPr txBox="1"/>
          <p:nvPr>
            <p:ph idx="1" type="body"/>
          </p:nvPr>
        </p:nvSpPr>
        <p:spPr>
          <a:xfrm>
            <a:off x="311700" y="1037225"/>
            <a:ext cx="8520600" cy="357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Se l'invocazione di una funzione restituisce un valore di tipo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Result</a:t>
            </a:r>
            <a:r>
              <a:rPr lang="it"/>
              <a:t> contenente un errore, occorre mettere in atto una strategia di gestione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Ritentare l’esecuzione, evitando di entrare in un loop infinito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Ricostruire uno stato precedente all'errore (rollback)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Utilizzare una strategia alternativa per la computazione fallita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Registrare un messaggio nel log e propagare l’errore al chiamante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Propagare </a:t>
            </a:r>
            <a:r>
              <a:rPr i="1" lang="it"/>
              <a:t>tout court </a:t>
            </a:r>
            <a:r>
              <a:rPr lang="it"/>
              <a:t>l'errore al chiamante, delegando ad esso la corrispondente responsabilità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Terminare, in modo ordinato, il programma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Sebbene terminare il programma possa apparire facile (è sufficiente invocare la funzione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std::process::exit(code: i32) -&gt; !</a:t>
            </a:r>
            <a:r>
              <a:rPr lang="it"/>
              <a:t>), farlo in modo pulito può essere complesso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Occorre infatti garantire che non vengano lasciati oggetti persistenti (come file o altre risorse di sistema) in stati non coerenti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Per questo motivo, Rust offre la macro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panic!(...)</a:t>
            </a:r>
            <a:endParaRPr/>
          </a:p>
        </p:txBody>
      </p:sp>
      <p:sp>
        <p:nvSpPr>
          <p:cNvPr id="96" name="Google Shape;96;p16"/>
          <p:cNvSpPr txBox="1"/>
          <p:nvPr>
            <p:ph idx="12" type="sldNum"/>
          </p:nvPr>
        </p:nvSpPr>
        <p:spPr>
          <a:xfrm>
            <a:off x="8472458" y="4784673"/>
            <a:ext cx="548700" cy="3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311700" y="400523"/>
            <a:ext cx="8520600" cy="5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Panic</a:t>
            </a:r>
            <a:endParaRPr/>
          </a:p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311700" y="1037228"/>
            <a:ext cx="8520600" cy="30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In alcune situazioni, lo stato del programma risulta così compromesso che non è pensabile eseguire azioni di ripristino: questo spesso è dovuto alla presenza di errori logici nel programma stesso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Accesso ad array al di fuori dei relativi limiti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Divisioni di interi per zero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Fallimenti di asserzioni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In queste situazioni, Rust offre la macro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panic!(...)</a:t>
            </a:r>
            <a:r>
              <a:rPr lang="it"/>
              <a:t> che accetta argomenti simili a quelli offerti dalla macro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println!(...)</a:t>
            </a:r>
            <a:r>
              <a:rPr lang="it"/>
              <a:t> per formulare un messaggio di errore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L’effetto dell’invocazione di questa macro è la contrazione dello stack (come nel caso delle eccezioni C++), la distruzione (via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.drop()</a:t>
            </a:r>
            <a:r>
              <a:rPr lang="it"/>
              <a:t>) delle variabili che implementano il tratto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Drop</a:t>
            </a:r>
            <a:r>
              <a:rPr lang="it"/>
              <a:t> fino alla terminazione del thread corrente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Se il thread in cui è stato invocato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panic!(...)</a:t>
            </a:r>
            <a:r>
              <a:rPr lang="it"/>
              <a:t> è il thread principale dell’applicazione, il processo termina con un codice di errore non nullo, altrimenti </a:t>
            </a:r>
            <a:r>
              <a:rPr b="1" lang="it">
                <a:solidFill>
                  <a:srgbClr val="0B5394"/>
                </a:solidFill>
              </a:rPr>
              <a:t>continua</a:t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103" name="Google Shape;103;p17"/>
          <p:cNvSpPr txBox="1"/>
          <p:nvPr>
            <p:ph idx="12" type="sldNum"/>
          </p:nvPr>
        </p:nvSpPr>
        <p:spPr>
          <a:xfrm>
            <a:off x="8472458" y="4787716"/>
            <a:ext cx="548700" cy="3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311700" y="400523"/>
            <a:ext cx="8520600" cy="5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Ignorare gli errori</a:t>
            </a:r>
            <a:endParaRPr/>
          </a:p>
        </p:txBody>
      </p:sp>
      <p:sp>
        <p:nvSpPr>
          <p:cNvPr id="109" name="Google Shape;109;p18"/>
          <p:cNvSpPr txBox="1"/>
          <p:nvPr>
            <p:ph idx="1" type="body"/>
          </p:nvPr>
        </p:nvSpPr>
        <p:spPr>
          <a:xfrm>
            <a:off x="311700" y="1037228"/>
            <a:ext cx="8520600" cy="30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In alcune situazioni, può capitare che l’errore che potenzialmente viene restituito da una funzione non possa di fatto succedere, a conseguenza di quanto si è appena verificato nel corso dell’esecuzione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Oppure che il programmatore assuma che non sia necessario mettere in atto una strategia di contenimento e gestione dell’errore, lasciando semplicemente terminare il processo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tipo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Result&lt;T,E&gt;</a:t>
            </a:r>
            <a:r>
              <a:rPr lang="it"/>
              <a:t> mette a disposizione i metodi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unwrap()</a:t>
            </a:r>
            <a:r>
              <a:rPr lang="it"/>
              <a:t> 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expect(...)</a:t>
            </a:r>
            <a:r>
              <a:rPr lang="it"/>
              <a:t> che restituiscono il valore di tipo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it"/>
              <a:t>, se presente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Ed invocano la macro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panic!(...)</a:t>
            </a:r>
            <a:r>
              <a:rPr lang="it"/>
              <a:t> in caso di errore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expect(...)</a:t>
            </a:r>
            <a:r>
              <a:rPr lang="it"/>
              <a:t> permette di indicare una stringa che sarà usata al posto del messaggio standard generato da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unwrap(</a:t>
            </a:r>
            <a:r>
              <a:rPr lang="it"/>
              <a:t>), nel caso si sia verificato un errore</a:t>
            </a:r>
            <a:endParaRPr/>
          </a:p>
        </p:txBody>
      </p:sp>
      <p:sp>
        <p:nvSpPr>
          <p:cNvPr id="110" name="Google Shape;110;p18"/>
          <p:cNvSpPr txBox="1"/>
          <p:nvPr>
            <p:ph idx="12" type="sldNum"/>
          </p:nvPr>
        </p:nvSpPr>
        <p:spPr>
          <a:xfrm>
            <a:off x="8472458" y="4794008"/>
            <a:ext cx="548700" cy="3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/>
          <p:nvPr>
            <p:ph type="title"/>
          </p:nvPr>
        </p:nvSpPr>
        <p:spPr>
          <a:xfrm>
            <a:off x="311700" y="400523"/>
            <a:ext cx="8520600" cy="5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Propagare gli errori</a:t>
            </a:r>
            <a:endParaRPr/>
          </a:p>
        </p:txBody>
      </p:sp>
      <p:sp>
        <p:nvSpPr>
          <p:cNvPr id="116" name="Google Shape;116;p19"/>
          <p:cNvSpPr txBox="1"/>
          <p:nvPr>
            <p:ph idx="1" type="body"/>
          </p:nvPr>
        </p:nvSpPr>
        <p:spPr>
          <a:xfrm>
            <a:off x="311700" y="1037228"/>
            <a:ext cx="8520600" cy="30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Nella maggior parte delle funzioni in cui si verifica un errore, non si sa quale strategia mettere in atto per ripristinare lo stato del programma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Si può facilmente ovviare a questo problema restituendo, a propria volta, un oggetto di tipo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Result&lt;T,E&gt;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Questo porta, tuttavia, a costrutti alquanto complessi, con espressioni di controllo difficili da decodificare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Per semplificare la sintassi, Rust offre l’operatore </a:t>
            </a:r>
            <a:r>
              <a:rPr b="1" lang="it">
                <a:solidFill>
                  <a:srgbClr val="0B5394"/>
                </a:solidFill>
              </a:rPr>
              <a:t>?</a:t>
            </a:r>
            <a:r>
              <a:rPr lang="it">
                <a:solidFill>
                  <a:srgbClr val="0B5394"/>
                </a:solidFill>
              </a:rPr>
              <a:t> </a:t>
            </a:r>
            <a:r>
              <a:rPr lang="it"/>
              <a:t>che può essere applicato a qualunque espressione che produce un valore di tipo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Result&lt;T,E&gt;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Se il valore risulta essere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Ok(v)</a:t>
            </a:r>
            <a:r>
              <a:rPr lang="it"/>
              <a:t>, l’operatore restituisce il valore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lang="it"/>
              <a:t> racchiuso nell’enum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Se, invece, risulta essere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Err(e)</a:t>
            </a:r>
            <a:r>
              <a:rPr lang="it"/>
              <a:t>, la funzione corrente termina, ritornando il valore che incapsula l’errore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Perché questo comportamento possa funzionare, occorre che la funzione in cui è usato l’operatore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r>
              <a:rPr lang="it"/>
              <a:t> ritorni un oggetto di tipo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Result&lt;U,E&gt;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E che il tipo dell’errore ritornato sia compatibile con l’errore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lang="it"/>
              <a:t> che proviene dalla funzione chiamata</a:t>
            </a:r>
            <a:endParaRPr/>
          </a:p>
        </p:txBody>
      </p:sp>
      <p:sp>
        <p:nvSpPr>
          <p:cNvPr id="117" name="Google Shape;117;p19"/>
          <p:cNvSpPr txBox="1"/>
          <p:nvPr>
            <p:ph idx="12" type="sldNum"/>
          </p:nvPr>
        </p:nvSpPr>
        <p:spPr>
          <a:xfrm>
            <a:off x="8472458" y="4778381"/>
            <a:ext cx="548700" cy="3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>
            <p:ph type="title"/>
          </p:nvPr>
        </p:nvSpPr>
        <p:spPr>
          <a:xfrm>
            <a:off x="311700" y="400523"/>
            <a:ext cx="8520600" cy="5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Propagare gli errori</a:t>
            </a:r>
            <a:endParaRPr/>
          </a:p>
        </p:txBody>
      </p:sp>
      <p:sp>
        <p:nvSpPr>
          <p:cNvPr id="123" name="Google Shape;123;p20"/>
          <p:cNvSpPr txBox="1"/>
          <p:nvPr>
            <p:ph idx="12" type="sldNum"/>
          </p:nvPr>
        </p:nvSpPr>
        <p:spPr>
          <a:xfrm>
            <a:off x="8472458" y="4787716"/>
            <a:ext cx="548700" cy="3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24" name="Google Shape;124;p20"/>
          <p:cNvSpPr txBox="1"/>
          <p:nvPr/>
        </p:nvSpPr>
        <p:spPr>
          <a:xfrm>
            <a:off x="311700" y="3013200"/>
            <a:ext cx="8520600" cy="16623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fn read_file(name: &amp;str) -&gt; </a:t>
            </a:r>
            <a:r>
              <a:rPr b="1" lang="it" sz="16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Result&lt;String,io::Error&gt;</a:t>
            </a: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  let mut file = File::open(name)</a:t>
            </a:r>
            <a:r>
              <a:rPr b="1" lang="it" sz="16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  let mut s = String::new();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  file.read_to_string(&amp;mut s)</a:t>
            </a:r>
            <a:r>
              <a:rPr b="1" lang="it" sz="16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  Ok(s)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" name="Google Shape;125;p20"/>
          <p:cNvSpPr txBox="1"/>
          <p:nvPr>
            <p:ph idx="1" type="body"/>
          </p:nvPr>
        </p:nvSpPr>
        <p:spPr>
          <a:xfrm>
            <a:off x="311700" y="1152474"/>
            <a:ext cx="8520600" cy="15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L’utilizzo dell’operatore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r>
              <a:rPr lang="it"/>
              <a:t> permette di ottenere una sintassi molto più compatta, evidenziando il comportamento della funzione lungo il cammino principale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E demandando al compilatore la scrittura delle clausole if / match necessarie a valutare il comportamento da adottare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311700" y="400523"/>
            <a:ext cx="8520600" cy="5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Altri modi di esprimere il fallimento</a:t>
            </a:r>
            <a:endParaRPr/>
          </a:p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311700" y="1037225"/>
            <a:ext cx="8520600" cy="35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In alcune situazioni, può essere sufficiente distinguere se la computazione ha prodotto il proprio risultato, oppure indicare che non è stato possibile completarla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Per questi casi esiste il tipo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Option&lt;T&gt;</a:t>
            </a:r>
            <a:r>
              <a:rPr lang="it"/>
              <a:t> che racchiude due alternative: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Some&lt;T&gt;</a:t>
            </a:r>
            <a:r>
              <a:rPr lang="it"/>
              <a:t>, usata per descrivere il risultato atteso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it"/>
              <a:t>, che indica l’assenza di risultato, senza descriverne le ragioni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L’operatore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r>
              <a:rPr lang="it"/>
              <a:t> può essere applicato anche al tipo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Option&lt;T&gt;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 condizione che la funzione in cui viene adottato abbia tipo di ritorno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Option&lt;U&gt;</a:t>
            </a:r>
            <a:r>
              <a:rPr lang="it"/>
              <a:t>, con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lang="it"/>
              <a:t> qualsiasi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Result&lt;T,E&gt;</a:t>
            </a:r>
            <a:r>
              <a:rPr lang="it"/>
              <a:t> 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Option&lt;U&gt;</a:t>
            </a:r>
            <a:r>
              <a:rPr lang="it"/>
              <a:t> sono correlati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Result</a:t>
            </a:r>
            <a:r>
              <a:rPr lang="it"/>
              <a:t> offre il metodo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ok(self)</a:t>
            </a:r>
            <a:r>
              <a:rPr lang="it"/>
              <a:t> che restituisce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Option&lt;T&gt;</a:t>
            </a:r>
            <a:r>
              <a:rPr lang="it"/>
              <a:t>, valorizzato con il dato in caso di successo (il dato risulta mosso da Result, che quindi diventa inaccessibile)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Offre anche il metodo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err(self)</a:t>
            </a:r>
            <a:r>
              <a:rPr lang="it"/>
              <a:t> che restituisce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Option&lt;E&gt;</a:t>
            </a:r>
            <a:r>
              <a:rPr lang="it"/>
              <a:t>, valorizzato con l’errore in caso di fallimento (anche in questo caso, con movimento)</a:t>
            </a:r>
            <a:endParaRPr/>
          </a:p>
        </p:txBody>
      </p:sp>
      <p:sp>
        <p:nvSpPr>
          <p:cNvPr id="132" name="Google Shape;132;p21"/>
          <p:cNvSpPr txBox="1"/>
          <p:nvPr>
            <p:ph idx="12" type="sldNum"/>
          </p:nvPr>
        </p:nvSpPr>
        <p:spPr>
          <a:xfrm>
            <a:off x="8472458" y="4784673"/>
            <a:ext cx="548700" cy="3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311700" y="400523"/>
            <a:ext cx="8520600" cy="5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Propagare errori eterogenei</a:t>
            </a:r>
            <a:endParaRPr/>
          </a:p>
        </p:txBody>
      </p:sp>
      <p:sp>
        <p:nvSpPr>
          <p:cNvPr id="138" name="Google Shape;138;p22"/>
          <p:cNvSpPr txBox="1"/>
          <p:nvPr>
            <p:ph idx="1" type="body"/>
          </p:nvPr>
        </p:nvSpPr>
        <p:spPr>
          <a:xfrm>
            <a:off x="311700" y="1037228"/>
            <a:ext cx="8520600" cy="30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Quando una funzione produce diverse tipologie di errore, è necessario propagare i diversi errori così da poter specializzare le contromisure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Rust offre diversi modi per propagare errori eterogenei, la scelta spetta al programmatore sulla base delle sue esigenze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La libreria standard mette a disposizione l’implementazione generica del tratto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it"/>
              <a:t>, che converte qualsiasi valore che implementi il tratto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Error</a:t>
            </a:r>
            <a:r>
              <a:rPr lang="it"/>
              <a:t> in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Box&lt;dyn error::Error&gt;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Gli oggetti-tratto richiedono l’utilizzo di fat pointer e vtable con il conseguente costo in termini di memoria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Durante la conversione vengono perse le informazione sul tipo dell’errore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Si può risalire allo specifico errore tramite l’utilizzo del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downcast_ref()</a:t>
            </a:r>
            <a:r>
              <a:rPr lang="it"/>
              <a:t> a patto che si conosca l’implementazione della funzione che genera gli errori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La conversione può avvenire in maniera implicita attraverso l’utilizzo dell’operatore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9" name="Google Shape;139;p22"/>
          <p:cNvSpPr txBox="1"/>
          <p:nvPr>
            <p:ph idx="12" type="sldNum"/>
          </p:nvPr>
        </p:nvSpPr>
        <p:spPr>
          <a:xfrm>
            <a:off x="8472458" y="4786194"/>
            <a:ext cx="548700" cy="3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40" name="Google Shape;140;p22"/>
          <p:cNvSpPr txBox="1"/>
          <p:nvPr/>
        </p:nvSpPr>
        <p:spPr>
          <a:xfrm>
            <a:off x="1938300" y="4179399"/>
            <a:ext cx="5267400" cy="3849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latin typeface="Consolas"/>
                <a:ea typeface="Consolas"/>
                <a:cs typeface="Consolas"/>
                <a:sym typeface="Consolas"/>
              </a:rPr>
              <a:t>impl&lt;E: error::Error&gt; From&lt;E&gt; for Box&lt;dyn error::Error&gt;;</a:t>
            </a:r>
            <a:endParaRPr b="1" sz="13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>
            <p:ph type="title"/>
          </p:nvPr>
        </p:nvSpPr>
        <p:spPr>
          <a:xfrm>
            <a:off x="311700" y="400523"/>
            <a:ext cx="8520600" cy="5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Propagare errori eterogenei</a:t>
            </a:r>
            <a:endParaRPr/>
          </a:p>
        </p:txBody>
      </p:sp>
      <p:sp>
        <p:nvSpPr>
          <p:cNvPr id="146" name="Google Shape;146;p23"/>
          <p:cNvSpPr txBox="1"/>
          <p:nvPr>
            <p:ph idx="12" type="sldNum"/>
          </p:nvPr>
        </p:nvSpPr>
        <p:spPr>
          <a:xfrm>
            <a:off x="8472458" y="4787716"/>
            <a:ext cx="548700" cy="3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47" name="Google Shape;147;p23"/>
          <p:cNvSpPr txBox="1"/>
          <p:nvPr/>
        </p:nvSpPr>
        <p:spPr>
          <a:xfrm>
            <a:off x="552900" y="915920"/>
            <a:ext cx="8038200" cy="3879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fn sum_file(path: &amp;Path) -&gt; Result&lt;i32, </a:t>
            </a:r>
            <a:r>
              <a:rPr b="1" lang="it" sz="12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Box&lt;dyn error::Error&gt;</a:t>
            </a: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&gt; {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let mut file = File::open(path) </a:t>
            </a:r>
            <a:r>
              <a:rPr b="1" lang="it" sz="12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; 	   // </a:t>
            </a:r>
            <a:r>
              <a:rPr b="1" lang="it" sz="12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io::Error -&gt; Box&lt;dyn error::Error&gt;</a:t>
            </a:r>
            <a:endParaRPr b="1" sz="1200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let mut contents = String::new();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file.read_to_string(&amp;mut contents) </a:t>
            </a:r>
            <a:r>
              <a:rPr b="1" lang="it" sz="12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; // </a:t>
            </a:r>
            <a:r>
              <a:rPr b="1" lang="it" sz="12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io::Error -&gt; Box&lt;dyn error::Error&gt;</a:t>
            </a:r>
            <a:endParaRPr b="1" sz="1200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let mut sum = 0;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for line in contents.lines() {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sum += line.parse::&lt;i32&gt;() </a:t>
            </a:r>
            <a:r>
              <a:rPr b="1" lang="it" sz="12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;       // </a:t>
            </a:r>
            <a:r>
              <a:rPr b="1" lang="it" sz="12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ParseIntError -&gt; Box&lt;dyn error::Error&gt;</a:t>
            </a:r>
            <a:endParaRPr b="1" sz="1200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Ok(sum)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fn handle_</a:t>
            </a:r>
            <a:r>
              <a:rPr b="1"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sum_file</a:t>
            </a: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_errors(path: &amp;Path) {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match </a:t>
            </a:r>
            <a:r>
              <a:rPr b="1"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sum_file</a:t>
            </a: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(path) {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Ok(sum) =&gt; println!("sum is {}", sum),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Err(err) =&gt; {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  if let Some(e) = </a:t>
            </a:r>
            <a:r>
              <a:rPr b="1" lang="it" sz="12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err.downcast_ref::&lt;io::Error&gt;()</a:t>
            </a: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{...}  //tratto io::Error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  else if let Some(e) = </a:t>
            </a:r>
            <a:r>
              <a:rPr b="1" lang="it" sz="12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err.downcast_ref::&lt;ParseIntError&gt;</a:t>
            </a: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() {...}  //tratto ParseIntError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  else { unreachable!(); }  //non può capitare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>
            <p:ph type="title"/>
          </p:nvPr>
        </p:nvSpPr>
        <p:spPr>
          <a:xfrm>
            <a:off x="311700" y="400523"/>
            <a:ext cx="8520600" cy="5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Propagare errori eterogenei</a:t>
            </a:r>
            <a:endParaRPr/>
          </a:p>
        </p:txBody>
      </p:sp>
      <p:sp>
        <p:nvSpPr>
          <p:cNvPr id="153" name="Google Shape;153;p24"/>
          <p:cNvSpPr txBox="1"/>
          <p:nvPr>
            <p:ph idx="12" type="sldNum"/>
          </p:nvPr>
        </p:nvSpPr>
        <p:spPr>
          <a:xfrm>
            <a:off x="8472458" y="4778381"/>
            <a:ext cx="548700" cy="3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54" name="Google Shape;154;p24"/>
          <p:cNvSpPr txBox="1"/>
          <p:nvPr>
            <p:ph idx="1" type="body"/>
          </p:nvPr>
        </p:nvSpPr>
        <p:spPr>
          <a:xfrm>
            <a:off x="311700" y="1037228"/>
            <a:ext cx="8520600" cy="30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Per propagare errori eterogenei senza forzare il sistema dei tipi è possibile implementare degli errori custom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Tutti gli errori custom devono implementare il tratto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Error</a:t>
            </a:r>
            <a:r>
              <a:rPr lang="it"/>
              <a:t> e conseguentemente anche i tratti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Debug</a:t>
            </a:r>
            <a:r>
              <a:rPr lang="it"/>
              <a:t> 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Display</a:t>
            </a:r>
            <a:endParaRPr>
              <a:solidFill>
                <a:srgbClr val="4A86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L’utilizzo di un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enum</a:t>
            </a:r>
            <a:r>
              <a:rPr lang="it"/>
              <a:t> permette di racchiudere i diversi tipi di errore da gestire successivamente tramite l’utilizzo del costrutto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match</a:t>
            </a:r>
            <a:endParaRPr>
              <a:solidFill>
                <a:srgbClr val="4A86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E’ necessario implementare il tratto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it"/>
              <a:t> per convertire i diversi errori nel tipo custom da propagare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4"/>
          <p:cNvSpPr txBox="1"/>
          <p:nvPr/>
        </p:nvSpPr>
        <p:spPr>
          <a:xfrm>
            <a:off x="3227925" y="3393000"/>
            <a:ext cx="2556000" cy="11853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latin typeface="Consolas"/>
                <a:ea typeface="Consolas"/>
                <a:cs typeface="Consolas"/>
                <a:sym typeface="Consolas"/>
              </a:rPr>
              <a:t>#[derive(Debug)]</a:t>
            </a:r>
            <a:endParaRPr b="1"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latin typeface="Consolas"/>
                <a:ea typeface="Consolas"/>
                <a:cs typeface="Consolas"/>
                <a:sym typeface="Consolas"/>
              </a:rPr>
              <a:t>enum SumFileError {</a:t>
            </a:r>
            <a:endParaRPr b="1"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latin typeface="Consolas"/>
                <a:ea typeface="Consolas"/>
                <a:cs typeface="Consolas"/>
                <a:sym typeface="Consolas"/>
              </a:rPr>
              <a:t>  Io(io::Error),</a:t>
            </a:r>
            <a:endParaRPr b="1"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latin typeface="Consolas"/>
                <a:ea typeface="Consolas"/>
                <a:cs typeface="Consolas"/>
                <a:sym typeface="Consolas"/>
              </a:rPr>
              <a:t>  Parse(ParseIntError),</a:t>
            </a:r>
            <a:endParaRPr b="1"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3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type="title"/>
          </p:nvPr>
        </p:nvSpPr>
        <p:spPr>
          <a:xfrm>
            <a:off x="311700" y="400523"/>
            <a:ext cx="8520600" cy="5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Propagare errori eterogenei</a:t>
            </a:r>
            <a:endParaRPr/>
          </a:p>
        </p:txBody>
      </p:sp>
      <p:sp>
        <p:nvSpPr>
          <p:cNvPr id="161" name="Google Shape;161;p25"/>
          <p:cNvSpPr txBox="1"/>
          <p:nvPr>
            <p:ph idx="12" type="sldNum"/>
          </p:nvPr>
        </p:nvSpPr>
        <p:spPr>
          <a:xfrm>
            <a:off x="8481808" y="4789205"/>
            <a:ext cx="548700" cy="3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62" name="Google Shape;162;p25"/>
          <p:cNvSpPr txBox="1"/>
          <p:nvPr/>
        </p:nvSpPr>
        <p:spPr>
          <a:xfrm>
            <a:off x="552900" y="915925"/>
            <a:ext cx="8038200" cy="39096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latin typeface="Consolas"/>
                <a:ea typeface="Consolas"/>
                <a:cs typeface="Consolas"/>
                <a:sym typeface="Consolas"/>
              </a:rPr>
              <a:t>impl From&lt;io::Error&gt; for </a:t>
            </a:r>
            <a:r>
              <a:rPr b="1" lang="it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SumFileError </a:t>
            </a:r>
            <a:r>
              <a:rPr b="1" lang="it" sz="11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latin typeface="Consolas"/>
                <a:ea typeface="Consolas"/>
                <a:cs typeface="Consolas"/>
                <a:sym typeface="Consolas"/>
              </a:rPr>
              <a:t>  fn from(err: io::Error) -&gt; Self { </a:t>
            </a:r>
            <a:r>
              <a:rPr b="1" lang="it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SumFileError</a:t>
            </a:r>
            <a:r>
              <a:rPr b="1" lang="it" sz="1100">
                <a:latin typeface="Consolas"/>
                <a:ea typeface="Consolas"/>
                <a:cs typeface="Consolas"/>
                <a:sym typeface="Consolas"/>
              </a:rPr>
              <a:t>::Io(err) }</a:t>
            </a:r>
            <a:endParaRPr b="1" sz="1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latin typeface="Consolas"/>
                <a:ea typeface="Consolas"/>
                <a:cs typeface="Consolas"/>
                <a:sym typeface="Consolas"/>
              </a:rPr>
              <a:t>impl From&lt;ParseIntError&gt; for </a:t>
            </a:r>
            <a:r>
              <a:rPr b="1" lang="it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SumFileError </a:t>
            </a:r>
            <a:r>
              <a:rPr b="1" lang="it" sz="11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latin typeface="Consolas"/>
                <a:ea typeface="Consolas"/>
                <a:cs typeface="Consolas"/>
                <a:sym typeface="Consolas"/>
              </a:rPr>
              <a:t>  fn from(err: ParseIntError) -&gt; Self { </a:t>
            </a:r>
            <a:r>
              <a:rPr b="1" lang="it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SumFileError</a:t>
            </a:r>
            <a:r>
              <a:rPr b="1" lang="it" sz="1100">
                <a:latin typeface="Consolas"/>
                <a:ea typeface="Consolas"/>
                <a:cs typeface="Consolas"/>
                <a:sym typeface="Consolas"/>
              </a:rPr>
              <a:t>::Parse(err) }</a:t>
            </a:r>
            <a:endParaRPr b="1" sz="1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latin typeface="Consolas"/>
                <a:ea typeface="Consolas"/>
                <a:cs typeface="Consolas"/>
                <a:sym typeface="Consolas"/>
              </a:rPr>
              <a:t>impl fmt::Display for </a:t>
            </a:r>
            <a:r>
              <a:rPr b="1" lang="it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SumFileError </a:t>
            </a:r>
            <a:r>
              <a:rPr b="1" lang="it" sz="11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latin typeface="Consolas"/>
                <a:ea typeface="Consolas"/>
                <a:cs typeface="Consolas"/>
                <a:sym typeface="Consolas"/>
              </a:rPr>
              <a:t>  fn fmt(&amp;self, f: &amp;mut fmt::Formatter&lt;'_&gt;) -&gt; fmt::Result {</a:t>
            </a:r>
            <a:endParaRPr b="1" sz="1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latin typeface="Consolas"/>
                <a:ea typeface="Consolas"/>
                <a:cs typeface="Consolas"/>
                <a:sym typeface="Consolas"/>
              </a:rPr>
              <a:t>    match self {</a:t>
            </a:r>
            <a:endParaRPr b="1" sz="1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it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SumFileError</a:t>
            </a:r>
            <a:r>
              <a:rPr b="1" lang="it" sz="1100">
                <a:latin typeface="Consolas"/>
                <a:ea typeface="Consolas"/>
                <a:cs typeface="Consolas"/>
                <a:sym typeface="Consolas"/>
              </a:rPr>
              <a:t>::Io(err) =&gt; write!(f, "IO error: {}", err),</a:t>
            </a:r>
            <a:endParaRPr b="1" sz="1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it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SumFileError</a:t>
            </a:r>
            <a:r>
              <a:rPr b="1" lang="it" sz="1100">
                <a:latin typeface="Consolas"/>
                <a:ea typeface="Consolas"/>
                <a:cs typeface="Consolas"/>
                <a:sym typeface="Consolas"/>
              </a:rPr>
              <a:t>::Parse(err) =&gt; write!(f, "</a:t>
            </a:r>
            <a:r>
              <a:rPr b="1" lang="it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Parse </a:t>
            </a:r>
            <a:r>
              <a:rPr b="1" lang="it" sz="1100">
                <a:latin typeface="Consolas"/>
                <a:ea typeface="Consolas"/>
                <a:cs typeface="Consolas"/>
                <a:sym typeface="Consolas"/>
              </a:rPr>
              <a:t>error: {}", err),</a:t>
            </a:r>
            <a:endParaRPr b="1" sz="1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1" sz="1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 sz="1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impl error::Error for SumFileError {</a:t>
            </a:r>
            <a:endParaRPr b="1"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fn source(&amp;self) -&gt; Option&lt;&amp;(dyn error::Error + 'static)&gt; {</a:t>
            </a:r>
            <a:endParaRPr b="1"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Some(match self {</a:t>
            </a:r>
            <a:endParaRPr b="1"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SumFileError::Io(err) =&gt; err,</a:t>
            </a:r>
            <a:endParaRPr b="1"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SumFileError::Parse(err) =&gt; err,</a:t>
            </a:r>
            <a:endParaRPr b="1"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})</a:t>
            </a:r>
            <a:endParaRPr b="1"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1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type="title"/>
          </p:nvPr>
        </p:nvSpPr>
        <p:spPr>
          <a:xfrm>
            <a:off x="311700" y="400523"/>
            <a:ext cx="8520600" cy="5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Propagare errori eterogenei</a:t>
            </a:r>
            <a:endParaRPr/>
          </a:p>
        </p:txBody>
      </p:sp>
      <p:sp>
        <p:nvSpPr>
          <p:cNvPr id="168" name="Google Shape;168;p26"/>
          <p:cNvSpPr txBox="1"/>
          <p:nvPr>
            <p:ph idx="12" type="sldNum"/>
          </p:nvPr>
        </p:nvSpPr>
        <p:spPr>
          <a:xfrm>
            <a:off x="8472458" y="4786194"/>
            <a:ext cx="548700" cy="3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69" name="Google Shape;169;p26"/>
          <p:cNvSpPr txBox="1"/>
          <p:nvPr/>
        </p:nvSpPr>
        <p:spPr>
          <a:xfrm>
            <a:off x="552900" y="967057"/>
            <a:ext cx="8038200" cy="36789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fn sum_file(path: &amp;Path) -&gt; Result&lt;i32, SumFileError&gt; {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let mut file = File::open(path)?;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let mut contents = String::new();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file.read_to_string(&amp;mut contents)?;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let mut sum = 0;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for line in contents.lines() { 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sum += line.parse::&lt;i32&gt;()?; 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Ok(sum)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fn handle_sum_file_errors(path: &amp;Path) {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match sum_file(path) {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Ok(sum) =&gt; println!("the sum is {}", sum),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Err(SumFileError::Io(err)) =&gt; {...},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Err(SumFileError::Parse(err)) =&gt; {...},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>
            <p:ph type="title"/>
          </p:nvPr>
        </p:nvSpPr>
        <p:spPr>
          <a:xfrm>
            <a:off x="311700" y="400523"/>
            <a:ext cx="8520600" cy="5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Propagare errori eterogenei</a:t>
            </a:r>
            <a:endParaRPr/>
          </a:p>
        </p:txBody>
      </p:sp>
      <p:sp>
        <p:nvSpPr>
          <p:cNvPr id="175" name="Google Shape;175;p27"/>
          <p:cNvSpPr txBox="1"/>
          <p:nvPr>
            <p:ph idx="1" type="body"/>
          </p:nvPr>
        </p:nvSpPr>
        <p:spPr>
          <a:xfrm>
            <a:off x="311700" y="1037228"/>
            <a:ext cx="8520600" cy="30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Un grosso aiuto all’implementazione di tipi che implementano il tratto Error viene dal crate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thiserror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Esso offre una implementazione della macro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derive</a:t>
            </a:r>
            <a:r>
              <a:rPr lang="it"/>
              <a:t> specializzata per il tratto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Error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Definendo un tipo (enum, struct, unit) preceduto dall’attributo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#[derive(Error, Debug)]</a:t>
            </a:r>
            <a:r>
              <a:rPr lang="it"/>
              <a:t> si ottiene l’implementazione automatica di questi due tratti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L’attributo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#[error(“Messaggio con formato”)]</a:t>
            </a:r>
            <a:r>
              <a:rPr lang="it"/>
              <a:t> posta di fronte alle singole voci enumerative o all’intera struct genera l’implementazione del tratto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Display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L’attributo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#[from]</a:t>
            </a:r>
            <a:r>
              <a:rPr lang="it"/>
              <a:t> posto di fronte ad un campo il cui tipo implementa il tratto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Error</a:t>
            </a:r>
            <a:r>
              <a:rPr lang="it"/>
              <a:t> genera l’implementazione del tratto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it"/>
              <a:t> a partire dal tipo del campo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Questo approccio è particolarmente adatto nella creazione di librerie, dove si vogliono rendere i possibili errori parte della definizione del contratto (API)</a:t>
            </a:r>
            <a:endParaRPr/>
          </a:p>
        </p:txBody>
      </p:sp>
      <p:sp>
        <p:nvSpPr>
          <p:cNvPr id="176" name="Google Shape;176;p27"/>
          <p:cNvSpPr txBox="1"/>
          <p:nvPr>
            <p:ph idx="12" type="sldNum"/>
          </p:nvPr>
        </p:nvSpPr>
        <p:spPr>
          <a:xfrm>
            <a:off x="8472458" y="4786194"/>
            <a:ext cx="548700" cy="3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8"/>
          <p:cNvSpPr txBox="1"/>
          <p:nvPr>
            <p:ph type="title"/>
          </p:nvPr>
        </p:nvSpPr>
        <p:spPr>
          <a:xfrm>
            <a:off x="311700" y="400523"/>
            <a:ext cx="8520600" cy="5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Propagare errori eterogenei</a:t>
            </a:r>
            <a:endParaRPr/>
          </a:p>
        </p:txBody>
      </p:sp>
      <p:sp>
        <p:nvSpPr>
          <p:cNvPr id="182" name="Google Shape;182;p28"/>
          <p:cNvSpPr txBox="1"/>
          <p:nvPr>
            <p:ph idx="12" type="sldNum"/>
          </p:nvPr>
        </p:nvSpPr>
        <p:spPr>
          <a:xfrm>
            <a:off x="8472458" y="4778381"/>
            <a:ext cx="548700" cy="3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83" name="Google Shape;183;p28"/>
          <p:cNvSpPr txBox="1"/>
          <p:nvPr/>
        </p:nvSpPr>
        <p:spPr>
          <a:xfrm>
            <a:off x="1957200" y="2150167"/>
            <a:ext cx="5229600" cy="2124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#[derive(</a:t>
            </a:r>
            <a:r>
              <a:rPr b="1" lang="it">
                <a:solidFill>
                  <a:srgbClr val="0B5394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Error</a:t>
            </a: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, Debug)]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enum SumFileError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it">
                <a:solidFill>
                  <a:srgbClr val="0B5394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#[error("IO error {0})"]</a:t>
            </a:r>
            <a:endParaRPr b="1">
              <a:solidFill>
                <a:srgbClr val="0B5394"/>
              </a:solidFill>
              <a:highlight>
                <a:schemeClr val="accent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 Io(</a:t>
            </a:r>
            <a:r>
              <a:rPr b="1" lang="it">
                <a:solidFill>
                  <a:srgbClr val="0B5394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#[from]</a:t>
            </a: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io::Error),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it">
                <a:solidFill>
                  <a:srgbClr val="0B5394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#[error("Parse error {0})"]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 Parse(</a:t>
            </a:r>
            <a:r>
              <a:rPr b="1" lang="it">
                <a:solidFill>
                  <a:srgbClr val="0B5394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#[from] </a:t>
            </a: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ParseIntError),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4" name="Google Shape;184;p28"/>
          <p:cNvSpPr txBox="1"/>
          <p:nvPr/>
        </p:nvSpPr>
        <p:spPr>
          <a:xfrm>
            <a:off x="1957200" y="1320671"/>
            <a:ext cx="5229600" cy="6156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[dependencies]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thiserror = "1.0"</a:t>
            </a:r>
            <a:endParaRPr b="1">
              <a:solidFill>
                <a:srgbClr val="0B5394"/>
              </a:solidFill>
              <a:highlight>
                <a:schemeClr val="accent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/>
          <p:nvPr>
            <p:ph type="title"/>
          </p:nvPr>
        </p:nvSpPr>
        <p:spPr>
          <a:xfrm>
            <a:off x="311700" y="400523"/>
            <a:ext cx="8520600" cy="5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Propagare errori eterogenei</a:t>
            </a:r>
            <a:endParaRPr/>
          </a:p>
        </p:txBody>
      </p:sp>
      <p:sp>
        <p:nvSpPr>
          <p:cNvPr id="190" name="Google Shape;190;p29"/>
          <p:cNvSpPr txBox="1"/>
          <p:nvPr>
            <p:ph idx="1" type="body"/>
          </p:nvPr>
        </p:nvSpPr>
        <p:spPr>
          <a:xfrm>
            <a:off x="311700" y="1152472"/>
            <a:ext cx="8520600" cy="36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crate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anyhow</a:t>
            </a:r>
            <a:r>
              <a:rPr lang="it"/>
              <a:t> definisce l’oggetto-tratto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anyhow::Error</a:t>
            </a:r>
            <a:r>
              <a:rPr lang="it"/>
              <a:t> che semplifica la gestione idiomatica degli errori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Si può usare il tipo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anyhow::Result&lt;T&gt;</a:t>
            </a:r>
            <a:r>
              <a:rPr lang="it"/>
              <a:t> per incapsulare il valore di ritorno di una funzione che può fallire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Questo tipo offre un’implementazione automatica del tratto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From&lt;T: Error&gt;</a:t>
            </a:r>
            <a:r>
              <a:rPr lang="it"/>
              <a:t>, il che permette di utilizzare la notazione basata sull’operatore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r>
              <a:rPr lang="it"/>
              <a:t> per propagare l’errore ritornato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Quando viene generato un errore è possibile aggiungere una descrizione che contestualizza ciò che è successo tramite i metodi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context(...)</a:t>
            </a:r>
            <a:r>
              <a:rPr lang="it"/>
              <a:t> 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with_context(...)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Consolas"/>
              <a:buChar char="○"/>
            </a:pPr>
            <a:r>
              <a:rPr lang="it"/>
              <a:t>Il messaggio di errore associato verrà sostituito dalla stringa indicata seguita dalla causa originale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Questo crate interopera correttamente con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thiserror</a:t>
            </a:r>
            <a:r>
              <a:rPr lang="it"/>
              <a:t> e risulta adatto nella scrittura di codice applicativo, piuttosto che di librerie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In questo caso, la semplicità di scrittura del codice domina rispetto al controllo dell’informazione contenuta nell’errore generato, tenuto conto che sarà interpretato da persone </a:t>
            </a:r>
            <a:endParaRPr/>
          </a:p>
        </p:txBody>
      </p:sp>
      <p:sp>
        <p:nvSpPr>
          <p:cNvPr id="191" name="Google Shape;191;p29"/>
          <p:cNvSpPr txBox="1"/>
          <p:nvPr>
            <p:ph idx="12" type="sldNum"/>
          </p:nvPr>
        </p:nvSpPr>
        <p:spPr>
          <a:xfrm>
            <a:off x="8472458" y="4778381"/>
            <a:ext cx="548700" cy="3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 txBox="1"/>
          <p:nvPr>
            <p:ph type="title"/>
          </p:nvPr>
        </p:nvSpPr>
        <p:spPr>
          <a:xfrm>
            <a:off x="311700" y="400523"/>
            <a:ext cx="8520600" cy="5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Propagare errori eterogenei</a:t>
            </a:r>
            <a:endParaRPr/>
          </a:p>
        </p:txBody>
      </p:sp>
      <p:sp>
        <p:nvSpPr>
          <p:cNvPr id="197" name="Google Shape;197;p30"/>
          <p:cNvSpPr txBox="1"/>
          <p:nvPr>
            <p:ph idx="12" type="sldNum"/>
          </p:nvPr>
        </p:nvSpPr>
        <p:spPr>
          <a:xfrm>
            <a:off x="8472458" y="4797050"/>
            <a:ext cx="548700" cy="3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98" name="Google Shape;198;p30"/>
          <p:cNvSpPr txBox="1"/>
          <p:nvPr/>
        </p:nvSpPr>
        <p:spPr>
          <a:xfrm>
            <a:off x="552900" y="932844"/>
            <a:ext cx="8038200" cy="3879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fn sum_file(path: &amp;Path) -&gt; </a:t>
            </a:r>
            <a:r>
              <a:rPr b="1" lang="it" sz="1200">
                <a:solidFill>
                  <a:srgbClr val="0B5394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anyhow::Result&lt;i32&gt;</a:t>
            </a: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{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let mut file = File::open(path)</a:t>
            </a:r>
            <a:r>
              <a:rPr b="1" lang="it" sz="1200">
                <a:solidFill>
                  <a:srgbClr val="0B5394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.with_context(|| format!("Missing path {}", path))</a:t>
            </a: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it" sz="12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; 	  </a:t>
            </a:r>
            <a:endParaRPr b="1" sz="1200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let mut contents = String::new();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file.read_to_string(&amp;mut contents)</a:t>
            </a:r>
            <a:r>
              <a:rPr b="1" lang="it" sz="1200">
                <a:solidFill>
                  <a:srgbClr val="0B5394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.context("File read error")</a:t>
            </a: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it" sz="12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; </a:t>
            </a:r>
            <a:endParaRPr b="1" sz="1200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let mut sum = 0;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for line in contents.lines() {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sum += line.parse::&lt;i32&gt;()</a:t>
            </a:r>
            <a:r>
              <a:rPr b="1" lang="it" sz="1200">
                <a:solidFill>
                  <a:srgbClr val="0B5394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.with_context(|| format!("Not a number: {}", line))</a:t>
            </a: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it" sz="12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;       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Ok(sum)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fn handle_</a:t>
            </a:r>
            <a:r>
              <a:rPr b="1"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sum_file</a:t>
            </a: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_errors(path: &amp;Path) {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match </a:t>
            </a:r>
            <a:r>
              <a:rPr b="1"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sum_file</a:t>
            </a: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(path) {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Ok(sum) =&gt; println!("sum is {}", sum),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Err(err) =&gt; {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  if let Some(e) = </a:t>
            </a:r>
            <a:r>
              <a:rPr b="1" lang="it" sz="12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err.downcast_ref::&lt;io::Error&gt;()</a:t>
            </a: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{...}  //tratto io::Error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  else if let Some(e) = </a:t>
            </a:r>
            <a:r>
              <a:rPr b="1" lang="it" sz="12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err.downcast_ref::&lt;ParseIntError&gt;</a:t>
            </a: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() {...}  //tratto ParseIntError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  else { unreachable!(); }  //non può capitare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/>
          <p:cNvSpPr txBox="1"/>
          <p:nvPr>
            <p:ph type="title"/>
          </p:nvPr>
        </p:nvSpPr>
        <p:spPr>
          <a:xfrm>
            <a:off x="311700" y="400523"/>
            <a:ext cx="8520600" cy="5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Per saperne di più</a:t>
            </a:r>
            <a:endParaRPr/>
          </a:p>
        </p:txBody>
      </p:sp>
      <p:sp>
        <p:nvSpPr>
          <p:cNvPr id="204" name="Google Shape;204;p31"/>
          <p:cNvSpPr txBox="1"/>
          <p:nvPr>
            <p:ph idx="1" type="body"/>
          </p:nvPr>
        </p:nvSpPr>
        <p:spPr>
          <a:xfrm>
            <a:off x="311700" y="1037228"/>
            <a:ext cx="8520600" cy="30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Rust Error Handling In Practice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u="sng">
                <a:solidFill>
                  <a:schemeClr val="hlink"/>
                </a:solidFill>
                <a:hlinkClick r:id="rId3"/>
              </a:rPr>
              <a:t>https://medium.com/coinmonks/rust-error-handling-in-practice-376d86ba12ca</a:t>
            </a:r>
            <a:r>
              <a:rPr lang="it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Presentazione dei concetti base legati alla gestione degli errori in Rust con esempi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The simplest guide to error handling in Rust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u="sng">
                <a:solidFill>
                  <a:schemeClr val="hlink"/>
                </a:solidFill>
                <a:hlinkClick r:id="rId4"/>
              </a:rPr>
              <a:t>https://kerkour.com/rust-error-handling</a:t>
            </a:r>
            <a:r>
              <a:rPr lang="it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Guida pratica alla gestione degli errori in Rust, con esempi basati sui crate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thiserror</a:t>
            </a:r>
            <a:r>
              <a:rPr lang="it"/>
              <a:t> 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anyhow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Idiomatic Error Handling in Rust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u="sng">
                <a:solidFill>
                  <a:schemeClr val="hlink"/>
                </a:solidFill>
                <a:hlinkClick r:id="rId5"/>
              </a:rPr>
              <a:t>https://www.learnrust.blog/p/idiomatic-error-handling-in-rust</a:t>
            </a:r>
            <a:r>
              <a:rPr lang="it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Altra guida pratica alla gestione degli errori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Error Handling In Rust - A Deep Dive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u="sng">
                <a:solidFill>
                  <a:schemeClr val="hlink"/>
                </a:solidFill>
                <a:hlinkClick r:id="rId6"/>
              </a:rPr>
              <a:t>https://www.lpalmieri.com/posts/error-handling-rust/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Estratto dal libro "Zero to production in Rust", tratta in modo avanzato il concetto di errore della sua gestione, fornendo esempi tratti dal mondo reale</a:t>
            </a:r>
            <a:endParaRPr/>
          </a:p>
        </p:txBody>
      </p:sp>
      <p:sp>
        <p:nvSpPr>
          <p:cNvPr id="205" name="Google Shape;205;p31"/>
          <p:cNvSpPr txBox="1"/>
          <p:nvPr>
            <p:ph idx="12" type="sldNum"/>
          </p:nvPr>
        </p:nvSpPr>
        <p:spPr>
          <a:xfrm>
            <a:off x="8472458" y="4787716"/>
            <a:ext cx="548700" cy="3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206" name="Google Shape;206;p31"/>
          <p:cNvPicPr preferRelativeResize="0"/>
          <p:nvPr/>
        </p:nvPicPr>
        <p:blipFill rotWithShape="1">
          <a:blip r:embed="rId7">
            <a:alphaModFix/>
          </a:blip>
          <a:srcRect b="18806" l="17235" r="17235" t="18800"/>
          <a:stretch/>
        </p:blipFill>
        <p:spPr>
          <a:xfrm>
            <a:off x="7771925" y="105705"/>
            <a:ext cx="1249224" cy="1023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lit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