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42ff6140c_1_20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42ff6140c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060f30a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060f30a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60f30a6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060f30a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060f30a6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060f30a6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42ff6140c_1_21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42ff6140c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060f30a6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060f30a6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060f30a6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060f30a6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42ff6140c_1_22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42ff6140c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42ff6140c_1_23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42ff6140c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42ff6140c_1_24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42ff6140c_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42ff6140c_1_26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42ff6140c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060f30a65_0_5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060f30a6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42ff6140c_1_27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42ff6140c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657465e4d_0_8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657465e4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657465e4d_0_13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657465e4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060f30a6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060f30a6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060f30a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060f30a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060f30a6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060f30a6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060f30a6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060f30a6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42ff6140c_1_22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42ff6140c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42ff6140c_1_28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42ff6140c_1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657465e4d_0_4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657465e4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657465e4d_0_4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c657465e4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42ff6140c_1_28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c42ff6140c_1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17732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3862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9530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7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" name="Google Shape;37;p8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crates.io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evelup.gitconnected.com/rust-adventures-rust-projects-management-understanding-packages-crates-and-modules-b3bcde2eb1c" TargetMode="External"/><Relationship Id="rId4" Type="http://schemas.openxmlformats.org/officeDocument/2006/relationships/hyperlink" Target="https://medium.com/@TechSavvyScribe/rust-modules-and-organizing-code-92c4d6165a82" TargetMode="External"/><Relationship Id="rId5" Type="http://schemas.openxmlformats.org/officeDocument/2006/relationships/hyperlink" Target="https://doc.rust-lang.org/std/prelude/index.html" TargetMode="External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ctrTitle"/>
          </p:nvPr>
        </p:nvSpPr>
        <p:spPr>
          <a:xfrm>
            <a:off x="311708" y="17732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Modularità</a:t>
            </a:r>
            <a:endParaRPr/>
          </a:p>
        </p:txBody>
      </p:sp>
      <p:pic>
        <p:nvPicPr>
          <p:cNvPr id="84" name="Google Shape;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841770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311700" y="3862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/>
              <a:t>Organizzare il codice sorgente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Obiettivi</a:t>
            </a:r>
            <a:endParaRPr/>
          </a:p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Comprendere la differenza tra </a:t>
            </a:r>
            <a:r>
              <a:rPr b="1" lang="it">
                <a:solidFill>
                  <a:srgbClr val="0B5394"/>
                </a:solidFill>
              </a:rPr>
              <a:t>package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</a:rPr>
              <a:t>crate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</a:rPr>
              <a:t>moduli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Organizzare un progetto Rust mediante una </a:t>
            </a:r>
            <a:r>
              <a:rPr b="1" lang="it">
                <a:solidFill>
                  <a:srgbClr val="0B5394"/>
                </a:solidFill>
              </a:rPr>
              <a:t>struttura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</a:rPr>
              <a:t>gerarchica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</a:rPr>
              <a:t>manutenibile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Controllare la </a:t>
            </a:r>
            <a:r>
              <a:rPr b="1" lang="it">
                <a:solidFill>
                  <a:srgbClr val="0B5394"/>
                </a:solidFill>
              </a:rPr>
              <a:t>visibilità</a:t>
            </a:r>
            <a:r>
              <a:rPr lang="it"/>
              <a:t> e </a:t>
            </a:r>
            <a:r>
              <a:rPr lang="it"/>
              <a:t>l'</a:t>
            </a:r>
            <a:r>
              <a:rPr b="1" lang="it">
                <a:solidFill>
                  <a:srgbClr val="0B5394"/>
                </a:solidFill>
              </a:rPr>
              <a:t>incapsulamento</a:t>
            </a:r>
            <a:r>
              <a:rPr lang="it"/>
              <a:t> delle strutture dati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Suddividere i moduli in più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Strutturare progetti contenenti più eseguibili</a:t>
            </a:r>
            <a:endParaRPr/>
          </a:p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3" name="Google Shape;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8200" y="0"/>
            <a:ext cx="1635801" cy="163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rendere modulare un progetto?</a:t>
            </a:r>
            <a:endParaRPr/>
          </a:p>
        </p:txBody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accrescere la </a:t>
            </a:r>
            <a:r>
              <a:rPr b="1" lang="it">
                <a:solidFill>
                  <a:srgbClr val="0B5394"/>
                </a:solidFill>
              </a:rPr>
              <a:t>manutenibilità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Suddividere il codice in moduli rende più facile comprendere, modificare ed estendere nel tempo il progetto, riducendo il rischio di introdurre effetti collaterali non voluti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favorire </a:t>
            </a:r>
            <a:r>
              <a:rPr lang="it"/>
              <a:t>l'</a:t>
            </a:r>
            <a:r>
              <a:rPr b="1" lang="it">
                <a:solidFill>
                  <a:srgbClr val="0B5394"/>
                </a:solidFill>
              </a:rPr>
              <a:t>incapsulamento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Controllando quali funzioni, tipi e campi siano esposti (pub) o tenuti privati, è possibile nascondere i dettagli implementativi ed assicurarsi che le altre parti del programma possano interagire solo con interfacce ben definite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garantire una </a:t>
            </a:r>
            <a:r>
              <a:rPr b="1" lang="it">
                <a:solidFill>
                  <a:srgbClr val="0B5394"/>
                </a:solidFill>
              </a:rPr>
              <a:t>sicurezza</a:t>
            </a:r>
            <a:r>
              <a:rPr lang="it"/>
              <a:t> (safety) all'atto della </a:t>
            </a:r>
            <a:r>
              <a:rPr b="1" lang="it">
                <a:solidFill>
                  <a:srgbClr val="0B5394"/>
                </a:solidFill>
              </a:rPr>
              <a:t>compilazione</a:t>
            </a:r>
            <a:r>
              <a:rPr lang="it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sistema di moduli e visibilità offerto da Rust permette di rilevare in fase di compilazione la maggior parte degli errori concettuali legati all'accesso ai dati,  aumentando l'affidabilità del prodotto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costruire </a:t>
            </a:r>
            <a:r>
              <a:rPr b="1" lang="it">
                <a:solidFill>
                  <a:srgbClr val="0B5394"/>
                </a:solidFill>
              </a:rPr>
              <a:t>librerie riutilizzabili</a:t>
            </a:r>
            <a:r>
              <a:rPr lang="it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Strutturare il codice in progetti (crate) e moduli ben congegnati permette il riutilizzo di componenti, riducendo la duplicazione del codice e promuovendo l'uso consistente di funzionalità comuni</a:t>
            </a:r>
            <a:endParaRPr/>
          </a:p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Struttura di un progetto Rust: package, crate, moduli</a:t>
            </a:r>
            <a:endParaRPr/>
          </a:p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7" name="Google Shape;107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Package</a:t>
            </a:r>
            <a:endParaRPr sz="1800"/>
          </a:p>
          <a:p>
            <a:pPr indent="-317500" lvl="1" marL="71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Progetto basato su cargo</a:t>
            </a:r>
            <a:endParaRPr sz="1400"/>
          </a:p>
          <a:p>
            <a:pPr indent="-317500" lvl="1" marL="71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Contiene uno o più crate</a:t>
            </a:r>
            <a:endParaRPr sz="14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Crate</a:t>
            </a:r>
            <a:endParaRPr sz="1800"/>
          </a:p>
          <a:p>
            <a:pPr indent="-317500" lvl="1" marL="71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Unità di compilazione</a:t>
            </a:r>
            <a:endParaRPr sz="1400"/>
          </a:p>
          <a:p>
            <a:pPr indent="-317500" lvl="1" marL="71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Può dare origine ad un eseguibile  (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main.rs</a:t>
            </a:r>
            <a:r>
              <a:rPr lang="it" sz="1400"/>
              <a:t>) e/o ad una libreria (</a:t>
            </a: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lib.rs</a:t>
            </a:r>
            <a:r>
              <a:rPr lang="it" sz="1400"/>
              <a:t>)</a:t>
            </a:r>
            <a:endParaRPr sz="14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 sz="1800"/>
              <a:t>Modulo</a:t>
            </a:r>
            <a:endParaRPr sz="1800"/>
          </a:p>
          <a:p>
            <a:pPr indent="-317500" lvl="1" marL="71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Spazio dei nomi all'interno di un crate</a:t>
            </a:r>
            <a:endParaRPr sz="1400"/>
          </a:p>
          <a:p>
            <a:pPr indent="-317500" lvl="1" marL="719999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Organizza il codice e controlla la visibilità</a:t>
            </a:r>
            <a:endParaRPr sz="1400"/>
          </a:p>
        </p:txBody>
      </p:sp>
      <p:sp>
        <p:nvSpPr>
          <p:cNvPr id="108" name="Google Shape;108;p23"/>
          <p:cNvSpPr/>
          <p:nvPr/>
        </p:nvSpPr>
        <p:spPr>
          <a:xfrm>
            <a:off x="352925" y="1147000"/>
            <a:ext cx="4090200" cy="3479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Package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3"/>
          <p:cNvSpPr/>
          <p:nvPr/>
        </p:nvSpPr>
        <p:spPr>
          <a:xfrm>
            <a:off x="497175" y="1608225"/>
            <a:ext cx="3767100" cy="393600"/>
          </a:xfrm>
          <a:prstGeom prst="foldedCorner">
            <a:avLst>
              <a:gd fmla="val 41959" name="adj"/>
            </a:avLst>
          </a:prstGeom>
          <a:solidFill>
            <a:srgbClr val="9FC5E8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Cargo.toml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497150" y="2163625"/>
            <a:ext cx="1836000" cy="23121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Crate</a:t>
            </a:r>
            <a:endParaRPr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3"/>
          <p:cNvSpPr/>
          <p:nvPr/>
        </p:nvSpPr>
        <p:spPr>
          <a:xfrm>
            <a:off x="549650" y="2593250"/>
            <a:ext cx="1673400" cy="321000"/>
          </a:xfrm>
          <a:prstGeom prst="foldedCorner">
            <a:avLst>
              <a:gd fmla="val 39412" name="adj"/>
            </a:avLst>
          </a:prstGeom>
          <a:solidFill>
            <a:srgbClr val="B6D7A8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main</a:t>
            </a:r>
            <a:r>
              <a:rPr lang="it">
                <a:latin typeface="Calibri"/>
                <a:ea typeface="Calibri"/>
                <a:cs typeface="Calibri"/>
                <a:sym typeface="Calibri"/>
              </a:rPr>
              <a:t>.rs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3"/>
          <p:cNvSpPr/>
          <p:nvPr/>
        </p:nvSpPr>
        <p:spPr>
          <a:xfrm rot="-5400000">
            <a:off x="906075" y="2715225"/>
            <a:ext cx="1006500" cy="162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moduli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950539" y="3175225"/>
            <a:ext cx="1148400" cy="3210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args.rs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950539" y="3578275"/>
            <a:ext cx="1148400" cy="3210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config.rs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2428400" y="2163625"/>
            <a:ext cx="1836000" cy="23121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Crate</a:t>
            </a:r>
            <a:endParaRPr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2480900" y="2593250"/>
            <a:ext cx="1673400" cy="321000"/>
          </a:xfrm>
          <a:prstGeom prst="foldedCorner">
            <a:avLst>
              <a:gd fmla="val 39412" name="adj"/>
            </a:avLst>
          </a:prstGeom>
          <a:solidFill>
            <a:srgbClr val="B6D7A8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lib</a:t>
            </a:r>
            <a:r>
              <a:rPr lang="it">
                <a:latin typeface="Calibri"/>
                <a:ea typeface="Calibri"/>
                <a:cs typeface="Calibri"/>
                <a:sym typeface="Calibri"/>
              </a:rPr>
              <a:t>.rs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3"/>
          <p:cNvSpPr/>
          <p:nvPr/>
        </p:nvSpPr>
        <p:spPr>
          <a:xfrm rot="-5400000">
            <a:off x="2657925" y="2894350"/>
            <a:ext cx="1365300" cy="162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moduli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2881789" y="3175225"/>
            <a:ext cx="1148400" cy="3210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network.rs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2881789" y="3578275"/>
            <a:ext cx="1148400" cy="3210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storage.rs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3"/>
          <p:cNvSpPr/>
          <p:nvPr/>
        </p:nvSpPr>
        <p:spPr>
          <a:xfrm>
            <a:off x="2881789" y="3981325"/>
            <a:ext cx="1148400" cy="3210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utils.rs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Crates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processo di compilazione di un progetto Rust è basato sul concetto di </a:t>
            </a:r>
            <a:r>
              <a:rPr b="1" lang="it">
                <a:solidFill>
                  <a:srgbClr val="0B5394"/>
                </a:solidFill>
              </a:rPr>
              <a:t>crate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livello sorgente, un crate </a:t>
            </a:r>
            <a:r>
              <a:rPr lang="it"/>
              <a:t>è una unità di compilazione che ha una radice (main.rs o lib.rs) e può essere composto da più moduli e file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crate è l’unità di compilazione: Cargo compila ogni crate e poi li collega tra loro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crate binario costituisce un’unità di versionamento e di caricamento in fase di esecuzione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Quando un crate fa riferimento a codice (funzioni, strutture, tratti, …) esportato da un altro crate (di tipo libreria), quest’ultimo deve essere combinato con il primo per mettere a disposizione quanto richiesto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Questa operazione è detta collegamento (</a:t>
            </a:r>
            <a:r>
              <a:rPr b="1" lang="it">
                <a:solidFill>
                  <a:srgbClr val="0B5394"/>
                </a:solidFill>
              </a:rPr>
              <a:t>linking</a:t>
            </a:r>
            <a:r>
              <a:rPr lang="it"/>
              <a:t>) e dipende da come la libreria è stata realizzata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supporta la creazione di librerie con diverse forme di collegamento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Statico, in cui l’eseguibile finale ha una copia completa di tutto il codice utilizzato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Dinamico, in cui il codice esterno viene caricato all’atto dell’avvio dell’eseguibile, a partire da un file di tipo .dll (in Windows) o .so (nei sistemi Unix-like)</a:t>
            </a:r>
            <a:endParaRPr/>
          </a:p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Organizzazione del codice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Spesso i package contengono due crate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crate binario (facente capo al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main.rs</a:t>
            </a:r>
            <a:r>
              <a:rPr lang="it"/>
              <a:t>) ed un crate libreria (facente capo al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lib.rs</a:t>
            </a:r>
            <a:r>
              <a:rPr lang="it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permette di separare l'</a:t>
            </a:r>
            <a:r>
              <a:rPr b="1" lang="it">
                <a:solidFill>
                  <a:srgbClr val="0B5394"/>
                </a:solidFill>
              </a:rPr>
              <a:t>interfaccia eseguibile</a:t>
            </a:r>
            <a:r>
              <a:rPr lang="it"/>
              <a:t> dalla </a:t>
            </a:r>
            <a:r>
              <a:rPr b="1" lang="it">
                <a:solidFill>
                  <a:srgbClr val="0B5394"/>
                </a:solidFill>
              </a:rPr>
              <a:t>logica riutilizzabile</a:t>
            </a:r>
            <a:r>
              <a:rPr lang="it"/>
              <a:t> del programma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libreria contiene la logica dell'applicazione (funzioni, strutture dati, moduli) che può essere riutilizzata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Da più crate binari dello stesso package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Da altri progetti 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crate binario si occupa solo di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Analisi dei parametri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Configurazione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Avvio del programma</a:t>
            </a:r>
            <a:endParaRPr/>
          </a:p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Organizzazione del codice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package può avere più binari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src/bin/…</a:t>
            </a:r>
            <a:r>
              <a:rPr lang="it"/>
              <a:t>) che utilizzano la stessa libreria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comando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build</a:t>
            </a:r>
            <a:r>
              <a:rPr lang="it"/>
              <a:t> darà origine a più eseguibili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Questo permette di creare applicativi correlati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server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client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tool di amministrazione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programma di migrazione dei dati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Tutti gli applicativi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Condividono le dipendenze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Hanno la stessa versione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Vengono compilati insieme</a:t>
            </a:r>
            <a:endParaRPr/>
          </a:p>
        </p:txBody>
      </p:sp>
      <p:sp>
        <p:nvSpPr>
          <p:cNvPr id="141" name="Google Shape;141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2" name="Google Shape;142;p26"/>
          <p:cNvSpPr txBox="1"/>
          <p:nvPr/>
        </p:nvSpPr>
        <p:spPr>
          <a:xfrm>
            <a:off x="6018150" y="1650175"/>
            <a:ext cx="2454300" cy="1908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my_package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├── Cargo.toml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└── src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├── lib.rs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├── main.rs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└── bin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 ├── tool_a.rs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 └── tool_b.rs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310975" y="4191225"/>
            <a:ext cx="8569800" cy="503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Un package è un contenitore di progetto che può includere uno o più crate binari, </a:t>
            </a:r>
            <a:br>
              <a:rPr lang="it" sz="1600">
                <a:latin typeface="Calibri"/>
                <a:ea typeface="Calibri"/>
                <a:cs typeface="Calibri"/>
                <a:sym typeface="Calibri"/>
              </a:rPr>
            </a:b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permettendo di sviluppare più programmi correlati che condividono codice comune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Moduli e visibilità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codice contenuto in un crate è costituito da un albero di </a:t>
            </a:r>
            <a:r>
              <a:rPr b="1" lang="it">
                <a:solidFill>
                  <a:srgbClr val="0B5394"/>
                </a:solidFill>
              </a:rPr>
              <a:t>moduli</a:t>
            </a:r>
            <a:endParaRPr b="1">
              <a:solidFill>
                <a:srgbClr val="0B5394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modulo è un costrutto sintattico, introdotto dalla parola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r>
              <a:rPr lang="it"/>
              <a:t> e dal relativo nome che racchiude funzioni, tipi definiti dall’utente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enum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union</a:t>
            </a:r>
            <a:r>
              <a:rPr lang="it"/>
              <a:t>), tratti, relative implementazioni ed altri moduli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Tutto il codice che non è racchiuso in un blocco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nome_modulo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{ … }</a:t>
            </a:r>
            <a:r>
              <a:rPr lang="it"/>
              <a:t>, fa parte del modulo radice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moduli formano una gerarchia ad albero, la cui radice è l’unità di compilazione corrente (rappresentata dalla parola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crate</a:t>
            </a:r>
            <a:r>
              <a:rPr lang="it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Di base, tutti gli elementi definiti all’interno di un modulo sono considerati privati, e sono accessibili solo al codice presente nel modulo stesso o nei suoi sotto-moduli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un elemento definito all’interno di un modulo “m1” è preceduto dalla parola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pub</a:t>
            </a:r>
            <a:r>
              <a:rPr lang="it"/>
              <a:t>, diventa pubblico e può essere utilizzato dal codice presente in un modulo “m2” che non sia un suo discendente, a condizione che tutti gli antenati del modulo “m1” siano a loro volta accessibili al modulo “m2” (perché pubblici o perchè il modulo “m2” è contenuto al loro interno)</a:t>
            </a:r>
            <a:endParaRPr/>
          </a:p>
        </p:txBody>
      </p:sp>
      <p:sp>
        <p:nvSpPr>
          <p:cNvPr id="150" name="Google Shape;150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Moduli e visibilità</a:t>
            </a:r>
            <a:endParaRPr/>
          </a:p>
        </p:txBody>
      </p:sp>
      <p:sp>
        <p:nvSpPr>
          <p:cNvPr id="156" name="Google Shape;156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7" name="Google Shape;157;p28"/>
          <p:cNvSpPr txBox="1"/>
          <p:nvPr/>
        </p:nvSpPr>
        <p:spPr>
          <a:xfrm>
            <a:off x="549300" y="1017697"/>
            <a:ext cx="8045400" cy="3586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6684E1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my_mod {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fn private_fn() {} // visibile solo nel modulo corrente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pub fn public_fn() {} // visibile nel contesto dell’unità di compilazione: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                      // - codice presente in questo stesso file 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                      // - codice che ha accesso al percorso my_mod;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 sz="1300">
                <a:solidFill>
                  <a:srgbClr val="6684E1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private_nested_mod {  // sotto-modulo privato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  fn test() {} // può accedere a my_mod::private_fn()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it" sz="1300">
                <a:solidFill>
                  <a:srgbClr val="6684E1"/>
                </a:solidFill>
                <a:latin typeface="Consolas"/>
                <a:ea typeface="Consolas"/>
                <a:cs typeface="Consolas"/>
                <a:sym typeface="Consolas"/>
              </a:rPr>
              <a:t>pub mod</a:t>
            </a: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public_nested_mod {  //accessibile a chi ha accesso a my_mod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  pub fn api() {} 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my_mod::public_fn(); 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  my_mod::public_nested_mod::api();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" name="Google Shape;158;p28"/>
          <p:cNvSpPr/>
          <p:nvPr/>
        </p:nvSpPr>
        <p:spPr>
          <a:xfrm>
            <a:off x="614644" y="3587538"/>
            <a:ext cx="3699900" cy="961500"/>
          </a:xfrm>
          <a:prstGeom prst="wedgeRoundRectCallout">
            <a:avLst>
              <a:gd fmla="val 81992" name="adj1"/>
              <a:gd fmla="val -27006" name="adj2"/>
              <a:gd fmla="val 0" name="adj3"/>
            </a:avLst>
          </a:prstGeom>
          <a:solidFill>
            <a:srgbClr val="EEFF41">
              <a:alpha val="16940"/>
            </a:srgbClr>
          </a:solidFill>
          <a:ln cap="flat" cmpd="sng" w="19050">
            <a:solidFill>
              <a:srgbClr val="0B539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5439700" y="3587557"/>
            <a:ext cx="25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Modulo radice (anonimo)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Moduli e visibilità</a:t>
            </a:r>
            <a:endParaRPr/>
          </a:p>
        </p:txBody>
      </p:sp>
      <p:sp>
        <p:nvSpPr>
          <p:cNvPr id="165" name="Google Shape;165;p29"/>
          <p:cNvSpPr/>
          <p:nvPr/>
        </p:nvSpPr>
        <p:spPr>
          <a:xfrm>
            <a:off x="3303450" y="1456808"/>
            <a:ext cx="2411400" cy="68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crate::</a:t>
            </a:r>
            <a:endParaRPr i="1"/>
          </a:p>
        </p:txBody>
      </p:sp>
      <p:sp>
        <p:nvSpPr>
          <p:cNvPr id="166" name="Google Shape;166;p29"/>
          <p:cNvSpPr/>
          <p:nvPr/>
        </p:nvSpPr>
        <p:spPr>
          <a:xfrm>
            <a:off x="2634400" y="2556473"/>
            <a:ext cx="132000" cy="118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29"/>
          <p:cNvCxnSpPr>
            <a:stCxn id="166" idx="6"/>
          </p:cNvCxnSpPr>
          <p:nvPr/>
        </p:nvCxnSpPr>
        <p:spPr>
          <a:xfrm>
            <a:off x="2766400" y="2615873"/>
            <a:ext cx="56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9"/>
          <p:cNvSpPr txBox="1"/>
          <p:nvPr/>
        </p:nvSpPr>
        <p:spPr>
          <a:xfrm>
            <a:off x="1815125" y="2218725"/>
            <a:ext cx="147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public_fn()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3303450" y="2426445"/>
            <a:ext cx="2411400" cy="68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crate::my_mod</a:t>
            </a: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1815125" y="3584385"/>
            <a:ext cx="2411400" cy="68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crate::my_mod</a:t>
            </a:r>
            <a:br>
              <a:rPr lang="it"/>
            </a:br>
            <a:r>
              <a:rPr lang="it"/>
              <a:t>::private_nested_mod</a:t>
            </a:r>
            <a:endParaRPr/>
          </a:p>
        </p:txBody>
      </p:sp>
      <p:sp>
        <p:nvSpPr>
          <p:cNvPr id="171" name="Google Shape;171;p29"/>
          <p:cNvSpPr/>
          <p:nvPr/>
        </p:nvSpPr>
        <p:spPr>
          <a:xfrm>
            <a:off x="5050750" y="3584385"/>
            <a:ext cx="2411400" cy="68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</a:t>
            </a:r>
            <a:r>
              <a:rPr b="1" lang="it"/>
              <a:t>pub</a:t>
            </a:r>
            <a:r>
              <a:rPr lang="it"/>
              <a:t> crate::my_mod</a:t>
            </a:r>
            <a:br>
              <a:rPr lang="it"/>
            </a:br>
            <a:r>
              <a:rPr lang="it"/>
              <a:t>::public_nested_mod</a:t>
            </a:r>
            <a:endParaRPr/>
          </a:p>
        </p:txBody>
      </p:sp>
      <p:cxnSp>
        <p:nvCxnSpPr>
          <p:cNvPr id="172" name="Google Shape;172;p29"/>
          <p:cNvCxnSpPr>
            <a:stCxn id="169" idx="0"/>
            <a:endCxn id="165" idx="2"/>
          </p:cNvCxnSpPr>
          <p:nvPr/>
        </p:nvCxnSpPr>
        <p:spPr>
          <a:xfrm rot="-5400000">
            <a:off x="4366650" y="2283345"/>
            <a:ext cx="285600" cy="600"/>
          </a:xfrm>
          <a:prstGeom prst="bentConnector3">
            <a:avLst>
              <a:gd fmla="val 5001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9"/>
          <p:cNvCxnSpPr>
            <a:stCxn id="170" idx="0"/>
            <a:endCxn id="169" idx="2"/>
          </p:cNvCxnSpPr>
          <p:nvPr/>
        </p:nvCxnSpPr>
        <p:spPr>
          <a:xfrm rot="-5400000">
            <a:off x="3527975" y="2603235"/>
            <a:ext cx="474000" cy="1488300"/>
          </a:xfrm>
          <a:prstGeom prst="bentConnector3">
            <a:avLst>
              <a:gd fmla="val 4999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9"/>
          <p:cNvCxnSpPr>
            <a:stCxn id="171" idx="0"/>
            <a:endCxn id="169" idx="2"/>
          </p:cNvCxnSpPr>
          <p:nvPr/>
        </p:nvCxnSpPr>
        <p:spPr>
          <a:xfrm flipH="1" rot="5400000">
            <a:off x="5145850" y="2473785"/>
            <a:ext cx="474000" cy="1747200"/>
          </a:xfrm>
          <a:prstGeom prst="bentConnector3">
            <a:avLst>
              <a:gd fmla="val 4999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9"/>
          <p:cNvSpPr/>
          <p:nvPr/>
        </p:nvSpPr>
        <p:spPr>
          <a:xfrm>
            <a:off x="2623388" y="1733513"/>
            <a:ext cx="132000" cy="1188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29"/>
          <p:cNvCxnSpPr>
            <a:stCxn id="175" idx="6"/>
          </p:cNvCxnSpPr>
          <p:nvPr/>
        </p:nvCxnSpPr>
        <p:spPr>
          <a:xfrm>
            <a:off x="2755388" y="1792913"/>
            <a:ext cx="56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9"/>
          <p:cNvSpPr txBox="1"/>
          <p:nvPr/>
        </p:nvSpPr>
        <p:spPr>
          <a:xfrm>
            <a:off x="2476713" y="132718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2634400" y="2912164"/>
            <a:ext cx="132000" cy="118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9"/>
          <p:cNvCxnSpPr>
            <a:stCxn id="178" idx="6"/>
          </p:cNvCxnSpPr>
          <p:nvPr/>
        </p:nvCxnSpPr>
        <p:spPr>
          <a:xfrm>
            <a:off x="2766400" y="2971564"/>
            <a:ext cx="56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9"/>
          <p:cNvSpPr txBox="1"/>
          <p:nvPr/>
        </p:nvSpPr>
        <p:spPr>
          <a:xfrm>
            <a:off x="1988700" y="2606828"/>
            <a:ext cx="13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private_fn()</a:t>
            </a:r>
            <a:endParaRPr i="1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1121525" y="3822334"/>
            <a:ext cx="132000" cy="118800"/>
          </a:xfrm>
          <a:prstGeom prst="ellipse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29"/>
          <p:cNvCxnSpPr>
            <a:stCxn id="181" idx="6"/>
          </p:cNvCxnSpPr>
          <p:nvPr/>
        </p:nvCxnSpPr>
        <p:spPr>
          <a:xfrm>
            <a:off x="1253525" y="3881734"/>
            <a:ext cx="56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9"/>
          <p:cNvSpPr txBox="1"/>
          <p:nvPr/>
        </p:nvSpPr>
        <p:spPr>
          <a:xfrm>
            <a:off x="399625" y="3516998"/>
            <a:ext cx="13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test()</a:t>
            </a:r>
            <a:endParaRPr i="1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4354700" y="3975008"/>
            <a:ext cx="132000" cy="1188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29"/>
          <p:cNvCxnSpPr>
            <a:stCxn id="184" idx="6"/>
          </p:cNvCxnSpPr>
          <p:nvPr/>
        </p:nvCxnSpPr>
        <p:spPr>
          <a:xfrm>
            <a:off x="4486700" y="4034408"/>
            <a:ext cx="56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9"/>
          <p:cNvSpPr txBox="1"/>
          <p:nvPr/>
        </p:nvSpPr>
        <p:spPr>
          <a:xfrm>
            <a:off x="3556600" y="3669671"/>
            <a:ext cx="137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api()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Moduli e visibilità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152475"/>
            <a:ext cx="8520600" cy="3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poter usare un simbolo (funzione, tipo, tratto, …) definito in un modulo diverso da quello corrente occorre indicare al compilatore dove andare a reperirlo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Lo si fa indicando il cammino (path) del modulo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può essere </a:t>
            </a:r>
            <a:r>
              <a:rPr b="1" lang="it">
                <a:solidFill>
                  <a:srgbClr val="0B5394"/>
                </a:solidFill>
              </a:rPr>
              <a:t>assoluto</a:t>
            </a:r>
            <a:r>
              <a:rPr lang="it"/>
              <a:t> o </a:t>
            </a:r>
            <a:r>
              <a:rPr b="1" lang="it">
                <a:solidFill>
                  <a:srgbClr val="0B5394"/>
                </a:solidFill>
              </a:rPr>
              <a:t>relativo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cammino assoluto comincia con il nome del crate in cui si trova il simbolo seguito dalla sequenza gerarchica di moduli che occorre attraversare per giungere al simbolo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size = 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std::mem::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size_of_val(&amp;f);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usa il separatore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it"/>
              <a:t> per connettere i nomi dei (sotto-)moduli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it"/>
              <a:t>Nel caso il simbolo appartenga al crate corrente, si può indicare come elemento iniziale la parola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crate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cammino relativo comincia con le parole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it"/>
              <a:t> o direttamente con il nome del sottomodulo in cui il simbolo è definito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crate::my_mod::...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super::...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3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Moduli e visibilità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311700" y="1152472"/>
            <a:ext cx="8520600" cy="35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evitare di dover ripetere l’intero cammino per ogni occorrenza del simbolo, è possibile usare il costrutto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use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cammino::del::modulo::*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it">
                <a:solidFill>
                  <a:srgbClr val="6684E1"/>
                </a:solidFill>
              </a:rPr>
              <a:t> </a:t>
            </a:r>
            <a:endParaRPr b="1">
              <a:solidFill>
                <a:srgbClr val="6684E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rende disponibile, nel file corrente, la definizione di tutti i simboli pubblici del modulo indicato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poter accedere ad un simbolo occorre che tutti gli elementi del cammino siano accessibili a chi ne fa richiesta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Ovvero essere dichiarati come pubblici o contenere il modulo corrente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modulo può esportare tutti i simboli pubblici di un proprio sottomodulo come fossero propri con il costrutto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pub use submodule::*;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facilita la costruzione di librerie in cui viene semplificata l'API pubblica, nascondendo i dettagli della struttura interna</a:t>
            </a:r>
            <a:endParaRPr/>
          </a:p>
        </p:txBody>
      </p:sp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Moduli e file sorgente</a:t>
            </a:r>
            <a:endParaRPr/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codice relativo ad un sotto-modulo può essere inserito: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>
                <a:highlight>
                  <a:schemeClr val="accent6"/>
                </a:highlight>
              </a:rPr>
              <a:t>Nello stesso file</a:t>
            </a:r>
            <a:r>
              <a:rPr lang="it"/>
              <a:t> sorgente </a:t>
            </a:r>
            <a:r>
              <a:rPr lang="it">
                <a:highlight>
                  <a:schemeClr val="accent6"/>
                </a:highlight>
              </a:rPr>
              <a:t>del modulo genitore</a:t>
            </a:r>
            <a:r>
              <a:rPr lang="it"/>
              <a:t>, con la notazione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nome_modulo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{ … 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>
                <a:highlight>
                  <a:schemeClr val="accent6"/>
                </a:highlight>
              </a:rPr>
              <a:t>In un file</a:t>
            </a:r>
            <a:r>
              <a:rPr lang="it"/>
              <a:t> sorgente </a:t>
            </a:r>
            <a:r>
              <a:rPr lang="it">
                <a:highlight>
                  <a:schemeClr val="accent6"/>
                </a:highlight>
              </a:rPr>
              <a:t>a sé</a:t>
            </a:r>
            <a:r>
              <a:rPr lang="it"/>
              <a:t>, presente nella stessa cartella, chiamato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nome_modulo.rs</a:t>
            </a:r>
            <a:r>
              <a:rPr lang="it"/>
              <a:t>: in questo caso occorre che nel modulo genitore sia presente la dichiarazione del modulo, nel formato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nome_modulo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>
                <a:highlight>
                  <a:schemeClr val="accent6"/>
                </a:highlight>
              </a:rPr>
              <a:t>Nella</a:t>
            </a:r>
            <a:r>
              <a:rPr lang="it">
                <a:highlight>
                  <a:schemeClr val="accent6"/>
                </a:highlight>
              </a:rPr>
              <a:t> sotto-cartella</a:t>
            </a:r>
            <a:r>
              <a:rPr lang="it"/>
              <a:t> chiamata 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nome_modulo</a:t>
            </a:r>
            <a:r>
              <a:rPr lang="it"/>
              <a:t> possono essere collocati i</a:t>
            </a:r>
            <a:r>
              <a:rPr lang="it"/>
              <a:t> file sorgente di eventuali sotto-modulo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nome_modulo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Eventuali crate esterni, non facenti parte della gerarchia di moduli definiti dal package corrente, vengono elencati nel file cargo.toml che descrive la struttura del package stesso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Nella sezione </a:t>
            </a:r>
            <a:r>
              <a:rPr b="1" lang="it">
                <a:solidFill>
                  <a:srgbClr val="0B5394"/>
                </a:solidFill>
              </a:rPr>
              <a:t>[dependencies]</a:t>
            </a:r>
            <a:r>
              <a:rPr lang="it"/>
              <a:t> sono presenti, uno per riga, i nomi dei crate da importare con l’indicazione della relativa versione</a:t>
            </a:r>
            <a:endParaRPr/>
          </a:p>
        </p:txBody>
      </p:sp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Struttura di un progetto eseguibile Rust</a:t>
            </a:r>
            <a:endParaRPr/>
          </a:p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15" name="Google Shape;215;p33"/>
          <p:cNvSpPr/>
          <p:nvPr/>
        </p:nvSpPr>
        <p:spPr>
          <a:xfrm>
            <a:off x="538450" y="1003703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MyPackage</a:t>
            </a:r>
            <a:endParaRPr/>
          </a:p>
        </p:txBody>
      </p:sp>
      <p:sp>
        <p:nvSpPr>
          <p:cNvPr id="216" name="Google Shape;216;p33"/>
          <p:cNvSpPr/>
          <p:nvPr/>
        </p:nvSpPr>
        <p:spPr>
          <a:xfrm>
            <a:off x="1774450" y="1468395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src</a:t>
            </a:r>
            <a:endParaRPr/>
          </a:p>
        </p:txBody>
      </p:sp>
      <p:cxnSp>
        <p:nvCxnSpPr>
          <p:cNvPr id="217" name="Google Shape;217;p33"/>
          <p:cNvCxnSpPr>
            <a:stCxn id="215" idx="1"/>
            <a:endCxn id="216" idx="2"/>
          </p:cNvCxnSpPr>
          <p:nvPr/>
        </p:nvCxnSpPr>
        <p:spPr>
          <a:xfrm flipH="1" rot="-5400000">
            <a:off x="1331500" y="1222253"/>
            <a:ext cx="2679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3"/>
          <p:cNvSpPr/>
          <p:nvPr/>
        </p:nvSpPr>
        <p:spPr>
          <a:xfrm>
            <a:off x="1682050" y="4318875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Cargo.toml</a:t>
            </a:r>
            <a:endParaRPr/>
          </a:p>
        </p:txBody>
      </p:sp>
      <p:cxnSp>
        <p:nvCxnSpPr>
          <p:cNvPr id="219" name="Google Shape;219;p33"/>
          <p:cNvCxnSpPr>
            <a:stCxn id="215" idx="1"/>
            <a:endCxn id="218" idx="1"/>
          </p:cNvCxnSpPr>
          <p:nvPr/>
        </p:nvCxnSpPr>
        <p:spPr>
          <a:xfrm flipH="1" rot="-5400000">
            <a:off x="-140000" y="2693753"/>
            <a:ext cx="3118500" cy="52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33"/>
          <p:cNvSpPr/>
          <p:nvPr/>
        </p:nvSpPr>
        <p:spPr>
          <a:xfrm>
            <a:off x="3010450" y="1933830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</a:rPr>
              <a:t>main.rs</a:t>
            </a:r>
            <a:endParaRPr b="1">
              <a:solidFill>
                <a:srgbClr val="0B5394"/>
              </a:solidFill>
            </a:endParaRPr>
          </a:p>
        </p:txBody>
      </p:sp>
      <p:cxnSp>
        <p:nvCxnSpPr>
          <p:cNvPr id="221" name="Google Shape;221;p33"/>
          <p:cNvCxnSpPr>
            <a:stCxn id="216" idx="1"/>
            <a:endCxn id="220" idx="1"/>
          </p:cNvCxnSpPr>
          <p:nvPr/>
        </p:nvCxnSpPr>
        <p:spPr>
          <a:xfrm flipH="1" rot="-5400000">
            <a:off x="2567200" y="1687245"/>
            <a:ext cx="2685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33"/>
          <p:cNvSpPr/>
          <p:nvPr/>
        </p:nvSpPr>
        <p:spPr>
          <a:xfrm>
            <a:off x="3010450" y="2895869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utils</a:t>
            </a:r>
            <a:endParaRPr/>
          </a:p>
        </p:txBody>
      </p:sp>
      <p:cxnSp>
        <p:nvCxnSpPr>
          <p:cNvPr id="223" name="Google Shape;223;p33"/>
          <p:cNvCxnSpPr>
            <a:stCxn id="216" idx="1"/>
            <a:endCxn id="222" idx="2"/>
          </p:cNvCxnSpPr>
          <p:nvPr/>
        </p:nvCxnSpPr>
        <p:spPr>
          <a:xfrm flipH="1" rot="-5400000">
            <a:off x="2086150" y="2168295"/>
            <a:ext cx="12306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" name="Google Shape;224;p33"/>
          <p:cNvSpPr/>
          <p:nvPr/>
        </p:nvSpPr>
        <p:spPr>
          <a:xfrm>
            <a:off x="3005391" y="2416484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utils.rs</a:t>
            </a:r>
            <a:endParaRPr/>
          </a:p>
        </p:txBody>
      </p:sp>
      <p:cxnSp>
        <p:nvCxnSpPr>
          <p:cNvPr id="225" name="Google Shape;225;p33"/>
          <p:cNvCxnSpPr>
            <a:stCxn id="216" idx="1"/>
            <a:endCxn id="224" idx="1"/>
          </p:cNvCxnSpPr>
          <p:nvPr/>
        </p:nvCxnSpPr>
        <p:spPr>
          <a:xfrm flipH="1" rot="-5400000">
            <a:off x="2323300" y="1931145"/>
            <a:ext cx="751200" cy="612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33"/>
          <p:cNvSpPr/>
          <p:nvPr/>
        </p:nvSpPr>
        <p:spPr>
          <a:xfrm>
            <a:off x="3010450" y="3837128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other_mod.rs</a:t>
            </a:r>
            <a:endParaRPr/>
          </a:p>
        </p:txBody>
      </p:sp>
      <p:cxnSp>
        <p:nvCxnSpPr>
          <p:cNvPr id="227" name="Google Shape;227;p33"/>
          <p:cNvCxnSpPr>
            <a:stCxn id="216" idx="1"/>
            <a:endCxn id="226" idx="1"/>
          </p:cNvCxnSpPr>
          <p:nvPr/>
        </p:nvCxnSpPr>
        <p:spPr>
          <a:xfrm flipH="1" rot="-5400000">
            <a:off x="1615450" y="2638995"/>
            <a:ext cx="21720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33"/>
          <p:cNvSpPr/>
          <p:nvPr/>
        </p:nvSpPr>
        <p:spPr>
          <a:xfrm>
            <a:off x="4439504" y="3345053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inner_mod.rs</a:t>
            </a:r>
            <a:endParaRPr/>
          </a:p>
        </p:txBody>
      </p:sp>
      <p:cxnSp>
        <p:nvCxnSpPr>
          <p:cNvPr id="229" name="Google Shape;229;p33"/>
          <p:cNvCxnSpPr>
            <a:stCxn id="222" idx="1"/>
            <a:endCxn id="228" idx="1"/>
          </p:cNvCxnSpPr>
          <p:nvPr/>
        </p:nvCxnSpPr>
        <p:spPr>
          <a:xfrm flipH="1" rot="-5400000">
            <a:off x="3907900" y="3010019"/>
            <a:ext cx="252300" cy="81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33"/>
          <p:cNvSpPr txBox="1"/>
          <p:nvPr/>
        </p:nvSpPr>
        <p:spPr>
          <a:xfrm>
            <a:off x="4466750" y="1950570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accent5"/>
                </a:solidFill>
              </a:rPr>
              <a:t>crate root </a:t>
            </a:r>
            <a:r>
              <a:rPr lang="it">
                <a:solidFill>
                  <a:schemeClr val="accent5"/>
                </a:solidFill>
              </a:rPr>
              <a:t>- contiene il modulo principale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4466750" y="2389893"/>
            <a:ext cx="326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contiene la definizione del modulo utils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5759250" y="3359543"/>
            <a:ext cx="326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sotto-modulo di utils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4572000" y="3853868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contiene la definizione di other_mod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3157975" y="4329203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Fornisce indicazioni su come è fatto MyPackage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Struttura di un progetto con due o più eseguibili</a:t>
            </a:r>
            <a:endParaRPr/>
          </a:p>
        </p:txBody>
      </p:sp>
      <p:sp>
        <p:nvSpPr>
          <p:cNvPr id="240" name="Google Shape;240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1" name="Google Shape;241;p34"/>
          <p:cNvSpPr/>
          <p:nvPr/>
        </p:nvSpPr>
        <p:spPr>
          <a:xfrm>
            <a:off x="538450" y="1003703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MyPackage</a:t>
            </a:r>
            <a:endParaRPr/>
          </a:p>
        </p:txBody>
      </p:sp>
      <p:sp>
        <p:nvSpPr>
          <p:cNvPr id="242" name="Google Shape;242;p34"/>
          <p:cNvSpPr/>
          <p:nvPr/>
        </p:nvSpPr>
        <p:spPr>
          <a:xfrm>
            <a:off x="1774450" y="1468395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src</a:t>
            </a:r>
            <a:endParaRPr/>
          </a:p>
        </p:txBody>
      </p:sp>
      <p:cxnSp>
        <p:nvCxnSpPr>
          <p:cNvPr id="243" name="Google Shape;243;p34"/>
          <p:cNvCxnSpPr>
            <a:stCxn id="241" idx="1"/>
            <a:endCxn id="242" idx="2"/>
          </p:cNvCxnSpPr>
          <p:nvPr/>
        </p:nvCxnSpPr>
        <p:spPr>
          <a:xfrm flipH="1" rot="-5400000">
            <a:off x="1331500" y="1222253"/>
            <a:ext cx="2679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34"/>
          <p:cNvSpPr/>
          <p:nvPr/>
        </p:nvSpPr>
        <p:spPr>
          <a:xfrm>
            <a:off x="1682050" y="4318875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Cargo.toml</a:t>
            </a:r>
            <a:endParaRPr/>
          </a:p>
        </p:txBody>
      </p:sp>
      <p:cxnSp>
        <p:nvCxnSpPr>
          <p:cNvPr id="245" name="Google Shape;245;p34"/>
          <p:cNvCxnSpPr>
            <a:stCxn id="241" idx="1"/>
            <a:endCxn id="244" idx="1"/>
          </p:cNvCxnSpPr>
          <p:nvPr/>
        </p:nvCxnSpPr>
        <p:spPr>
          <a:xfrm flipH="1" rot="-5400000">
            <a:off x="-140000" y="2693753"/>
            <a:ext cx="3118500" cy="52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34"/>
          <p:cNvSpPr/>
          <p:nvPr/>
        </p:nvSpPr>
        <p:spPr>
          <a:xfrm>
            <a:off x="3010450" y="1933830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lib</a:t>
            </a:r>
            <a:r>
              <a:rPr lang="it">
                <a:solidFill>
                  <a:schemeClr val="dk1"/>
                </a:solidFill>
              </a:rPr>
              <a:t>.rs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47" name="Google Shape;247;p34"/>
          <p:cNvCxnSpPr>
            <a:stCxn id="242" idx="1"/>
            <a:endCxn id="246" idx="1"/>
          </p:cNvCxnSpPr>
          <p:nvPr/>
        </p:nvCxnSpPr>
        <p:spPr>
          <a:xfrm flipH="1" rot="-5400000">
            <a:off x="2567200" y="1687245"/>
            <a:ext cx="2685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34"/>
          <p:cNvSpPr/>
          <p:nvPr/>
        </p:nvSpPr>
        <p:spPr>
          <a:xfrm>
            <a:off x="3010450" y="2923448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</a:rPr>
              <a:t>bin</a:t>
            </a:r>
            <a:endParaRPr b="1">
              <a:solidFill>
                <a:srgbClr val="0B5394"/>
              </a:solidFill>
            </a:endParaRPr>
          </a:p>
        </p:txBody>
      </p:sp>
      <p:cxnSp>
        <p:nvCxnSpPr>
          <p:cNvPr id="249" name="Google Shape;249;p34"/>
          <p:cNvCxnSpPr>
            <a:stCxn id="242" idx="1"/>
            <a:endCxn id="248" idx="2"/>
          </p:cNvCxnSpPr>
          <p:nvPr/>
        </p:nvCxnSpPr>
        <p:spPr>
          <a:xfrm flipH="1" rot="-5400000">
            <a:off x="2072350" y="2182095"/>
            <a:ext cx="12582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34"/>
          <p:cNvSpPr/>
          <p:nvPr/>
        </p:nvSpPr>
        <p:spPr>
          <a:xfrm>
            <a:off x="4246450" y="3376980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server.rs</a:t>
            </a:r>
            <a:endParaRPr/>
          </a:p>
        </p:txBody>
      </p:sp>
      <p:cxnSp>
        <p:nvCxnSpPr>
          <p:cNvPr id="251" name="Google Shape;251;p34"/>
          <p:cNvCxnSpPr>
            <a:stCxn id="248" idx="1"/>
            <a:endCxn id="250" idx="1"/>
          </p:cNvCxnSpPr>
          <p:nvPr/>
        </p:nvCxnSpPr>
        <p:spPr>
          <a:xfrm flipH="1" rot="-5400000">
            <a:off x="3809050" y="3136448"/>
            <a:ext cx="2568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34"/>
          <p:cNvSpPr/>
          <p:nvPr/>
        </p:nvSpPr>
        <p:spPr>
          <a:xfrm>
            <a:off x="3010450" y="2444383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some_mod.rs</a:t>
            </a:r>
            <a:endParaRPr sz="1300"/>
          </a:p>
        </p:txBody>
      </p:sp>
      <p:cxnSp>
        <p:nvCxnSpPr>
          <p:cNvPr id="253" name="Google Shape;253;p34"/>
          <p:cNvCxnSpPr>
            <a:stCxn id="242" idx="1"/>
            <a:endCxn id="252" idx="1"/>
          </p:cNvCxnSpPr>
          <p:nvPr/>
        </p:nvCxnSpPr>
        <p:spPr>
          <a:xfrm flipH="1" rot="-5400000">
            <a:off x="2311900" y="1942545"/>
            <a:ext cx="7791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34"/>
          <p:cNvSpPr/>
          <p:nvPr/>
        </p:nvSpPr>
        <p:spPr>
          <a:xfrm>
            <a:off x="4246450" y="3869055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client.rs</a:t>
            </a:r>
            <a:endParaRPr/>
          </a:p>
        </p:txBody>
      </p:sp>
      <p:cxnSp>
        <p:nvCxnSpPr>
          <p:cNvPr id="255" name="Google Shape;255;p34"/>
          <p:cNvCxnSpPr>
            <a:stCxn id="248" idx="1"/>
            <a:endCxn id="254" idx="1"/>
          </p:cNvCxnSpPr>
          <p:nvPr/>
        </p:nvCxnSpPr>
        <p:spPr>
          <a:xfrm flipH="1" rot="-5400000">
            <a:off x="3563050" y="3382448"/>
            <a:ext cx="7488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34"/>
          <p:cNvSpPr txBox="1"/>
          <p:nvPr/>
        </p:nvSpPr>
        <p:spPr>
          <a:xfrm>
            <a:off x="4563277" y="1812675"/>
            <a:ext cx="419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accent5"/>
                </a:solidFill>
              </a:rPr>
              <a:t>crate root </a:t>
            </a:r>
            <a:r>
              <a:rPr lang="it">
                <a:solidFill>
                  <a:schemeClr val="accent5"/>
                </a:solidFill>
              </a:rPr>
              <a:t>- contiene il modulo principale della libreria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5647100" y="3393720"/>
            <a:ext cx="3261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contiene il </a:t>
            </a:r>
            <a:r>
              <a:rPr lang="it">
                <a:solidFill>
                  <a:schemeClr val="accent5"/>
                </a:solidFill>
              </a:rPr>
              <a:t>modulo principale del server</a:t>
            </a:r>
            <a:br>
              <a:rPr lang="it">
                <a:solidFill>
                  <a:schemeClr val="accent5"/>
                </a:solidFill>
              </a:rPr>
            </a:br>
            <a:r>
              <a:rPr i="1" lang="it" sz="1200">
                <a:solidFill>
                  <a:schemeClr val="accent5"/>
                </a:solidFill>
              </a:rPr>
              <a:t>può usare lib.rs</a:t>
            </a:r>
            <a:endParaRPr i="1" sz="1200">
              <a:solidFill>
                <a:schemeClr val="accent5"/>
              </a:solidFill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5683050" y="3902535"/>
            <a:ext cx="3261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contiene il </a:t>
            </a:r>
            <a:r>
              <a:rPr lang="it">
                <a:solidFill>
                  <a:schemeClr val="accent5"/>
                </a:solidFill>
              </a:rPr>
              <a:t>modulo principale del client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it" sz="1200">
                <a:solidFill>
                  <a:schemeClr val="accent5"/>
                </a:solidFill>
              </a:rPr>
              <a:t>può usare lib.rs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4572000" y="2461125"/>
            <a:ext cx="433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contiene la definizione di some_mod visibile a lib.rs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3157975" y="4329203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Fornisce indicazioni su come è fatto MyPackage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Librerie</a:t>
            </a:r>
            <a:endParaRPr/>
          </a:p>
        </p:txBody>
      </p:sp>
      <p:sp>
        <p:nvSpPr>
          <p:cNvPr id="266" name="Google Shape;26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libreria è un crate che non produce un programma eseguibile, ma fornisce funzionalità riutilizzabili sotto forma di funzioni, strutture dati, tratti e moduli che possono essere utilizzati da altri crate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librerie permettono di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</a:rPr>
              <a:t>Riutilizzare</a:t>
            </a:r>
            <a:r>
              <a:rPr lang="it"/>
              <a:t> codice in più programmi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</a:rPr>
              <a:t>Separare</a:t>
            </a:r>
            <a:r>
              <a:rPr lang="it"/>
              <a:t> la logica dell’applicazione dall’interfaccia eseguibile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</a:rPr>
              <a:t>Organizzare</a:t>
            </a:r>
            <a:r>
              <a:rPr lang="it"/>
              <a:t> meglio progetti complessi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</a:rPr>
              <a:t>Condividere</a:t>
            </a:r>
            <a:r>
              <a:rPr lang="it"/>
              <a:t> funzionalità tra progetti diversi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libreria espone una API (Application Programming Interface), cioè un insieme di elementi pubblici che possono essere utilizzati dall’esterno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Gli elementi pub fanno parte dell’API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Gli elementi privati sono dettagli di implementazione</a:t>
            </a:r>
            <a:endParaRPr/>
          </a:p>
        </p:txBody>
      </p:sp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Librerie interne ed esterne</a:t>
            </a:r>
            <a:endParaRPr/>
          </a:p>
        </p:txBody>
      </p:sp>
      <p:sp>
        <p:nvSpPr>
          <p:cNvPr id="273" name="Google Shape;273;p36"/>
          <p:cNvSpPr txBox="1"/>
          <p:nvPr>
            <p:ph idx="1" type="body"/>
          </p:nvPr>
        </p:nvSpPr>
        <p:spPr>
          <a:xfrm>
            <a:off x="311700" y="1152475"/>
            <a:ext cx="8520600" cy="3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librerie possono essere interne al package o esterne ad esso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package può contenere una sola libreria interna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src/lib.rs</a:t>
            </a:r>
            <a:r>
              <a:rPr lang="it"/>
              <a:t>), ma fare riferimento a molte librerie esterne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librerie esterne sono elencate nella sezione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[dependencies]</a:t>
            </a:r>
            <a:r>
              <a:rPr lang="it"/>
              <a:t> del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Cargo.toml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Ciascuna riga indica il nome della libreria, la sua versione ed eventuali ulteriori parametri di configurazione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All'atto della costruzione di un progetto, le librerie esterne vengono automaticamente scaricate dal sito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https://www.crates.io</a:t>
            </a:r>
            <a:r>
              <a:rPr lang="it"/>
              <a:t> e compilate a partire dai loro sorgenti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Solo dopo che tutte le dipendenze sono state compilate viene compilato il crate dell’applicazione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libreria esterna viene ricompilata solo se necessario, ad esempio quando: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Cambia la versione della dipendenza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Cambiano le opzioni di compilazione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Cambia il target o il profilo di build (debug / release)</a:t>
            </a:r>
            <a:endParaRPr/>
          </a:p>
        </p:txBody>
      </p:sp>
      <p:sp>
        <p:nvSpPr>
          <p:cNvPr id="274" name="Google Shape;274;p3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Librerie ed interoperabilità</a:t>
            </a:r>
            <a:endParaRPr/>
          </a:p>
        </p:txBody>
      </p:sp>
      <p:sp>
        <p:nvSpPr>
          <p:cNvPr id="280" name="Google Shape;28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librerie permettono a programmi scritti in linguaggi diversi di utilizzare lo stesso codice compilato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Rust è possibile creare librerie compatibili con altri linguaggi, ad esempio C, C++ o Python, esportando funzioni con un’interfaccia compatibile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Meccanismo di funzionamento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codice Rust viene compilato come libreria condivisa o statica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funzioni esportate seguono la convenzione di chiamata C (ABI)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Programmi scritti in altri linguaggi possono caricare e invocare queste funzioni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Applicazioni tipiche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Usare Rust come motore ad alte prestazioni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Integrare Rust in software esistente scritto in C/C++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Creare binding per linguaggi di scripting</a:t>
            </a:r>
            <a:endParaRPr/>
          </a:p>
        </p:txBody>
      </p:sp>
      <p:sp>
        <p:nvSpPr>
          <p:cNvPr id="281" name="Google Shape;281;p3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Librerie ed interoperabilità</a:t>
            </a:r>
            <a:endParaRPr/>
          </a:p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import ctypes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# carica la libreria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lib = ctypes.CDLL("./target/release/librm.so")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# specifica i tipi degli argomenti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lib.add.argtypes = (ctypes.c_int, ctypes.c_int)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lib.add.restype = ctypes.c_int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# chiama la funzione Rust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result = lib.add(2, 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print("Result:", result)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" name="Google Shape;289;p38"/>
          <p:cNvSpPr txBox="1"/>
          <p:nvPr>
            <p:ph idx="1" type="body"/>
          </p:nvPr>
        </p:nvSpPr>
        <p:spPr>
          <a:xfrm>
            <a:off x="311700" y="1152475"/>
            <a:ext cx="3999900" cy="1955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[package]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name = "rm"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version = "0.1.0"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edition = "2024"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[lib]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crate-type = ["cdylib"]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38"/>
          <p:cNvSpPr txBox="1"/>
          <p:nvPr>
            <p:ph idx="1" type="body"/>
          </p:nvPr>
        </p:nvSpPr>
        <p:spPr>
          <a:xfrm>
            <a:off x="311700" y="3242925"/>
            <a:ext cx="3999900" cy="1284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#[unsafe(no_mangle)]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pub extern "C" fn add(a: i32, b: i32) -&gt; i32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a + b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1" name="Google Shape;291;p38"/>
          <p:cNvSpPr txBox="1"/>
          <p:nvPr/>
        </p:nvSpPr>
        <p:spPr>
          <a:xfrm>
            <a:off x="2760675" y="1268909"/>
            <a:ext cx="14478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Cargo.toml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2760675" y="3986159"/>
            <a:ext cx="14478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src/lib</a:t>
            </a: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.rs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7229200" y="1268909"/>
            <a:ext cx="1447800" cy="43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test.py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Collegamento delle librerie</a:t>
            </a:r>
            <a:endParaRPr/>
          </a:p>
        </p:txBody>
      </p:sp>
      <p:sp>
        <p:nvSpPr>
          <p:cNvPr id="299" name="Google Shape;29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sezione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[lib]</a:t>
            </a:r>
            <a:r>
              <a:rPr lang="it"/>
              <a:t> del file Cargo.toml che descrive il progetto contiene dettagli relativi al tipo di libreria che si intende creare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crate-type</a:t>
            </a:r>
            <a:r>
              <a:rPr lang="it"/>
              <a:t> può assumere i seguenti valori: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rlib</a:t>
            </a:r>
            <a:r>
              <a:rPr lang="it"/>
              <a:t>: libreria statica Rust, valore di default, il file risultante può solo essere usato da altri eseguibili Rust che ne includeranno le parti importate direttamente nel proprio codice binario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dylib</a:t>
            </a:r>
            <a:r>
              <a:rPr lang="it"/>
              <a:t>: libreria dinamica Rust; viene trasformata in un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.dll</a:t>
            </a:r>
            <a:r>
              <a:rPr lang="it"/>
              <a:t> in windows,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.so</a:t>
            </a:r>
            <a:r>
              <a:rPr lang="it"/>
              <a:t> in linux,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.dylib</a:t>
            </a:r>
            <a:r>
              <a:rPr lang="it"/>
              <a:t> in macOS; può essere utilizzata solo da codice Rust, ma sarà caricata in fase di esecuzione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cdylib</a:t>
            </a:r>
            <a:r>
              <a:rPr lang="it"/>
              <a:t>: libreria dinamica conforme alle specifiche C; viene trasformata in un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.dll</a:t>
            </a:r>
            <a:r>
              <a:rPr lang="it"/>
              <a:t> in windows,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.so</a:t>
            </a:r>
            <a:r>
              <a:rPr lang="it"/>
              <a:t> in linux,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.dylib</a:t>
            </a:r>
            <a:r>
              <a:rPr lang="it"/>
              <a:t> in macOS; può essere usata da eseguibili scritti in altri linguaggi; se viene usata da un programma Rust deve essere inclusa sotto forma di funzioni esterne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staticlib</a:t>
            </a:r>
            <a:r>
              <a:rPr lang="it"/>
              <a:t>: libreria statica conforme alle specifiche C; viene trasformata in un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.lib</a:t>
            </a:r>
            <a:r>
              <a:rPr lang="it"/>
              <a:t> in windows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.a</a:t>
            </a:r>
            <a:r>
              <a:rPr lang="it"/>
              <a:t> in linux e macOS; può essere usata da eseguibili scritti in altri linguaggi; se viene usata da un programma Rust deve essere inclusa sotto forma di funzioni esterne</a:t>
            </a:r>
            <a:endParaRPr/>
          </a:p>
        </p:txBody>
      </p:sp>
      <p:sp>
        <p:nvSpPr>
          <p:cNvPr id="300" name="Google Shape;300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Preludio</a:t>
            </a:r>
            <a:endParaRPr/>
          </a:p>
        </p:txBody>
      </p:sp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Alcuni simboli particolarmente frequenti (come Vec, String, …) non necessitano di essere importati in modo esplicito, pur appartenendo a crate distinti da quello corrente (sono infatti parte della libreria standard)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Questi sono elencati all’interno di un modulo chiamato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std::prelude</a:t>
            </a:r>
            <a:r>
              <a:rPr lang="it"/>
              <a:t> che viene importato automaticamente all’atto della compilazione di un file sorgente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questo modo si evita di rendere verboso il codice sorgente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Ogni versione di Rust viene con un proprio preludio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Cargo provvede ad includere quello corretto in funzione del valore dell’attributo package/edition nel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Cargo.toml</a:t>
            </a:r>
            <a:endParaRPr/>
          </a:p>
        </p:txBody>
      </p:sp>
      <p:sp>
        <p:nvSpPr>
          <p:cNvPr id="307" name="Google Shape;307;p4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Clap - libreria per la gestione dei parametri</a:t>
            </a:r>
            <a:endParaRPr/>
          </a:p>
        </p:txBody>
      </p:sp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libreria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clap</a:t>
            </a:r>
            <a:r>
              <a:rPr lang="it"/>
              <a:t> gestisce in modo dichiarativo i parametri passati attraverso la linea di comando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si include in un crate aggiungendo, nel file Cargo.toml, questa dipendenza</a:t>
            </a:r>
            <a:br>
              <a:rPr lang="it"/>
            </a:br>
            <a:r>
              <a:rPr b="1" lang="it">
                <a:solidFill>
                  <a:srgbClr val="0B53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[dependencies]</a:t>
            </a:r>
            <a:br>
              <a:rPr b="1" lang="it">
                <a:solidFill>
                  <a:srgbClr val="0B53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clap = { version="4.5", features=["derive"] }</a:t>
            </a:r>
            <a:br>
              <a:rPr b="1" lang="it">
                <a:solidFill>
                  <a:srgbClr val="0B539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it"/>
              <a:t>Questo mette a disposizione un insieme di macro e di strutture dati che permettono di descrivere una struttura dati in cui verranno depositati i valori estratti dalla riga di comando, così come di derivare automaticamente una funzione di analisi che provvede a valorizzare i campi di tale struttura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Questa libreria permette anche di esprimere programmaticamente l'insieme dei parametri, la tipologia di valori associati e gli eventuali vincoli associati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Basata sul pattern </a:t>
            </a:r>
            <a:r>
              <a:rPr b="1" i="1" lang="it">
                <a:solidFill>
                  <a:srgbClr val="0B5394"/>
                </a:solidFill>
              </a:rPr>
              <a:t>builder</a:t>
            </a:r>
            <a:endParaRPr b="1"/>
          </a:p>
        </p:txBody>
      </p:sp>
      <p:sp>
        <p:nvSpPr>
          <p:cNvPr id="314" name="Google Shape;314;p4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Clap</a:t>
            </a:r>
            <a:endParaRPr/>
          </a:p>
        </p:txBody>
      </p:sp>
      <p:sp>
        <p:nvSpPr>
          <p:cNvPr id="320" name="Google Shape;320;p42"/>
          <p:cNvSpPr txBox="1"/>
          <p:nvPr>
            <p:ph idx="12" type="sldNum"/>
          </p:nvPr>
        </p:nvSpPr>
        <p:spPr>
          <a:xfrm>
            <a:off x="8472458" y="4786402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1" name="Google Shape;321;p42"/>
          <p:cNvSpPr txBox="1"/>
          <p:nvPr/>
        </p:nvSpPr>
        <p:spPr>
          <a:xfrm>
            <a:off x="368225" y="868340"/>
            <a:ext cx="4684500" cy="3879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use clap::Parser;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/// Simple program to greet a person</a:t>
            </a:r>
            <a:endParaRPr sz="12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#[derive(Parser, Debug)]</a:t>
            </a:r>
            <a:endParaRPr sz="1200"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#[command(version, long_about = None)]</a:t>
            </a:r>
            <a:endParaRPr sz="1200">
              <a:highlight>
                <a:schemeClr val="accent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struct Args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/// Name of the person to greet</a:t>
            </a:r>
            <a:endParaRPr sz="12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#[arg(short, long)]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name: String,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/// Number of times to greet</a:t>
            </a:r>
            <a:endParaRPr sz="12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#[arg(short, long, default_value_t = 1)]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count: u8,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let args = </a:t>
            </a:r>
            <a:r>
              <a:rPr lang="it" sz="1200"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Args::parse()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for _ in 0..</a:t>
            </a:r>
            <a:r>
              <a:rPr lang="it" sz="1200"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args.count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println!("Hello {}!", </a:t>
            </a:r>
            <a:r>
              <a:rPr lang="it" sz="1200"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args.name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2" name="Google Shape;322;p42"/>
          <p:cNvSpPr txBox="1"/>
          <p:nvPr/>
        </p:nvSpPr>
        <p:spPr>
          <a:xfrm>
            <a:off x="5359575" y="1017697"/>
            <a:ext cx="3599400" cy="295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$ demo --help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Simple program to greet a person</a:t>
            </a:r>
            <a:endParaRPr sz="12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Usage: demo[EXE] [OPTIONS] --name &lt;NAME&gt;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Options: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-n, --name &lt;NAME&gt;    </a:t>
            </a: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Name of the person to greet</a:t>
            </a:r>
            <a:endParaRPr sz="12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-c, --count &lt;COUNT&gt;  </a:t>
            </a: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Number of times to greet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[default: 1]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-h, --help           Print help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-V, --version        Print version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$ demo --name Me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Hello Me!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saperne di più</a:t>
            </a:r>
            <a:endParaRPr/>
          </a:p>
        </p:txBody>
      </p:sp>
      <p:sp>
        <p:nvSpPr>
          <p:cNvPr id="328" name="Google Shape;32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Adventures: Rust projects management, understanding packages, Crates and modules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https://levelup.gitconnected.com/rust-adventures-rust-projects-management-understanding-packages-crates-and-modules-b3bcde2eb1c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Modules and Organizing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https://medium.com/@TechSavvyScribe/rust-modules-and-organizing-code-92c4d6165a82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Module prelude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https://doc.rust-lang.org/std/prelude/index.html</a:t>
            </a:r>
            <a:r>
              <a:rPr lang="it"/>
              <a:t> </a:t>
            </a:r>
            <a:endParaRPr/>
          </a:p>
        </p:txBody>
      </p:sp>
      <p:sp>
        <p:nvSpPr>
          <p:cNvPr id="329" name="Google Shape;329;p4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30" name="Google Shape;330;p43"/>
          <p:cNvPicPr preferRelativeResize="0"/>
          <p:nvPr/>
        </p:nvPicPr>
        <p:blipFill rotWithShape="1">
          <a:blip r:embed="rId6">
            <a:alphaModFix/>
          </a:blip>
          <a:srcRect b="18806" l="17235" r="17235" t="18800"/>
          <a:stretch/>
        </p:blipFill>
        <p:spPr>
          <a:xfrm>
            <a:off x="7771925" y="117450"/>
            <a:ext cx="1249224" cy="11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