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1AAE75-22F9-4423-B0CE-EE432AFED7CC}">
  <a:tblStyle styleId="{541AAE75-22F9-4423-B0CE-EE432AFED7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45d0b575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45d0b575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5d0b5755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5d0b575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38b3c68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c38b3c68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5d0b575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5d0b575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5d0b575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5d0b575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45d0b575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45d0b57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5d0b5755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5d0b5755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c2d231f66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c2d231f66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45d0b5755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45d0b5755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5d0b575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45d0b575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45d0b5755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45d0b5755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45d0b575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45d0b575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45d0b575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45d0b575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45d0b575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45d0b575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45d0b575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45d0b575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45d0b575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45d0b575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45d0b575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45d0b575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45d0b5755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45d0b575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45d0b5755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45d0b5755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45d0b575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45d0b575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45d0b5755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45d0b5755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45d0b575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45d0b575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45d0b575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45d0b575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45d0b575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45d0b575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45d0b575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45d0b575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45d0b575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45d0b575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45d0b5755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45d0b5755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45d0b575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45d0b575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45d0b575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45d0b575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45d0b575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45d0b575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45d0b5755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e45d0b575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45d0b5755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45d0b575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45d0b575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45d0b575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45d0b575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45d0b575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45d0b575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45d0b575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45d0b5755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45d0b5755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45d0b5755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45d0b5755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c4a95d218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c4a95d218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45d0b5755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45d0b5755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45d0b5755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e45d0b5755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c4a95d21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c4a95d21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45d0b5755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e45d0b5755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45d0b5755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e45d0b575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45d0b575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45d0b575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45d0b5755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e45d0b575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45d0b5755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e45d0b5755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45d0b5755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e45d0b5755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45d0b5755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e45d0b5755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45d0b5755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e45d0b5755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45d0b5755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e45d0b5755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45d0b5755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e45d0b5755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45d0b5755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45d0b5755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e45d0b5755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e45d0b5755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c44410f84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c44410f84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c46e725e7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c46e725e7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1c46e725e7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1c46e725e7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c46e725e7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1c46e725e7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c46e725e7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c46e725e7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c46e725e7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c46e725e7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c46e725e7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c46e725e7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c46e725e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c46e725e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45d0b5755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e45d0b575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45d0b5755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e45d0b5755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45d0b5755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e45d0b5755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0acc72c4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10acc72c4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735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82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l titolo 1">
  <p:cSld name="TITLE_1">
    <p:bg>
      <p:bgPr>
        <a:solidFill>
          <a:srgbClr val="07376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11700" y="1735175"/>
            <a:ext cx="8520600" cy="9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64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400"/>
              <a:buNone/>
              <a:defRPr sz="2400">
                <a:solidFill>
                  <a:srgbClr val="CFE2F3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9530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9829" t="0"/>
          <a:stretch/>
        </p:blipFill>
        <p:spPr>
          <a:xfrm>
            <a:off x="0" y="4768550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2022-26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github.com/jimblandy/context-switch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rust-lang.github.io/async-book/" TargetMode="External"/><Relationship Id="rId4" Type="http://schemas.openxmlformats.org/officeDocument/2006/relationships/hyperlink" Target="https://medium.com/pragmatic-programmers/fearless-concurrency-with-rust-part-3-asynchronous-concurrency-e23bad856087" TargetMode="External"/><Relationship Id="rId5" Type="http://schemas.openxmlformats.org/officeDocument/2006/relationships/hyperlink" Target="https://cotigao.medium.com/whats-a-thread-boundary-in-rust-s-async-await-f783cff55c99" TargetMode="External"/><Relationship Id="rId6" Type="http://schemas.openxmlformats.org/officeDocument/2006/relationships/hyperlink" Target="https://www.zero2prod.com/" TargetMode="External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1735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Programmazione asincrona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82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Gestire attivamente le attese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175" y="871125"/>
            <a:ext cx="1477650" cy="14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Contenuti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Concorrenza, parallelismo e attese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Funzioni asincrone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parole chiave async e await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Tokio: i costrutti di 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Avviare, attendere e coordinare attività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Guida alla progettazione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Mettere insieme i costrutti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Condividere e comunicare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Stato condiviso e canali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Come funziona internamente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tratto Future e la macchina a stati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0" y="1735175"/>
            <a:ext cx="8520600" cy="9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problema</a:t>
            </a:r>
            <a:endParaRPr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11700" y="264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Concorrenza, parallelismo e attesa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Programmi concorrenti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la necessità di eseguire più operazioni, indipendenti tra loro, </a:t>
            </a:r>
            <a:r>
              <a:rPr b="1" lang="it">
                <a:solidFill>
                  <a:srgbClr val="0B5394"/>
                </a:solidFill>
              </a:rPr>
              <a:t>in parallelo</a:t>
            </a:r>
            <a:r>
              <a:rPr lang="it"/>
              <a:t>, porta alla creazione di più thread, altre esigenze di programmazione possono beneficiare di un approccio differente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L'uso dei thread trova piena giustificazione quando occorre eseguire algoritmi complessi, basati principalmente sull'uso intenso della CPU e si dispone di un hardware multicore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queste situazioni, infatti, è possibile ridurre il tempo complessivo di elaborazione sfruttando il fatto che più computazioni procedono parallelamente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il programma, invece, deve coordinare molteplici attività che si svolgono </a:t>
            </a:r>
            <a:r>
              <a:rPr b="1" lang="it">
                <a:solidFill>
                  <a:srgbClr val="0B5394"/>
                </a:solidFill>
              </a:rPr>
              <a:t>al di fuori</a:t>
            </a:r>
            <a:r>
              <a:rPr lang="it"/>
              <a:t> di esso, il problema dominante diventa l'attesa dei risultati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Sebbene sia possibile gestire queste situazioni creando più thread, questo, in generale, non è conveniente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Concorrenza non è parallelismo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</a:rPr>
              <a:t>Parallelismo</a:t>
            </a:r>
            <a:r>
              <a:rPr lang="it"/>
              <a:t>: più computazioni procedono fisicamente nello stesso istante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Richiede più unità di calcolo (core): permette di ridurre il tempo di elaborazione per attività </a:t>
            </a:r>
            <a:r>
              <a:rPr b="1" lang="it">
                <a:solidFill>
                  <a:srgbClr val="0B5394"/>
                </a:solidFill>
              </a:rPr>
              <a:t>CPU-bound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Lo strumento naturale in Rust è il thread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</a:rPr>
              <a:t>Concorrenza</a:t>
            </a:r>
            <a:r>
              <a:rPr lang="it"/>
              <a:t>: più compiti progrediscono in modo interlacciato, non necessariamente simultaneo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singolo core può gestire migliaia di compiti concorrenti se ognuno passa gran parte del tempo </a:t>
            </a:r>
            <a:r>
              <a:rPr b="1" lang="it">
                <a:solidFill>
                  <a:srgbClr val="0B5394"/>
                </a:solidFill>
              </a:rPr>
              <a:t>in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</a:rPr>
              <a:t>attesa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vantaggio non è la velocità di calcolo, ma la capacità di sovrapporre molte attese: un unico thread può coordinare migliaia di attese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Operazioni bloccanti e attesa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Molte operazioni richiedono di ottenere informazioni da un </a:t>
            </a:r>
            <a:r>
              <a:rPr b="1" lang="it">
                <a:solidFill>
                  <a:srgbClr val="0B5394"/>
                </a:solidFill>
              </a:rPr>
              <a:t>sottosistema separato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File system, rete, timer, un altro processo, un dispositivo hardware, …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L'esecuzione non può proseguire finché la risposta non è disponibile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sistema operativo rileva l'attesa e sposta il thread nello stato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NotRunnable</a:t>
            </a:r>
            <a:r>
              <a:rPr lang="it"/>
              <a:t>, sospendendolo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CPU viene liberata, ma lo stack del thread </a:t>
            </a:r>
            <a:r>
              <a:rPr b="1" lang="it">
                <a:solidFill>
                  <a:srgbClr val="0B5394"/>
                </a:solidFill>
              </a:rPr>
              <a:t>resta allocato</a:t>
            </a:r>
            <a:r>
              <a:rPr lang="it"/>
              <a:t> per tutta la durata dell'attesa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</a:t>
            </a:r>
            <a:r>
              <a:rPr b="1" lang="it">
                <a:solidFill>
                  <a:srgbClr val="0B5394"/>
                </a:solidFill>
              </a:rPr>
              <a:t>domanda di progetto</a:t>
            </a:r>
            <a:r>
              <a:rPr lang="it"/>
              <a:t>: il collo di bottiglia è la CPU o l'attesa (I/O, rete, timer)?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CPU-bound → parallelismo con thread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I/O-bound → concorrenza con esecuzione asincrona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311700" y="4316875"/>
            <a:ext cx="85206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Si usano i thread quando occorre elaborare in parallelo - si usa l'esecuzione asincrona per aspettare in parallelo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costo dei thread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thread del sistema operativo ha un costo fisso, indipendente dal lavoro che svolge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Stack pre-allocato</a:t>
            </a:r>
            <a:r>
              <a:rPr lang="it"/>
              <a:t>: tipicamente da 1 a 8 MB di spazio di indirizzamento riservato per thread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Strutture del kernel</a:t>
            </a:r>
            <a:r>
              <a:rPr lang="it"/>
              <a:t>: descrittore del thread, slot nello schedulatore, contabilità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Cambio di contesto</a:t>
            </a:r>
            <a:r>
              <a:rPr lang="it"/>
              <a:t>: salvataggio/ripristino dei registri, invalidazione di cache e TLB (~1-2 µs)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Finché i thread sono poche decine, questi costi sono trascurabili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Diventano critici quando se ne vogliono creare molti (1000+), come in un server di rete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Esempio: 10.000 connessioni simultanee con un thread ciascuna → diversi GB solo di 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paradosso: gran parte di questi thread sarebbe </a:t>
            </a:r>
            <a:r>
              <a:rPr b="1" lang="it">
                <a:solidFill>
                  <a:srgbClr val="0B5394"/>
                </a:solidFill>
              </a:rPr>
              <a:t>bloccata in attesa</a:t>
            </a:r>
            <a:r>
              <a:rPr lang="it"/>
              <a:t>, senza usare CPU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paga il costo di un thread completo per fargli fare, di fatto, nulla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1625" y="166575"/>
            <a:ext cx="1045800" cy="10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Tre strategie per gestire l'attesa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4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Se il programma ha altro da fare durante l'attesa, ci sono tre strategie possibili:</a:t>
            </a:r>
            <a:endParaRPr/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311700" y="16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{541AAE75-22F9-4423-B0CE-EE432AFED7CC}</a:tableStyleId>
              </a:tblPr>
              <a:tblGrid>
                <a:gridCol w="1381850"/>
                <a:gridCol w="2061325"/>
                <a:gridCol w="2353800"/>
                <a:gridCol w="2723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Strategia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Vantaggi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Limiti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Sequenziale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(bloccante)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Aspetto e poi continuo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Semplice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Facile da ragionare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Spreca tempo di CPU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Nessuna sovrapposizione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Thread multipli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(preemptive)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Delego l'operazione bloccante ad altri thread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Parallelismo reale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Sfrutta multicore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elevato (stack, scheduling)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Sincronizzazione complessa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Asincronia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(cooperativo)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Separo richiesta e continuazione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 blocca il thread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Scala a migliaia di operazioni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Più complesso concettualmente</a:t>
                      </a:r>
                      <a:b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Richiede supporto di esecuzione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Strategie di esecuzione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875" y="935375"/>
            <a:ext cx="6087137" cy="3820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22"/>
          <p:cNvGrpSpPr/>
          <p:nvPr/>
        </p:nvGrpSpPr>
        <p:grpSpPr>
          <a:xfrm>
            <a:off x="2963882" y="1808650"/>
            <a:ext cx="3170261" cy="362950"/>
            <a:chOff x="2963882" y="1808650"/>
            <a:chExt cx="3170261" cy="362950"/>
          </a:xfrm>
        </p:grpSpPr>
        <p:pic>
          <p:nvPicPr>
            <p:cNvPr id="122" name="Google Shape;122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00882" y="1808650"/>
              <a:ext cx="362950" cy="36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3007" y="1808650"/>
              <a:ext cx="362950" cy="36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65132" y="1808650"/>
              <a:ext cx="362950" cy="362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5" name="Google Shape;125;p22"/>
            <p:cNvCxnSpPr>
              <a:stCxn id="126" idx="3"/>
              <a:endCxn id="122" idx="1"/>
            </p:cNvCxnSpPr>
            <p:nvPr/>
          </p:nvCxnSpPr>
          <p:spPr>
            <a:xfrm>
              <a:off x="2963882" y="1990125"/>
              <a:ext cx="237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22"/>
            <p:cNvCxnSpPr/>
            <p:nvPr/>
          </p:nvCxnSpPr>
          <p:spPr>
            <a:xfrm flipH="1" rot="10800000">
              <a:off x="3529907" y="1984425"/>
              <a:ext cx="315600" cy="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22"/>
            <p:cNvCxnSpPr/>
            <p:nvPr/>
          </p:nvCxnSpPr>
          <p:spPr>
            <a:xfrm>
              <a:off x="4086945" y="1987275"/>
              <a:ext cx="237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22"/>
            <p:cNvCxnSpPr/>
            <p:nvPr/>
          </p:nvCxnSpPr>
          <p:spPr>
            <a:xfrm flipH="1" rot="10800000">
              <a:off x="4695957" y="1987275"/>
              <a:ext cx="315600" cy="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 rot="10800000">
              <a:off x="5818543" y="1984425"/>
              <a:ext cx="315600" cy="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31" name="Google Shape;131;p22"/>
            <p:cNvCxnSpPr/>
            <p:nvPr/>
          </p:nvCxnSpPr>
          <p:spPr>
            <a:xfrm>
              <a:off x="5246270" y="1987275"/>
              <a:ext cx="237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2" name="Google Shape;132;p22"/>
          <p:cNvGrpSpPr/>
          <p:nvPr/>
        </p:nvGrpSpPr>
        <p:grpSpPr>
          <a:xfrm>
            <a:off x="5969018" y="3707064"/>
            <a:ext cx="595852" cy="243539"/>
            <a:chOff x="8080645" y="2487650"/>
            <a:chExt cx="887873" cy="362950"/>
          </a:xfrm>
        </p:grpSpPr>
        <p:pic>
          <p:nvPicPr>
            <p:cNvPr id="133" name="Google Shape;13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99507" y="2487650"/>
              <a:ext cx="362950" cy="362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4" name="Google Shape;134;p22"/>
            <p:cNvCxnSpPr/>
            <p:nvPr/>
          </p:nvCxnSpPr>
          <p:spPr>
            <a:xfrm flipH="1" rot="10800000">
              <a:off x="8652918" y="2663425"/>
              <a:ext cx="315600" cy="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35" name="Google Shape;135;p22"/>
            <p:cNvCxnSpPr/>
            <p:nvPr/>
          </p:nvCxnSpPr>
          <p:spPr>
            <a:xfrm>
              <a:off x="8080645" y="2666275"/>
              <a:ext cx="237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6" name="Google Shape;136;p22"/>
          <p:cNvGrpSpPr/>
          <p:nvPr/>
        </p:nvGrpSpPr>
        <p:grpSpPr>
          <a:xfrm>
            <a:off x="2558400" y="3554664"/>
            <a:ext cx="923792" cy="243539"/>
            <a:chOff x="7802884" y="2487650"/>
            <a:chExt cx="1376534" cy="362950"/>
          </a:xfrm>
        </p:grpSpPr>
        <p:pic>
          <p:nvPicPr>
            <p:cNvPr id="137" name="Google Shape;13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99507" y="2487650"/>
              <a:ext cx="362950" cy="362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8" name="Google Shape;138;p22"/>
            <p:cNvCxnSpPr/>
            <p:nvPr/>
          </p:nvCxnSpPr>
          <p:spPr>
            <a:xfrm flipH="1" rot="10800000">
              <a:off x="8652918" y="2665225"/>
              <a:ext cx="5265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39" name="Google Shape;139;p22"/>
            <p:cNvCxnSpPr/>
            <p:nvPr/>
          </p:nvCxnSpPr>
          <p:spPr>
            <a:xfrm>
              <a:off x="7802884" y="2665200"/>
              <a:ext cx="515100" cy="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" name="Google Shape;140;p22"/>
          <p:cNvGrpSpPr/>
          <p:nvPr/>
        </p:nvGrpSpPr>
        <p:grpSpPr>
          <a:xfrm>
            <a:off x="2863200" y="3707064"/>
            <a:ext cx="923792" cy="243539"/>
            <a:chOff x="7802884" y="2487650"/>
            <a:chExt cx="1376534" cy="362950"/>
          </a:xfrm>
        </p:grpSpPr>
        <p:pic>
          <p:nvPicPr>
            <p:cNvPr id="141" name="Google Shape;141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99507" y="2487650"/>
              <a:ext cx="362950" cy="362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2" name="Google Shape;142;p22"/>
            <p:cNvCxnSpPr/>
            <p:nvPr/>
          </p:nvCxnSpPr>
          <p:spPr>
            <a:xfrm flipH="1" rot="10800000">
              <a:off x="8652918" y="2665225"/>
              <a:ext cx="5265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22"/>
            <p:cNvCxnSpPr/>
            <p:nvPr/>
          </p:nvCxnSpPr>
          <p:spPr>
            <a:xfrm>
              <a:off x="7802884" y="2665200"/>
              <a:ext cx="515100" cy="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" name="Google Shape;144;p22"/>
          <p:cNvGrpSpPr/>
          <p:nvPr/>
        </p:nvGrpSpPr>
        <p:grpSpPr>
          <a:xfrm>
            <a:off x="3168000" y="3859464"/>
            <a:ext cx="923792" cy="243539"/>
            <a:chOff x="7802884" y="2487650"/>
            <a:chExt cx="1376534" cy="362950"/>
          </a:xfrm>
        </p:grpSpPr>
        <p:pic>
          <p:nvPicPr>
            <p:cNvPr id="145" name="Google Shape;145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99507" y="2487650"/>
              <a:ext cx="362950" cy="362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46" name="Google Shape;146;p22"/>
            <p:cNvCxnSpPr/>
            <p:nvPr/>
          </p:nvCxnSpPr>
          <p:spPr>
            <a:xfrm flipH="1" rot="10800000">
              <a:off x="8652918" y="2665225"/>
              <a:ext cx="526500" cy="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47" name="Google Shape;147;p22"/>
            <p:cNvCxnSpPr/>
            <p:nvPr/>
          </p:nvCxnSpPr>
          <p:spPr>
            <a:xfrm>
              <a:off x="7802884" y="2665200"/>
              <a:ext cx="515100" cy="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Separare richiesta e continuazione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Nell'approccio asincrono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Avvio un'operazione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attendo il risultato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Specifico cosa fare quando il risultato arriva (continuazione)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modo più semplice per indicare la continuazione è una callback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Pseudo-codice: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read_async(file, |result| { process(result); });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Timeline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</a:t>
            </a:r>
            <a:r>
              <a:rPr baseline="-25000" lang="it"/>
              <a:t>0</a:t>
            </a:r>
            <a:r>
              <a:rPr lang="it"/>
              <a:t>: invoco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read_async(...)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</a:t>
            </a:r>
            <a:r>
              <a:rPr baseline="-25000" lang="it"/>
              <a:t>1</a:t>
            </a:r>
            <a:r>
              <a:rPr lang="it"/>
              <a:t>: il programma continua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</a:t>
            </a:r>
            <a:r>
              <a:rPr baseline="-25000" lang="it"/>
              <a:t>2</a:t>
            </a:r>
            <a:r>
              <a:rPr lang="it"/>
              <a:t>: arriva il risultato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</a:t>
            </a:r>
            <a:r>
              <a:rPr baseline="-25000" lang="it"/>
              <a:t>3</a:t>
            </a:r>
            <a:r>
              <a:rPr lang="it"/>
              <a:t>: viene eseguita la callback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Vantaggio: il thread NON resta bloccato dall'attesa e può svolgere altro lavoro</a:t>
            </a:r>
            <a:endParaRPr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limiti delle callback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4446725" y="1266575"/>
            <a:ext cx="4385700" cy="2955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read_async(handle1,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|res1|{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if (res1.is_ok()) {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write_async(handle2, res1.unwrap(), </a:t>
            </a: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|res2| {</a:t>
            </a:r>
            <a:endParaRPr b="1" sz="12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     if (res2.is_ok()) {  </a:t>
            </a:r>
            <a:endParaRPr b="1" sz="12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       // scrittura completata con successo</a:t>
            </a:r>
            <a:endParaRPr b="1" sz="12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     } else {             </a:t>
            </a:r>
            <a:endParaRPr b="1" sz="12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       // scrittura fallita</a:t>
            </a:r>
            <a:endParaRPr b="1" sz="12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b="1" sz="1200">
              <a:solidFill>
                <a:srgbClr val="741B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} else {                 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// lettura fallita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)?; </a:t>
            </a:r>
            <a:r>
              <a:rPr b="1" lang="it" sz="12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// impossibilità di leggere</a:t>
            </a:r>
            <a:endParaRPr b="1" sz="1200"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// Quando il programma arriva qui,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// non è ancora successo nulla!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Tre patologie: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</a:rPr>
              <a:t>Annidamento</a:t>
            </a:r>
            <a:r>
              <a:rPr lang="it" sz="1400"/>
              <a:t> illeggibile al crescere dei passi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</a:rPr>
              <a:t>Errori</a:t>
            </a:r>
            <a:r>
              <a:rPr lang="it" sz="1400"/>
              <a:t> in punti diversi: all'invocazione e nell'elaborazione asincrona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Cicli e tentativi ripetuti richiedono una </a:t>
            </a:r>
            <a:r>
              <a:rPr b="1" lang="it" sz="1400">
                <a:solidFill>
                  <a:srgbClr val="0B5394"/>
                </a:solidFill>
              </a:rPr>
              <a:t>macchina</a:t>
            </a:r>
            <a:r>
              <a:rPr lang="it" sz="1400"/>
              <a:t> </a:t>
            </a:r>
            <a:r>
              <a:rPr b="1" lang="it" sz="1400">
                <a:solidFill>
                  <a:srgbClr val="0B5394"/>
                </a:solidFill>
              </a:rPr>
              <a:t>a</a:t>
            </a:r>
            <a:r>
              <a:rPr lang="it" sz="1400"/>
              <a:t> </a:t>
            </a:r>
            <a:r>
              <a:rPr b="1" lang="it" sz="1400">
                <a:solidFill>
                  <a:srgbClr val="0B5394"/>
                </a:solidFill>
              </a:rPr>
              <a:t>stati</a:t>
            </a:r>
            <a:r>
              <a:rPr lang="it" sz="1400"/>
              <a:t> scritta a mano</a:t>
            </a:r>
            <a:endParaRPr sz="14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800"/>
              <a:t>I costrutti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async/await</a:t>
            </a:r>
            <a:r>
              <a:rPr lang="it" sz="1600"/>
              <a:t> </a:t>
            </a:r>
            <a:r>
              <a:rPr lang="it" sz="1800"/>
              <a:t>automatizzano questa trasformazione</a:t>
            </a:r>
            <a:endParaRPr sz="1800"/>
          </a:p>
        </p:txBody>
      </p:sp>
      <p:sp>
        <p:nvSpPr>
          <p:cNvPr id="164" name="Google Shape;164;p24"/>
          <p:cNvSpPr/>
          <p:nvPr/>
        </p:nvSpPr>
        <p:spPr>
          <a:xfrm>
            <a:off x="311700" y="4316875"/>
            <a:ext cx="85206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Le callback funzionano, ma non scalano in complessità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Async/await: stessa idea, forma diversa</a:t>
            </a:r>
            <a:endParaRPr/>
          </a:p>
        </p:txBody>
      </p:sp>
      <p:sp>
        <p:nvSpPr>
          <p:cNvPr id="170" name="Google Shape;170;p25"/>
          <p:cNvSpPr txBox="1"/>
          <p:nvPr>
            <p:ph idx="4294967295" type="body"/>
          </p:nvPr>
        </p:nvSpPr>
        <p:spPr>
          <a:xfrm>
            <a:off x="4832400" y="1152475"/>
            <a:ext cx="39999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 sz="1600">
                <a:solidFill>
                  <a:srgbClr val="0B5394"/>
                </a:solidFill>
              </a:rPr>
              <a:t>Async/await</a:t>
            </a:r>
            <a:endParaRPr b="1" sz="1600">
              <a:solidFill>
                <a:srgbClr val="0B5394"/>
              </a:solidFill>
            </a:endParaRPr>
          </a:p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311700" y="1649181"/>
            <a:ext cx="3999900" cy="1108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read_async(…, |r1|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write_async(…, |r2|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832400" y="1649181"/>
            <a:ext cx="3999900" cy="923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async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let r1 = read(…).await;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let r2 = write(r1).await;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25"/>
          <p:cNvSpPr txBox="1"/>
          <p:nvPr>
            <p:ph idx="4294967295" type="body"/>
          </p:nvPr>
        </p:nvSpPr>
        <p:spPr>
          <a:xfrm>
            <a:off x="311700" y="1112950"/>
            <a:ext cx="39999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 sz="1600">
                <a:solidFill>
                  <a:srgbClr val="0B5394"/>
                </a:solidFill>
              </a:rPr>
              <a:t>Callback</a:t>
            </a:r>
            <a:endParaRPr b="1" sz="1600">
              <a:solidFill>
                <a:srgbClr val="0B5394"/>
              </a:solidFill>
            </a:endParaRPr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3707044"/>
            <a:ext cx="85206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async/await genera una macchina a stati… → chi la esegue?</a:t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5238900" y="2971150"/>
            <a:ext cx="3310500" cy="735900"/>
          </a:xfrm>
          <a:prstGeom prst="wedgeRoundRectCallout">
            <a:avLst>
              <a:gd fmla="val -46893" name="adj1"/>
              <a:gd fmla="val -11139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Il compilatore trasforma questo codice nella stessa macchina a stati delle callback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462875" y="2971150"/>
            <a:ext cx="3310500" cy="735900"/>
          </a:xfrm>
          <a:prstGeom prst="wedgeRoundRectCallout">
            <a:avLst>
              <a:gd fmla="val -42655" name="adj1"/>
              <a:gd fmla="val -9758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Quando il programma arriva qui, </a:t>
            </a:r>
            <a:br>
              <a:rPr lang="it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è già successo qualcosa?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ctrTitle"/>
          </p:nvPr>
        </p:nvSpPr>
        <p:spPr>
          <a:xfrm>
            <a:off x="311700" y="1735175"/>
            <a:ext cx="8520600" cy="9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Funzioni asincrone</a:t>
            </a:r>
            <a:endParaRPr/>
          </a:p>
        </p:txBody>
      </p:sp>
      <p:sp>
        <p:nvSpPr>
          <p:cNvPr id="183" name="Google Shape;183;p26"/>
          <p:cNvSpPr txBox="1"/>
          <p:nvPr>
            <p:ph idx="1" type="subTitle"/>
          </p:nvPr>
        </p:nvSpPr>
        <p:spPr>
          <a:xfrm>
            <a:off x="311700" y="264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parole chiave async e await</a:t>
            </a:r>
            <a:endParaRPr/>
          </a:p>
        </p:txBody>
      </p:sp>
      <p:sp>
        <p:nvSpPr>
          <p:cNvPr id="184" name="Google Shape;184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parola chiave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it"/>
              <a:t> 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Anteporre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it"/>
              <a:t> a una funzione (o a un blocco) ne cambia radicalmente la semantica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compilatore analizza il corpo e lo trasforma in una macchina a stati finiti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tipo di ritorno passa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a un tipo anonimo che implementa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Future&lt;Output=T&gt;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corpo della funzione viene ridotto alla sola inizializzazione di quella macchina a stati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Conseguenza cruciale: </a:t>
            </a:r>
            <a:r>
              <a:rPr b="1" lang="it">
                <a:solidFill>
                  <a:srgbClr val="0B5394"/>
                </a:solidFill>
              </a:rPr>
              <a:t>chiamare una funzione async NON ne esegue il corpo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Restituisce solo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inerte, nel suo stato iniziale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È un valore che descrive una computazione da fare, non la computazione già avviata</a:t>
            </a:r>
            <a:endParaRPr/>
          </a:p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311700" y="3580500"/>
            <a:ext cx="8520600" cy="1108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quello che si scrive: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fn copy(f1: String, f2: String) -&gt; Result&lt;()&gt; { /* codice */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quello che il compilatore genera, concettualmente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copy(f1: String, f2: String) -&gt; impl Future&lt;Output = Result&lt;()&gt;&gt; { /* SM init */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L'operatore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</a:t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ottenere il risultato di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, occorre attenderlo esplicitamente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Senza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il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resta inerte e non viene mai eseguito (il compilatore lo segnala con un warning)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Semantica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il valore non è ancora disponibile, la funzione corrente si </a:t>
            </a:r>
            <a:r>
              <a:rPr b="1" lang="it">
                <a:solidFill>
                  <a:srgbClr val="0B5394"/>
                </a:solidFill>
              </a:rPr>
              <a:t>sospende</a:t>
            </a:r>
            <a:r>
              <a:rPr lang="it"/>
              <a:t> e restituisce il controllo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thread non resta bloccato: è libero di eseguire altri task pronti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Quando il valore arriva, l'esecuzione riprende esattamente dal punto di sospensione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introduce un nuovo stato nella macchina a stati della funzione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L'operatore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it"/>
              <a:t> si combina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per propagare gli errori in modo lineare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NON esegue il future → segnala solo dove sospendere e riprendere</a:t>
            </a:r>
            <a:endParaRPr/>
          </a:p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future è inerte: serve un esecutore</a:t>
            </a:r>
            <a:endParaRPr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compilatore genera i tipi della macchina a stati e riscrive le funzioni, ma il linguaggio si ferma qui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Nessun supporto precostituito per </a:t>
            </a:r>
            <a:r>
              <a:rPr b="1" lang="it">
                <a:solidFill>
                  <a:srgbClr val="0B5394"/>
                </a:solidFill>
              </a:rPr>
              <a:t>eseguire</a:t>
            </a:r>
            <a:r>
              <a:rPr lang="it"/>
              <a:t> effettivamente 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Affinché una computazione asincrona proceda, qualcuno deve farne avanzare la macchina a stati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viene chiamata una funzione async dentro un'altra funzione async, il suo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viene automaticamente a far parte della macchina a stati del chiamante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viene chiamata da una funzione normale, occorre gestire il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esplicitamente con un </a:t>
            </a:r>
            <a:r>
              <a:rPr b="1" i="1" lang="it">
                <a:solidFill>
                  <a:srgbClr val="0B5394"/>
                </a:solidFill>
              </a:rPr>
              <a:t>executor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L'executor è uno </a:t>
            </a:r>
            <a:r>
              <a:rPr b="1" lang="it">
                <a:solidFill>
                  <a:srgbClr val="0B5394"/>
                </a:solidFill>
              </a:rPr>
              <a:t>schedulatore cooperativo</a:t>
            </a:r>
            <a:r>
              <a:rPr lang="it"/>
              <a:t> a livello applicazione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Mantiene i task pronti e ne fa avanzare la macchina a stati invocando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poll()</a:t>
            </a:r>
            <a:r>
              <a:rPr lang="it"/>
              <a:t> del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endParaRPr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differenza dello scheduler del S.O. non può sottrarre il controllo ad un task, che deve cederlo spontaneamente ad un punto di attesa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)</a:t>
            </a:r>
            <a:endParaRPr/>
          </a:p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Esecutori</a:t>
            </a:r>
            <a:endParaRPr/>
          </a:p>
        </p:txBody>
      </p:sp>
      <p:sp>
        <p:nvSpPr>
          <p:cNvPr id="212" name="Google Shape;212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888" y="947525"/>
            <a:ext cx="7056230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8267450" y="1199000"/>
            <a:ext cx="393600" cy="393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8267450" y="2022300"/>
            <a:ext cx="393600" cy="393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8267450" y="2940200"/>
            <a:ext cx="393600" cy="3936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tratto Future</a:t>
            </a:r>
            <a:endParaRPr/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311700" y="1152475"/>
            <a:ext cx="8520600" cy="35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Tratto che viene implementato dagli oggetti che descrivono una computazione asincrona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Tale computazione può essere ancora in corso o essere terminata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tratto offre un singolo metodo,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poll(...)</a:t>
            </a:r>
            <a:r>
              <a:rPr lang="it"/>
              <a:t>, che implementa la logica della macchina a stati associata alla funzione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L’oggetto che implementa il tratto mantiene al suo interno lo stato corrente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poll(...)</a:t>
            </a:r>
            <a:r>
              <a:rPr lang="it"/>
              <a:t> restituisce enum che può assumere due soli valori: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Poll:Pending</a:t>
            </a:r>
            <a:r>
              <a:rPr lang="it"/>
              <a:t> - per indicare che la computazione è ancora in corso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Poll::Ready(val)</a:t>
            </a:r>
            <a:r>
              <a:rPr lang="it"/>
              <a:t> - per indicare che la computazione è terminata e ha come risultato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Un oggetto che implementa questo tratto è </a:t>
            </a:r>
            <a:r>
              <a:rPr b="1" lang="it" sz="1800">
                <a:solidFill>
                  <a:srgbClr val="0B5394"/>
                </a:solidFill>
              </a:rPr>
              <a:t>inerte</a:t>
            </a:r>
            <a:endParaRPr b="1" sz="1800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Affinché la computazione proceda, occorre che qualcuno ne invochi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poll(...)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tratto Future</a:t>
            </a:r>
            <a:endParaRPr/>
          </a:p>
        </p:txBody>
      </p:sp>
      <p:sp>
        <p:nvSpPr>
          <p:cNvPr id="229" name="Google Shape;229;p32"/>
          <p:cNvSpPr txBox="1"/>
          <p:nvPr/>
        </p:nvSpPr>
        <p:spPr>
          <a:xfrm>
            <a:off x="405050" y="1017725"/>
            <a:ext cx="5534400" cy="2124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std::pin::Pin;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std::task::{Context, Poll};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pub trait Future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type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fn poll(self: Pin&lt;&amp;mut Self&gt;, cx: &amp;mut Context)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-&gt;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&lt;Self::Output&gt;;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32"/>
          <p:cNvSpPr txBox="1"/>
          <p:nvPr>
            <p:ph idx="1" type="body"/>
          </p:nvPr>
        </p:nvSpPr>
        <p:spPr>
          <a:xfrm>
            <a:off x="311700" y="3217800"/>
            <a:ext cx="8520600" cy="14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Pin&lt;T&gt;</a:t>
            </a:r>
            <a:r>
              <a:rPr lang="it"/>
              <a:t> è un particolare smart pointer che impedisce che la struttura venga mossa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Permettendo l’uso di riferimenti relativi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lang="it"/>
              <a:t> incapsula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Waker</a:t>
            </a:r>
            <a:r>
              <a:rPr lang="it"/>
              <a:t>, mediante il quale è possibile notificare all'esecutore che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poll(...)</a:t>
            </a:r>
            <a:r>
              <a:rPr lang="it"/>
              <a:t> può essere richiamato</a:t>
            </a:r>
            <a:endParaRPr/>
          </a:p>
        </p:txBody>
      </p:sp>
      <p:sp>
        <p:nvSpPr>
          <p:cNvPr id="231" name="Google Shape;231;p32"/>
          <p:cNvSpPr txBox="1"/>
          <p:nvPr/>
        </p:nvSpPr>
        <p:spPr>
          <a:xfrm>
            <a:off x="6398100" y="1017725"/>
            <a:ext cx="2434200" cy="2124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pub enum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&lt;T&gt;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Ready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(T),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Chi invoca poll(): executor, reactor, Waker</a:t>
            </a:r>
            <a:endParaRPr/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</a:t>
            </a:r>
            <a:r>
              <a:rPr b="1" lang="it">
                <a:solidFill>
                  <a:srgbClr val="0B5394"/>
                </a:solidFill>
              </a:rPr>
              <a:t>executor</a:t>
            </a:r>
            <a:r>
              <a:rPr lang="it"/>
              <a:t> mantiene la coda dei task pronti e ne invoca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poll()</a:t>
            </a:r>
            <a:r>
              <a:rPr lang="it"/>
              <a:t> in un ciclo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poll()</a:t>
            </a:r>
            <a:r>
              <a:rPr lang="it"/>
              <a:t> restituisce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r>
              <a:rPr lang="it"/>
              <a:t>, l'executor mette il task da parte e passa al successivo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Comportamento cooperativo, non preemptive: un task che non raggiunge mai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monopolizza il worker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problema: come sa l'executor quando riprovare, senza fare polling attivo a vuoto?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Risposta: il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Waker</a:t>
            </a:r>
            <a:r>
              <a:rPr lang="it"/>
              <a:t> contenuti nel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Prima di restituire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r>
              <a:rPr lang="it"/>
              <a:t>, il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registra il proprio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Waker</a:t>
            </a:r>
            <a:r>
              <a:rPr lang="it"/>
              <a:t> presso il sottosistema (es, il reactor I/O)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reactor osserva gli eventi del sistema operativo (epoll, kqueue, IOCP via mio)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Quando l'evento atteso si verifica, il reactor risveglia il task, chiamando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wake()</a:t>
            </a:r>
            <a:r>
              <a:rPr lang="it"/>
              <a:t> sul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Waker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task torna nella coda dei pronti e l'executor lo ri-campiona: la macchina a stati avanza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È un modello ad eventi: non vengono sprecati cicli di CPU durante le attese</a:t>
            </a:r>
            <a:endParaRPr/>
          </a:p>
        </p:txBody>
      </p:sp>
      <p:sp>
        <p:nvSpPr>
          <p:cNvPr id="239" name="Google Shape;239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Esecutori</a:t>
            </a:r>
            <a:endParaRPr/>
          </a:p>
        </p:txBody>
      </p:sp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far funzionare un programma Rust asincrono occorre aggiungere una libreria di supporto all'esecuzione, a scelta del programmatore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okio</a:t>
            </a:r>
            <a:r>
              <a:rPr lang="it"/>
              <a:t> - la più diffusa: rete, file, timer, sincronizzazione, canali; basata sul crate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mio</a:t>
            </a:r>
            <a:r>
              <a:rPr lang="it"/>
              <a:t> (Metal I/O)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smol</a:t>
            </a:r>
            <a:r>
              <a:rPr lang="it"/>
              <a:t> - leggera, adatta a sistemi embedded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async-std</a:t>
            </a:r>
            <a:r>
              <a:rPr lang="it"/>
              <a:t> - controparte asincrona della libreria standard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diversi ambienti di esecuzione non sono equivalenti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</a:t>
            </a:r>
            <a:r>
              <a:rPr lang="it"/>
              <a:t> implementa un ciclo reattivo proprio, basato sul </a:t>
            </a:r>
            <a:r>
              <a:rPr i="1" lang="it"/>
              <a:t>crate</a:t>
            </a:r>
            <a:r>
              <a:rPr lang="it"/>
              <a:t> ad alte prestazioni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mio</a:t>
            </a:r>
            <a:r>
              <a:rPr lang="it"/>
              <a:t> (Metal I/O), che non è compatibile con i tratti usati dagli altri due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runtime può basarsi su un singolo ciclo reattivo e/o utilizzare un thread-pool cui delegare l'esecuzione di più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in parallelo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questo caso, è possibile che l'elaborazione di una funzione asincrona inizi in un thread ma sia continuata in un thread differente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implica che tutti i valori utilizzati nella funzione asincrona il cui uso si estende in più stati devono implementare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it"/>
              <a:t>, mentre i riferimenti devono implementare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Sync</a:t>
            </a:r>
            <a:endParaRPr/>
          </a:p>
        </p:txBody>
      </p:sp>
      <p:sp>
        <p:nvSpPr>
          <p:cNvPr id="246" name="Google Shape;246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Possesso nel tempo</a:t>
            </a:r>
            <a:endParaRPr/>
          </a:p>
        </p:txBody>
      </p:sp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 codice sincrono, il possesso è legato prevalentemente allo stack corrente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 codice asincrono, una computazione può sospendersi e riprendere più tardi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variabili usate dopo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diventano parte dello stato del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l'esecutore è multithread, quel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può essere spostato tra worker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Nei programmi asincroni, il possesso attraversa il tempo, non solo lo spazio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dati usati dopo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devono restare validi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task spostabili tra thread devono avere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riferimenti condivisi tra thread devono avere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Sync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creazione di task indipendenti spesso richiede la proprietà dei dati</a:t>
            </a:r>
            <a:endParaRPr/>
          </a:p>
        </p:txBody>
      </p:sp>
      <p:sp>
        <p:nvSpPr>
          <p:cNvPr id="253" name="Google Shape;253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>
            <p:ph type="ctrTitle"/>
          </p:nvPr>
        </p:nvSpPr>
        <p:spPr>
          <a:xfrm>
            <a:off x="311700" y="1735175"/>
            <a:ext cx="8520600" cy="9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Tokio: i costrutti di base</a:t>
            </a:r>
            <a:endParaRPr/>
          </a:p>
        </p:txBody>
      </p:sp>
      <p:sp>
        <p:nvSpPr>
          <p:cNvPr id="259" name="Google Shape;259;p36"/>
          <p:cNvSpPr txBox="1"/>
          <p:nvPr>
            <p:ph idx="1" type="subTitle"/>
          </p:nvPr>
        </p:nvSpPr>
        <p:spPr>
          <a:xfrm>
            <a:off x="311700" y="264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Avviare, attendere, coordinare</a:t>
            </a:r>
            <a:endParaRPr/>
          </a:p>
        </p:txBody>
      </p:sp>
      <p:sp>
        <p:nvSpPr>
          <p:cNvPr id="260" name="Google Shape;260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Impostare un progetto con Tokio</a:t>
            </a:r>
            <a:endParaRPr/>
          </a:p>
        </p:txBody>
      </p:sp>
      <p:sp>
        <p:nvSpPr>
          <p:cNvPr id="266" name="Google Shape;26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aggiunge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</a:t>
            </a:r>
            <a:r>
              <a:rPr lang="it"/>
              <a:t> come dipendenza nel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Cargo.toml</a:t>
            </a:r>
            <a:r>
              <a:rPr lang="it"/>
              <a:t>, scegliendo quali funzionalità attivare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annota il punto di ingresso del programma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#[tokio::main]</a:t>
            </a:r>
            <a:r>
              <a:rPr lang="it"/>
              <a:t>, che avvia la libreria di esecuzione e rende la funzione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main() async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proprietà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flavor</a:t>
            </a:r>
            <a:r>
              <a:rPr lang="it"/>
              <a:t> determina la struttura dell'esecutore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multi_thread</a:t>
            </a:r>
            <a:r>
              <a:rPr lang="it"/>
              <a:t> (default): un pool di thread worker, tipicamente uno per 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current_thread</a:t>
            </a:r>
            <a:r>
              <a:rPr lang="it"/>
              <a:t>: un solo thread esegue tutti i task; utile per test e ambienti vincolati</a:t>
            </a:r>
            <a:endParaRPr/>
          </a:p>
        </p:txBody>
      </p:sp>
      <p:sp>
        <p:nvSpPr>
          <p:cNvPr id="267" name="Google Shape;267;p3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8" name="Google Shape;268;p37"/>
          <p:cNvSpPr txBox="1"/>
          <p:nvPr/>
        </p:nvSpPr>
        <p:spPr>
          <a:xfrm>
            <a:off x="311700" y="3164432"/>
            <a:ext cx="8520600" cy="7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Cargo.toml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[dependencies]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tokio = { version = "1", features = ["full"]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p37"/>
          <p:cNvSpPr txBox="1"/>
          <p:nvPr/>
        </p:nvSpPr>
        <p:spPr>
          <a:xfrm>
            <a:off x="311700" y="3966469"/>
            <a:ext cx="8520600" cy="7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#[tokio::main(flavor = "multi_thread", worker_threads = 4 )]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fn main() {  /* creazione di future e attesa relativa */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Attendere un Future: esecuzione sequenziale</a:t>
            </a:r>
            <a:endParaRPr/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modo più semplice di usare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è attenderlo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dentro un blocco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Due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consecutivi creano una sequenza: il secondo parte solo quando il primo è completo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Durante ogni attesa </a:t>
            </a:r>
            <a:r>
              <a:rPr b="1" lang="it">
                <a:solidFill>
                  <a:srgbClr val="0B5394"/>
                </a:solidFill>
              </a:rPr>
              <a:t>il thread è libero</a:t>
            </a:r>
            <a:r>
              <a:rPr lang="it"/>
              <a:t> di servire altri task, ma questa funzione non avanza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È il comportamento corretto quando il secondo passo </a:t>
            </a:r>
            <a:r>
              <a:rPr b="1" lang="it">
                <a:solidFill>
                  <a:srgbClr val="0B5394"/>
                </a:solidFill>
              </a:rPr>
              <a:t>dipende</a:t>
            </a:r>
            <a:r>
              <a:rPr lang="it"/>
              <a:t> dal risultato del primo</a:t>
            </a:r>
            <a:endParaRPr/>
          </a:p>
        </p:txBody>
      </p:sp>
      <p:sp>
        <p:nvSpPr>
          <p:cNvPr id="276" name="Google Shape;276;p3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7" name="Google Shape;277;p38"/>
          <p:cNvSpPr txBox="1"/>
          <p:nvPr/>
        </p:nvSpPr>
        <p:spPr>
          <a:xfrm>
            <a:off x="311700" y="2730308"/>
            <a:ext cx="8520600" cy="184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fn fetch_user(id:u64) -&gt; User { /* … */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fn fetch_orders(user: &amp;User) -&gt; Vec&lt;Order&gt; { /* … */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#[tokio::main]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fn main() {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let user = fetch_user(42).await;        // prima questo…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let orders = fetch_orders(&amp;user).await; // …poi questo (dipende da user)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println!("{} ha {} ordini", user.name, orders.len());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tokio::spawn</a:t>
            </a:r>
            <a:r>
              <a:rPr lang="it"/>
              <a:t> - avviare task concorrenti</a:t>
            </a:r>
            <a:endParaRPr/>
          </a:p>
        </p:txBody>
      </p:sp>
      <p:sp>
        <p:nvSpPr>
          <p:cNvPr id="283" name="Google Shape;28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tokio::spawn(future)</a:t>
            </a:r>
            <a:r>
              <a:rPr lang="it"/>
              <a:t> consegna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all'esecutore come task indipendente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differenza di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.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it"/>
              <a:t>, l'esecuzione inizia subito e in modo concorrente, senza sospendere il chiamate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Restituisce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JoinHandle&lt;T&gt;</a:t>
            </a:r>
            <a:r>
              <a:rPr lang="it"/>
              <a:t>, che rappresenta il task e permette di ricuperarne il risultato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Vincoli sul tipo: il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deve essere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'static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r>
              <a:rPr lang="it"/>
              <a:t> perché il task può migrare tra i thread worker (work stealing)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'static</a:t>
            </a:r>
            <a:r>
              <a:rPr lang="it"/>
              <a:t> non vuol dire che i dati vivono per sempre, ma che non dipendono dallo stack corrente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usa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it"/>
              <a:t> per trasferire la proprietà dei dati al task</a:t>
            </a:r>
            <a:br>
              <a:rPr lang="it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= </a:t>
            </a:r>
            <a:r>
              <a:rPr i="1" lang="it"/>
              <a:t>"aspetto questo"</a:t>
            </a:r>
            <a:r>
              <a:rPr lang="it"/>
              <a:t> ⇔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spawn(…)</a:t>
            </a:r>
            <a:r>
              <a:rPr lang="it"/>
              <a:t> = </a:t>
            </a:r>
            <a:r>
              <a:rPr i="1" lang="it"/>
              <a:t>"fa' questo mentre faccio altro"</a:t>
            </a:r>
            <a:r>
              <a:rPr lang="it"/>
              <a:t> </a:t>
            </a:r>
            <a:endParaRPr/>
          </a:p>
        </p:txBody>
      </p:sp>
      <p:sp>
        <p:nvSpPr>
          <p:cNvPr id="284" name="Google Shape;284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tokio::spawn</a:t>
            </a:r>
            <a:r>
              <a:rPr lang="it"/>
              <a:t> - avviare task concorrenti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1" name="Google Shape;291;p40"/>
          <p:cNvSpPr txBox="1"/>
          <p:nvPr/>
        </p:nvSpPr>
        <p:spPr>
          <a:xfrm>
            <a:off x="311700" y="1196083"/>
            <a:ext cx="8520600" cy="2586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fn expensive_io() -&gt; Result&lt;()&gt; { /* … */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async fn do_other_work() { /* … */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#[tokio::main]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async fn main() {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let h = tokio::spawn( async move {      // parte immediatamente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expensive_io().await                  // eseguito in background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do_other_work().await;                  // nel frattempo faccio altro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let result = h.await.unwrap();          // quando ho finito, attendo il risultato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Non perdere il controllo dei task</a:t>
            </a:r>
            <a:endParaRPr/>
          </a:p>
        </p:txBody>
      </p:sp>
      <p:sp>
        <p:nvSpPr>
          <p:cNvPr id="297" name="Google Shape;297;p4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8" name="Google Shape;29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spawn(…)</a:t>
            </a:r>
            <a:r>
              <a:rPr lang="it"/>
              <a:t> crea un task con un ciclo di vita separato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task non osservato può: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Fallire senza che il chiamante se ne accorga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Continuare oltre la richiesta che lo ha creato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Complicare la terminazione e la cancellazione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Occorre conservare il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JoinHandle</a:t>
            </a:r>
            <a:r>
              <a:rPr lang="it"/>
              <a:t> restituito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spawn(...)</a:t>
            </a:r>
            <a:r>
              <a:rPr lang="it"/>
              <a:t> quando servono risultato, errore o arresto controllato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Quando si hanno molti task omogenei è possibile usare strutture dedicate come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JoinSet&lt;T&gt;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Offre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spawn(...)</a:t>
            </a:r>
            <a:r>
              <a:rPr lang="it"/>
              <a:t> che automaticamente memorizza la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JoinHandle</a:t>
            </a:r>
            <a:r>
              <a:rPr lang="it"/>
              <a:t> corrispondente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Permette di iterare su tutte le handle per attenderne la terminazione 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join!</a:t>
            </a:r>
            <a:r>
              <a:rPr lang="it"/>
              <a:t> - attendere più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insieme</a:t>
            </a:r>
            <a:endParaRPr/>
          </a:p>
        </p:txBody>
      </p:sp>
      <p:sp>
        <p:nvSpPr>
          <p:cNvPr id="304" name="Google Shape;304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5" name="Google Shape;30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tokio::join!(f1, f2, …)</a:t>
            </a:r>
            <a:r>
              <a:rPr lang="it"/>
              <a:t> attende il completamento di </a:t>
            </a:r>
            <a:r>
              <a:rPr b="1" lang="it">
                <a:solidFill>
                  <a:srgbClr val="0B5394"/>
                </a:solidFill>
              </a:rPr>
              <a:t>tutti</a:t>
            </a:r>
            <a:r>
              <a:rPr lang="it"/>
              <a:t> 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passati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Li fa progredire in modo interlacciato sullo stesso task: non viene eseguito </a:t>
            </a:r>
            <a:r>
              <a:rPr b="1" lang="it">
                <a:solidFill>
                  <a:srgbClr val="0B5394"/>
                </a:solidFill>
              </a:rPr>
              <a:t>spawn()</a:t>
            </a:r>
            <a:r>
              <a:rPr lang="it"/>
              <a:t>, non viene richiesto il tratto </a:t>
            </a:r>
            <a:r>
              <a:rPr b="1" lang="it">
                <a:solidFill>
                  <a:srgbClr val="0B5394"/>
                </a:solidFill>
              </a:rPr>
              <a:t>Send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Restituisce una tupla contenente i risultati, nell'ordine dei parametri passati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È il meccanismo corretto quando i compiti sono </a:t>
            </a:r>
            <a:r>
              <a:rPr b="1" lang="it">
                <a:solidFill>
                  <a:srgbClr val="0B5394"/>
                </a:solidFill>
              </a:rPr>
              <a:t>indipendenti</a:t>
            </a:r>
            <a:r>
              <a:rPr lang="it"/>
              <a:t> e servono tutti i risultati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try_join!(…)</a:t>
            </a:r>
            <a:r>
              <a:rPr lang="it"/>
              <a:t> è la variante per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che restituiscono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 E&gt;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Ritorna </a:t>
            </a:r>
            <a:r>
              <a:rPr b="1" lang="it">
                <a:solidFill>
                  <a:srgbClr val="0B5394"/>
                </a:solidFill>
              </a:rPr>
              <a:t>Ok((r1,r2, …))</a:t>
            </a:r>
            <a:r>
              <a:rPr lang="it"/>
              <a:t> se tutti hanno successo, oppure si interrompe al </a:t>
            </a:r>
            <a:r>
              <a:rPr b="1" lang="it">
                <a:solidFill>
                  <a:srgbClr val="0B5394"/>
                </a:solidFill>
              </a:rPr>
              <a:t>primo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</a:rPr>
              <a:t>errore</a:t>
            </a:r>
            <a:r>
              <a:rPr lang="it"/>
              <a:t> restituendolo   </a:t>
            </a:r>
            <a:endParaRPr/>
          </a:p>
        </p:txBody>
      </p:sp>
      <p:sp>
        <p:nvSpPr>
          <p:cNvPr id="306" name="Google Shape;306;p42"/>
          <p:cNvSpPr txBox="1"/>
          <p:nvPr/>
        </p:nvSpPr>
        <p:spPr>
          <a:xfrm>
            <a:off x="311700" y="3087710"/>
            <a:ext cx="8520600" cy="1662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Le due richieste non dipendono l'una dall'altra → attesa in parallelo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(user, config) =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tokio::join!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fetch_user(42),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fetch_config()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Variante con propagazione dell'errore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(user, config) =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tokio::try_join!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(fetch_user(42), fetch_config())?;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it"/>
              <a:t> - il primo che si completa</a:t>
            </a:r>
            <a:endParaRPr/>
          </a:p>
        </p:txBody>
      </p:sp>
      <p:sp>
        <p:nvSpPr>
          <p:cNvPr id="312" name="Google Shape;312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3" name="Google Shape;31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tokio::select!(f1, f2, …)</a:t>
            </a:r>
            <a:r>
              <a:rPr lang="it"/>
              <a:t> attende su più rami asincroni e procede con il primo che termina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rami non selezionati vengono </a:t>
            </a:r>
            <a:r>
              <a:rPr b="1" lang="it">
                <a:solidFill>
                  <a:srgbClr val="0B5394"/>
                </a:solidFill>
              </a:rPr>
              <a:t>cancellati</a:t>
            </a:r>
            <a:r>
              <a:rPr lang="it"/>
              <a:t> ( viene invocato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Drop</a:t>
            </a:r>
            <a:r>
              <a:rPr lang="it"/>
              <a:t> sul loro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Sintassi di ogni ramo simile a quella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lang="it"/>
              <a:t>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&lt;pattern&gt; = &lt;espressione async&gt;(, if &lt;guardia&gt;)? =&gt; &lt;gestore&gt;</a:t>
            </a:r>
            <a:r>
              <a:rPr lang="it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guardia opzionale disattiva un ramo quando una precondizione è falsa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ramo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it"/>
              <a:t> finale viene valutato se nessun ramo corrisponde al pattern indicato</a:t>
            </a:r>
            <a:endParaRPr/>
          </a:p>
        </p:txBody>
      </p:sp>
      <p:sp>
        <p:nvSpPr>
          <p:cNvPr id="314" name="Google Shape;314;p43"/>
          <p:cNvSpPr txBox="1"/>
          <p:nvPr/>
        </p:nvSpPr>
        <p:spPr>
          <a:xfrm>
            <a:off x="311700" y="3192914"/>
            <a:ext cx="8520600" cy="153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tokio::select! {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data = fetch_from_network() =&gt; {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process(data);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_ = tokio::time::sleep(Duration::from_secs(5)) =&gt; {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eprintln!("timeout: nessuna risposta");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Gestione del tempo</a:t>
            </a:r>
            <a:endParaRPr/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tokio::time::sleep(d).await</a:t>
            </a:r>
            <a:r>
              <a:rPr lang="it"/>
              <a:t> sospende il task corrente per la durata indicata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consuma né CPU né un thread: occupa solo la memoria del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(~ 300 byte)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Allo scadere, l'esecutore risveglia il task e l'esecuzione riprende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tokio::time::timeout(d, future).await</a:t>
            </a:r>
            <a:r>
              <a:rPr lang="it"/>
              <a:t> impone un limite di tempo a qualsiasi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Restituisce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 Elapsed&gt;</a:t>
            </a:r>
            <a:r>
              <a:rPr lang="it"/>
              <a:t>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Ok(t)</a:t>
            </a:r>
            <a:r>
              <a:rPr lang="it"/>
              <a:t> se l'operazione completa in tempo,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it"/>
              <a:t> se scade prima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È implementato tramite una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select!</a:t>
            </a:r>
            <a:r>
              <a:rPr lang="it"/>
              <a:t> tra il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it"/>
              <a:t> e un timer</a:t>
            </a:r>
            <a:endParaRPr/>
          </a:p>
        </p:txBody>
      </p:sp>
      <p:sp>
        <p:nvSpPr>
          <p:cNvPr id="321" name="Google Shape;321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2" name="Google Shape;322;p44"/>
          <p:cNvSpPr txBox="1"/>
          <p:nvPr/>
        </p:nvSpPr>
        <p:spPr>
          <a:xfrm>
            <a:off x="311700" y="3219215"/>
            <a:ext cx="8520600" cy="129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tokio::time::{sleep, timeout, Duration};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match timeout(Duration::from_secs(10), fetch_data()).await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Ok(data) =&gt; process(data),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Err(_) =&gt; eprintln!("Operazione troppo lenta"),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Cancellare un task</a:t>
            </a:r>
            <a:endParaRPr/>
          </a:p>
        </p:txBody>
      </p:sp>
      <p:sp>
        <p:nvSpPr>
          <p:cNvPr id="328" name="Google Shape;32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struct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JoinHandle</a:t>
            </a:r>
            <a:r>
              <a:rPr lang="it"/>
              <a:t> restituita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spawn(…)</a:t>
            </a:r>
            <a:r>
              <a:rPr lang="it"/>
              <a:t> offre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abort()</a:t>
            </a:r>
            <a:r>
              <a:rPr lang="it"/>
              <a:t> per cancellare il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cancellazione ha effetto quando il task è sospeso su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il task è dentro un ciclo attivo, l'interruzione avviene al prossimo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Invocare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abort()</a:t>
            </a:r>
            <a:r>
              <a:rPr lang="it"/>
              <a:t> su un task già terminato  non ha effetto: chiamate multiple equivalgono ad una sola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Di norma, dopo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abort()</a:t>
            </a:r>
            <a:r>
              <a:rPr lang="it"/>
              <a:t> si attende la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JoinHandle</a:t>
            </a:r>
            <a:r>
              <a:rPr lang="it"/>
              <a:t> per verificare l'effettivo arresto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ottiene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JoinError</a:t>
            </a:r>
            <a:r>
              <a:rPr lang="it"/>
              <a:t>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is_cancelled() == true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l'esecutore viene terminato, tutti i task in corso vengono cancellati</a:t>
            </a:r>
            <a:endParaRPr/>
          </a:p>
        </p:txBody>
      </p:sp>
      <p:sp>
        <p:nvSpPr>
          <p:cNvPr id="329" name="Google Shape;329;p4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0" name="Google Shape;330;p45"/>
          <p:cNvSpPr txBox="1"/>
          <p:nvPr/>
        </p:nvSpPr>
        <p:spPr>
          <a:xfrm>
            <a:off x="311700" y="3447158"/>
            <a:ext cx="8520600" cy="1108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handle = tokio::spawn(async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tokio::time::sleep(Duration::from_secs(10)).await;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handle.abort();									// richiede la cancellazione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assert!(handle.await.unwrap_err().is_cancelled());		// verifica che sia avvenuta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>
            <p:ph type="ctrTitle"/>
          </p:nvPr>
        </p:nvSpPr>
        <p:spPr>
          <a:xfrm>
            <a:off x="311700" y="1735175"/>
            <a:ext cx="8520600" cy="9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Guida alla progettazione</a:t>
            </a:r>
            <a:endParaRPr/>
          </a:p>
        </p:txBody>
      </p:sp>
      <p:sp>
        <p:nvSpPr>
          <p:cNvPr id="336" name="Google Shape;336;p46"/>
          <p:cNvSpPr txBox="1"/>
          <p:nvPr>
            <p:ph idx="1" type="subTitle"/>
          </p:nvPr>
        </p:nvSpPr>
        <p:spPr>
          <a:xfrm>
            <a:off x="311700" y="264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Mettere insieme i costrutti</a:t>
            </a:r>
            <a:endParaRPr/>
          </a:p>
        </p:txBody>
      </p:sp>
      <p:sp>
        <p:nvSpPr>
          <p:cNvPr id="337" name="Google Shape;337;p4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Quale costrutto, in quale situazione</a:t>
            </a:r>
            <a:endParaRPr/>
          </a:p>
        </p:txBody>
      </p:sp>
      <p:sp>
        <p:nvSpPr>
          <p:cNvPr id="343" name="Google Shape;343;p4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4" name="Google Shape;344;p47"/>
          <p:cNvSpPr txBox="1"/>
          <p:nvPr/>
        </p:nvSpPr>
        <p:spPr>
          <a:xfrm>
            <a:off x="343675" y="1318550"/>
            <a:ext cx="46026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Il lavoro è CPU intensive (&gt; ~ 100µs) ?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343675" y="1804093"/>
            <a:ext cx="46026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Passi di I/O che dipendono l'uno dall'altro?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343675" y="2289644"/>
            <a:ext cx="46026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Avviare un'attività indipendente / cancellabile?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343675" y="2775196"/>
            <a:ext cx="46026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Più attività indipendenti, servono tutti i risultati?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343675" y="3260747"/>
            <a:ext cx="46026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Reagire alla prima tra N condizioni?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7"/>
          <p:cNvSpPr txBox="1"/>
          <p:nvPr/>
        </p:nvSpPr>
        <p:spPr>
          <a:xfrm>
            <a:off x="343675" y="3746298"/>
            <a:ext cx="46026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Passare dati tra task?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7"/>
          <p:cNvSpPr txBox="1"/>
          <p:nvPr/>
        </p:nvSpPr>
        <p:spPr>
          <a:xfrm>
            <a:off x="343675" y="4231849"/>
            <a:ext cx="46026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Sato mutabile condiviso tra task?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7"/>
          <p:cNvSpPr txBox="1"/>
          <p:nvPr/>
        </p:nvSpPr>
        <p:spPr>
          <a:xfrm>
            <a:off x="5305800" y="1318550"/>
            <a:ext cx="3526500" cy="393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Thread o Rayon </a:t>
            </a:r>
            <a:endParaRPr sz="16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7"/>
          <p:cNvSpPr txBox="1"/>
          <p:nvPr/>
        </p:nvSpPr>
        <p:spPr>
          <a:xfrm>
            <a:off x="5305800" y="1804100"/>
            <a:ext cx="35265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274E13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b="1" lang="it" sz="16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it" sz="16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in sequenza</a:t>
            </a:r>
            <a:endParaRPr sz="1600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7"/>
          <p:cNvSpPr txBox="1"/>
          <p:nvPr/>
        </p:nvSpPr>
        <p:spPr>
          <a:xfrm>
            <a:off x="5305800" y="2289650"/>
            <a:ext cx="3526500" cy="39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7F6000"/>
                </a:solidFill>
                <a:latin typeface="Consolas"/>
                <a:ea typeface="Consolas"/>
                <a:cs typeface="Consolas"/>
                <a:sym typeface="Consolas"/>
              </a:rPr>
              <a:t>tokio::spawn → JoinHandle</a:t>
            </a:r>
            <a:endParaRPr b="1" sz="16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5305800" y="2775200"/>
            <a:ext cx="3526500" cy="39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7F6000"/>
                </a:solidFill>
                <a:latin typeface="Consolas"/>
                <a:ea typeface="Consolas"/>
                <a:cs typeface="Consolas"/>
                <a:sym typeface="Consolas"/>
              </a:rPr>
              <a:t>tokio::join! / try_join!</a:t>
            </a:r>
            <a:endParaRPr b="1" sz="16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7"/>
          <p:cNvSpPr txBox="1"/>
          <p:nvPr/>
        </p:nvSpPr>
        <p:spPr>
          <a:xfrm>
            <a:off x="5305800" y="3286300"/>
            <a:ext cx="3526500" cy="39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7F6000"/>
                </a:solidFill>
                <a:latin typeface="Consolas"/>
                <a:ea typeface="Consolas"/>
                <a:cs typeface="Consolas"/>
                <a:sym typeface="Consolas"/>
              </a:rPr>
              <a:t>tokio::select!</a:t>
            </a:r>
            <a:endParaRPr b="1" sz="16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5305800" y="3771850"/>
            <a:ext cx="3526500" cy="393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660000"/>
                </a:solidFill>
                <a:latin typeface="Calibri"/>
                <a:ea typeface="Calibri"/>
                <a:cs typeface="Calibri"/>
                <a:sym typeface="Calibri"/>
              </a:rPr>
              <a:t>canali </a:t>
            </a:r>
            <a:r>
              <a:rPr lang="it" sz="1600">
                <a:solidFill>
                  <a:srgbClr val="660000"/>
                </a:solidFill>
                <a:latin typeface="Calibri"/>
                <a:ea typeface="Calibri"/>
                <a:cs typeface="Calibri"/>
                <a:sym typeface="Calibri"/>
              </a:rPr>
              <a:t>(vedi oltre)</a:t>
            </a:r>
            <a:endParaRPr sz="1600">
              <a:solidFill>
                <a:srgbClr val="66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7"/>
          <p:cNvSpPr txBox="1"/>
          <p:nvPr/>
        </p:nvSpPr>
        <p:spPr>
          <a:xfrm>
            <a:off x="5305800" y="4231850"/>
            <a:ext cx="3526500" cy="3936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660000"/>
                </a:solidFill>
                <a:latin typeface="Consolas"/>
                <a:ea typeface="Consolas"/>
                <a:cs typeface="Consolas"/>
                <a:sym typeface="Consolas"/>
              </a:rPr>
              <a:t>Arc&lt;tokio::sync::Mutex&lt;T&gt;&gt;</a:t>
            </a:r>
            <a:endParaRPr b="1" sz="1600">
              <a:solidFill>
                <a:srgbClr val="66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4956462" y="1318550"/>
            <a:ext cx="35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4956462" y="1780589"/>
            <a:ext cx="35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4956462" y="2280129"/>
            <a:ext cx="35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4956462" y="2742168"/>
            <a:ext cx="35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4956462" y="3241708"/>
            <a:ext cx="35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4956462" y="3703747"/>
            <a:ext cx="35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>
              <a:solidFill>
                <a:srgbClr val="808080"/>
              </a:solidFill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4956462" y="4203287"/>
            <a:ext cx="35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>
              <a:solidFill>
                <a:srgbClr val="80808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Esempio: sequenza o concorrenza?</a:t>
            </a:r>
            <a:endParaRPr/>
          </a:p>
        </p:txBody>
      </p:sp>
      <p:sp>
        <p:nvSpPr>
          <p:cNvPr id="370" name="Google Shape;370;p4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1" name="Google Shape;371;p48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Lo stesso problema, due strutture diversa, in base alle </a:t>
            </a:r>
            <a:r>
              <a:rPr b="1" lang="it">
                <a:solidFill>
                  <a:srgbClr val="0B5394"/>
                </a:solidFill>
              </a:rPr>
              <a:t>dipendenze tra i passi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372" name="Google Shape;372;p48"/>
          <p:cNvSpPr txBox="1"/>
          <p:nvPr/>
        </p:nvSpPr>
        <p:spPr>
          <a:xfrm>
            <a:off x="311675" y="1712980"/>
            <a:ext cx="416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Dipendenti → sequenza</a:t>
            </a:r>
            <a:endParaRPr b="1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8"/>
          <p:cNvSpPr txBox="1"/>
          <p:nvPr/>
        </p:nvSpPr>
        <p:spPr>
          <a:xfrm>
            <a:off x="4671000" y="1712980"/>
            <a:ext cx="416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Ind</a:t>
            </a:r>
            <a:r>
              <a:rPr b="1" lang="it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ipendenti →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join!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" name="Google Shape;374;p48"/>
          <p:cNvSpPr txBox="1"/>
          <p:nvPr/>
        </p:nvSpPr>
        <p:spPr>
          <a:xfrm>
            <a:off x="311700" y="2061980"/>
            <a:ext cx="4161300" cy="147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orders dipende da user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user = fetch_user(id).await;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orders = fetch_orders(&amp;user).await;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Tempo: t_user + t_orders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4671000" y="2061980"/>
            <a:ext cx="4161300" cy="147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nessuna dipendenza tra i due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 (user, cfg) = tokio::join!(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fetch_user(id),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fetch_cfg()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//Tempo: max(t_user, t_cfg)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" name="Google Shape;376;p48"/>
          <p:cNvSpPr txBox="1"/>
          <p:nvPr>
            <p:ph idx="1" type="body"/>
          </p:nvPr>
        </p:nvSpPr>
        <p:spPr>
          <a:xfrm>
            <a:off x="311700" y="3619375"/>
            <a:ext cx="8520600" cy="11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Regola pratica: si introducono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sequenziali solo quando un passo usa un risultato precedente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due operazioni sono indipendenti,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join!</a:t>
            </a:r>
            <a:r>
              <a:rPr lang="it"/>
              <a:t> le sovrappone senza creare task né richiedere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caso speciale: attività che richiedono molta CPU</a:t>
            </a:r>
            <a:endParaRPr/>
          </a:p>
        </p:txBody>
      </p:sp>
      <p:sp>
        <p:nvSpPr>
          <p:cNvPr id="382" name="Google Shape;382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schedulazione implementata dall'esecutore è cooperativa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task async non deve occupare il thread soggiacente a lungo senza effettuare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calcolo lungo (&gt; ~100µs) senza punti di sospensione blocca il thread e ritarda tutti gli altri task su quella coda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È l'errore più comune: </a:t>
            </a:r>
            <a:r>
              <a:rPr i="1" lang="it"/>
              <a:t>"il mio server async è lento"</a:t>
            </a:r>
            <a:r>
              <a:rPr lang="it"/>
              <a:t> spesso significa che un task non cede mai il controllo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</a:rPr>
              <a:t>tokio::task::spawn_blocking(f)</a:t>
            </a:r>
            <a:r>
              <a:rPr lang="it"/>
              <a:t> sposta una closure sincrona su un pool dedicato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Pool separato e limitato, distinto dai thread worker async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Tokio mette a disposizione due thread pool: uno a dimensione fissa per gli executor, uno limitato per le chiamate bloccanti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eseguire operazioni che richiedono un uso massiccio della CPU, si delega a librerie dedicate come Rayon, eventualmente regolando la concorrenza con un semaforo</a:t>
            </a:r>
            <a:endParaRPr/>
          </a:p>
        </p:txBody>
      </p:sp>
      <p:sp>
        <p:nvSpPr>
          <p:cNvPr id="383" name="Google Shape;383;p4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Quattro modi di coordinare i Future</a:t>
            </a:r>
            <a:endParaRPr/>
          </a:p>
        </p:txBody>
      </p:sp>
      <p:sp>
        <p:nvSpPr>
          <p:cNvPr id="389" name="Google Shape;389;p5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390" name="Google Shape;390;p50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{541AAE75-22F9-4423-B0CE-EE432AFED7CC}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Caso</a:t>
                      </a:r>
                      <a:endParaRPr b="1">
                        <a:solidFill>
                          <a:srgbClr val="0B539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Strumento</a:t>
                      </a:r>
                      <a:endParaRPr b="1">
                        <a:solidFill>
                          <a:srgbClr val="0B539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Dipendenza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.await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Indipendenti, stessi scope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join!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Indipendenti, lifecycle separato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spawn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Reagire al primo evento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select!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1"/>
          <p:cNvSpPr txBox="1"/>
          <p:nvPr>
            <p:ph type="ctrTitle"/>
          </p:nvPr>
        </p:nvSpPr>
        <p:spPr>
          <a:xfrm>
            <a:off x="311700" y="1735175"/>
            <a:ext cx="8520600" cy="9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Condividere e comunicare</a:t>
            </a:r>
            <a:endParaRPr/>
          </a:p>
        </p:txBody>
      </p:sp>
      <p:sp>
        <p:nvSpPr>
          <p:cNvPr id="396" name="Google Shape;396;p51"/>
          <p:cNvSpPr txBox="1"/>
          <p:nvPr>
            <p:ph idx="1" type="subTitle"/>
          </p:nvPr>
        </p:nvSpPr>
        <p:spPr>
          <a:xfrm>
            <a:off x="311700" y="264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Stato condiviso e canali</a:t>
            </a:r>
            <a:endParaRPr/>
          </a:p>
        </p:txBody>
      </p:sp>
      <p:sp>
        <p:nvSpPr>
          <p:cNvPr id="397" name="Google Shape;397;p5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di elaborazione</a:t>
            </a:r>
            <a:endParaRPr/>
          </a:p>
        </p:txBody>
      </p:sp>
      <p:sp>
        <p:nvSpPr>
          <p:cNvPr id="403" name="Google Shape;403;p52"/>
          <p:cNvSpPr txBox="1"/>
          <p:nvPr>
            <p:ph idx="1" type="body"/>
          </p:nvPr>
        </p:nvSpPr>
        <p:spPr>
          <a:xfrm>
            <a:off x="311700" y="1152475"/>
            <a:ext cx="3999900" cy="3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tokio opera utilizzando un certo numero di code di esecuzione (una per core)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Ogni coda è gestita da un ciclo reattivo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Processor</a:t>
            </a:r>
            <a:r>
              <a:rPr lang="it"/>
              <a:t>) che estrae ed esegue i task presenti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Quando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Processor</a:t>
            </a:r>
            <a:r>
              <a:rPr lang="it"/>
              <a:t> esaurisce i task della propria coda, prova a rubarne alcuni ad altre code, su base euristica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Sincronizzazione minimizzata con operazioni atomiche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Conseguenza: un task può iniziare e proseguire su thread diversi → serve coordinamento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I valori che attraversano un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/>
              <a:t> devono essere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I riferimenti condivisi devono essere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Sync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Stessa disciplina del multithread: i dati condivisi vanno protetti</a:t>
            </a:r>
            <a:endParaRPr/>
          </a:p>
        </p:txBody>
      </p:sp>
      <p:sp>
        <p:nvSpPr>
          <p:cNvPr id="404" name="Google Shape;404;p5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05" name="Google Shape;4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343" y="1184913"/>
            <a:ext cx="431695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Condividere dati tra task</a:t>
            </a:r>
            <a:endParaRPr/>
          </a:p>
        </p:txBody>
      </p:sp>
      <p:sp>
        <p:nvSpPr>
          <p:cNvPr id="411" name="Google Shape;41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Tokio mette a disposizione una ricca serie di primitive asincrone nel modulo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tokio::sync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Due approcci: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</a:t>
            </a:r>
            <a:r>
              <a:rPr lang="it"/>
              <a:t>ondivisione dello </a:t>
            </a:r>
            <a:r>
              <a:rPr b="1" lang="it">
                <a:solidFill>
                  <a:srgbClr val="0B5394"/>
                </a:solidFill>
              </a:rPr>
              <a:t>stato</a:t>
            </a:r>
            <a:r>
              <a:rPr lang="it"/>
              <a:t>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Barrier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Notify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RwLock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Semaphore</a:t>
            </a:r>
            <a:r>
              <a:rPr lang="it"/>
              <a:t>)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Comunicazione di </a:t>
            </a:r>
            <a:r>
              <a:rPr b="1" lang="it">
                <a:solidFill>
                  <a:srgbClr val="0B5394"/>
                </a:solidFill>
              </a:rPr>
              <a:t>messaggi</a:t>
            </a:r>
            <a:r>
              <a:rPr lang="it"/>
              <a:t> (canali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oneshot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mpsc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broadcast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watch</a:t>
            </a:r>
            <a:r>
              <a:rPr lang="it"/>
              <a:t>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Sebbene assomiglino alle primitive della libreria standard, c'è una differenza fondamentale: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operazioni di sincronizzazione sono </a:t>
            </a:r>
            <a:r>
              <a:rPr b="1" lang="it">
                <a:solidFill>
                  <a:srgbClr val="0B5394"/>
                </a:solidFill>
              </a:rPr>
              <a:t>asincrone</a:t>
            </a:r>
            <a:r>
              <a:rPr lang="it"/>
              <a:t>, non bloccanti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la risorsa non è disponibile, il task corrente viene sospeso fino a che non diventa possibile proseguire, senza impedire al thread soggiacente di elaborare altri task</a:t>
            </a:r>
            <a:endParaRPr/>
          </a:p>
        </p:txBody>
      </p:sp>
      <p:sp>
        <p:nvSpPr>
          <p:cNvPr id="412" name="Google Shape;412;p5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Stato condiviso: 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Arc&lt;tokio::sync::Mutex&lt;T&gt;&gt;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54"/>
          <p:cNvSpPr txBox="1"/>
          <p:nvPr>
            <p:ph idx="1" type="body"/>
          </p:nvPr>
        </p:nvSpPr>
        <p:spPr>
          <a:xfrm>
            <a:off x="3117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Per condividere uno stato mutabile tra task, si combina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Arc</a:t>
            </a:r>
            <a:r>
              <a:rPr lang="it" sz="1600"/>
              <a:t> (possesso condiviso) con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it" sz="1600"/>
              <a:t> (accesso esclusivo)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Si usa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tokio::sync::Mutex</a:t>
            </a:r>
            <a:r>
              <a:rPr lang="it" sz="1400"/>
              <a:t>, non </a:t>
            </a:r>
            <a:r>
              <a:rPr i="1" lang="it" sz="1400">
                <a:solidFill>
                  <a:srgbClr val="0B5394"/>
                </a:solidFill>
              </a:rPr>
              <a:t>std::sync::Mutex</a:t>
            </a:r>
            <a:r>
              <a:rPr lang="it" sz="1400"/>
              <a:t>: il metodo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lock()</a:t>
            </a:r>
            <a:r>
              <a:rPr lang="it" sz="1400"/>
              <a:t> è asincrono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Attendere il lock con</a:t>
            </a:r>
            <a:r>
              <a:rPr lang="it" sz="1400"/>
              <a:t>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 sz="1400"/>
              <a:t> non blocca il thread: cede il controllo fino a che il lock è libero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Non mantenere un lock attraverso 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 sz="1400"/>
              <a:t> </a:t>
            </a:r>
            <a:endParaRPr sz="1400"/>
          </a:p>
        </p:txBody>
      </p:sp>
      <p:sp>
        <p:nvSpPr>
          <p:cNvPr id="419" name="Google Shape;419;p5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0" name="Google Shape;420;p54"/>
          <p:cNvSpPr txBox="1"/>
          <p:nvPr/>
        </p:nvSpPr>
        <p:spPr>
          <a:xfrm>
            <a:off x="4688350" y="1017725"/>
            <a:ext cx="4216500" cy="363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tokio::sync::Mutex;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std::sync::Arc;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#[tokio::main]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async 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data =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Arc::new(Mutex::new(0));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mut v = vec![];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for _ in 0..4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data =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Arc::clone(&amp;data)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v.push(tokio::spawn(async move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mut lock = data.lock().await;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     *lock += 1;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for h in v { let _ = join!(h);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assert_eq!(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*(data.lock().await)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, 4);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Stato condiviso vs canali</a:t>
            </a:r>
            <a:endParaRPr/>
          </a:p>
        </p:txBody>
      </p:sp>
      <p:sp>
        <p:nvSpPr>
          <p:cNvPr id="426" name="Google Shape;426;p5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7" name="Google Shape;427;p55"/>
          <p:cNvSpPr txBox="1"/>
          <p:nvPr>
            <p:ph idx="1" type="body"/>
          </p:nvPr>
        </p:nvSpPr>
        <p:spPr>
          <a:xfrm>
            <a:off x="311700" y="1069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Usare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Arc&lt;Mutex&lt;T&gt;&gt;</a:t>
            </a:r>
            <a:r>
              <a:rPr lang="it"/>
              <a:t> è semplice, ma spesso NON è la soluzione migliore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Può diventare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collo di bottiglia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Fonte di deadlock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Difficile da far scalare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Stato condiviso ⇔ sincronizzazione esplicita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Spesso è più semplice passare messaggi che condividere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Elimina l'uso di lock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Elimina corse critiche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Struttura il flusso di comunicazione e di sincronizzazione allo stesso tempo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Stato condiviso vs canali</a:t>
            </a:r>
            <a:endParaRPr/>
          </a:p>
        </p:txBody>
      </p:sp>
      <p:sp>
        <p:nvSpPr>
          <p:cNvPr id="433" name="Google Shape;433;p5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34" name="Google Shape;434;p5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{541AAE75-22F9-4423-B0CE-EE432AFED7CC}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Stato condiviso</a:t>
                      </a:r>
                      <a:endParaRPr b="1">
                        <a:solidFill>
                          <a:srgbClr val="0B539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Canali</a:t>
                      </a:r>
                      <a:endParaRPr b="1">
                        <a:solidFill>
                          <a:srgbClr val="0B539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Accesso diretto ai dati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Comunicazione esplicita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Richiede lock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Nessun lock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Più flessibile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Più strutturato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Rischio deadlock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Più sicuro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Più difficile da scalare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Più naturale per sistemi concorrenti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5" name="Google Shape;435;p56"/>
          <p:cNvSpPr/>
          <p:nvPr/>
        </p:nvSpPr>
        <p:spPr>
          <a:xfrm>
            <a:off x="311700" y="4316875"/>
            <a:ext cx="85206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Preferire l'uso dei canali quando possibile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Comunicare invece di condividere: i canali</a:t>
            </a:r>
            <a:endParaRPr/>
          </a:p>
        </p:txBody>
      </p:sp>
      <p:sp>
        <p:nvSpPr>
          <p:cNvPr id="441" name="Google Shape;441;p5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2" name="Google Shape;442;p57"/>
          <p:cNvSpPr/>
          <p:nvPr/>
        </p:nvSpPr>
        <p:spPr>
          <a:xfrm>
            <a:off x="413800" y="1311524"/>
            <a:ext cx="4085400" cy="14379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oneshot						1→1</a:t>
            </a:r>
            <a:endParaRPr b="1" sz="18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singolo messaggio da un produttore a un consumatore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Ideale per restituire il risultato di un task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7"/>
          <p:cNvSpPr/>
          <p:nvPr/>
        </p:nvSpPr>
        <p:spPr>
          <a:xfrm>
            <a:off x="4746900" y="1311524"/>
            <a:ext cx="4085400" cy="1437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mpsc</a:t>
            </a:r>
            <a:r>
              <a:rPr b="1" lang="it" sz="180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						N→1</a:t>
            </a:r>
            <a:endParaRPr b="1" sz="1800">
              <a:solidFill>
                <a:srgbClr val="134F5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Più</a:t>
            </a: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produttori, un consumatore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Capacità limitata: il mittente attende (backpressure) se il buffer è pieno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7"/>
          <p:cNvSpPr/>
          <p:nvPr/>
        </p:nvSpPr>
        <p:spPr>
          <a:xfrm>
            <a:off x="413800" y="3011956"/>
            <a:ext cx="4085400" cy="1437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83F04"/>
                </a:solidFill>
                <a:latin typeface="Consolas"/>
                <a:ea typeface="Consolas"/>
                <a:cs typeface="Consolas"/>
                <a:sym typeface="Consolas"/>
              </a:rPr>
              <a:t>broadcast</a:t>
            </a:r>
            <a:r>
              <a:rPr b="1" lang="it" sz="1800">
                <a:solidFill>
                  <a:srgbClr val="783F04"/>
                </a:solidFill>
                <a:latin typeface="Consolas"/>
                <a:ea typeface="Consolas"/>
                <a:cs typeface="Consolas"/>
                <a:sym typeface="Consolas"/>
              </a:rPr>
              <a:t>					1→N</a:t>
            </a:r>
            <a:endParaRPr b="1" sz="1800">
              <a:solidFill>
                <a:srgbClr val="783F0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produttore, più consumatori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Ogni ricevitore ottiene una copia di ciascun messaggio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eventi globali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7"/>
          <p:cNvSpPr/>
          <p:nvPr/>
        </p:nvSpPr>
        <p:spPr>
          <a:xfrm>
            <a:off x="4746900" y="3011956"/>
            <a:ext cx="4085400" cy="14379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4C1130"/>
                </a:solidFill>
                <a:latin typeface="Consolas"/>
                <a:ea typeface="Consolas"/>
                <a:cs typeface="Consolas"/>
                <a:sym typeface="Consolas"/>
              </a:rPr>
              <a:t>watch</a:t>
            </a:r>
            <a:r>
              <a:rPr b="1" lang="it" sz="1800">
                <a:solidFill>
                  <a:srgbClr val="4C1130"/>
                </a:solidFill>
                <a:latin typeface="Consolas"/>
                <a:ea typeface="Consolas"/>
                <a:cs typeface="Consolas"/>
                <a:sym typeface="Consolas"/>
              </a:rPr>
              <a:t>						1→N</a:t>
            </a:r>
            <a:endParaRPr b="1" sz="1800">
              <a:solidFill>
                <a:srgbClr val="4C113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Più consumatori che leggono solo il valore più recente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Observer: configurazione, shutdown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Canali oneshot - Invio di un solo messaggio</a:t>
            </a:r>
            <a:endParaRPr/>
          </a:p>
        </p:txBody>
      </p:sp>
      <p:sp>
        <p:nvSpPr>
          <p:cNvPr id="451" name="Google Shape;451;p58"/>
          <p:cNvSpPr txBox="1"/>
          <p:nvPr/>
        </p:nvSpPr>
        <p:spPr>
          <a:xfrm>
            <a:off x="840150" y="1017745"/>
            <a:ext cx="7463700" cy="363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async fn some_computation() -&gt; String { "Some result".to_string()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#[tokio::main]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async 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(tx, rx) = oneshot::channel();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tokio::spawn(async move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res = some_computation().await;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tx.send(res).unwrap();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il canale viene chiuso automaticamente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…altro lavoro…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attende il risultato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res = rx.await.unwrap();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2" name="Google Shape;452;p5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Canali mpsc - Multiple Producer Single Consumer</a:t>
            </a:r>
            <a:endParaRPr/>
          </a:p>
        </p:txBody>
      </p:sp>
      <p:sp>
        <p:nvSpPr>
          <p:cNvPr id="458" name="Google Shape;458;p59"/>
          <p:cNvSpPr txBox="1"/>
          <p:nvPr/>
        </p:nvSpPr>
        <p:spPr>
          <a:xfrm>
            <a:off x="840150" y="1017745"/>
            <a:ext cx="74637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async fn some_computation(i: u32) -&gt; String { format!("Value {}",i)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#[tokio::main]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async 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(tx, mut rx) = mpsc::channel(10);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capacità 10 → backpressure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jh = tokio::spawn(async move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for i in 0..100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let res = some_computation(i).await;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tx.send(res).await.unwrap();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while let Some(res) =	 rx.recv().await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println!("{}", res);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jh.await.unwrap();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5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Canali broadcast - comunicazione molti-molti</a:t>
            </a:r>
            <a:endParaRPr/>
          </a:p>
        </p:txBody>
      </p:sp>
      <p:sp>
        <p:nvSpPr>
          <p:cNvPr id="465" name="Google Shape;465;p60"/>
          <p:cNvSpPr txBox="1"/>
          <p:nvPr/>
        </p:nvSpPr>
        <p:spPr>
          <a:xfrm>
            <a:off x="840150" y="1017745"/>
            <a:ext cx="7463700" cy="338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#[tokio::main]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async fn main()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 sz="13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(tx, mut rx1) = broadcast::channel(16);</a:t>
            </a:r>
            <a:endParaRPr b="1" sz="1300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 sz="13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mut rx2 = tx.subscribe();</a:t>
            </a:r>
            <a:endParaRPr b="1" sz="1300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  let mut js = JoinSet::new();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  js.spawn(async move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      assert_eq!(</a:t>
            </a:r>
            <a:r>
              <a:rPr b="1" lang="it" sz="13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rx1.recv().await.unwrap()</a:t>
            </a: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, 10);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assert_eq!(</a:t>
            </a:r>
            <a:r>
              <a:rPr b="1" lang="it" sz="13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rx1.recv().await.unwrap()</a:t>
            </a: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20);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js.spawn(async move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assert_eq!(</a:t>
            </a:r>
            <a:r>
              <a:rPr b="1" lang="it" sz="13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rx2.recv().await.unwrap()</a:t>
            </a: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10);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assert_eq!(</a:t>
            </a:r>
            <a:r>
              <a:rPr b="1" lang="it" sz="13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rx2.recv().await.unwrap()</a:t>
            </a: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20);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 sz="1300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tx.send(10).unwrap();   tx.send(20).unwrap();   drop(tx);</a:t>
            </a:r>
            <a:endParaRPr b="1" sz="1300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js.join_all().await;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6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Canali watch - pattern Observer</a:t>
            </a:r>
            <a:endParaRPr/>
          </a:p>
        </p:txBody>
      </p:sp>
      <p:sp>
        <p:nvSpPr>
          <p:cNvPr id="472" name="Google Shape;472;p61"/>
          <p:cNvSpPr txBox="1"/>
          <p:nvPr/>
        </p:nvSpPr>
        <p:spPr>
          <a:xfrm>
            <a:off x="840150" y="910084"/>
            <a:ext cx="7463700" cy="3848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#[tokio::main] async 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Create a watch channel with initial value = false (not shutting down)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(tx, mut rx) = watch::channel(false);</a:t>
            </a:r>
            <a:endParaRPr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Spawn a worker task that listens for shutdown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worker = tokio::spawn(async move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loop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tokio::select!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_ = sleep(Duration::from_secs(1)) =&gt; { println!("working...");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_ =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rx.changed()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=&gt; { break;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// Simulate some work, then trigger shutdown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sleep(Duration::from_secs(3)).await;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let _ = tx.send(true);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// notify all receivers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_ = worker.await;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6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Backpressure</a:t>
            </a:r>
            <a:endParaRPr/>
          </a:p>
        </p:txBody>
      </p:sp>
      <p:sp>
        <p:nvSpPr>
          <p:cNvPr id="479" name="Google Shape;479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i produttori sono più veloci dei consumatori, la coda cresce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coda illimitata trasforma un problema di throughput in un problema di memoria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canale limitato rende esplicita la capacità di un sistema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Quando il buffer del canale è pieno, il produttore deve: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Attendere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Scartare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Degradare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Fallire esplicitamente</a:t>
            </a:r>
            <a:endParaRPr/>
          </a:p>
        </p:txBody>
      </p:sp>
      <p:sp>
        <p:nvSpPr>
          <p:cNvPr id="480" name="Google Shape;480;p6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81" name="Google Shape;481;p62"/>
          <p:cNvSpPr/>
          <p:nvPr/>
        </p:nvSpPr>
        <p:spPr>
          <a:xfrm>
            <a:off x="311700" y="4316875"/>
            <a:ext cx="85206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alibri"/>
                <a:ea typeface="Calibri"/>
                <a:cs typeface="Calibri"/>
                <a:sym typeface="Calibri"/>
              </a:rPr>
              <a:t>La capacità non va nascosta: va progettata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Quando usare cosa</a:t>
            </a:r>
            <a:endParaRPr/>
          </a:p>
        </p:txBody>
      </p:sp>
      <p:sp>
        <p:nvSpPr>
          <p:cNvPr id="487" name="Google Shape;487;p6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88" name="Google Shape;488;p63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{541AAE75-22F9-4423-B0CE-EE432AFED7CC}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Caso</a:t>
                      </a:r>
                      <a:endParaRPr b="1">
                        <a:solidFill>
                          <a:srgbClr val="0B539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Strumento</a:t>
                      </a:r>
                      <a:endParaRPr b="1">
                        <a:solidFill>
                          <a:srgbClr val="0B539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Stato condiviso semplice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Arc&lt;Mutex&lt;T&gt;&gt;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/ flusso dati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mpsc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 singola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oneshot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Eventi globali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broadcast</a:t>
                      </a:r>
                      <a:endParaRPr b="1">
                        <a:solidFill>
                          <a:srgbClr val="0B539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Stato osservabile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0B539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watch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Errori tipici in async Rust</a:t>
            </a:r>
            <a:endParaRPr/>
          </a:p>
        </p:txBody>
      </p:sp>
      <p:sp>
        <p:nvSpPr>
          <p:cNvPr id="494" name="Google Shape;494;p6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95" name="Google Shape;495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Usare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it"/>
              <a:t> per lavoro CPU-bound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Fare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</a:t>
            </a:r>
            <a:r>
              <a:rPr lang="it"/>
              <a:t> e ignorare il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JoinHandle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Tenere il possesso di un lock mentre si esegue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Usare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Arc&lt;Mutex&lt;T&gt;&gt;</a:t>
            </a:r>
            <a:r>
              <a:rPr lang="it"/>
              <a:t> come soluzione predefinita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Usare code non limitate senza politica di backpressure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Non prevedere timeout, cancellazione e terminazione del programma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Implementare un semplice server Http</a:t>
            </a:r>
            <a:endParaRPr/>
          </a:p>
        </p:txBody>
      </p:sp>
      <p:sp>
        <p:nvSpPr>
          <p:cNvPr id="501" name="Google Shape;501;p65"/>
          <p:cNvSpPr txBox="1"/>
          <p:nvPr/>
        </p:nvSpPr>
        <p:spPr>
          <a:xfrm>
            <a:off x="371375" y="1017725"/>
            <a:ext cx="83661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tokio::io::AsyncWriteExt;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tokio::net::{TcpListener, TcpStream};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tokio::task;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#[tokio::main]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listener = TcpListener::bind("127.0.0.1:8181")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.unwrap();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loop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let (stream, _) = listener.accept()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.unwrap();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tokio::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(handle_connection(stream)); // ogni connessione → un task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                                           // indipendente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//continua…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6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Implementare un semplice server Http</a:t>
            </a:r>
            <a:endParaRPr/>
          </a:p>
        </p:txBody>
      </p:sp>
      <p:sp>
        <p:nvSpPr>
          <p:cNvPr id="508" name="Google Shape;508;p66"/>
          <p:cNvSpPr txBox="1"/>
          <p:nvPr/>
        </p:nvSpPr>
        <p:spPr>
          <a:xfrm>
            <a:off x="216875" y="1017725"/>
            <a:ext cx="8742000" cy="3201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//…continua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fn handle_connection(mut stream: TcpStream)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contents = "{\"message\": \"Hello, Tokio!\"}";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response = format!(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"HTTP/1.1 200 OK\r\nContent-Type: application/json\r\nContent-Length: {}\r\n\r\n{}",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contents.len(),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contents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stream.write(response.as_bytes())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.unwrap();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stream.flush().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.unwrap();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9" name="Google Shape;509;p6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7"/>
          <p:cNvSpPr txBox="1"/>
          <p:nvPr>
            <p:ph type="ctrTitle"/>
          </p:nvPr>
        </p:nvSpPr>
        <p:spPr>
          <a:xfrm>
            <a:off x="311700" y="1735175"/>
            <a:ext cx="8520600" cy="9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funziona internamente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11700" y="2648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tratto Future e la macchina a stati</a:t>
            </a:r>
            <a:endParaRPr/>
          </a:p>
        </p:txBody>
      </p:sp>
      <p:sp>
        <p:nvSpPr>
          <p:cNvPr id="516" name="Google Shape;516;p6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Esecuzione parziale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macchina a stati finiti può essere implementata da una chiusura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Essa racchiude il proprio </a:t>
            </a:r>
            <a:r>
              <a:rPr b="1" lang="it">
                <a:solidFill>
                  <a:srgbClr val="0B5394"/>
                </a:solidFill>
              </a:rPr>
              <a:t>stato</a:t>
            </a:r>
            <a:r>
              <a:rPr lang="it"/>
              <a:t> e tutte le </a:t>
            </a:r>
            <a:r>
              <a:rPr b="1" lang="it">
                <a:solidFill>
                  <a:srgbClr val="0B5394"/>
                </a:solidFill>
              </a:rPr>
              <a:t>variabili locali</a:t>
            </a:r>
            <a:r>
              <a:rPr lang="it"/>
              <a:t> di cui l'esecuzione ha bisogno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Quando viene eseguita ritorna un valore che indica se ha raggiunto uno degli stati finali o se si trova ancora in uno stato intermedio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permette di non bloccare il thread corrente e procedere con l'esecuzione di altri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punti di blocco sono tutti in corrispondenza degli stati intermedi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Questi sono immediatamente preceduti dall'invocazione di una funzione asincrona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Quando uno stato intermedio viene raggiunto, la chiusura ritorna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Perché la macchina a stati possa progredire occorrono due condizioni: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Che la funzione asincrona invocata scateni qualche attività (in che thread avviene?) che possa portare all'evoluzione dello stato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Che ci sia qualcuno che indichi che vi sono le condizioni affinché lo stato possa evolvere</a:t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9"/>
          <p:cNvSpPr/>
          <p:nvPr/>
        </p:nvSpPr>
        <p:spPr>
          <a:xfrm>
            <a:off x="8395188" y="2949988"/>
            <a:ext cx="589500" cy="5727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s3</a:t>
            </a:r>
            <a:endParaRPr sz="1200"/>
          </a:p>
        </p:txBody>
      </p:sp>
      <p:pic>
        <p:nvPicPr>
          <p:cNvPr id="529" name="Google Shape;52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6788" y="3004914"/>
            <a:ext cx="306300" cy="3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Generare la macchina a stati</a:t>
            </a:r>
            <a:endParaRPr/>
          </a:p>
        </p:txBody>
      </p:sp>
      <p:sp>
        <p:nvSpPr>
          <p:cNvPr id="531" name="Google Shape;531;p69"/>
          <p:cNvSpPr txBox="1"/>
          <p:nvPr/>
        </p:nvSpPr>
        <p:spPr>
          <a:xfrm>
            <a:off x="773625" y="1017725"/>
            <a:ext cx="7096500" cy="1391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fn copy(h1: FileHandle, h2: FileHandle) -&gt; std::io::Result&lt;()&gt;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mut buffer = vec![];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h1.read_async(&amp;mut buffer)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?;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h2.write_async(&amp;buffer)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.await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69"/>
          <p:cNvSpPr/>
          <p:nvPr/>
        </p:nvSpPr>
        <p:spPr>
          <a:xfrm>
            <a:off x="2451550" y="3813338"/>
            <a:ext cx="724500" cy="5727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f1?</a:t>
            </a:r>
            <a:r>
              <a:rPr lang="it"/>
              <a:t> </a:t>
            </a:r>
            <a:endParaRPr/>
          </a:p>
        </p:txBody>
      </p:sp>
      <p:sp>
        <p:nvSpPr>
          <p:cNvPr id="533" name="Google Shape;533;p69"/>
          <p:cNvSpPr/>
          <p:nvPr/>
        </p:nvSpPr>
        <p:spPr>
          <a:xfrm>
            <a:off x="7009194" y="3813338"/>
            <a:ext cx="724500" cy="5727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f2?</a:t>
            </a:r>
            <a:r>
              <a:rPr lang="it"/>
              <a:t> </a:t>
            </a:r>
            <a:endParaRPr/>
          </a:p>
        </p:txBody>
      </p:sp>
      <p:sp>
        <p:nvSpPr>
          <p:cNvPr id="534" name="Google Shape;534;p69"/>
          <p:cNvSpPr txBox="1"/>
          <p:nvPr/>
        </p:nvSpPr>
        <p:spPr>
          <a:xfrm>
            <a:off x="210050" y="3855810"/>
            <a:ext cx="1682700" cy="492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buffer=vec![]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f1=h1.read_async(...)</a:t>
            </a:r>
            <a:endParaRPr/>
          </a:p>
        </p:txBody>
      </p:sp>
      <p:cxnSp>
        <p:nvCxnSpPr>
          <p:cNvPr id="535" name="Google Shape;535;p69"/>
          <p:cNvCxnSpPr>
            <a:stCxn id="536" idx="4"/>
            <a:endCxn id="534" idx="0"/>
          </p:cNvCxnSpPr>
          <p:nvPr/>
        </p:nvCxnSpPr>
        <p:spPr>
          <a:xfrm>
            <a:off x="1051400" y="3520275"/>
            <a:ext cx="0" cy="3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69"/>
          <p:cNvCxnSpPr>
            <a:stCxn id="534" idx="3"/>
            <a:endCxn id="532" idx="1"/>
          </p:cNvCxnSpPr>
          <p:nvPr/>
        </p:nvCxnSpPr>
        <p:spPr>
          <a:xfrm flipH="1" rot="10800000">
            <a:off x="1892750" y="4099710"/>
            <a:ext cx="5589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69"/>
          <p:cNvCxnSpPr>
            <a:stCxn id="532" idx="0"/>
            <a:endCxn id="539" idx="4"/>
          </p:cNvCxnSpPr>
          <p:nvPr/>
        </p:nvCxnSpPr>
        <p:spPr>
          <a:xfrm rot="-5400000">
            <a:off x="2667550" y="3666488"/>
            <a:ext cx="2931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69"/>
          <p:cNvSpPr txBox="1"/>
          <p:nvPr/>
        </p:nvSpPr>
        <p:spPr>
          <a:xfrm>
            <a:off x="2737600" y="3518625"/>
            <a:ext cx="71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endParaRPr/>
          </a:p>
        </p:txBody>
      </p:sp>
      <p:sp>
        <p:nvSpPr>
          <p:cNvPr id="541" name="Google Shape;541;p69"/>
          <p:cNvSpPr/>
          <p:nvPr/>
        </p:nvSpPr>
        <p:spPr>
          <a:xfrm>
            <a:off x="3831527" y="3811238"/>
            <a:ext cx="798475" cy="576900"/>
          </a:xfrm>
          <a:prstGeom prst="flowChartDecision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r1?</a:t>
            </a:r>
            <a:endParaRPr/>
          </a:p>
        </p:txBody>
      </p:sp>
      <p:cxnSp>
        <p:nvCxnSpPr>
          <p:cNvPr id="542" name="Google Shape;542;p69"/>
          <p:cNvCxnSpPr>
            <a:stCxn id="541" idx="2"/>
            <a:endCxn id="528" idx="4"/>
          </p:cNvCxnSpPr>
          <p:nvPr/>
        </p:nvCxnSpPr>
        <p:spPr>
          <a:xfrm rot="-5400000">
            <a:off x="6027614" y="1725788"/>
            <a:ext cx="865500" cy="4459200"/>
          </a:xfrm>
          <a:prstGeom prst="curvedConnector3">
            <a:avLst>
              <a:gd fmla="val -395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69"/>
          <p:cNvSpPr txBox="1"/>
          <p:nvPr/>
        </p:nvSpPr>
        <p:spPr>
          <a:xfrm>
            <a:off x="4409050" y="4269050"/>
            <a:ext cx="71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Err(_)</a:t>
            </a:r>
            <a:endParaRPr/>
          </a:p>
        </p:txBody>
      </p:sp>
      <p:sp>
        <p:nvSpPr>
          <p:cNvPr id="544" name="Google Shape;544;p69"/>
          <p:cNvSpPr txBox="1"/>
          <p:nvPr/>
        </p:nvSpPr>
        <p:spPr>
          <a:xfrm>
            <a:off x="3079737" y="4038324"/>
            <a:ext cx="8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Ready(r1)</a:t>
            </a:r>
            <a:endParaRPr/>
          </a:p>
        </p:txBody>
      </p:sp>
      <p:cxnSp>
        <p:nvCxnSpPr>
          <p:cNvPr id="545" name="Google Shape;545;p69"/>
          <p:cNvCxnSpPr>
            <a:stCxn id="532" idx="3"/>
            <a:endCxn id="541" idx="1"/>
          </p:cNvCxnSpPr>
          <p:nvPr/>
        </p:nvCxnSpPr>
        <p:spPr>
          <a:xfrm>
            <a:off x="3176050" y="4099688"/>
            <a:ext cx="6555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69"/>
          <p:cNvSpPr txBox="1"/>
          <p:nvPr/>
        </p:nvSpPr>
        <p:spPr>
          <a:xfrm>
            <a:off x="4946414" y="3930338"/>
            <a:ext cx="1793100" cy="33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f2=h2.write_async(...)</a:t>
            </a:r>
            <a:endParaRPr/>
          </a:p>
        </p:txBody>
      </p:sp>
      <p:sp>
        <p:nvSpPr>
          <p:cNvPr id="547" name="Google Shape;547;p69"/>
          <p:cNvSpPr txBox="1"/>
          <p:nvPr/>
        </p:nvSpPr>
        <p:spPr>
          <a:xfrm>
            <a:off x="1002225" y="3442425"/>
            <a:ext cx="71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poll()</a:t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548" name="Google Shape;548;p69"/>
          <p:cNvSpPr txBox="1"/>
          <p:nvPr/>
        </p:nvSpPr>
        <p:spPr>
          <a:xfrm>
            <a:off x="1960826" y="2895225"/>
            <a:ext cx="71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poll()</a:t>
            </a:r>
            <a:endParaRPr>
              <a:highlight>
                <a:schemeClr val="accent6"/>
              </a:highlight>
            </a:endParaRPr>
          </a:p>
        </p:txBody>
      </p:sp>
      <p:cxnSp>
        <p:nvCxnSpPr>
          <p:cNvPr id="549" name="Google Shape;549;p69"/>
          <p:cNvCxnSpPr>
            <a:stCxn id="539" idx="2"/>
            <a:endCxn id="532" idx="1"/>
          </p:cNvCxnSpPr>
          <p:nvPr/>
        </p:nvCxnSpPr>
        <p:spPr>
          <a:xfrm flipH="1">
            <a:off x="2451550" y="3233925"/>
            <a:ext cx="67500" cy="865800"/>
          </a:xfrm>
          <a:prstGeom prst="curvedConnector3">
            <a:avLst>
              <a:gd fmla="val 45277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50" name="Google Shape;550;p69"/>
          <p:cNvGrpSpPr/>
          <p:nvPr/>
        </p:nvGrpSpPr>
        <p:grpSpPr>
          <a:xfrm>
            <a:off x="756650" y="2947575"/>
            <a:ext cx="589500" cy="572700"/>
            <a:chOff x="756650" y="2947575"/>
            <a:chExt cx="589500" cy="572700"/>
          </a:xfrm>
        </p:grpSpPr>
        <p:sp>
          <p:nvSpPr>
            <p:cNvPr id="536" name="Google Shape;536;p69"/>
            <p:cNvSpPr/>
            <p:nvPr/>
          </p:nvSpPr>
          <p:spPr>
            <a:xfrm>
              <a:off x="756650" y="2947575"/>
              <a:ext cx="589500" cy="572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/>
                <a:t>s0</a:t>
              </a:r>
              <a:br>
                <a:rPr lang="it"/>
              </a:b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8250" y="2982739"/>
              <a:ext cx="306300" cy="30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2" name="Google Shape;552;p69"/>
          <p:cNvGrpSpPr/>
          <p:nvPr/>
        </p:nvGrpSpPr>
        <p:grpSpPr>
          <a:xfrm>
            <a:off x="2519050" y="2947575"/>
            <a:ext cx="589500" cy="572700"/>
            <a:chOff x="2519050" y="2947575"/>
            <a:chExt cx="589500" cy="572700"/>
          </a:xfrm>
        </p:grpSpPr>
        <p:sp>
          <p:nvSpPr>
            <p:cNvPr id="539" name="Google Shape;539;p69"/>
            <p:cNvSpPr/>
            <p:nvPr/>
          </p:nvSpPr>
          <p:spPr>
            <a:xfrm>
              <a:off x="2519050" y="2947575"/>
              <a:ext cx="589500" cy="572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/>
                <a:t>s1</a:t>
              </a:r>
              <a:endParaRPr sz="1200"/>
            </a:p>
          </p:txBody>
        </p:sp>
        <p:pic>
          <p:nvPicPr>
            <p:cNvPr id="553" name="Google Shape;553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60650" y="2982739"/>
              <a:ext cx="306300" cy="306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4" name="Google Shape;554;p69"/>
          <p:cNvGrpSpPr/>
          <p:nvPr/>
        </p:nvGrpSpPr>
        <p:grpSpPr>
          <a:xfrm>
            <a:off x="7076694" y="2949988"/>
            <a:ext cx="589500" cy="572700"/>
            <a:chOff x="7076694" y="2949988"/>
            <a:chExt cx="589500" cy="572700"/>
          </a:xfrm>
        </p:grpSpPr>
        <p:sp>
          <p:nvSpPr>
            <p:cNvPr id="555" name="Google Shape;555;p69"/>
            <p:cNvSpPr/>
            <p:nvPr/>
          </p:nvSpPr>
          <p:spPr>
            <a:xfrm>
              <a:off x="7076694" y="2949988"/>
              <a:ext cx="589500" cy="572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/>
                <a:t>s2</a:t>
              </a:r>
              <a:endParaRPr sz="1200"/>
            </a:p>
          </p:txBody>
        </p:sp>
        <p:pic>
          <p:nvPicPr>
            <p:cNvPr id="556" name="Google Shape;556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18294" y="2985152"/>
              <a:ext cx="306300" cy="3063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57" name="Google Shape;557;p69"/>
          <p:cNvCxnSpPr>
            <a:stCxn id="541" idx="3"/>
            <a:endCxn id="546" idx="1"/>
          </p:cNvCxnSpPr>
          <p:nvPr/>
        </p:nvCxnSpPr>
        <p:spPr>
          <a:xfrm>
            <a:off x="4630002" y="4099688"/>
            <a:ext cx="316500" cy="600"/>
          </a:xfrm>
          <a:prstGeom prst="bentConnector3">
            <a:avLst>
              <a:gd fmla="val 4998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8" name="Google Shape;558;p69"/>
          <p:cNvSpPr txBox="1"/>
          <p:nvPr/>
        </p:nvSpPr>
        <p:spPr>
          <a:xfrm>
            <a:off x="4471902" y="3810925"/>
            <a:ext cx="71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Ok(_)</a:t>
            </a:r>
            <a:endParaRPr/>
          </a:p>
        </p:txBody>
      </p:sp>
      <p:cxnSp>
        <p:nvCxnSpPr>
          <p:cNvPr id="559" name="Google Shape;559;p69"/>
          <p:cNvCxnSpPr>
            <a:stCxn id="546" idx="3"/>
            <a:endCxn id="533" idx="1"/>
          </p:cNvCxnSpPr>
          <p:nvPr/>
        </p:nvCxnSpPr>
        <p:spPr>
          <a:xfrm>
            <a:off x="6739514" y="4099688"/>
            <a:ext cx="26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69"/>
          <p:cNvCxnSpPr>
            <a:stCxn id="533" idx="0"/>
            <a:endCxn id="555" idx="4"/>
          </p:cNvCxnSpPr>
          <p:nvPr/>
        </p:nvCxnSpPr>
        <p:spPr>
          <a:xfrm rot="-5400000">
            <a:off x="7226394" y="3667688"/>
            <a:ext cx="2907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69"/>
          <p:cNvSpPr txBox="1"/>
          <p:nvPr/>
        </p:nvSpPr>
        <p:spPr>
          <a:xfrm>
            <a:off x="7362000" y="3518625"/>
            <a:ext cx="71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Pending</a:t>
            </a:r>
            <a:endParaRPr/>
          </a:p>
        </p:txBody>
      </p:sp>
      <p:sp>
        <p:nvSpPr>
          <p:cNvPr id="562" name="Google Shape;562;p69"/>
          <p:cNvSpPr txBox="1"/>
          <p:nvPr/>
        </p:nvSpPr>
        <p:spPr>
          <a:xfrm>
            <a:off x="6567826" y="2895225"/>
            <a:ext cx="71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poll()</a:t>
            </a:r>
            <a:endParaRPr>
              <a:highlight>
                <a:schemeClr val="accent6"/>
              </a:highlight>
            </a:endParaRPr>
          </a:p>
        </p:txBody>
      </p:sp>
      <p:cxnSp>
        <p:nvCxnSpPr>
          <p:cNvPr id="563" name="Google Shape;563;p69"/>
          <p:cNvCxnSpPr>
            <a:stCxn id="555" idx="2"/>
            <a:endCxn id="533" idx="1"/>
          </p:cNvCxnSpPr>
          <p:nvPr/>
        </p:nvCxnSpPr>
        <p:spPr>
          <a:xfrm flipH="1">
            <a:off x="7009194" y="3236338"/>
            <a:ext cx="67500" cy="863400"/>
          </a:xfrm>
          <a:prstGeom prst="curvedConnector3">
            <a:avLst>
              <a:gd fmla="val 45277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69"/>
          <p:cNvSpPr txBox="1"/>
          <p:nvPr/>
        </p:nvSpPr>
        <p:spPr>
          <a:xfrm>
            <a:off x="7636674" y="4009725"/>
            <a:ext cx="8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Ready(_)</a:t>
            </a:r>
            <a:endParaRPr/>
          </a:p>
        </p:txBody>
      </p:sp>
      <p:cxnSp>
        <p:nvCxnSpPr>
          <p:cNvPr id="565" name="Google Shape;565;p69"/>
          <p:cNvCxnSpPr>
            <a:stCxn id="533" idx="3"/>
            <a:endCxn id="528" idx="4"/>
          </p:cNvCxnSpPr>
          <p:nvPr/>
        </p:nvCxnSpPr>
        <p:spPr>
          <a:xfrm flipH="1" rot="10800000">
            <a:off x="7733694" y="3522788"/>
            <a:ext cx="956100" cy="576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69"/>
          <p:cNvCxnSpPr>
            <a:endCxn id="536" idx="1"/>
          </p:cNvCxnSpPr>
          <p:nvPr/>
        </p:nvCxnSpPr>
        <p:spPr>
          <a:xfrm>
            <a:off x="520780" y="2726645"/>
            <a:ext cx="322200" cy="304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7" name="Google Shape;567;p6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Generare la macchina a stati</a:t>
            </a:r>
            <a:endParaRPr/>
          </a:p>
        </p:txBody>
      </p:sp>
      <p:sp>
        <p:nvSpPr>
          <p:cNvPr id="573" name="Google Shape;573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ciascuno stato individuato, il compilatore sintetizza una struct in cui memorizzare le variabili locali necessarie per consentire l’esecuzione</a:t>
            </a:r>
            <a:endParaRPr/>
          </a:p>
        </p:txBody>
      </p:sp>
      <p:sp>
        <p:nvSpPr>
          <p:cNvPr id="574" name="Google Shape;574;p70"/>
          <p:cNvSpPr txBox="1"/>
          <p:nvPr/>
        </p:nvSpPr>
        <p:spPr>
          <a:xfrm>
            <a:off x="982775" y="1999950"/>
            <a:ext cx="2174100" cy="114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struct S0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h1: FileHandle,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h2: FileHandle,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70"/>
          <p:cNvSpPr txBox="1"/>
          <p:nvPr/>
        </p:nvSpPr>
        <p:spPr>
          <a:xfrm>
            <a:off x="3507975" y="1999950"/>
            <a:ext cx="4585800" cy="1391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struct S1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h2: FileHandle,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buffer: Vec&lt;u8&gt;,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f1: impl Future&lt;Output=Result&lt;usize&gt;&gt;,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6" name="Google Shape;576;p70"/>
          <p:cNvSpPr txBox="1"/>
          <p:nvPr/>
        </p:nvSpPr>
        <p:spPr>
          <a:xfrm>
            <a:off x="982775" y="3611375"/>
            <a:ext cx="4585800" cy="89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struct S2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f2: impl Future&lt;Output=Result&lt;usize&gt;&gt;,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70"/>
          <p:cNvSpPr txBox="1"/>
          <p:nvPr/>
        </p:nvSpPr>
        <p:spPr>
          <a:xfrm>
            <a:off x="6072075" y="3611375"/>
            <a:ext cx="20217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struct S3 {}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7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Generare la macchina a stati</a:t>
            </a:r>
            <a:endParaRPr/>
          </a:p>
        </p:txBody>
      </p:sp>
      <p:sp>
        <p:nvSpPr>
          <p:cNvPr id="584" name="Google Shape;584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Inoltre genera una enum che racchiude i possibili stati e implementa il tratto Future</a:t>
            </a:r>
            <a:endParaRPr/>
          </a:p>
        </p:txBody>
      </p:sp>
      <p:sp>
        <p:nvSpPr>
          <p:cNvPr id="585" name="Google Shape;585;p71"/>
          <p:cNvSpPr txBox="1"/>
          <p:nvPr/>
        </p:nvSpPr>
        <p:spPr>
          <a:xfrm>
            <a:off x="884275" y="2336750"/>
            <a:ext cx="1709700" cy="1639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enum CopySM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s0(S0),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s1(S1),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s2(S2),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s3(S3)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71"/>
          <p:cNvSpPr txBox="1"/>
          <p:nvPr/>
        </p:nvSpPr>
        <p:spPr>
          <a:xfrm>
            <a:off x="2991775" y="1584800"/>
            <a:ext cx="5526600" cy="3126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Future for CopySM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type Output = std::io::Result&lt;()&gt;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fn poll(self: Pin&lt;&amp;mut Self&gt;, cx: &amp;mut Context)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-&gt; Poll&lt;Self::Output&gt;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loop {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match self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CopySM::s0(state) =&gt; { … },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CopySM::s1(state) =&gt; { … },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CopySM::s2(state) =&gt; { … },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CopySM::s3(state) =&gt; { … },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}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7" name="Google Shape;587;p7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Generare la macchina a stati</a:t>
            </a:r>
            <a:endParaRPr/>
          </a:p>
        </p:txBody>
      </p:sp>
      <p:sp>
        <p:nvSpPr>
          <p:cNvPr id="593" name="Google Shape;593;p72"/>
          <p:cNvSpPr txBox="1"/>
          <p:nvPr/>
        </p:nvSpPr>
        <p:spPr>
          <a:xfrm>
            <a:off x="397925" y="1172125"/>
            <a:ext cx="8282700" cy="1639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CopySM::s0(state) =&gt;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let mut buffer = vec![];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let f1 = state.h1.read_async(&amp;mut buffer);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let state = S1 {h2: state.h2, buffer, f1 };  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*self = CopySM::S1(state);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7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Generare la macchina a stati</a:t>
            </a:r>
            <a:endParaRPr/>
          </a:p>
        </p:txBody>
      </p:sp>
      <p:sp>
        <p:nvSpPr>
          <p:cNvPr id="600" name="Google Shape;600;p73"/>
          <p:cNvSpPr txBox="1"/>
          <p:nvPr/>
        </p:nvSpPr>
        <p:spPr>
          <a:xfrm>
            <a:off x="397925" y="1019725"/>
            <a:ext cx="8282700" cy="362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CopySM::s1(state) =&gt;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match (state.f1.poll(cx)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Poll::Pending =&gt; return Poll::Pending,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Poll::Ready(r1) =&gt;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if r1.is_ok() {        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let f2 = state.h2.write_async(&amp;mut state.buffer);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let state = S2{ f2 };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*self = CopySM::s2(state);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}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else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*self = CopySM::s3(S3);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return Poll::Ready(r1);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1" name="Google Shape;601;p7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Generare la macchina a stati</a:t>
            </a:r>
            <a:endParaRPr/>
          </a:p>
        </p:txBody>
      </p:sp>
      <p:sp>
        <p:nvSpPr>
          <p:cNvPr id="607" name="Google Shape;607;p74"/>
          <p:cNvSpPr txBox="1"/>
          <p:nvPr/>
        </p:nvSpPr>
        <p:spPr>
          <a:xfrm>
            <a:off x="397925" y="1019725"/>
            <a:ext cx="8282700" cy="213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CopySM::s2(state) =&gt;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match (state.f2.poll(cx)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Poll::Pending =&gt; return Poll::Pending,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Poll::Ready(r2) =&gt;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*self = CopySM::s3(S3);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return Poll::Ready(r2);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74"/>
          <p:cNvSpPr txBox="1"/>
          <p:nvPr/>
        </p:nvSpPr>
        <p:spPr>
          <a:xfrm>
            <a:off x="397925" y="3378100"/>
            <a:ext cx="8282700" cy="89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CopySM::s3(_) =&gt;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panic!(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"poll() was invoked again after Poll::Ready has been returned");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p7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Implementare la funzione</a:t>
            </a:r>
            <a:endParaRPr/>
          </a:p>
        </p:txBody>
      </p:sp>
      <p:sp>
        <p:nvSpPr>
          <p:cNvPr id="615" name="Google Shape;615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codice generato dal compilatore per la funzione si riduce all’inizializzazione della macchina a stati </a:t>
            </a:r>
            <a:endParaRPr/>
          </a:p>
        </p:txBody>
      </p:sp>
      <p:sp>
        <p:nvSpPr>
          <p:cNvPr id="616" name="Google Shape;616;p75"/>
          <p:cNvSpPr txBox="1"/>
          <p:nvPr/>
        </p:nvSpPr>
        <p:spPr>
          <a:xfrm>
            <a:off x="354450" y="2405085"/>
            <a:ext cx="8282700" cy="1639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 copy(h1: FileHandle, h2: FileHandle) -&gt;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impl Future&lt;Output = std::io::Result&lt;()&gt; &gt; {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CopySM::s0(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S0 { h1, h2 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) 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7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Prestazioni a confronto</a:t>
            </a:r>
            <a:endParaRPr/>
          </a:p>
        </p:txBody>
      </p:sp>
      <p:sp>
        <p:nvSpPr>
          <p:cNvPr id="623" name="Google Shape;623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costi di creazione e cambiamento di contesto tra attività asincrone e thread sono analizzati nel sito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https://github.com/jimblandy/context-switch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sito riporta la metodologia, il codice e i risultati ottenuti su un elaboratore specifico, con il relativo sistema operativo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Gli ordini di grandezza sono comunque interessanti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24" name="Google Shape;624;p76"/>
          <p:cNvGraphicFramePr/>
          <p:nvPr/>
        </p:nvGraphicFramePr>
        <p:xfrm>
          <a:off x="2080625" y="3051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{541AAE75-22F9-4423-B0CE-EE432AFED7CC}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Operazione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async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thread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Creazione di task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0.3 µs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17µs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Cambio di contesto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0.2 µs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1.7µs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Uso di memoria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300÷500 Byte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&gt; 9.5 KByte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5" name="Google Shape;625;p7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Prestazioni a confronto</a:t>
            </a:r>
            <a:endParaRPr/>
          </a:p>
        </p:txBody>
      </p:sp>
      <p:sp>
        <p:nvSpPr>
          <p:cNvPr id="631" name="Google Shape;631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Dall'analisi di questi numeri, emerge che l'uso di costrutti asincroni può ridurre l'utilizzo della memoria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Specialmente in quei contesti in cui si tenderebbe a preallocare un elevato numero di thread per poter fare fronte a carichi di lavoro improvvisi (server di rete)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E' meno oneroso creare task asincroni rispetto a thread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Inoltre il tempo necessario a cambiare contesto è minore, ma solo nei casi migliori: se il cambio di contesto è dovuto alla disponibilità di dati su una periferica su cui si intende eseguire I/O, il costo è analogo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Operazioni di I/O asincrone, che richiedano un'attesa, dovranno essere ritentate in seguito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richiede l'esecuzione di (almeno) due system-call, invece che una sola come nel caso sincrono</a:t>
            </a:r>
            <a:endParaRPr/>
          </a:p>
        </p:txBody>
      </p:sp>
      <p:sp>
        <p:nvSpPr>
          <p:cNvPr id="632" name="Google Shape;632;p7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Quando l'esecuzione asincrona non conviene?</a:t>
            </a:r>
            <a:endParaRPr/>
          </a:p>
        </p:txBody>
      </p:sp>
      <p:sp>
        <p:nvSpPr>
          <p:cNvPr id="638" name="Google Shape;638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L'esecuzione asincrona non è universalmente migliore: ha un dominio di applicazione preciso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Compiti strettamente </a:t>
            </a:r>
            <a:r>
              <a:rPr b="1" lang="it">
                <a:solidFill>
                  <a:srgbClr val="0B5394"/>
                </a:solidFill>
              </a:rPr>
              <a:t>legati alla CPU</a:t>
            </a:r>
            <a:r>
              <a:rPr lang="it"/>
              <a:t>: se i task non si sospendono quasi mai, async aggiunge complessità senza benefici; si usano i thread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Pochi compiti</a:t>
            </a:r>
            <a:r>
              <a:rPr lang="it"/>
              <a:t>, di</a:t>
            </a:r>
            <a:r>
              <a:rPr b="1" lang="it">
                <a:solidFill>
                  <a:srgbClr val="0B5394"/>
                </a:solidFill>
              </a:rPr>
              <a:t> breve durata</a:t>
            </a:r>
            <a:r>
              <a:rPr lang="it"/>
              <a:t>: il costo dei thread è trascurabile e il codice sincrono è più semplice da scrivere e correggere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Codice </a:t>
            </a:r>
            <a:r>
              <a:rPr b="1" lang="it">
                <a:solidFill>
                  <a:srgbClr val="0B5394"/>
                </a:solidFill>
              </a:rPr>
              <a:t>fortemente sequenziale</a:t>
            </a:r>
            <a:r>
              <a:rPr lang="it"/>
              <a:t>: se non c'è nulla da sovrapporre, l'asincronicità è solo un appesantimento concettuale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L'esecuzione asincrona dà il meglio di sé quando si gestiscono </a:t>
            </a:r>
            <a:r>
              <a:rPr b="1" lang="it">
                <a:solidFill>
                  <a:srgbClr val="0B5394"/>
                </a:solidFill>
              </a:rPr>
              <a:t>molte attese simultanee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Server di rete con migliaia di connessioni, client che interrogano molti servizi in parallelo, pipeline I/O-intensive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possono combinare i due mondi: una componente asincrona per I/O,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spawn_blocking</a:t>
            </a:r>
            <a:r>
              <a:rPr lang="it"/>
              <a:t> o Rayon per il calcolo puro</a:t>
            </a:r>
            <a:endParaRPr/>
          </a:p>
        </p:txBody>
      </p:sp>
      <p:sp>
        <p:nvSpPr>
          <p:cNvPr id="639" name="Google Shape;639;p7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</a:t>
            </a:r>
            <a:endParaRPr/>
          </a:p>
        </p:txBody>
      </p:sp>
      <p:sp>
        <p:nvSpPr>
          <p:cNvPr id="645" name="Google Shape;645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Asynchronous Programming in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https://rust-lang.github.io/async-book/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Trattazione dettagliata dei principi relativi alla programmazione asincrona in 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Fearless Concurrency with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https://medium.com/pragmatic-programmers/fearless-concurrency-with-rust-part-3-asynchronous-concurrency-e23bad856087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Trattazione esemplificativa dell’elaborazione asincrona applicata ad un server web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What’s a “Thread Boundary” in Rust’s Async-Await 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https://cotigao.medium.com/whats-a-thread-boundary-in-rust-s-async-await-f783cff55c99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Approfondimento sul meccanismo di </a:t>
            </a:r>
            <a:r>
              <a:rPr i="1" lang="it"/>
              <a:t>work stealing</a:t>
            </a:r>
            <a:r>
              <a:rPr lang="it"/>
              <a:t> usato in Tokio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Zero to Production in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L. Palmieri, 2022, ISBN 979-8847211437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https://www.zero2prod.com/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Introduzione pratica e dettagliata allo sviluppo di componenti backend in Rust</a:t>
            </a:r>
            <a:endParaRPr/>
          </a:p>
        </p:txBody>
      </p:sp>
      <p:pic>
        <p:nvPicPr>
          <p:cNvPr id="646" name="Google Shape;646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54274" y="3449151"/>
            <a:ext cx="1003224" cy="1253576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47" name="Google Shape;647;p7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48" name="Google Shape;648;p79"/>
          <p:cNvPicPr preferRelativeResize="0"/>
          <p:nvPr/>
        </p:nvPicPr>
        <p:blipFill rotWithShape="1">
          <a:blip r:embed="rId8">
            <a:alphaModFix/>
          </a:blip>
          <a:srcRect b="18806" l="17235" r="17235" t="18800"/>
          <a:stretch/>
        </p:blipFill>
        <p:spPr>
          <a:xfrm>
            <a:off x="7771925" y="117450"/>
            <a:ext cx="1249224" cy="11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