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3c42f2e80aa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 name="Google Shape;34;g3c42f2e80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c42f2e80aa_0_4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 name="Google Shape;41;g3c42f2e80a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42f2e80aa_0_5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c42f2e80a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c42f2e80aa_0_6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c42f2e80a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42f2e80aa_0_6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42f2e80a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42f2e80aa_0_10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42f2e80a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42f2e80aa_0_11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42f2e80a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42f2e80aa_0_11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42f2e80aa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42f2e80aa_0_12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42f2e80a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42f2e80aa_0_13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42f2e80aa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de6ab3bc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de6ab3bc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42f2e80aa_0_14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42f2e80aa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42f2e80aa_0_14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42f2e80a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42f2e80aa_0_15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42f2e80a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42f2e80aa_0_16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42f2e80aa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39912ef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39912ef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42f2e80aa_0_17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42f2e80a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42f2e80aa_0_19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42f2e80aa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42f2e80aa_0_20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42f2e80aa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c42f2e80aa_0_21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c42f2e80aa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c42f2e80aa_0_21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c42f2e80aa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42f2e80aa_0_22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42f2e80aa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42f2e80aa_0_23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42f2e80aa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c42f2e80aa_0_27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c42f2e80aa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c42f2e80aa_0_27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c42f2e80aa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c42f2e80aa_0_28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c42f2e80aa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42f2e80aa_0_29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c42f2e80aa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c42f2e80aa_0_31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c42f2e80aa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13" name="Google Shape;13;p2"/>
          <p:cNvSpPr txBox="1"/>
          <p:nvPr>
            <p:ph idx="1" type="subTitle"/>
          </p:nvPr>
        </p:nvSpPr>
        <p:spPr>
          <a:xfrm>
            <a:off x="311700" y="382697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type="ctrTitle"/>
          </p:nvPr>
        </p:nvSpPr>
        <p:spPr>
          <a:xfrm>
            <a:off x="311708" y="173742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 name="Google Shape;17;p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 name="Google Shape;18;p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 name="Shape 27"/>
        <p:cNvGrpSpPr/>
        <p:nvPr/>
      </p:nvGrpSpPr>
      <p:grpSpPr>
        <a:xfrm>
          <a:off x="0" y="0"/>
          <a:ext cx="0" cy="0"/>
          <a:chOff x="0" y="0"/>
          <a:chExt cx="0" cy="0"/>
        </a:xfrm>
      </p:grpSpPr>
      <p:sp>
        <p:nvSpPr>
          <p:cNvPr id="28" name="Google Shape;28;p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29" name="Google Shape;29;p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1pPr>
            <a:lvl2pPr lvl="1">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2pPr>
            <a:lvl3pPr lvl="2">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3pPr>
            <a:lvl4pPr lvl="3">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4pPr>
            <a:lvl5pPr lvl="4">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5pPr>
            <a:lvl6pPr lvl="5">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6pPr>
            <a:lvl7pPr lvl="6">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7pPr>
            <a:lvl8pPr lvl="7">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8pPr>
            <a:lvl9pPr lvl="8">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indent="-317500" lvl="1" marL="914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indent="-317500" lvl="2" marL="1371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indent="-317500" lvl="3" marL="1828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indent="-317500" lvl="4" marL="22860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indent="-317500" lvl="5" marL="27432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indent="-317500" lvl="6" marL="3200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indent="-317500" lvl="7" marL="3657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indent="-317500" lvl="8" marL="4114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p:txBody>
      </p:sp>
      <p:sp>
        <p:nvSpPr>
          <p:cNvPr id="9" name="Google Shape;9;p1"/>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10" name="Google Shape;10;p1"/>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2021-26</a:t>
            </a:r>
            <a:endParaRPr i="1" sz="11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medium.com/better-programming/rust-basics-structs-methods-and-traits-bb4839cd57bd" TargetMode="External"/><Relationship Id="rId4" Type="http://schemas.openxmlformats.org/officeDocument/2006/relationships/hyperlink" Target="https://sterlingcobb.medium.com/mastering-enums-in-rust-best-practices-and-examples-a0bd76ea8cf" TargetMode="External"/><Relationship Id="rId5" Type="http://schemas.openxmlformats.org/officeDocument/2006/relationships/hyperlink" Target="https://medium.com/better-programming/rust-enums-and-pattern-matching-177b03a4152" TargetMode="External"/><Relationship Id="rId6" Type="http://schemas.openxmlformats.org/officeDocument/2006/relationships/hyperlink" Target="https://aminb.gitbooks.io/rust-for-c/content/destructuring/index.html" TargetMode="External"/><Relationship Id="rId7" Type="http://schemas.openxmlformats.org/officeDocument/2006/relationships/hyperlink" Target="https://aminb.gitbooks.io/rust-for-c/content/destructuring_2/index.html" TargetMode="External"/><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8"/>
          <p:cNvSpPr txBox="1"/>
          <p:nvPr>
            <p:ph type="ctrTitle"/>
          </p:nvPr>
        </p:nvSpPr>
        <p:spPr>
          <a:xfrm>
            <a:off x="311708" y="17374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Tipi composti</a:t>
            </a:r>
            <a:endParaRPr/>
          </a:p>
        </p:txBody>
      </p:sp>
      <p:sp>
        <p:nvSpPr>
          <p:cNvPr id="37" name="Google Shape;37;p8"/>
          <p:cNvSpPr txBox="1"/>
          <p:nvPr>
            <p:ph idx="1" type="subTitle"/>
          </p:nvPr>
        </p:nvSpPr>
        <p:spPr>
          <a:xfrm>
            <a:off x="311700" y="38269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t>Struct, enum</a:t>
            </a:r>
            <a:endParaRPr/>
          </a:p>
        </p:txBody>
      </p:sp>
      <p:pic>
        <p:nvPicPr>
          <p:cNvPr id="38" name="Google Shape;38;p8"/>
          <p:cNvPicPr preferRelativeResize="0"/>
          <p:nvPr/>
        </p:nvPicPr>
        <p:blipFill>
          <a:blip r:embed="rId3">
            <a:alphaModFix/>
          </a:blip>
          <a:stretch>
            <a:fillRect/>
          </a:stretch>
        </p:blipFill>
        <p:spPr>
          <a:xfrm>
            <a:off x="3262350" y="479475"/>
            <a:ext cx="2378001" cy="2378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Struct in Rust</a:t>
            </a:r>
            <a:endParaRPr/>
          </a:p>
        </p:txBody>
      </p:sp>
      <p:sp>
        <p:nvSpPr>
          <p:cNvPr id="44" name="Google Shape;44;p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Spesso occorre mantenere unite informazioni tra loro eterogenee</a:t>
            </a:r>
            <a:endParaRPr/>
          </a:p>
          <a:p>
            <a:pPr indent="-317500" lvl="1" marL="914400" rtl="0" algn="l">
              <a:spcBef>
                <a:spcPts val="0"/>
              </a:spcBef>
              <a:spcAft>
                <a:spcPts val="0"/>
              </a:spcAft>
              <a:buSzPts val="1400"/>
              <a:buChar char="○"/>
            </a:pPr>
            <a:r>
              <a:rPr lang="it"/>
              <a:t>Sebbene sia possibile utilizzare una tupla, questa tende a nascondere la semantica complessiva del dato: una tupla contenente due numeri interi potrebbe essere usata per rappresentare una frazione oppure la coordinata di un pixel sullo schermo</a:t>
            </a:r>
            <a:endParaRPr/>
          </a:p>
          <a:p>
            <a:pPr indent="-317500" lvl="1" marL="914400" rtl="0" algn="l">
              <a:spcBef>
                <a:spcPts val="0"/>
              </a:spcBef>
              <a:spcAft>
                <a:spcPts val="0"/>
              </a:spcAft>
              <a:buSzPts val="1400"/>
              <a:buChar char="○"/>
            </a:pPr>
            <a:r>
              <a:rPr lang="it"/>
              <a:t>Quando si intende associare una semantica particolare o legare ad una struttura dati un insieme di comportamenti, è possibile introdurre una </a:t>
            </a:r>
            <a:r>
              <a:rPr b="1" lang="it">
                <a:solidFill>
                  <a:srgbClr val="0B5394"/>
                </a:solidFill>
                <a:latin typeface="Consolas"/>
                <a:ea typeface="Consolas"/>
                <a:cs typeface="Consolas"/>
                <a:sym typeface="Consolas"/>
              </a:rPr>
              <a:t>struct</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lang="it"/>
              <a:t>Una </a:t>
            </a:r>
            <a:r>
              <a:rPr b="1" lang="it">
                <a:solidFill>
                  <a:srgbClr val="0B5394"/>
                </a:solidFill>
                <a:latin typeface="Consolas"/>
                <a:ea typeface="Consolas"/>
                <a:cs typeface="Consolas"/>
                <a:sym typeface="Consolas"/>
              </a:rPr>
              <a:t>struct</a:t>
            </a:r>
            <a:r>
              <a:rPr lang="it"/>
              <a:t> è un costrutto che permette di rappresentare un blocco di memoria in cui sono disposti, consecutivamente, una serie di campi il cui nome e tipo sono indicati dal programmatore</a:t>
            </a:r>
            <a:endParaRPr/>
          </a:p>
        </p:txBody>
      </p:sp>
      <p:sp>
        <p:nvSpPr>
          <p:cNvPr id="45" name="Google Shape;45;p9"/>
          <p:cNvSpPr txBox="1"/>
          <p:nvPr/>
        </p:nvSpPr>
        <p:spPr>
          <a:xfrm>
            <a:off x="3536450" y="3380125"/>
            <a:ext cx="5397000" cy="12621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struct Player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name: String,  // nickname</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health: i32,   // stato di salute (in punti vita)</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level: u8,     // livello corrente</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46" name="Google Shape;46;p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Struct</a:t>
            </a:r>
            <a:endParaRPr/>
          </a:p>
        </p:txBody>
      </p:sp>
      <p:sp>
        <p:nvSpPr>
          <p:cNvPr id="52" name="Google Shape;52;p1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it"/>
              <a:t>Si istanzia una struct tramite un blocco preceduto dal nome della struttura, contenente un valore per ciascun campo</a:t>
            </a:r>
            <a:endParaRPr/>
          </a:p>
          <a:p>
            <a:pPr indent="-310832" lvl="1" marL="914400" rtl="0" algn="l">
              <a:spcBef>
                <a:spcPts val="0"/>
              </a:spcBef>
              <a:spcAft>
                <a:spcPts val="0"/>
              </a:spcAft>
              <a:buSzPct val="100000"/>
              <a:buChar char="○"/>
            </a:pPr>
            <a:r>
              <a:rPr lang="it"/>
              <a:t>Quando il nome del valore coincide con quello del campo è possibile abbreviare la notazione</a:t>
            </a:r>
            <a:endParaRPr/>
          </a:p>
          <a:p>
            <a:pPr indent="-310832" lvl="1" marL="914400" rtl="0" algn="l">
              <a:spcBef>
                <a:spcPts val="0"/>
              </a:spcBef>
              <a:spcAft>
                <a:spcPts val="0"/>
              </a:spcAft>
              <a:buClr>
                <a:srgbClr val="0B5394"/>
              </a:buClr>
              <a:buSzPct val="100000"/>
              <a:buChar char="○"/>
            </a:pPr>
            <a:r>
              <a:rPr b="1" lang="it">
                <a:solidFill>
                  <a:srgbClr val="0B5394"/>
                </a:solidFill>
                <a:latin typeface="Consolas"/>
                <a:ea typeface="Consolas"/>
                <a:cs typeface="Consolas"/>
                <a:sym typeface="Consolas"/>
              </a:rPr>
              <a:t>let mut s = Player { name: “Mario”.to_string(), health: 25, level: 1 };</a:t>
            </a:r>
            <a:endParaRPr b="1">
              <a:solidFill>
                <a:srgbClr val="0B5394"/>
              </a:solidFill>
            </a:endParaRPr>
          </a:p>
          <a:p>
            <a:pPr indent="-310832" lvl="1" marL="914400" rtl="0" algn="l">
              <a:spcBef>
                <a:spcPts val="0"/>
              </a:spcBef>
              <a:spcAft>
                <a:spcPts val="0"/>
              </a:spcAft>
              <a:buClr>
                <a:srgbClr val="0B5394"/>
              </a:buClr>
              <a:buSzPct val="100000"/>
              <a:buFont typeface="Consolas"/>
              <a:buChar char="○"/>
            </a:pPr>
            <a:r>
              <a:rPr b="1" lang="it">
                <a:solidFill>
                  <a:srgbClr val="0B5394"/>
                </a:solidFill>
                <a:latin typeface="Consolas"/>
                <a:ea typeface="Consolas"/>
                <a:cs typeface="Consolas"/>
                <a:sym typeface="Consolas"/>
              </a:rPr>
              <a:t>let p = Player { name, health, level }; </a:t>
            </a:r>
            <a:endParaRPr b="1">
              <a:solidFill>
                <a:srgbClr val="0B5394"/>
              </a:solidFill>
              <a:latin typeface="Consolas"/>
              <a:ea typeface="Consolas"/>
              <a:cs typeface="Consolas"/>
              <a:sym typeface="Consolas"/>
            </a:endParaRPr>
          </a:p>
          <a:p>
            <a:pPr indent="-334327" lvl="0" marL="457200" rtl="0" algn="l">
              <a:spcBef>
                <a:spcPts val="0"/>
              </a:spcBef>
              <a:spcAft>
                <a:spcPts val="0"/>
              </a:spcAft>
              <a:buSzPct val="100000"/>
              <a:buChar char="●"/>
            </a:pPr>
            <a:r>
              <a:rPr lang="it"/>
              <a:t>Si può istanziare una nuova struct a partire da un’altra dello stesso tipo, i campi omessi ricavano i loro valori dall struct ricevuta</a:t>
            </a:r>
            <a:endParaRPr>
              <a:solidFill>
                <a:srgbClr val="4A86E8"/>
              </a:solidFill>
            </a:endParaRPr>
          </a:p>
          <a:p>
            <a:pPr indent="-310832" lvl="1" marL="914400" rtl="0" algn="l">
              <a:spcBef>
                <a:spcPts val="0"/>
              </a:spcBef>
              <a:spcAft>
                <a:spcPts val="0"/>
              </a:spcAft>
              <a:buClr>
                <a:srgbClr val="0B5394"/>
              </a:buClr>
              <a:buSzPct val="100000"/>
              <a:buFont typeface="Consolas"/>
              <a:buChar char="○"/>
            </a:pPr>
            <a:r>
              <a:rPr b="1" lang="it">
                <a:solidFill>
                  <a:srgbClr val="0B5394"/>
                </a:solidFill>
                <a:latin typeface="Consolas"/>
                <a:ea typeface="Consolas"/>
                <a:cs typeface="Consolas"/>
                <a:sym typeface="Consolas"/>
              </a:rPr>
              <a:t>let s1 = Player {name: “Paolo”.to_string(), ..s}</a:t>
            </a:r>
            <a:endParaRPr b="1">
              <a:solidFill>
                <a:srgbClr val="0B5394"/>
              </a:solidFill>
              <a:latin typeface="Consolas"/>
              <a:ea typeface="Consolas"/>
              <a:cs typeface="Consolas"/>
              <a:sym typeface="Consolas"/>
            </a:endParaRPr>
          </a:p>
          <a:p>
            <a:pPr indent="-334327" lvl="0" marL="457200" rtl="0" algn="l">
              <a:spcBef>
                <a:spcPts val="0"/>
              </a:spcBef>
              <a:spcAft>
                <a:spcPts val="0"/>
              </a:spcAft>
              <a:buSzPct val="100000"/>
              <a:buChar char="●"/>
            </a:pPr>
            <a:r>
              <a:rPr lang="it"/>
              <a:t>Si accede ai singoli campi con la notazione puntata (</a:t>
            </a:r>
            <a:r>
              <a:rPr b="1" i="1" lang="it" sz="1700">
                <a:solidFill>
                  <a:srgbClr val="0B5394"/>
                </a:solidFill>
                <a:latin typeface="Consolas"/>
                <a:ea typeface="Consolas"/>
                <a:cs typeface="Consolas"/>
                <a:sym typeface="Consolas"/>
              </a:rPr>
              <a:t>var.field</a:t>
            </a:r>
            <a:r>
              <a:rPr lang="it"/>
              <a:t>)</a:t>
            </a:r>
            <a:endParaRPr/>
          </a:p>
          <a:p>
            <a:pPr indent="-310832" lvl="1" marL="914400" rtl="0" algn="l">
              <a:spcBef>
                <a:spcPts val="0"/>
              </a:spcBef>
              <a:spcAft>
                <a:spcPts val="0"/>
              </a:spcAft>
              <a:buClr>
                <a:srgbClr val="0B5394"/>
              </a:buClr>
              <a:buSzPct val="100000"/>
              <a:buFont typeface="Consolas"/>
              <a:buChar char="○"/>
            </a:pPr>
            <a:r>
              <a:rPr b="1" lang="it">
                <a:solidFill>
                  <a:srgbClr val="0B5394"/>
                </a:solidFill>
                <a:latin typeface="Consolas"/>
                <a:ea typeface="Consolas"/>
                <a:cs typeface="Consolas"/>
                <a:sym typeface="Consolas"/>
              </a:rPr>
              <a:t>println!(“Player {} has health {}”, </a:t>
            </a:r>
            <a:r>
              <a:rPr b="1" lang="it">
                <a:solidFill>
                  <a:srgbClr val="0B5394"/>
                </a:solidFill>
                <a:highlight>
                  <a:schemeClr val="accent6"/>
                </a:highlight>
                <a:latin typeface="Consolas"/>
                <a:ea typeface="Consolas"/>
                <a:cs typeface="Consolas"/>
                <a:sym typeface="Consolas"/>
              </a:rPr>
              <a:t>s.name</a:t>
            </a:r>
            <a:r>
              <a:rPr b="1" lang="it">
                <a:solidFill>
                  <a:srgbClr val="0B5394"/>
                </a:solidFill>
                <a:latin typeface="Consolas"/>
                <a:ea typeface="Consolas"/>
                <a:cs typeface="Consolas"/>
                <a:sym typeface="Consolas"/>
              </a:rPr>
              <a:t>, </a:t>
            </a:r>
            <a:r>
              <a:rPr b="1" lang="it">
                <a:solidFill>
                  <a:srgbClr val="0B5394"/>
                </a:solidFill>
                <a:highlight>
                  <a:schemeClr val="accent6"/>
                </a:highlight>
                <a:latin typeface="Consolas"/>
                <a:ea typeface="Consolas"/>
                <a:cs typeface="Consolas"/>
                <a:sym typeface="Consolas"/>
              </a:rPr>
              <a:t>s.health</a:t>
            </a:r>
            <a:r>
              <a:rPr b="1" lang="it">
                <a:solidFill>
                  <a:srgbClr val="0B5394"/>
                </a:solidFill>
                <a:latin typeface="Consolas"/>
                <a:ea typeface="Consolas"/>
                <a:cs typeface="Consolas"/>
                <a:sym typeface="Consolas"/>
              </a:rPr>
              <a:t> );</a:t>
            </a:r>
            <a:endParaRPr b="1">
              <a:solidFill>
                <a:srgbClr val="0B5394"/>
              </a:solidFill>
              <a:latin typeface="Consolas"/>
              <a:ea typeface="Consolas"/>
              <a:cs typeface="Consolas"/>
              <a:sym typeface="Consolas"/>
            </a:endParaRPr>
          </a:p>
          <a:p>
            <a:pPr indent="-310832" lvl="1" marL="914400" rtl="0" algn="l">
              <a:spcBef>
                <a:spcPts val="0"/>
              </a:spcBef>
              <a:spcAft>
                <a:spcPts val="0"/>
              </a:spcAft>
              <a:buClr>
                <a:srgbClr val="0B5394"/>
              </a:buClr>
              <a:buSzPct val="100000"/>
              <a:buFont typeface="Consolas"/>
              <a:buChar char="○"/>
            </a:pPr>
            <a:r>
              <a:rPr b="1" lang="it">
                <a:solidFill>
                  <a:srgbClr val="0B5394"/>
                </a:solidFill>
                <a:highlight>
                  <a:schemeClr val="accent6"/>
                </a:highlight>
                <a:latin typeface="Consolas"/>
                <a:ea typeface="Consolas"/>
                <a:cs typeface="Consolas"/>
                <a:sym typeface="Consolas"/>
              </a:rPr>
              <a:t>s.level</a:t>
            </a:r>
            <a:r>
              <a:rPr b="1" lang="it">
                <a:solidFill>
                  <a:srgbClr val="0B5394"/>
                </a:solidFill>
                <a:latin typeface="Consolas"/>
                <a:ea typeface="Consolas"/>
                <a:cs typeface="Consolas"/>
                <a:sym typeface="Consolas"/>
              </a:rPr>
              <a:t> += 1; //l’accesso in scrittura richiede che s sia mutabile</a:t>
            </a:r>
            <a:endParaRPr b="1">
              <a:solidFill>
                <a:srgbClr val="0B5394"/>
              </a:solidFill>
              <a:latin typeface="Consolas"/>
              <a:ea typeface="Consolas"/>
              <a:cs typeface="Consolas"/>
              <a:sym typeface="Consolas"/>
            </a:endParaRPr>
          </a:p>
          <a:p>
            <a:pPr indent="-334327" lvl="0" marL="457200" rtl="0" algn="l">
              <a:spcBef>
                <a:spcPts val="0"/>
              </a:spcBef>
              <a:spcAft>
                <a:spcPts val="0"/>
              </a:spcAft>
              <a:buSzPct val="100000"/>
              <a:buChar char="●"/>
            </a:pPr>
            <a:r>
              <a:rPr lang="it"/>
              <a:t>Ogni struct introduce un nuovo tipo, il cui nome coincide con il nome della struct, basato sui tipi che la compongono</a:t>
            </a:r>
            <a:endParaRPr/>
          </a:p>
          <a:p>
            <a:pPr indent="-310832" lvl="1" marL="914400" rtl="0" algn="l">
              <a:spcBef>
                <a:spcPts val="0"/>
              </a:spcBef>
              <a:spcAft>
                <a:spcPts val="0"/>
              </a:spcAft>
              <a:buSzPct val="100000"/>
              <a:buChar char="○"/>
            </a:pPr>
            <a:r>
              <a:rPr lang="it"/>
              <a:t>Questo permette di disambiguare l’uso che si intende fare delle singole informazioni contenute</a:t>
            </a:r>
            <a:endParaRPr/>
          </a:p>
        </p:txBody>
      </p:sp>
      <p:sp>
        <p:nvSpPr>
          <p:cNvPr id="53" name="Google Shape;53;p1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Struct</a:t>
            </a:r>
            <a:endParaRPr/>
          </a:p>
        </p:txBody>
      </p:sp>
      <p:sp>
        <p:nvSpPr>
          <p:cNvPr id="59" name="Google Shape;59;p1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Si possono definire delle struct simili a delle tuple, indicando solo il tipo del campo, senza attribuire un nome</a:t>
            </a:r>
            <a:endParaRPr>
              <a:solidFill>
                <a:srgbClr val="4A86E8"/>
              </a:solidFill>
              <a:latin typeface="Consolas"/>
              <a:ea typeface="Consolas"/>
              <a:cs typeface="Consolas"/>
              <a:sym typeface="Consolas"/>
            </a:endParaRPr>
          </a:p>
          <a:p>
            <a:pPr indent="-342900" lvl="0" marL="457200" rtl="0" algn="l">
              <a:spcBef>
                <a:spcPts val="0"/>
              </a:spcBef>
              <a:spcAft>
                <a:spcPts val="0"/>
              </a:spcAft>
              <a:buSzPts val="1800"/>
              <a:buChar char="●"/>
            </a:pPr>
            <a:r>
              <a:rPr lang="it"/>
              <a:t>Le struct di questo tipo si istanziano come una tupla con l’aggiunta del nome della struct</a:t>
            </a:r>
            <a:endParaRPr>
              <a:solidFill>
                <a:srgbClr val="4A86E8"/>
              </a:solidFill>
              <a:latin typeface="Consolas"/>
              <a:ea typeface="Consolas"/>
              <a:cs typeface="Consolas"/>
              <a:sym typeface="Consolas"/>
            </a:endParaRPr>
          </a:p>
          <a:p>
            <a:pPr indent="-342900" lvl="0" marL="457200" rtl="0" algn="l">
              <a:spcBef>
                <a:spcPts val="0"/>
              </a:spcBef>
              <a:spcAft>
                <a:spcPts val="0"/>
              </a:spcAft>
              <a:buSzPts val="1800"/>
              <a:buChar char="●"/>
            </a:pPr>
            <a:r>
              <a:rPr lang="it"/>
              <a:t>Si può definire una struct vuota, che non alloca memoria, analogamente al tipo </a:t>
            </a:r>
            <a:r>
              <a:rPr b="1" lang="it">
                <a:solidFill>
                  <a:srgbClr val="0B5394"/>
                </a:solidFill>
                <a:latin typeface="Consolas"/>
                <a:ea typeface="Consolas"/>
                <a:cs typeface="Consolas"/>
                <a:sym typeface="Consolas"/>
              </a:rPr>
              <a:t>()</a:t>
            </a:r>
            <a:endParaRPr b="1">
              <a:solidFill>
                <a:srgbClr val="0B5394"/>
              </a:solidFill>
              <a:latin typeface="Consolas"/>
              <a:ea typeface="Consolas"/>
              <a:cs typeface="Consolas"/>
              <a:sym typeface="Consolas"/>
            </a:endParaRPr>
          </a:p>
        </p:txBody>
      </p:sp>
      <p:sp>
        <p:nvSpPr>
          <p:cNvPr id="60" name="Google Shape;60;p1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1" name="Google Shape;61;p11"/>
          <p:cNvSpPr txBox="1"/>
          <p:nvPr/>
        </p:nvSpPr>
        <p:spPr>
          <a:xfrm>
            <a:off x="625350" y="3099285"/>
            <a:ext cx="7847100" cy="12621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struct Playground ( String, u32, u32 );</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struct Empty;   // non viene allocata memoria per questo tipo di valore</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let mut f = Playground( “football”.to_string(), 90, 45 );</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let e = Empty;</a:t>
            </a:r>
            <a:endParaRPr>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2"/>
          <p:cNvSpPr/>
          <p:nvPr/>
        </p:nvSpPr>
        <p:spPr>
          <a:xfrm>
            <a:off x="82800" y="1846193"/>
            <a:ext cx="5985600" cy="336600"/>
          </a:xfrm>
          <a:prstGeom prst="rect">
            <a:avLst/>
          </a:prstGeom>
          <a:solidFill>
            <a:srgbClr val="AFD7F7"/>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Probabile rappresentazione in memoria</a:t>
            </a:r>
            <a:endParaRPr/>
          </a:p>
          <a:p>
            <a:pPr indent="0" lvl="0" marL="0" rtl="0" algn="l">
              <a:spcBef>
                <a:spcPts val="0"/>
              </a:spcBef>
              <a:spcAft>
                <a:spcPts val="0"/>
              </a:spcAft>
              <a:buNone/>
            </a:pPr>
            <a:r>
              <a:t/>
            </a:r>
            <a:endParaRPr/>
          </a:p>
        </p:txBody>
      </p:sp>
      <p:sp>
        <p:nvSpPr>
          <p:cNvPr id="68" name="Google Shape;68;p12"/>
          <p:cNvSpPr/>
          <p:nvPr/>
        </p:nvSpPr>
        <p:spPr>
          <a:xfrm>
            <a:off x="7938900" y="1846181"/>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2"/>
          <p:cNvSpPr/>
          <p:nvPr/>
        </p:nvSpPr>
        <p:spPr>
          <a:xfrm>
            <a:off x="8313000" y="1846181"/>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2"/>
          <p:cNvSpPr/>
          <p:nvPr/>
        </p:nvSpPr>
        <p:spPr>
          <a:xfrm>
            <a:off x="8687100" y="1846181"/>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2"/>
          <p:cNvSpPr/>
          <p:nvPr/>
        </p:nvSpPr>
        <p:spPr>
          <a:xfrm>
            <a:off x="6068400" y="1846193"/>
            <a:ext cx="1496400" cy="336600"/>
          </a:xfrm>
          <a:prstGeom prst="rect">
            <a:avLst/>
          </a:prstGeom>
          <a:solidFill>
            <a:srgbClr val="AFD7F7"/>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25</a:t>
            </a:r>
            <a:endParaRPr/>
          </a:p>
        </p:txBody>
      </p:sp>
      <p:cxnSp>
        <p:nvCxnSpPr>
          <p:cNvPr id="72" name="Google Shape;72;p12"/>
          <p:cNvCxnSpPr>
            <a:stCxn id="73" idx="2"/>
          </p:cNvCxnSpPr>
          <p:nvPr/>
        </p:nvCxnSpPr>
        <p:spPr>
          <a:xfrm flipH="1">
            <a:off x="1075647" y="1995426"/>
            <a:ext cx="6000" cy="1420800"/>
          </a:xfrm>
          <a:prstGeom prst="straightConnector1">
            <a:avLst/>
          </a:prstGeom>
          <a:noFill/>
          <a:ln cap="flat" cmpd="sng" w="28575">
            <a:solidFill>
              <a:schemeClr val="dk2"/>
            </a:solidFill>
            <a:prstDash val="solid"/>
            <a:round/>
            <a:headEnd len="med" w="med" type="oval"/>
            <a:tailEnd len="med" w="med" type="triangle"/>
          </a:ln>
        </p:spPr>
      </p:cxnSp>
      <p:sp>
        <p:nvSpPr>
          <p:cNvPr id="74" name="Google Shape;74;p12"/>
          <p:cNvSpPr/>
          <p:nvPr/>
        </p:nvSpPr>
        <p:spPr>
          <a:xfrm rot="-5400000">
            <a:off x="2952300" y="-1317337"/>
            <a:ext cx="181800" cy="59208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2"/>
          <p:cNvSpPr txBox="1"/>
          <p:nvPr/>
        </p:nvSpPr>
        <p:spPr>
          <a:xfrm>
            <a:off x="2646300" y="1130400"/>
            <a:ext cx="79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t>name</a:t>
            </a:r>
            <a:endParaRPr sz="1800"/>
          </a:p>
        </p:txBody>
      </p:sp>
      <p:sp>
        <p:nvSpPr>
          <p:cNvPr id="76" name="Google Shape;76;p12"/>
          <p:cNvSpPr/>
          <p:nvPr/>
        </p:nvSpPr>
        <p:spPr>
          <a:xfrm rot="-5400000">
            <a:off x="6692250" y="935963"/>
            <a:ext cx="181800" cy="14142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2"/>
          <p:cNvSpPr txBox="1"/>
          <p:nvPr/>
        </p:nvSpPr>
        <p:spPr>
          <a:xfrm>
            <a:off x="6310350" y="1077210"/>
            <a:ext cx="945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t>health</a:t>
            </a:r>
            <a:endParaRPr sz="1800"/>
          </a:p>
        </p:txBody>
      </p:sp>
      <p:sp>
        <p:nvSpPr>
          <p:cNvPr id="78" name="Google Shape;78;p12"/>
          <p:cNvSpPr/>
          <p:nvPr/>
        </p:nvSpPr>
        <p:spPr>
          <a:xfrm rot="-5400000">
            <a:off x="7644750" y="1479180"/>
            <a:ext cx="181800" cy="3459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2"/>
          <p:cNvSpPr txBox="1"/>
          <p:nvPr/>
        </p:nvSpPr>
        <p:spPr>
          <a:xfrm>
            <a:off x="7262850" y="1081744"/>
            <a:ext cx="945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t>level</a:t>
            </a:r>
            <a:endParaRPr sz="1800"/>
          </a:p>
        </p:txBody>
      </p:sp>
      <p:sp>
        <p:nvSpPr>
          <p:cNvPr id="80" name="Google Shape;80;p12"/>
          <p:cNvSpPr/>
          <p:nvPr/>
        </p:nvSpPr>
        <p:spPr>
          <a:xfrm rot="5400000">
            <a:off x="8422950" y="1829595"/>
            <a:ext cx="181800" cy="10947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2"/>
          <p:cNvSpPr txBox="1"/>
          <p:nvPr/>
        </p:nvSpPr>
        <p:spPr>
          <a:xfrm>
            <a:off x="7908600" y="2467755"/>
            <a:ext cx="121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it" sz="1800"/>
              <a:t>padding</a:t>
            </a:r>
            <a:endParaRPr i="1" sz="1800"/>
          </a:p>
        </p:txBody>
      </p:sp>
      <p:grpSp>
        <p:nvGrpSpPr>
          <p:cNvPr id="82" name="Google Shape;82;p12"/>
          <p:cNvGrpSpPr/>
          <p:nvPr/>
        </p:nvGrpSpPr>
        <p:grpSpPr>
          <a:xfrm>
            <a:off x="866200" y="3416164"/>
            <a:ext cx="1870500" cy="336690"/>
            <a:chOff x="3705150" y="3112913"/>
            <a:chExt cx="1870500" cy="374100"/>
          </a:xfrm>
        </p:grpSpPr>
        <p:sp>
          <p:nvSpPr>
            <p:cNvPr id="83" name="Google Shape;83;p12"/>
            <p:cNvSpPr/>
            <p:nvPr/>
          </p:nvSpPr>
          <p:spPr>
            <a:xfrm>
              <a:off x="3705150" y="3112913"/>
              <a:ext cx="374100" cy="374100"/>
            </a:xfrm>
            <a:prstGeom prst="rect">
              <a:avLst/>
            </a:pr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M</a:t>
              </a:r>
              <a:endParaRPr/>
            </a:p>
          </p:txBody>
        </p:sp>
        <p:sp>
          <p:nvSpPr>
            <p:cNvPr id="84" name="Google Shape;84;p12"/>
            <p:cNvSpPr/>
            <p:nvPr/>
          </p:nvSpPr>
          <p:spPr>
            <a:xfrm>
              <a:off x="4079250" y="3112913"/>
              <a:ext cx="374100" cy="374100"/>
            </a:xfrm>
            <a:prstGeom prst="rect">
              <a:avLst/>
            </a:pr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a</a:t>
              </a:r>
              <a:endParaRPr/>
            </a:p>
          </p:txBody>
        </p:sp>
        <p:sp>
          <p:nvSpPr>
            <p:cNvPr id="85" name="Google Shape;85;p12"/>
            <p:cNvSpPr/>
            <p:nvPr/>
          </p:nvSpPr>
          <p:spPr>
            <a:xfrm>
              <a:off x="4453350" y="3112913"/>
              <a:ext cx="374100" cy="374100"/>
            </a:xfrm>
            <a:prstGeom prst="rect">
              <a:avLst/>
            </a:pr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r</a:t>
              </a:r>
              <a:endParaRPr/>
            </a:p>
          </p:txBody>
        </p:sp>
        <p:sp>
          <p:nvSpPr>
            <p:cNvPr id="86" name="Google Shape;86;p12"/>
            <p:cNvSpPr/>
            <p:nvPr/>
          </p:nvSpPr>
          <p:spPr>
            <a:xfrm>
              <a:off x="4827450" y="3112913"/>
              <a:ext cx="374100" cy="374100"/>
            </a:xfrm>
            <a:prstGeom prst="rect">
              <a:avLst/>
            </a:pr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sp>
          <p:nvSpPr>
            <p:cNvPr id="87" name="Google Shape;87;p12"/>
            <p:cNvSpPr/>
            <p:nvPr/>
          </p:nvSpPr>
          <p:spPr>
            <a:xfrm>
              <a:off x="5201550" y="3112913"/>
              <a:ext cx="374100" cy="374100"/>
            </a:xfrm>
            <a:prstGeom prst="rect">
              <a:avLst/>
            </a:pr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o</a:t>
              </a:r>
              <a:endParaRPr/>
            </a:p>
          </p:txBody>
        </p:sp>
      </p:grpSp>
      <p:grpSp>
        <p:nvGrpSpPr>
          <p:cNvPr id="88" name="Google Shape;88;p12"/>
          <p:cNvGrpSpPr/>
          <p:nvPr/>
        </p:nvGrpSpPr>
        <p:grpSpPr>
          <a:xfrm>
            <a:off x="125951" y="1894143"/>
            <a:ext cx="5877700" cy="240844"/>
            <a:chOff x="82737" y="2084125"/>
            <a:chExt cx="5920922" cy="308497"/>
          </a:xfrm>
        </p:grpSpPr>
        <p:sp>
          <p:nvSpPr>
            <p:cNvPr id="89" name="Google Shape;89;p12"/>
            <p:cNvSpPr/>
            <p:nvPr/>
          </p:nvSpPr>
          <p:spPr>
            <a:xfrm>
              <a:off x="2056301" y="2084128"/>
              <a:ext cx="1973700" cy="308400"/>
            </a:xfrm>
            <a:prstGeom prst="rect">
              <a:avLst/>
            </a:prstGeom>
            <a:solidFill>
              <a:srgbClr val="34658B">
                <a:alpha val="50269"/>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90" name="Google Shape;90;p12"/>
            <p:cNvSpPr/>
            <p:nvPr/>
          </p:nvSpPr>
          <p:spPr>
            <a:xfrm>
              <a:off x="82737" y="2084223"/>
              <a:ext cx="1973700" cy="308400"/>
            </a:xfrm>
            <a:prstGeom prst="rect">
              <a:avLst/>
            </a:prstGeom>
            <a:solidFill>
              <a:srgbClr val="34658B">
                <a:alpha val="50269"/>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2"/>
            <p:cNvSpPr/>
            <p:nvPr/>
          </p:nvSpPr>
          <p:spPr>
            <a:xfrm>
              <a:off x="4029960" y="2084125"/>
              <a:ext cx="1973700" cy="308400"/>
            </a:xfrm>
            <a:prstGeom prst="rect">
              <a:avLst/>
            </a:prstGeom>
            <a:solidFill>
              <a:srgbClr val="34658B">
                <a:alpha val="50269"/>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grpSp>
      <p:sp>
        <p:nvSpPr>
          <p:cNvPr id="92" name="Google Shape;92;p12"/>
          <p:cNvSpPr txBox="1"/>
          <p:nvPr/>
        </p:nvSpPr>
        <p:spPr>
          <a:xfrm>
            <a:off x="2515350" y="2196810"/>
            <a:ext cx="105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a:t>capacity</a:t>
            </a:r>
            <a:endParaRPr/>
          </a:p>
        </p:txBody>
      </p:sp>
      <p:sp>
        <p:nvSpPr>
          <p:cNvPr id="93" name="Google Shape;93;p12"/>
          <p:cNvSpPr txBox="1"/>
          <p:nvPr/>
        </p:nvSpPr>
        <p:spPr>
          <a:xfrm>
            <a:off x="4549275" y="2196810"/>
            <a:ext cx="105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a:t>length</a:t>
            </a:r>
            <a:endParaRPr/>
          </a:p>
        </p:txBody>
      </p:sp>
      <p:sp>
        <p:nvSpPr>
          <p:cNvPr id="94" name="Google Shape;94;p12"/>
          <p:cNvSpPr txBox="1"/>
          <p:nvPr/>
        </p:nvSpPr>
        <p:spPr>
          <a:xfrm>
            <a:off x="768275" y="2196810"/>
            <a:ext cx="105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a:t>ptr</a:t>
            </a:r>
            <a:endParaRPr/>
          </a:p>
        </p:txBody>
      </p:sp>
      <p:sp>
        <p:nvSpPr>
          <p:cNvPr id="95" name="Google Shape;95;p12"/>
          <p:cNvSpPr txBox="1"/>
          <p:nvPr/>
        </p:nvSpPr>
        <p:spPr>
          <a:xfrm>
            <a:off x="3413215" y="2704567"/>
            <a:ext cx="4362600" cy="19086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let p1 = Player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name: "Mario".to_string(),</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health: 25,</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level: 1u8,</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println!("{:?}", p1);</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96" name="Google Shape;96;p1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7" name="Google Shape;97;p12"/>
          <p:cNvSpPr/>
          <p:nvPr/>
        </p:nvSpPr>
        <p:spPr>
          <a:xfrm>
            <a:off x="7564800" y="1846181"/>
            <a:ext cx="374100" cy="336600"/>
          </a:xfrm>
          <a:prstGeom prst="rect">
            <a:avLst/>
          </a:prstGeom>
          <a:solidFill>
            <a:srgbClr val="AFD7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Rappresentazione in memoria</a:t>
            </a:r>
            <a:endParaRPr/>
          </a:p>
        </p:txBody>
      </p:sp>
      <p:sp>
        <p:nvSpPr>
          <p:cNvPr id="103" name="Google Shape;103;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La disposizione in memoria dei singoli campi è conseguenza di vincoli ed ottimizzazioni e può essere controllata attraverso opportuni meccanismi</a:t>
            </a:r>
            <a:endParaRPr/>
          </a:p>
          <a:p>
            <a:pPr indent="-317500" lvl="1" marL="914400" rtl="0" algn="l">
              <a:spcBef>
                <a:spcPts val="0"/>
              </a:spcBef>
              <a:spcAft>
                <a:spcPts val="0"/>
              </a:spcAft>
              <a:buSzPts val="1400"/>
              <a:buChar char="○"/>
            </a:pPr>
            <a:r>
              <a:rPr lang="it"/>
              <a:t>Ogni singolo campo, in base al proprio tipo, richiede che l’indirizzo a cui viene collocato sia multiplo di una data potenza di 2 (allineamento)</a:t>
            </a:r>
            <a:endParaRPr/>
          </a:p>
          <a:p>
            <a:pPr indent="-317500" lvl="1" marL="914400" rtl="0" algn="l">
              <a:spcBef>
                <a:spcPts val="0"/>
              </a:spcBef>
              <a:spcAft>
                <a:spcPts val="0"/>
              </a:spcAft>
              <a:buSzPts val="1400"/>
              <a:buChar char="○"/>
            </a:pPr>
            <a:r>
              <a:rPr lang="it"/>
              <a:t>La funzione </a:t>
            </a:r>
            <a:r>
              <a:rPr b="1" lang="it">
                <a:solidFill>
                  <a:srgbClr val="0B5394"/>
                </a:solidFill>
                <a:latin typeface="Consolas"/>
                <a:ea typeface="Consolas"/>
                <a:cs typeface="Consolas"/>
                <a:sym typeface="Consolas"/>
              </a:rPr>
              <a:t>std::mem::align_of_val(...)</a:t>
            </a:r>
            <a:r>
              <a:rPr lang="it">
                <a:solidFill>
                  <a:schemeClr val="accent1"/>
                </a:solidFill>
                <a:latin typeface="Consolas"/>
                <a:ea typeface="Consolas"/>
                <a:cs typeface="Consolas"/>
                <a:sym typeface="Consolas"/>
              </a:rPr>
              <a:t> </a:t>
            </a:r>
            <a:r>
              <a:rPr lang="it"/>
              <a:t>permette di conoscere l’allineamento richiesto da un particolare valore, mentre la funzione </a:t>
            </a:r>
            <a:r>
              <a:rPr b="1" lang="it">
                <a:solidFill>
                  <a:srgbClr val="0B5394"/>
                </a:solidFill>
                <a:latin typeface="Consolas"/>
                <a:ea typeface="Consolas"/>
                <a:cs typeface="Consolas"/>
                <a:sym typeface="Consolas"/>
              </a:rPr>
              <a:t>std::mem::size_of_val(...)</a:t>
            </a:r>
            <a:r>
              <a:rPr lang="it"/>
              <a:t> ne indica la dimensione</a:t>
            </a:r>
            <a:endParaRPr/>
          </a:p>
          <a:p>
            <a:pPr indent="-317500" lvl="1" marL="914400" rtl="0" algn="l">
              <a:spcBef>
                <a:spcPts val="0"/>
              </a:spcBef>
              <a:spcAft>
                <a:spcPts val="0"/>
              </a:spcAft>
              <a:buSzPts val="1400"/>
              <a:buChar char="○"/>
            </a:pPr>
            <a:r>
              <a:rPr lang="it"/>
              <a:t>I vincoli di allineamento dipendono dalla piattaforma di esecuzione (modello di CPU)</a:t>
            </a:r>
            <a:endParaRPr/>
          </a:p>
          <a:p>
            <a:pPr indent="-342900" lvl="0" marL="457200" rtl="0" algn="l">
              <a:spcBef>
                <a:spcPts val="0"/>
              </a:spcBef>
              <a:spcAft>
                <a:spcPts val="0"/>
              </a:spcAft>
              <a:buSzPts val="1800"/>
              <a:buChar char="●"/>
            </a:pPr>
            <a:r>
              <a:rPr lang="it"/>
              <a:t>L’allineamento e la disposizione di una struct è controllata attraverso l’attributo </a:t>
            </a:r>
            <a:r>
              <a:rPr b="1" lang="it">
                <a:solidFill>
                  <a:srgbClr val="0B5394"/>
                </a:solidFill>
                <a:latin typeface="Consolas"/>
                <a:ea typeface="Consolas"/>
                <a:cs typeface="Consolas"/>
                <a:sym typeface="Consolas"/>
              </a:rPr>
              <a:t>#[ repr(...) ]</a:t>
            </a:r>
            <a:r>
              <a:rPr lang="it">
                <a:solidFill>
                  <a:srgbClr val="0B5394"/>
                </a:solidFill>
              </a:rPr>
              <a:t> </a:t>
            </a:r>
            <a:r>
              <a:rPr lang="it"/>
              <a:t>anteposto alla dichiarazione della struct </a:t>
            </a:r>
            <a:endParaRPr/>
          </a:p>
          <a:p>
            <a:pPr indent="-317500" lvl="1" marL="914400" rtl="0" algn="l">
              <a:spcBef>
                <a:spcPts val="0"/>
              </a:spcBef>
              <a:spcAft>
                <a:spcPts val="0"/>
              </a:spcAft>
              <a:buSzPts val="1400"/>
              <a:buChar char="○"/>
            </a:pPr>
            <a:r>
              <a:rPr lang="it"/>
              <a:t>In assenza di tale attributo, viene assunta la rappresentazione di default, che lascia libero il compilatore di riordinare la sequenza dei campi, per ottimizzare l’accesso</a:t>
            </a:r>
            <a:endParaRPr/>
          </a:p>
          <a:p>
            <a:pPr indent="-317500" lvl="1" marL="914400" rtl="0" algn="l">
              <a:spcBef>
                <a:spcPts val="0"/>
              </a:spcBef>
              <a:spcAft>
                <a:spcPts val="0"/>
              </a:spcAft>
              <a:buSzPts val="1400"/>
              <a:buChar char="○"/>
            </a:pPr>
            <a:r>
              <a:rPr lang="it"/>
              <a:t>Indicando </a:t>
            </a:r>
            <a:r>
              <a:rPr b="1" lang="it">
                <a:solidFill>
                  <a:srgbClr val="0B5394"/>
                </a:solidFill>
                <a:latin typeface="Consolas"/>
                <a:ea typeface="Consolas"/>
                <a:cs typeface="Consolas"/>
                <a:sym typeface="Consolas"/>
              </a:rPr>
              <a:t>#[ repr(C) ]</a:t>
            </a:r>
            <a:r>
              <a:rPr lang="it"/>
              <a:t>, si ottiene una rappresentazione coerente con le regole di interfaccia binaria definite dal linguaggio C, fondamentali per l’interoperabilità con librerie scritte in altri linguaggi</a:t>
            </a:r>
            <a:endParaRPr/>
          </a:p>
        </p:txBody>
      </p:sp>
      <p:sp>
        <p:nvSpPr>
          <p:cNvPr id="104" name="Google Shape;104;p1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Visibilità</a:t>
            </a:r>
            <a:endParaRPr/>
          </a:p>
        </p:txBody>
      </p:sp>
      <p:sp>
        <p:nvSpPr>
          <p:cNvPr id="110" name="Google Shape;11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Sia la struct nel suo complesso che i singoli campi che la formano possono essere preceduti da un </a:t>
            </a:r>
            <a:r>
              <a:rPr b="1" lang="it">
                <a:solidFill>
                  <a:srgbClr val="0B5394"/>
                </a:solidFill>
              </a:rPr>
              <a:t>modificatore di visibilità</a:t>
            </a:r>
            <a:endParaRPr b="1">
              <a:solidFill>
                <a:srgbClr val="0B5394"/>
              </a:solidFill>
            </a:endParaRPr>
          </a:p>
          <a:p>
            <a:pPr indent="-317500" lvl="1" marL="914400" rtl="0" algn="l">
              <a:spcBef>
                <a:spcPts val="0"/>
              </a:spcBef>
              <a:spcAft>
                <a:spcPts val="0"/>
              </a:spcAft>
              <a:buSzPts val="1400"/>
              <a:buChar char="○"/>
            </a:pPr>
            <a:r>
              <a:rPr lang="it"/>
              <a:t>Tale modificatore ha impatto sull’accesso al contenuto della struct da parte di codice presente in moduli diversi da quello in cui la struct è stata definita</a:t>
            </a:r>
            <a:endParaRPr/>
          </a:p>
          <a:p>
            <a:pPr indent="-317500" lvl="1" marL="914400" marR="0" rtl="0" algn="l">
              <a:lnSpc>
                <a:spcPct val="115000"/>
              </a:lnSpc>
              <a:spcBef>
                <a:spcPts val="0"/>
              </a:spcBef>
              <a:spcAft>
                <a:spcPts val="0"/>
              </a:spcAft>
              <a:buSzPts val="1400"/>
              <a:buChar char="○"/>
            </a:pPr>
            <a:r>
              <a:rPr lang="it"/>
              <a:t>Di base, </a:t>
            </a:r>
            <a:r>
              <a:rPr b="1" lang="it">
                <a:solidFill>
                  <a:srgbClr val="0B5394"/>
                </a:solidFill>
              </a:rPr>
              <a:t>i campi sono</a:t>
            </a:r>
            <a:r>
              <a:rPr lang="it"/>
              <a:t> considerati </a:t>
            </a:r>
            <a:r>
              <a:rPr b="1" lang="it">
                <a:solidFill>
                  <a:srgbClr val="0B5394"/>
                </a:solidFill>
              </a:rPr>
              <a:t>privati</a:t>
            </a:r>
            <a:r>
              <a:rPr lang="it"/>
              <a:t> (accessibili solo al codice del modulo corrente e ai suoi sotto-moduli): possono però essere resi pubblici facendo precedere il nome dalla parola chiave </a:t>
            </a:r>
            <a:r>
              <a:rPr b="1" lang="it">
                <a:solidFill>
                  <a:srgbClr val="0B5394"/>
                </a:solidFill>
                <a:latin typeface="Consolas"/>
                <a:ea typeface="Consolas"/>
                <a:cs typeface="Consolas"/>
                <a:sym typeface="Consolas"/>
              </a:rPr>
              <a:t>pub</a:t>
            </a:r>
            <a:endParaRPr b="1">
              <a:solidFill>
                <a:srgbClr val="0B5394"/>
              </a:solidFill>
            </a:endParaRPr>
          </a:p>
          <a:p>
            <a:pPr indent="-342900" lvl="0" marL="457200" rtl="0" algn="l">
              <a:spcBef>
                <a:spcPts val="0"/>
              </a:spcBef>
              <a:spcAft>
                <a:spcPts val="0"/>
              </a:spcAft>
              <a:buSzPts val="1800"/>
              <a:buChar char="●"/>
            </a:pPr>
            <a:r>
              <a:rPr lang="it"/>
              <a:t>Questo permette di implementare il meccanismo di </a:t>
            </a:r>
            <a:r>
              <a:rPr b="1" lang="it">
                <a:solidFill>
                  <a:srgbClr val="0B5394"/>
                </a:solidFill>
              </a:rPr>
              <a:t>incapsulamento</a:t>
            </a:r>
            <a:r>
              <a:rPr lang="it"/>
              <a:t> </a:t>
            </a:r>
            <a:r>
              <a:rPr i="1" lang="it"/>
              <a:t>(information hiding)</a:t>
            </a:r>
            <a:endParaRPr i="1"/>
          </a:p>
          <a:p>
            <a:pPr indent="-317500" lvl="1" marL="914400" rtl="0" algn="l">
              <a:spcBef>
                <a:spcPts val="0"/>
              </a:spcBef>
              <a:spcAft>
                <a:spcPts val="0"/>
              </a:spcAft>
              <a:buSzPts val="1400"/>
              <a:buChar char="○"/>
            </a:pPr>
            <a:r>
              <a:rPr lang="it"/>
              <a:t>Per essere efficace, occorre però poter associare un insieme di comportamenti (metodi) alla struct</a:t>
            </a:r>
            <a:endParaRPr/>
          </a:p>
          <a:p>
            <a:pPr indent="-317500" lvl="1" marL="914400" marR="0" rtl="0" algn="l">
              <a:lnSpc>
                <a:spcPct val="115000"/>
              </a:lnSpc>
              <a:spcBef>
                <a:spcPts val="0"/>
              </a:spcBef>
              <a:spcAft>
                <a:spcPts val="0"/>
              </a:spcAft>
              <a:buSzPts val="1400"/>
              <a:buChar char="○"/>
            </a:pPr>
            <a:r>
              <a:rPr lang="it"/>
              <a:t>A differenza di quanto avviene in altri linguaggi, in cui struttura e comportamento sono definiti contestualmente in un unico blocco (classe), in Rust la definizione dei metodi associati ad una </a:t>
            </a:r>
            <a:r>
              <a:rPr b="1" lang="it">
                <a:solidFill>
                  <a:srgbClr val="0B5394"/>
                </a:solidFill>
                <a:latin typeface="Consolas"/>
                <a:ea typeface="Consolas"/>
                <a:cs typeface="Consolas"/>
                <a:sym typeface="Consolas"/>
              </a:rPr>
              <a:t>struct</a:t>
            </a:r>
            <a:r>
              <a:rPr lang="it"/>
              <a:t> avviene separatamente, in un blocco di tipo </a:t>
            </a:r>
            <a:r>
              <a:rPr b="1" lang="it">
                <a:solidFill>
                  <a:srgbClr val="0B5394"/>
                </a:solidFill>
                <a:latin typeface="Consolas"/>
                <a:ea typeface="Consolas"/>
                <a:cs typeface="Consolas"/>
                <a:sym typeface="Consolas"/>
              </a:rPr>
              <a:t>impl …</a:t>
            </a:r>
            <a:endParaRPr b="1">
              <a:solidFill>
                <a:srgbClr val="0B5394"/>
              </a:solidFill>
              <a:latin typeface="Consolas"/>
              <a:ea typeface="Consolas"/>
              <a:cs typeface="Consolas"/>
              <a:sym typeface="Consolas"/>
            </a:endParaRPr>
          </a:p>
        </p:txBody>
      </p:sp>
      <p:sp>
        <p:nvSpPr>
          <p:cNvPr id="111" name="Google Shape;111;p1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a:t>
            </a:r>
            <a:endParaRPr/>
          </a:p>
        </p:txBody>
      </p:sp>
      <p:sp>
        <p:nvSpPr>
          <p:cNvPr id="117" name="Google Shape;11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Rust non è un linguaggio ad oggetti nel senso tradizionale del termine e, conseguentemente, </a:t>
            </a:r>
            <a:r>
              <a:rPr b="1" lang="it">
                <a:solidFill>
                  <a:srgbClr val="0B5394"/>
                </a:solidFill>
              </a:rPr>
              <a:t>non ha</a:t>
            </a:r>
            <a:r>
              <a:rPr lang="it"/>
              <a:t> il concetto di classe</a:t>
            </a:r>
            <a:endParaRPr/>
          </a:p>
          <a:p>
            <a:pPr indent="-317500" lvl="1" marL="914400" rtl="0" algn="l">
              <a:spcBef>
                <a:spcPts val="0"/>
              </a:spcBef>
              <a:spcAft>
                <a:spcPts val="0"/>
              </a:spcAft>
              <a:buSzPts val="1400"/>
              <a:buChar char="○"/>
            </a:pPr>
            <a:r>
              <a:rPr lang="it"/>
              <a:t>Sebbene le struct possano apparire simili alle classi di altri linguaggi, il parallelismo è limitato</a:t>
            </a:r>
            <a:endParaRPr/>
          </a:p>
          <a:p>
            <a:pPr indent="-317500" lvl="1" marL="914400" rtl="0" algn="l">
              <a:spcBef>
                <a:spcPts val="0"/>
              </a:spcBef>
              <a:spcAft>
                <a:spcPts val="0"/>
              </a:spcAft>
              <a:buSzPts val="1400"/>
              <a:buChar char="○"/>
            </a:pPr>
            <a:r>
              <a:rPr lang="it"/>
              <a:t>In particolare, le struct </a:t>
            </a:r>
            <a:r>
              <a:rPr b="1" lang="it">
                <a:solidFill>
                  <a:srgbClr val="0B5394"/>
                </a:solidFill>
              </a:rPr>
              <a:t>NON </a:t>
            </a:r>
            <a:r>
              <a:rPr lang="it"/>
              <a:t>sono organizzate in una gerarchia di </a:t>
            </a:r>
            <a:r>
              <a:rPr b="1" lang="it">
                <a:solidFill>
                  <a:srgbClr val="0B5394"/>
                </a:solidFill>
              </a:rPr>
              <a:t>ereditarietà</a:t>
            </a:r>
            <a:endParaRPr b="1">
              <a:solidFill>
                <a:srgbClr val="0B5394"/>
              </a:solidFill>
            </a:endParaRPr>
          </a:p>
          <a:p>
            <a:pPr indent="-317500" lvl="1" marL="914400" rtl="0" algn="l">
              <a:spcBef>
                <a:spcPts val="0"/>
              </a:spcBef>
              <a:spcAft>
                <a:spcPts val="0"/>
              </a:spcAft>
              <a:buSzPts val="1400"/>
              <a:buChar char="○"/>
            </a:pPr>
            <a:r>
              <a:rPr lang="it"/>
              <a:t>Il concetto di metodo si applica invece a tutti i tipi, compresi quelli primitivi</a:t>
            </a:r>
            <a:endParaRPr/>
          </a:p>
          <a:p>
            <a:pPr indent="-342900" lvl="0" marL="457200" rtl="0" algn="l">
              <a:spcBef>
                <a:spcPts val="0"/>
              </a:spcBef>
              <a:spcAft>
                <a:spcPts val="0"/>
              </a:spcAft>
              <a:buSzPts val="1800"/>
              <a:buChar char="●"/>
            </a:pPr>
            <a:r>
              <a:rPr lang="it"/>
              <a:t>Si definiscono i metodi collegati ad un tipo in un blocco racchiuso tra parentesi graffe, preceduto dalla parola chiave </a:t>
            </a:r>
            <a:r>
              <a:rPr b="1" lang="it">
                <a:solidFill>
                  <a:srgbClr val="0B5394"/>
                </a:solidFill>
                <a:latin typeface="Consolas"/>
                <a:ea typeface="Consolas"/>
                <a:cs typeface="Consolas"/>
                <a:sym typeface="Consolas"/>
              </a:rPr>
              <a:t>impl</a:t>
            </a:r>
            <a:r>
              <a:rPr lang="it"/>
              <a:t> seguita dal nome del tipo</a:t>
            </a:r>
            <a:endParaRPr/>
          </a:p>
          <a:p>
            <a:pPr indent="-317500" lvl="1" marL="914400" marR="0" rtl="0" algn="l">
              <a:lnSpc>
                <a:spcPct val="115000"/>
              </a:lnSpc>
              <a:spcBef>
                <a:spcPts val="0"/>
              </a:spcBef>
              <a:spcAft>
                <a:spcPts val="0"/>
              </a:spcAft>
              <a:buSzPts val="1400"/>
              <a:buChar char="○"/>
            </a:pPr>
            <a:r>
              <a:rPr lang="it"/>
              <a:t>Le funzioni presenti in tale blocco il cui primo parametro sia </a:t>
            </a:r>
            <a:r>
              <a:rPr b="1" lang="it">
                <a:solidFill>
                  <a:srgbClr val="0B5394"/>
                </a:solidFill>
                <a:latin typeface="Consolas"/>
                <a:ea typeface="Consolas"/>
                <a:cs typeface="Consolas"/>
                <a:sym typeface="Consolas"/>
              </a:rPr>
              <a:t>self</a:t>
            </a:r>
            <a:r>
              <a:rPr lang="it"/>
              <a:t> (una parola chiave che rappresenta l’istanza del tipo di cui si sta facendo l’implementazione), </a:t>
            </a:r>
            <a:r>
              <a:rPr b="1" lang="it">
                <a:solidFill>
                  <a:srgbClr val="0B5394"/>
                </a:solidFill>
                <a:latin typeface="Consolas"/>
                <a:ea typeface="Consolas"/>
                <a:cs typeface="Consolas"/>
                <a:sym typeface="Consolas"/>
              </a:rPr>
              <a:t>&amp;self</a:t>
            </a:r>
            <a:r>
              <a:rPr lang="it">
                <a:solidFill>
                  <a:srgbClr val="4A86E8"/>
                </a:solidFill>
                <a:latin typeface="Consolas"/>
                <a:ea typeface="Consolas"/>
                <a:cs typeface="Consolas"/>
                <a:sym typeface="Consolas"/>
              </a:rPr>
              <a:t> </a:t>
            </a:r>
            <a:r>
              <a:rPr lang="it"/>
              <a:t>o </a:t>
            </a:r>
            <a:r>
              <a:rPr b="1" lang="it">
                <a:solidFill>
                  <a:srgbClr val="0B5394"/>
                </a:solidFill>
                <a:latin typeface="Consolas"/>
                <a:ea typeface="Consolas"/>
                <a:cs typeface="Consolas"/>
                <a:sym typeface="Consolas"/>
              </a:rPr>
              <a:t>&amp;mut self</a:t>
            </a:r>
            <a:r>
              <a:rPr lang="it"/>
              <a:t> diventano </a:t>
            </a:r>
            <a:r>
              <a:rPr b="1" lang="it">
                <a:solidFill>
                  <a:srgbClr val="0B5394"/>
                </a:solidFill>
              </a:rPr>
              <a:t>metodi </a:t>
            </a:r>
            <a:r>
              <a:rPr lang="it"/>
              <a:t>(</a:t>
            </a:r>
            <a:r>
              <a:rPr i="1" lang="it"/>
              <a:t>self</a:t>
            </a:r>
            <a:r>
              <a:rPr lang="it"/>
              <a:t> corrisponde grosso modo a quello che in altri linguaggi ad oggetti viene chiamato </a:t>
            </a:r>
            <a:r>
              <a:rPr i="1" lang="it"/>
              <a:t>this</a:t>
            </a:r>
            <a:r>
              <a:rPr lang="it"/>
              <a:t>)</a:t>
            </a:r>
            <a:endParaRPr/>
          </a:p>
          <a:p>
            <a:pPr indent="-317500" lvl="1" marL="914400" marR="0" rtl="0" algn="l">
              <a:lnSpc>
                <a:spcPct val="115000"/>
              </a:lnSpc>
              <a:spcBef>
                <a:spcPts val="0"/>
              </a:spcBef>
              <a:spcAft>
                <a:spcPts val="0"/>
              </a:spcAft>
              <a:buSzPts val="1400"/>
              <a:buChar char="○"/>
            </a:pPr>
            <a:r>
              <a:rPr lang="it"/>
              <a:t>Le funzioni che non hanno come primo parametro </a:t>
            </a:r>
            <a:r>
              <a:rPr b="1" lang="it">
                <a:solidFill>
                  <a:srgbClr val="0B5394"/>
                </a:solidFill>
                <a:latin typeface="Consolas"/>
                <a:ea typeface="Consolas"/>
                <a:cs typeface="Consolas"/>
                <a:sym typeface="Consolas"/>
              </a:rPr>
              <a:t>self</a:t>
            </a:r>
            <a:r>
              <a:rPr lang="it"/>
              <a:t> sono dette </a:t>
            </a:r>
            <a:r>
              <a:rPr b="1" lang="it">
                <a:solidFill>
                  <a:srgbClr val="0B5394"/>
                </a:solidFill>
              </a:rPr>
              <a:t>funzioni associate</a:t>
            </a:r>
            <a:r>
              <a:rPr lang="it"/>
              <a:t> e svolgono il ruolo giocato dai costruttori e dai metodi statici nei linguaggi ad oggetti</a:t>
            </a:r>
            <a:endParaRPr/>
          </a:p>
        </p:txBody>
      </p:sp>
      <p:sp>
        <p:nvSpPr>
          <p:cNvPr id="118" name="Google Shape;118;p1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a:t>
            </a:r>
            <a:endParaRPr/>
          </a:p>
        </p:txBody>
      </p:sp>
      <p:sp>
        <p:nvSpPr>
          <p:cNvPr id="124" name="Google Shape;124;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it"/>
              <a:t>Altri linguaggi </a:t>
            </a:r>
            <a:br>
              <a:rPr lang="it"/>
            </a:br>
            <a:r>
              <a:rPr lang="it"/>
              <a:t>(C++, Java, Javascript ES6+, …)</a:t>
            </a:r>
            <a:endParaRPr/>
          </a:p>
        </p:txBody>
      </p:sp>
      <p:sp>
        <p:nvSpPr>
          <p:cNvPr id="125" name="Google Shape;125;p1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it"/>
              <a:t>Rust</a:t>
            </a:r>
            <a:endParaRPr b="1"/>
          </a:p>
        </p:txBody>
      </p:sp>
      <p:sp>
        <p:nvSpPr>
          <p:cNvPr id="126" name="Google Shape;126;p16"/>
          <p:cNvSpPr txBox="1"/>
          <p:nvPr/>
        </p:nvSpPr>
        <p:spPr>
          <a:xfrm>
            <a:off x="445902" y="1844392"/>
            <a:ext cx="3715200" cy="2555100"/>
          </a:xfrm>
          <a:prstGeom prst="rect">
            <a:avLst/>
          </a:prstGeom>
          <a:solidFill>
            <a:srgbClr val="D9EAD3"/>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class Something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int i;</a:t>
            </a:r>
            <a:br>
              <a:rPr b="1" lang="it">
                <a:latin typeface="Consolas"/>
                <a:ea typeface="Consolas"/>
                <a:cs typeface="Consolas"/>
                <a:sym typeface="Consolas"/>
              </a:rPr>
            </a:br>
            <a:r>
              <a:rPr b="1" lang="it">
                <a:latin typeface="Consolas"/>
                <a:ea typeface="Consolas"/>
                <a:cs typeface="Consolas"/>
                <a:sym typeface="Consolas"/>
              </a:rPr>
              <a:t>   String s;</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void process()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int increment()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27" name="Google Shape;127;p16"/>
          <p:cNvSpPr txBox="1"/>
          <p:nvPr/>
        </p:nvSpPr>
        <p:spPr>
          <a:xfrm>
            <a:off x="4955806" y="1844392"/>
            <a:ext cx="3715500" cy="2555100"/>
          </a:xfrm>
          <a:prstGeom prst="rect">
            <a:avLst/>
          </a:prstGeom>
          <a:solidFill>
            <a:srgbClr val="FFF2C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struct Something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i: i32,</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s: String</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impl Something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br>
              <a:rPr b="1" lang="it">
                <a:latin typeface="Consolas"/>
                <a:ea typeface="Consolas"/>
                <a:cs typeface="Consolas"/>
                <a:sym typeface="Consolas"/>
              </a:rPr>
            </a:br>
            <a:r>
              <a:rPr b="1" lang="it">
                <a:latin typeface="Consolas"/>
                <a:ea typeface="Consolas"/>
                <a:cs typeface="Consolas"/>
                <a:sym typeface="Consolas"/>
              </a:rPr>
              <a:t>  fn process(&amp;self)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fn increment(&amp;mut self)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28" name="Google Shape;128;p16"/>
          <p:cNvSpPr/>
          <p:nvPr/>
        </p:nvSpPr>
        <p:spPr>
          <a:xfrm>
            <a:off x="741627" y="2310012"/>
            <a:ext cx="3132000" cy="5064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18000" wrap="square" tIns="18000">
            <a:noAutofit/>
          </a:bodyPr>
          <a:lstStyle/>
          <a:p>
            <a:pPr indent="0" lvl="0" marL="0" rtl="0" algn="r">
              <a:spcBef>
                <a:spcPts val="0"/>
              </a:spcBef>
              <a:spcAft>
                <a:spcPts val="0"/>
              </a:spcAft>
              <a:buNone/>
            </a:pPr>
            <a:r>
              <a:rPr i="1" lang="it">
                <a:highlight>
                  <a:schemeClr val="accent6"/>
                </a:highlight>
              </a:rPr>
              <a:t>Dati</a:t>
            </a:r>
            <a:endParaRPr i="1">
              <a:highlight>
                <a:schemeClr val="accent6"/>
              </a:highlight>
            </a:endParaRPr>
          </a:p>
        </p:txBody>
      </p:sp>
      <p:sp>
        <p:nvSpPr>
          <p:cNvPr id="129" name="Google Shape;129;p16"/>
          <p:cNvSpPr/>
          <p:nvPr/>
        </p:nvSpPr>
        <p:spPr>
          <a:xfrm>
            <a:off x="741627" y="3364240"/>
            <a:ext cx="3132000" cy="5727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18000" wrap="square" tIns="18000">
            <a:noAutofit/>
          </a:bodyPr>
          <a:lstStyle/>
          <a:p>
            <a:pPr indent="0" lvl="0" marL="0" marR="0" rtl="0" algn="r">
              <a:lnSpc>
                <a:spcPct val="100000"/>
              </a:lnSpc>
              <a:spcBef>
                <a:spcPts val="0"/>
              </a:spcBef>
              <a:spcAft>
                <a:spcPts val="0"/>
              </a:spcAft>
              <a:buNone/>
            </a:pPr>
            <a:r>
              <a:rPr i="1" lang="it">
                <a:highlight>
                  <a:schemeClr val="accent6"/>
                </a:highlight>
              </a:rPr>
              <a:t>Metodi</a:t>
            </a:r>
            <a:endParaRPr i="1">
              <a:highlight>
                <a:schemeClr val="accent6"/>
              </a:highlight>
            </a:endParaRPr>
          </a:p>
        </p:txBody>
      </p:sp>
      <p:sp>
        <p:nvSpPr>
          <p:cNvPr id="130" name="Google Shape;130;p1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31" name="Google Shape;131;p16"/>
          <p:cNvSpPr/>
          <p:nvPr/>
        </p:nvSpPr>
        <p:spPr>
          <a:xfrm>
            <a:off x="5207956" y="2166081"/>
            <a:ext cx="3131700" cy="3936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18000" wrap="square" tIns="18000">
            <a:noAutofit/>
          </a:bodyPr>
          <a:lstStyle/>
          <a:p>
            <a:pPr indent="0" lvl="0" marL="0" rtl="0" algn="r">
              <a:spcBef>
                <a:spcPts val="0"/>
              </a:spcBef>
              <a:spcAft>
                <a:spcPts val="0"/>
              </a:spcAft>
              <a:buNone/>
            </a:pPr>
            <a:r>
              <a:rPr i="1" lang="it">
                <a:highlight>
                  <a:schemeClr val="accent6"/>
                </a:highlight>
              </a:rPr>
              <a:t>Dati</a:t>
            </a:r>
            <a:endParaRPr i="1">
              <a:highlight>
                <a:schemeClr val="accent6"/>
              </a:highlight>
            </a:endParaRPr>
          </a:p>
        </p:txBody>
      </p:sp>
      <p:sp>
        <p:nvSpPr>
          <p:cNvPr id="132" name="Google Shape;132;p16"/>
          <p:cNvSpPr/>
          <p:nvPr/>
        </p:nvSpPr>
        <p:spPr>
          <a:xfrm>
            <a:off x="5207956" y="3390825"/>
            <a:ext cx="3131700" cy="5064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18000" wrap="square" tIns="18000">
            <a:noAutofit/>
          </a:bodyPr>
          <a:lstStyle/>
          <a:p>
            <a:pPr indent="0" lvl="0" marL="0" marR="0" rtl="0" algn="r">
              <a:lnSpc>
                <a:spcPct val="100000"/>
              </a:lnSpc>
              <a:spcBef>
                <a:spcPts val="0"/>
              </a:spcBef>
              <a:spcAft>
                <a:spcPts val="0"/>
              </a:spcAft>
              <a:buNone/>
            </a:pPr>
            <a:r>
              <a:rPr i="1" lang="it">
                <a:highlight>
                  <a:schemeClr val="accent6"/>
                </a:highlight>
              </a:rPr>
              <a:t>Metodi</a:t>
            </a:r>
            <a:endParaRPr i="1">
              <a:highlight>
                <a:schemeClr val="accent6"/>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a:t>
            </a:r>
            <a:endParaRPr/>
          </a:p>
        </p:txBody>
      </p:sp>
      <p:sp>
        <p:nvSpPr>
          <p:cNvPr id="138" name="Google Shape;13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 metodi sono funzioni legate ad un’istanza di un dato tipo</a:t>
            </a:r>
            <a:endParaRPr/>
          </a:p>
          <a:p>
            <a:pPr indent="-317500" lvl="1" marL="914400" rtl="0" algn="l">
              <a:spcBef>
                <a:spcPts val="0"/>
              </a:spcBef>
              <a:spcAft>
                <a:spcPts val="0"/>
              </a:spcAft>
              <a:buSzPts val="1400"/>
              <a:buChar char="○"/>
            </a:pPr>
            <a:r>
              <a:rPr lang="it"/>
              <a:t>Il legame si manifesta sia a livello sintattico, che a livello semantico</a:t>
            </a:r>
            <a:endParaRPr/>
          </a:p>
          <a:p>
            <a:pPr indent="-342900" lvl="0" marL="457200" rtl="0" algn="l">
              <a:spcBef>
                <a:spcPts val="0"/>
              </a:spcBef>
              <a:spcAft>
                <a:spcPts val="0"/>
              </a:spcAft>
              <a:buSzPts val="1800"/>
              <a:buChar char="●"/>
            </a:pPr>
            <a:r>
              <a:rPr lang="it"/>
              <a:t>Sintatticamente, un metodo viene invocato a partire da un’istanza del tipo a cui è legato</a:t>
            </a:r>
            <a:endParaRPr/>
          </a:p>
          <a:p>
            <a:pPr indent="-317500" lvl="1" marL="914400" rtl="0" algn="l">
              <a:spcBef>
                <a:spcPts val="0"/>
              </a:spcBef>
              <a:spcAft>
                <a:spcPts val="0"/>
              </a:spcAft>
              <a:buSzPts val="1400"/>
              <a:buChar char="○"/>
            </a:pPr>
            <a:r>
              <a:rPr lang="it"/>
              <a:t>Si usa la notazione </a:t>
            </a:r>
            <a:r>
              <a:rPr i="1" lang="it"/>
              <a:t>instance.method( … )</a:t>
            </a:r>
            <a:r>
              <a:rPr lang="it"/>
              <a:t>, dove </a:t>
            </a:r>
            <a:r>
              <a:rPr i="1" lang="it"/>
              <a:t>instance</a:t>
            </a:r>
            <a:r>
              <a:rPr lang="it"/>
              <a:t> è una variabile del tipo dato (detto anche </a:t>
            </a:r>
            <a:r>
              <a:rPr b="1" lang="it">
                <a:solidFill>
                  <a:srgbClr val="0B5394"/>
                </a:solidFill>
              </a:rPr>
              <a:t>ricevitore</a:t>
            </a:r>
            <a:r>
              <a:rPr lang="it"/>
              <a:t> del metodo), e  </a:t>
            </a:r>
            <a:r>
              <a:rPr i="1" lang="it"/>
              <a:t>method</a:t>
            </a:r>
            <a:r>
              <a:rPr lang="it"/>
              <a:t> è il nome della funzione</a:t>
            </a:r>
            <a:endParaRPr/>
          </a:p>
          <a:p>
            <a:pPr indent="-342900" lvl="0" marL="457200" rtl="0" algn="l">
              <a:spcBef>
                <a:spcPts val="0"/>
              </a:spcBef>
              <a:spcAft>
                <a:spcPts val="0"/>
              </a:spcAft>
              <a:buSzPts val="1800"/>
              <a:buChar char="●"/>
            </a:pPr>
            <a:r>
              <a:rPr lang="it"/>
              <a:t>Semanticamente, il codice del metodo ha accesso al contenuto (pubblico e privato) del ricevitore attraverso la parola chiave </a:t>
            </a:r>
            <a:r>
              <a:rPr b="1" lang="it">
                <a:solidFill>
                  <a:srgbClr val="0B5394"/>
                </a:solidFill>
                <a:latin typeface="Consolas"/>
                <a:ea typeface="Consolas"/>
                <a:cs typeface="Consolas"/>
                <a:sym typeface="Consolas"/>
              </a:rPr>
              <a:t>self</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Di fatto, i metodi legati ad una struct vengono implementati sotto forma di funzioni con un parametro ulteriore (chiamato </a:t>
            </a:r>
            <a:r>
              <a:rPr b="1" lang="it">
                <a:solidFill>
                  <a:srgbClr val="0B5394"/>
                </a:solidFill>
                <a:latin typeface="Consolas"/>
                <a:ea typeface="Consolas"/>
                <a:cs typeface="Consolas"/>
                <a:sym typeface="Consolas"/>
              </a:rPr>
              <a:t>self</a:t>
            </a:r>
            <a:r>
              <a:rPr lang="it"/>
              <a:t>, </a:t>
            </a:r>
            <a:r>
              <a:rPr b="1" lang="it">
                <a:solidFill>
                  <a:srgbClr val="0B5394"/>
                </a:solidFill>
                <a:latin typeface="Consolas"/>
                <a:ea typeface="Consolas"/>
                <a:cs typeface="Consolas"/>
                <a:sym typeface="Consolas"/>
              </a:rPr>
              <a:t>&amp;self</a:t>
            </a:r>
            <a:r>
              <a:rPr lang="it"/>
              <a:t> o </a:t>
            </a:r>
            <a:r>
              <a:rPr b="1" lang="it">
                <a:solidFill>
                  <a:srgbClr val="0B5394"/>
                </a:solidFill>
                <a:latin typeface="Consolas"/>
                <a:ea typeface="Consolas"/>
                <a:cs typeface="Consolas"/>
                <a:sym typeface="Consolas"/>
              </a:rPr>
              <a:t>&amp;mut</a:t>
            </a:r>
            <a:r>
              <a:rPr lang="it"/>
              <a:t> </a:t>
            </a:r>
            <a:r>
              <a:rPr b="1" lang="it">
                <a:solidFill>
                  <a:srgbClr val="0B5394"/>
                </a:solidFill>
                <a:latin typeface="Consolas"/>
                <a:ea typeface="Consolas"/>
                <a:cs typeface="Consolas"/>
                <a:sym typeface="Consolas"/>
              </a:rPr>
              <a:t>self</a:t>
            </a:r>
            <a:r>
              <a:rPr lang="it"/>
              <a:t>) il cui tipo è vincolato alla struct per la quale sono definiti</a:t>
            </a:r>
            <a:endParaRPr/>
          </a:p>
        </p:txBody>
      </p:sp>
      <p:sp>
        <p:nvSpPr>
          <p:cNvPr id="139" name="Google Shape;139;p1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a:t>
            </a:r>
            <a:endParaRPr/>
          </a:p>
        </p:txBody>
      </p:sp>
      <p:sp>
        <p:nvSpPr>
          <p:cNvPr id="145" name="Google Shape;145;p18"/>
          <p:cNvSpPr txBox="1"/>
          <p:nvPr/>
        </p:nvSpPr>
        <p:spPr>
          <a:xfrm>
            <a:off x="375300" y="1078170"/>
            <a:ext cx="4066800" cy="3417000"/>
          </a:xfrm>
          <a:prstGeom prst="rect">
            <a:avLst/>
          </a:prstGeom>
          <a:solidFill>
            <a:srgbClr val="FFF2CC"/>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pub struct Point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x: i32,			// campo privato</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y: i32			// campo privato</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impl Point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pub fn new(x:i32, y:i32) -&gt; Self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P{x,y}</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pub fn length(&amp;self) -&gt; i32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self.x*self.x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self.y*self.y ).isqrt()</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46" name="Google Shape;146;p18"/>
          <p:cNvSpPr txBox="1"/>
          <p:nvPr/>
        </p:nvSpPr>
        <p:spPr>
          <a:xfrm>
            <a:off x="4765500" y="1078170"/>
            <a:ext cx="4066800" cy="3417000"/>
          </a:xfrm>
          <a:prstGeom prst="rect">
            <a:avLst/>
          </a:prstGeom>
          <a:solidFill>
            <a:srgbClr val="FFF2CC"/>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let p1 = Point::new(3, 4); // OK</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solidFill>
                  <a:srgbClr val="674EA7"/>
                </a:solidFill>
                <a:latin typeface="Consolas"/>
                <a:ea typeface="Consolas"/>
                <a:cs typeface="Consolas"/>
                <a:sym typeface="Consolas"/>
              </a:rPr>
              <a:t>// possibile solo nello stesso modulo</a:t>
            </a:r>
            <a:endParaRPr b="1">
              <a:solidFill>
                <a:srgbClr val="674EA7"/>
              </a:solidFill>
              <a:latin typeface="Consolas"/>
              <a:ea typeface="Consolas"/>
              <a:cs typeface="Consolas"/>
              <a:sym typeface="Consolas"/>
            </a:endParaRPr>
          </a:p>
          <a:p>
            <a:pPr indent="0" lvl="0" marL="0" rtl="0" algn="l">
              <a:spcBef>
                <a:spcPts val="0"/>
              </a:spcBef>
              <a:spcAft>
                <a:spcPts val="0"/>
              </a:spcAft>
              <a:buNone/>
            </a:pPr>
            <a:r>
              <a:rPr b="1" lang="it">
                <a:solidFill>
                  <a:srgbClr val="674EA7"/>
                </a:solidFill>
                <a:latin typeface="Consolas"/>
                <a:ea typeface="Consolas"/>
                <a:cs typeface="Consolas"/>
                <a:sym typeface="Consolas"/>
              </a:rPr>
              <a:t>// o in un sottomodulo di quello in cui</a:t>
            </a:r>
            <a:endParaRPr b="1">
              <a:solidFill>
                <a:srgbClr val="674EA7"/>
              </a:solidFill>
              <a:latin typeface="Consolas"/>
              <a:ea typeface="Consolas"/>
              <a:cs typeface="Consolas"/>
              <a:sym typeface="Consolas"/>
            </a:endParaRPr>
          </a:p>
          <a:p>
            <a:pPr indent="0" lvl="0" marL="0" rtl="0" algn="l">
              <a:spcBef>
                <a:spcPts val="0"/>
              </a:spcBef>
              <a:spcAft>
                <a:spcPts val="0"/>
              </a:spcAft>
              <a:buNone/>
            </a:pPr>
            <a:r>
              <a:rPr b="1" lang="it">
                <a:solidFill>
                  <a:srgbClr val="674EA7"/>
                </a:solidFill>
                <a:latin typeface="Consolas"/>
                <a:ea typeface="Consolas"/>
                <a:cs typeface="Consolas"/>
                <a:sym typeface="Consolas"/>
              </a:rPr>
              <a:t>// è stato definito Point</a:t>
            </a:r>
            <a:endParaRPr b="1">
              <a:solidFill>
                <a:srgbClr val="674EA7"/>
              </a:solidFill>
              <a:latin typeface="Consolas"/>
              <a:ea typeface="Consolas"/>
              <a:cs typeface="Consolas"/>
              <a:sym typeface="Consolas"/>
            </a:endParaRPr>
          </a:p>
          <a:p>
            <a:pPr indent="0" lvl="0" marL="0" rtl="0" algn="l">
              <a:spcBef>
                <a:spcPts val="0"/>
              </a:spcBef>
              <a:spcAft>
                <a:spcPts val="0"/>
              </a:spcAft>
              <a:buNone/>
            </a:pPr>
            <a:r>
              <a:rPr b="1" lang="it">
                <a:solidFill>
                  <a:srgbClr val="674EA7"/>
                </a:solidFill>
                <a:latin typeface="Consolas"/>
                <a:ea typeface="Consolas"/>
                <a:cs typeface="Consolas"/>
                <a:sym typeface="Consolas"/>
              </a:rPr>
              <a:t>let p2 = Point { x: 3.0, y: 4.0 };</a:t>
            </a:r>
            <a:endParaRPr b="1">
              <a:solidFill>
                <a:srgbClr val="674EA7"/>
              </a:solidFill>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m1 = p1.length();  		   // 5</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m2 = Point::length(&amp;p1);   // 5</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a:t>
            </a:r>
            <a:endParaRPr/>
          </a:p>
        </p:txBody>
      </p:sp>
      <p:sp>
        <p:nvSpPr>
          <p:cNvPr id="152" name="Google Shape;15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primo parametro di un metodo definisce il livello di accesso che il codice del metodo ha sul ricevitore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self</a:t>
            </a:r>
            <a:r>
              <a:rPr lang="it"/>
              <a:t> indica che il ricevitore viene passato </a:t>
            </a:r>
            <a:r>
              <a:rPr b="1" lang="it">
                <a:solidFill>
                  <a:srgbClr val="0B5394"/>
                </a:solidFill>
              </a:rPr>
              <a:t>per movimento</a:t>
            </a:r>
            <a:r>
              <a:rPr lang="it"/>
              <a:t>, di fatto consumando il contenuto della variabile: è una forma contratta della notazione </a:t>
            </a:r>
            <a:r>
              <a:rPr b="1" lang="it">
                <a:solidFill>
                  <a:srgbClr val="0B5394"/>
                </a:solidFill>
                <a:latin typeface="Consolas"/>
                <a:ea typeface="Consolas"/>
                <a:cs typeface="Consolas"/>
                <a:sym typeface="Consolas"/>
              </a:rPr>
              <a:t>self: Self</a:t>
            </a:r>
            <a:endParaRPr b="1">
              <a:solidFill>
                <a:schemeClr val="dk1"/>
              </a:solidFill>
              <a:latin typeface="Consolas"/>
              <a:ea typeface="Consolas"/>
              <a:cs typeface="Consolas"/>
              <a:sym typeface="Consolas"/>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&amp;self</a:t>
            </a:r>
            <a:r>
              <a:rPr lang="it"/>
              <a:t> indica che il ricevitore viene passato </a:t>
            </a:r>
            <a:r>
              <a:rPr b="1" lang="it">
                <a:solidFill>
                  <a:srgbClr val="0B5394"/>
                </a:solidFill>
              </a:rPr>
              <a:t>per riferimento condiviso</a:t>
            </a:r>
            <a:r>
              <a:rPr lang="it"/>
              <a:t>: è una forma contratta di </a:t>
            </a:r>
            <a:br>
              <a:rPr lang="it"/>
            </a:br>
            <a:r>
              <a:rPr b="1" lang="it">
                <a:solidFill>
                  <a:srgbClr val="0B5394"/>
                </a:solidFill>
                <a:latin typeface="Consolas"/>
                <a:ea typeface="Consolas"/>
                <a:cs typeface="Consolas"/>
                <a:sym typeface="Consolas"/>
              </a:rPr>
              <a:t>self: &amp;Self</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&amp;mut self</a:t>
            </a:r>
            <a:r>
              <a:rPr lang="it"/>
              <a:t> indica che il ricevitore viene passato </a:t>
            </a:r>
            <a:r>
              <a:rPr b="1" lang="it">
                <a:solidFill>
                  <a:srgbClr val="0B5394"/>
                </a:solidFill>
              </a:rPr>
              <a:t>per riferimento esclusivo</a:t>
            </a:r>
            <a:r>
              <a:rPr lang="it"/>
              <a:t>: è una forma contratta di </a:t>
            </a:r>
            <a:r>
              <a:rPr b="1" lang="it">
                <a:solidFill>
                  <a:srgbClr val="0B5394"/>
                </a:solidFill>
                <a:latin typeface="Consolas"/>
                <a:ea typeface="Consolas"/>
                <a:cs typeface="Consolas"/>
                <a:sym typeface="Consolas"/>
              </a:rPr>
              <a:t>self: &amp;mut Self</a:t>
            </a:r>
            <a:endParaRPr b="1">
              <a:solidFill>
                <a:srgbClr val="0B5394"/>
              </a:solidFill>
              <a:latin typeface="Consolas"/>
              <a:ea typeface="Consolas"/>
              <a:cs typeface="Consolas"/>
              <a:sym typeface="Consolas"/>
            </a:endParaRPr>
          </a:p>
          <a:p>
            <a:pPr indent="-342900" lvl="0" marL="457200" marR="0" rtl="0" algn="l">
              <a:lnSpc>
                <a:spcPct val="115000"/>
              </a:lnSpc>
              <a:spcBef>
                <a:spcPts val="0"/>
              </a:spcBef>
              <a:spcAft>
                <a:spcPts val="0"/>
              </a:spcAft>
              <a:buSzPts val="1800"/>
              <a:buChar char="●"/>
            </a:pPr>
            <a:r>
              <a:rPr lang="it"/>
              <a:t>Se presente, il parametro self compare come </a:t>
            </a:r>
            <a:r>
              <a:rPr b="1" lang="it">
                <a:solidFill>
                  <a:srgbClr val="0B5394"/>
                </a:solidFill>
              </a:rPr>
              <a:t>primo elemento</a:t>
            </a:r>
            <a:r>
              <a:rPr lang="it"/>
              <a:t> nella dichiarazione del metodo</a:t>
            </a:r>
            <a:endParaRPr/>
          </a:p>
          <a:p>
            <a:pPr indent="-317500" lvl="1" marL="914400" marR="0" rtl="0" algn="l">
              <a:lnSpc>
                <a:spcPct val="115000"/>
              </a:lnSpc>
              <a:spcBef>
                <a:spcPts val="0"/>
              </a:spcBef>
              <a:spcAft>
                <a:spcPts val="0"/>
              </a:spcAft>
              <a:buSzPts val="1400"/>
              <a:buChar char="○"/>
            </a:pPr>
            <a:r>
              <a:rPr lang="it"/>
              <a:t>All’atto dell’invocazione del metodo, esso è ricavato implicitamente dal valore che compare a sinistra del punto che precede il nome del metodo</a:t>
            </a:r>
            <a:endParaRPr/>
          </a:p>
        </p:txBody>
      </p:sp>
      <p:sp>
        <p:nvSpPr>
          <p:cNvPr id="153" name="Google Shape;153;p1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0"/>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a:t>
            </a:r>
            <a:endParaRPr/>
          </a:p>
        </p:txBody>
      </p:sp>
      <p:sp>
        <p:nvSpPr>
          <p:cNvPr id="159" name="Google Shape;159;p20"/>
          <p:cNvSpPr txBox="1"/>
          <p:nvPr>
            <p:ph idx="1" type="body"/>
          </p:nvPr>
        </p:nvSpPr>
        <p:spPr>
          <a:xfrm>
            <a:off x="311700" y="962549"/>
            <a:ext cx="3999900" cy="3795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95000"/>
              </a:lnSpc>
              <a:spcBef>
                <a:spcPts val="0"/>
              </a:spcBef>
              <a:spcAft>
                <a:spcPts val="0"/>
              </a:spcAft>
              <a:buSzPts val="770"/>
              <a:buNone/>
            </a:pPr>
            <a:r>
              <a:rPr b="1" lang="it" sz="1280">
                <a:latin typeface="Consolas"/>
                <a:ea typeface="Consolas"/>
                <a:cs typeface="Consolas"/>
                <a:sym typeface="Consolas"/>
              </a:rPr>
              <a:t>struct Point {</a:t>
            </a:r>
            <a:br>
              <a:rPr b="1" lang="it" sz="1280">
                <a:latin typeface="Consolas"/>
                <a:ea typeface="Consolas"/>
                <a:cs typeface="Consolas"/>
                <a:sym typeface="Consolas"/>
              </a:rPr>
            </a:br>
            <a:r>
              <a:rPr b="1" lang="it" sz="1280">
                <a:latin typeface="Consolas"/>
                <a:ea typeface="Consolas"/>
                <a:cs typeface="Consolas"/>
                <a:sym typeface="Consolas"/>
              </a:rPr>
              <a:t>  x: i32,</a:t>
            </a:r>
            <a:br>
              <a:rPr b="1" lang="it" sz="1280">
                <a:latin typeface="Consolas"/>
                <a:ea typeface="Consolas"/>
                <a:cs typeface="Consolas"/>
                <a:sym typeface="Consolas"/>
              </a:rPr>
            </a:br>
            <a:r>
              <a:rPr b="1" lang="it" sz="1280">
                <a:latin typeface="Consolas"/>
                <a:ea typeface="Consolas"/>
                <a:cs typeface="Consolas"/>
                <a:sym typeface="Consolas"/>
              </a:rPr>
              <a:t>  y: i32,</a:t>
            </a:r>
            <a:br>
              <a:rPr b="1" lang="it" sz="1280">
                <a:latin typeface="Consolas"/>
                <a:ea typeface="Consolas"/>
                <a:cs typeface="Consolas"/>
                <a:sym typeface="Consolas"/>
              </a:rPr>
            </a:br>
            <a:r>
              <a:rPr b="1" lang="it" sz="1280">
                <a:latin typeface="Consolas"/>
                <a:ea typeface="Consolas"/>
                <a:cs typeface="Consolas"/>
                <a:sym typeface="Consolas"/>
              </a:rPr>
              <a:t>}</a:t>
            </a:r>
            <a:endParaRPr b="1" sz="1280">
              <a:latin typeface="Consolas"/>
              <a:ea typeface="Consolas"/>
              <a:cs typeface="Consolas"/>
              <a:sym typeface="Consolas"/>
            </a:endParaRPr>
          </a:p>
          <a:p>
            <a:pPr indent="0" lvl="0" marL="0" rtl="0" algn="l">
              <a:lnSpc>
                <a:spcPct val="95000"/>
              </a:lnSpc>
              <a:spcBef>
                <a:spcPts val="1200"/>
              </a:spcBef>
              <a:spcAft>
                <a:spcPts val="0"/>
              </a:spcAft>
              <a:buSzPts val="770"/>
              <a:buNone/>
            </a:pPr>
            <a:r>
              <a:rPr b="1" lang="it" sz="1280">
                <a:latin typeface="Consolas"/>
                <a:ea typeface="Consolas"/>
                <a:cs typeface="Consolas"/>
                <a:sym typeface="Consolas"/>
              </a:rPr>
              <a:t>impl Point {</a:t>
            </a:r>
            <a:endParaRPr b="1" sz="1280">
              <a:latin typeface="Consolas"/>
              <a:ea typeface="Consolas"/>
              <a:cs typeface="Consolas"/>
              <a:sym typeface="Consolas"/>
            </a:endParaRPr>
          </a:p>
          <a:p>
            <a:pPr indent="0" lvl="0" marL="0" rtl="0" algn="l">
              <a:lnSpc>
                <a:spcPct val="95000"/>
              </a:lnSpc>
              <a:spcBef>
                <a:spcPts val="1200"/>
              </a:spcBef>
              <a:spcAft>
                <a:spcPts val="0"/>
              </a:spcAft>
              <a:buSzPts val="770"/>
              <a:buNone/>
            </a:pPr>
            <a:r>
              <a:rPr b="1" lang="it" sz="1280">
                <a:latin typeface="Consolas"/>
                <a:ea typeface="Consolas"/>
                <a:cs typeface="Consolas"/>
                <a:sym typeface="Consolas"/>
              </a:rPr>
              <a:t>  fn mirror(</a:t>
            </a:r>
            <a:r>
              <a:rPr b="1" lang="it" sz="1280">
                <a:solidFill>
                  <a:srgbClr val="0B5394"/>
                </a:solidFill>
                <a:latin typeface="Consolas"/>
                <a:ea typeface="Consolas"/>
                <a:cs typeface="Consolas"/>
                <a:sym typeface="Consolas"/>
              </a:rPr>
              <a:t>self</a:t>
            </a:r>
            <a:r>
              <a:rPr b="1" lang="it" sz="1280">
                <a:latin typeface="Consolas"/>
                <a:ea typeface="Consolas"/>
                <a:cs typeface="Consolas"/>
                <a:sym typeface="Consolas"/>
              </a:rPr>
              <a:t>) -&gt; </a:t>
            </a:r>
            <a:r>
              <a:rPr b="1" lang="it" sz="1280">
                <a:solidFill>
                  <a:srgbClr val="0B5394"/>
                </a:solidFill>
                <a:latin typeface="Consolas"/>
                <a:ea typeface="Consolas"/>
                <a:cs typeface="Consolas"/>
                <a:sym typeface="Consolas"/>
              </a:rPr>
              <a:t>Self</a:t>
            </a:r>
            <a:r>
              <a:rPr b="1" lang="it" sz="1280">
                <a:latin typeface="Consolas"/>
                <a:ea typeface="Consolas"/>
                <a:cs typeface="Consolas"/>
                <a:sym typeface="Consolas"/>
              </a:rPr>
              <a:t> {</a:t>
            </a:r>
            <a:br>
              <a:rPr b="1" lang="it" sz="1280">
                <a:latin typeface="Consolas"/>
                <a:ea typeface="Consolas"/>
                <a:cs typeface="Consolas"/>
                <a:sym typeface="Consolas"/>
              </a:rPr>
            </a:br>
            <a:r>
              <a:rPr b="1" lang="it" sz="1280">
                <a:latin typeface="Consolas"/>
                <a:ea typeface="Consolas"/>
                <a:cs typeface="Consolas"/>
                <a:sym typeface="Consolas"/>
              </a:rPr>
              <a:t>    Self{ x: self.y, y: self.x }</a:t>
            </a:r>
            <a:br>
              <a:rPr b="1" lang="it" sz="1280">
                <a:latin typeface="Consolas"/>
                <a:ea typeface="Consolas"/>
                <a:cs typeface="Consolas"/>
                <a:sym typeface="Consolas"/>
              </a:rPr>
            </a:br>
            <a:r>
              <a:rPr b="1" lang="it" sz="1280">
                <a:latin typeface="Consolas"/>
                <a:ea typeface="Consolas"/>
                <a:cs typeface="Consolas"/>
                <a:sym typeface="Consolas"/>
              </a:rPr>
              <a:t>  }</a:t>
            </a:r>
            <a:endParaRPr b="1" sz="1280">
              <a:latin typeface="Consolas"/>
              <a:ea typeface="Consolas"/>
              <a:cs typeface="Consolas"/>
              <a:sym typeface="Consolas"/>
            </a:endParaRPr>
          </a:p>
          <a:p>
            <a:pPr indent="0" lvl="0" marL="0" rtl="0" algn="l">
              <a:lnSpc>
                <a:spcPct val="95000"/>
              </a:lnSpc>
              <a:spcBef>
                <a:spcPts val="1200"/>
              </a:spcBef>
              <a:spcAft>
                <a:spcPts val="0"/>
              </a:spcAft>
              <a:buSzPts val="770"/>
              <a:buNone/>
            </a:pPr>
            <a:r>
              <a:rPr b="1" lang="it" sz="1280">
                <a:latin typeface="Consolas"/>
                <a:ea typeface="Consolas"/>
                <a:cs typeface="Consolas"/>
                <a:sym typeface="Consolas"/>
              </a:rPr>
              <a:t>  fn length(</a:t>
            </a:r>
            <a:r>
              <a:rPr b="1" lang="it" sz="1280">
                <a:solidFill>
                  <a:srgbClr val="0B5394"/>
                </a:solidFill>
                <a:latin typeface="Consolas"/>
                <a:ea typeface="Consolas"/>
                <a:cs typeface="Consolas"/>
                <a:sym typeface="Consolas"/>
              </a:rPr>
              <a:t>&amp;self</a:t>
            </a:r>
            <a:r>
              <a:rPr b="1" lang="it" sz="1280">
                <a:latin typeface="Consolas"/>
                <a:ea typeface="Consolas"/>
                <a:cs typeface="Consolas"/>
                <a:sym typeface="Consolas"/>
              </a:rPr>
              <a:t>) -&gt; i32 {</a:t>
            </a:r>
            <a:br>
              <a:rPr b="1" lang="it" sz="1280">
                <a:latin typeface="Consolas"/>
                <a:ea typeface="Consolas"/>
                <a:cs typeface="Consolas"/>
                <a:sym typeface="Consolas"/>
              </a:rPr>
            </a:br>
            <a:r>
              <a:rPr b="1" lang="it" sz="1280">
                <a:latin typeface="Consolas"/>
                <a:ea typeface="Consolas"/>
                <a:cs typeface="Consolas"/>
                <a:sym typeface="Consolas"/>
              </a:rPr>
              <a:t>   (self.x*self.x + self.y*self.y).isqrt </a:t>
            </a:r>
            <a:br>
              <a:rPr b="1" lang="it" sz="1280">
                <a:latin typeface="Consolas"/>
                <a:ea typeface="Consolas"/>
                <a:cs typeface="Consolas"/>
                <a:sym typeface="Consolas"/>
              </a:rPr>
            </a:br>
            <a:r>
              <a:rPr b="1" lang="it" sz="1280">
                <a:latin typeface="Consolas"/>
                <a:ea typeface="Consolas"/>
                <a:cs typeface="Consolas"/>
                <a:sym typeface="Consolas"/>
              </a:rPr>
              <a:t>  }</a:t>
            </a:r>
            <a:endParaRPr b="1" sz="1280">
              <a:latin typeface="Consolas"/>
              <a:ea typeface="Consolas"/>
              <a:cs typeface="Consolas"/>
              <a:sym typeface="Consolas"/>
            </a:endParaRPr>
          </a:p>
          <a:p>
            <a:pPr indent="0" lvl="0" marL="0" rtl="0" algn="l">
              <a:lnSpc>
                <a:spcPct val="95000"/>
              </a:lnSpc>
              <a:spcBef>
                <a:spcPts val="1200"/>
              </a:spcBef>
              <a:spcAft>
                <a:spcPts val="1200"/>
              </a:spcAft>
              <a:buSzPts val="770"/>
              <a:buNone/>
            </a:pPr>
            <a:r>
              <a:rPr b="1" lang="it" sz="1280">
                <a:latin typeface="Consolas"/>
                <a:ea typeface="Consolas"/>
                <a:cs typeface="Consolas"/>
                <a:sym typeface="Consolas"/>
              </a:rPr>
              <a:t>  fn scale(</a:t>
            </a:r>
            <a:r>
              <a:rPr b="1" lang="it" sz="1280">
                <a:solidFill>
                  <a:srgbClr val="0B5394"/>
                </a:solidFill>
                <a:latin typeface="Consolas"/>
                <a:ea typeface="Consolas"/>
                <a:cs typeface="Consolas"/>
                <a:sym typeface="Consolas"/>
              </a:rPr>
              <a:t>&amp;mut self</a:t>
            </a:r>
            <a:r>
              <a:rPr b="1" lang="it" sz="1280">
                <a:latin typeface="Consolas"/>
                <a:ea typeface="Consolas"/>
                <a:cs typeface="Consolas"/>
                <a:sym typeface="Consolas"/>
              </a:rPr>
              <a:t>, s: i32) {</a:t>
            </a:r>
            <a:br>
              <a:rPr b="1" lang="it" sz="1280">
                <a:latin typeface="Consolas"/>
                <a:ea typeface="Consolas"/>
                <a:cs typeface="Consolas"/>
                <a:sym typeface="Consolas"/>
              </a:rPr>
            </a:br>
            <a:r>
              <a:rPr b="1" lang="it" sz="1280">
                <a:latin typeface="Consolas"/>
                <a:ea typeface="Consolas"/>
                <a:cs typeface="Consolas"/>
                <a:sym typeface="Consolas"/>
              </a:rPr>
              <a:t>    self.x *= s;</a:t>
            </a:r>
            <a:br>
              <a:rPr b="1" lang="it" sz="1280">
                <a:latin typeface="Consolas"/>
                <a:ea typeface="Consolas"/>
                <a:cs typeface="Consolas"/>
                <a:sym typeface="Consolas"/>
              </a:rPr>
            </a:br>
            <a:r>
              <a:rPr b="1" lang="it" sz="1280">
                <a:latin typeface="Consolas"/>
                <a:ea typeface="Consolas"/>
                <a:cs typeface="Consolas"/>
                <a:sym typeface="Consolas"/>
              </a:rPr>
              <a:t>    self.y *= s; </a:t>
            </a:r>
            <a:br>
              <a:rPr b="1" lang="it" sz="1280">
                <a:latin typeface="Consolas"/>
                <a:ea typeface="Consolas"/>
                <a:cs typeface="Consolas"/>
                <a:sym typeface="Consolas"/>
              </a:rPr>
            </a:br>
            <a:r>
              <a:rPr b="1" lang="it" sz="1280">
                <a:latin typeface="Consolas"/>
                <a:ea typeface="Consolas"/>
                <a:cs typeface="Consolas"/>
                <a:sym typeface="Consolas"/>
              </a:rPr>
              <a:t>  }</a:t>
            </a:r>
            <a:br>
              <a:rPr b="1" lang="it" sz="1280">
                <a:latin typeface="Consolas"/>
                <a:ea typeface="Consolas"/>
                <a:cs typeface="Consolas"/>
                <a:sym typeface="Consolas"/>
              </a:rPr>
            </a:br>
            <a:r>
              <a:rPr b="1" lang="it" sz="1280">
                <a:latin typeface="Consolas"/>
                <a:ea typeface="Consolas"/>
                <a:cs typeface="Consolas"/>
                <a:sym typeface="Consolas"/>
              </a:rPr>
              <a:t>}</a:t>
            </a:r>
            <a:endParaRPr b="1" sz="1280">
              <a:latin typeface="Consolas"/>
              <a:ea typeface="Consolas"/>
              <a:cs typeface="Consolas"/>
              <a:sym typeface="Consolas"/>
            </a:endParaRPr>
          </a:p>
        </p:txBody>
      </p:sp>
      <p:sp>
        <p:nvSpPr>
          <p:cNvPr id="160" name="Google Shape;160;p20"/>
          <p:cNvSpPr txBox="1"/>
          <p:nvPr>
            <p:ph idx="12" type="sldNum"/>
          </p:nvPr>
        </p:nvSpPr>
        <p:spPr>
          <a:xfrm>
            <a:off x="8472458" y="4786194"/>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61" name="Google Shape;161;p20"/>
          <p:cNvSpPr/>
          <p:nvPr/>
        </p:nvSpPr>
        <p:spPr>
          <a:xfrm>
            <a:off x="5550425" y="1171418"/>
            <a:ext cx="3022200" cy="942600"/>
          </a:xfrm>
          <a:prstGeom prst="wedgeRectCallout">
            <a:avLst>
              <a:gd fmla="val -138830" name="adj1"/>
              <a:gd fmla="val 7925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t>Consuma</a:t>
            </a:r>
            <a:r>
              <a:rPr lang="it"/>
              <a:t> una struct Point e </a:t>
            </a:r>
            <a:r>
              <a:rPr b="1" lang="it"/>
              <a:t>produce</a:t>
            </a:r>
            <a:r>
              <a:rPr lang="it"/>
              <a:t> una nuova struct dello stesso tipo</a:t>
            </a:r>
            <a:endParaRPr/>
          </a:p>
        </p:txBody>
      </p:sp>
      <p:sp>
        <p:nvSpPr>
          <p:cNvPr id="162" name="Google Shape;162;p20"/>
          <p:cNvSpPr/>
          <p:nvPr/>
        </p:nvSpPr>
        <p:spPr>
          <a:xfrm>
            <a:off x="5550425" y="2267708"/>
            <a:ext cx="3022200" cy="942600"/>
          </a:xfrm>
          <a:prstGeom prst="wedgeRectCallout">
            <a:avLst>
              <a:gd fmla="val -135640" name="adj1"/>
              <a:gd fmla="val 3653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t>Opera</a:t>
            </a:r>
            <a:r>
              <a:rPr lang="it"/>
              <a:t> su una struct Point senza possederla né mutarla</a:t>
            </a:r>
            <a:endParaRPr/>
          </a:p>
        </p:txBody>
      </p:sp>
      <p:sp>
        <p:nvSpPr>
          <p:cNvPr id="163" name="Google Shape;163;p20"/>
          <p:cNvSpPr/>
          <p:nvPr/>
        </p:nvSpPr>
        <p:spPr>
          <a:xfrm>
            <a:off x="5550425" y="3363998"/>
            <a:ext cx="3022200" cy="942600"/>
          </a:xfrm>
          <a:prstGeom prst="wedgeRectCallout">
            <a:avLst>
              <a:gd fmla="val -124749" name="adj1"/>
              <a:gd fmla="val -834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t>Opera</a:t>
            </a:r>
            <a:r>
              <a:rPr lang="it"/>
              <a:t> su una struct Point cambiandone il contenuto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a:t>
            </a:r>
            <a:endParaRPr/>
          </a:p>
        </p:txBody>
      </p:sp>
      <p:sp>
        <p:nvSpPr>
          <p:cNvPr id="169" name="Google Shape;169;p21"/>
          <p:cNvSpPr txBox="1"/>
          <p:nvPr>
            <p:ph idx="1" type="body"/>
          </p:nvPr>
        </p:nvSpPr>
        <p:spPr>
          <a:xfrm>
            <a:off x="311700" y="1037228"/>
            <a:ext cx="3999900" cy="3074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marR="0" rtl="0" algn="l">
              <a:lnSpc>
                <a:spcPct val="115000"/>
              </a:lnSpc>
              <a:spcBef>
                <a:spcPts val="1200"/>
              </a:spcBef>
              <a:spcAft>
                <a:spcPts val="0"/>
              </a:spcAft>
              <a:buNone/>
            </a:pPr>
            <a:br>
              <a:rPr b="1" lang="it">
                <a:latin typeface="Consolas"/>
                <a:ea typeface="Consolas"/>
                <a:cs typeface="Consolas"/>
                <a:sym typeface="Consolas"/>
              </a:rPr>
            </a:br>
            <a:r>
              <a:rPr b="1" lang="it">
                <a:latin typeface="Consolas"/>
                <a:ea typeface="Consolas"/>
                <a:cs typeface="Consolas"/>
                <a:sym typeface="Consolas"/>
              </a:rPr>
              <a:t>  let p1 = Point{ x: 3, y: 4 };</a:t>
            </a:r>
            <a:br>
              <a:rPr b="1" lang="it">
                <a:latin typeface="Consolas"/>
                <a:ea typeface="Consolas"/>
                <a:cs typeface="Consolas"/>
                <a:sym typeface="Consolas"/>
              </a:rPr>
            </a:br>
            <a:r>
              <a:rPr b="1" lang="it">
                <a:latin typeface="Consolas"/>
                <a:ea typeface="Consolas"/>
                <a:cs typeface="Consolas"/>
                <a:sym typeface="Consolas"/>
              </a:rPr>
              <a:t>  let mut p2 = p1.mirror();</a:t>
            </a:r>
            <a:endParaRPr b="1">
              <a:latin typeface="Consolas"/>
              <a:ea typeface="Consolas"/>
              <a:cs typeface="Consolas"/>
              <a:sym typeface="Consolas"/>
            </a:endParaRPr>
          </a:p>
          <a:p>
            <a:pPr indent="0" lvl="0" marL="0" marR="0" rtl="0" algn="l">
              <a:lnSpc>
                <a:spcPct val="115000"/>
              </a:lnSpc>
              <a:spcBef>
                <a:spcPts val="1200"/>
              </a:spcBef>
              <a:spcAft>
                <a:spcPts val="0"/>
              </a:spcAft>
              <a:buNone/>
            </a:pPr>
            <a:r>
              <a:rPr b="1" lang="it">
                <a:latin typeface="Consolas"/>
                <a:ea typeface="Consolas"/>
                <a:cs typeface="Consolas"/>
                <a:sym typeface="Consolas"/>
              </a:rPr>
              <a:t>  let l1 = p2.length(); // l1: 5</a:t>
            </a:r>
            <a:endParaRPr b="1">
              <a:latin typeface="Consolas"/>
              <a:ea typeface="Consolas"/>
              <a:cs typeface="Consolas"/>
              <a:sym typeface="Consolas"/>
            </a:endParaRPr>
          </a:p>
          <a:p>
            <a:pPr indent="0" lvl="0" marL="0" marR="0" rtl="0" algn="l">
              <a:lnSpc>
                <a:spcPct val="115000"/>
              </a:lnSpc>
              <a:spcBef>
                <a:spcPts val="1200"/>
              </a:spcBef>
              <a:spcAft>
                <a:spcPts val="0"/>
              </a:spcAft>
              <a:buNone/>
            </a:pPr>
            <a:r>
              <a:rPr b="1" lang="it">
                <a:latin typeface="Consolas"/>
                <a:ea typeface="Consolas"/>
                <a:cs typeface="Consolas"/>
                <a:sym typeface="Consolas"/>
              </a:rPr>
              <a:t>  p2.scale(2);</a:t>
            </a:r>
            <a:endParaRPr b="1">
              <a:latin typeface="Consolas"/>
              <a:ea typeface="Consolas"/>
              <a:cs typeface="Consolas"/>
              <a:sym typeface="Consolas"/>
            </a:endParaRPr>
          </a:p>
          <a:p>
            <a:pPr indent="0" lvl="0" marL="0" marR="0" rtl="0" algn="l">
              <a:lnSpc>
                <a:spcPct val="115000"/>
              </a:lnSpc>
              <a:spcBef>
                <a:spcPts val="1200"/>
              </a:spcBef>
              <a:spcAft>
                <a:spcPts val="1200"/>
              </a:spcAft>
              <a:buNone/>
            </a:pPr>
            <a:r>
              <a:rPr b="1" lang="it">
                <a:latin typeface="Consolas"/>
                <a:ea typeface="Consolas"/>
                <a:cs typeface="Consolas"/>
                <a:sym typeface="Consolas"/>
              </a:rPr>
              <a:t>  let l2 = p2.length(); </a:t>
            </a:r>
            <a:br>
              <a:rPr b="1" lang="it">
                <a:latin typeface="Consolas"/>
                <a:ea typeface="Consolas"/>
                <a:cs typeface="Consolas"/>
                <a:sym typeface="Consolas"/>
              </a:rPr>
            </a:br>
            <a:r>
              <a:rPr b="1" lang="it">
                <a:latin typeface="Consolas"/>
                <a:ea typeface="Consolas"/>
                <a:cs typeface="Consolas"/>
                <a:sym typeface="Consolas"/>
              </a:rPr>
              <a:t>  // l2: 10</a:t>
            </a:r>
            <a:br>
              <a:rPr b="1" lang="it">
                <a:latin typeface="Consolas"/>
                <a:ea typeface="Consolas"/>
                <a:cs typeface="Consolas"/>
                <a:sym typeface="Consolas"/>
              </a:rPr>
            </a:br>
            <a:r>
              <a:rPr b="1" lang="it">
                <a:latin typeface="Consolas"/>
                <a:ea typeface="Consolas"/>
                <a:cs typeface="Consolas"/>
                <a:sym typeface="Consolas"/>
              </a:rPr>
              <a:t>}</a:t>
            </a:r>
            <a:endParaRPr b="1">
              <a:latin typeface="Consolas"/>
              <a:ea typeface="Consolas"/>
              <a:cs typeface="Consolas"/>
              <a:sym typeface="Consolas"/>
            </a:endParaRPr>
          </a:p>
        </p:txBody>
      </p:sp>
      <p:sp>
        <p:nvSpPr>
          <p:cNvPr id="170" name="Google Shape;170;p21"/>
          <p:cNvSpPr txBox="1"/>
          <p:nvPr>
            <p:ph idx="12" type="sldNum"/>
          </p:nvPr>
        </p:nvSpPr>
        <p:spPr>
          <a:xfrm>
            <a:off x="8472458" y="4786194"/>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71" name="Google Shape;171;p21"/>
          <p:cNvSpPr/>
          <p:nvPr/>
        </p:nvSpPr>
        <p:spPr>
          <a:xfrm>
            <a:off x="5550425" y="1171418"/>
            <a:ext cx="3022200" cy="942600"/>
          </a:xfrm>
          <a:prstGeom prst="wedgeRectCallout">
            <a:avLst>
              <a:gd fmla="val -129699" name="adj1"/>
              <a:gd fmla="val 5571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p1</a:t>
            </a:r>
            <a:r>
              <a:rPr lang="it"/>
              <a:t> non potrà più essere usato dopo questa linea: il suo valore è stato mosso nel parametro </a:t>
            </a:r>
            <a:r>
              <a:rPr b="1" lang="it">
                <a:solidFill>
                  <a:srgbClr val="0B5394"/>
                </a:solidFill>
                <a:latin typeface="Consolas"/>
                <a:ea typeface="Consolas"/>
                <a:cs typeface="Consolas"/>
                <a:sym typeface="Consolas"/>
              </a:rPr>
              <a:t>self</a:t>
            </a:r>
            <a:r>
              <a:rPr lang="it"/>
              <a:t> del metodo </a:t>
            </a:r>
            <a:r>
              <a:rPr b="1" lang="it">
                <a:solidFill>
                  <a:srgbClr val="0B5394"/>
                </a:solidFill>
                <a:latin typeface="Consolas"/>
                <a:ea typeface="Consolas"/>
                <a:cs typeface="Consolas"/>
                <a:sym typeface="Consolas"/>
              </a:rPr>
              <a:t>mirror()</a:t>
            </a:r>
            <a:r>
              <a:rPr lang="it"/>
              <a:t> </a:t>
            </a:r>
            <a:endParaRPr/>
          </a:p>
        </p:txBody>
      </p:sp>
      <p:sp>
        <p:nvSpPr>
          <p:cNvPr id="172" name="Google Shape;172;p21"/>
          <p:cNvSpPr/>
          <p:nvPr/>
        </p:nvSpPr>
        <p:spPr>
          <a:xfrm>
            <a:off x="5550425" y="2335028"/>
            <a:ext cx="3022200" cy="1067100"/>
          </a:xfrm>
          <a:prstGeom prst="wedgeRectCallout">
            <a:avLst>
              <a:gd fmla="val -146530" name="adj1"/>
              <a:gd fmla="val -2655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Al parametro </a:t>
            </a:r>
            <a:r>
              <a:rPr b="1" lang="it">
                <a:solidFill>
                  <a:srgbClr val="0B5394"/>
                </a:solidFill>
                <a:latin typeface="Consolas"/>
                <a:ea typeface="Consolas"/>
                <a:cs typeface="Consolas"/>
                <a:sym typeface="Consolas"/>
              </a:rPr>
              <a:t>self</a:t>
            </a:r>
            <a:r>
              <a:rPr lang="it"/>
              <a:t> del metodo </a:t>
            </a:r>
            <a:r>
              <a:rPr b="1" lang="it">
                <a:solidFill>
                  <a:srgbClr val="0B5394"/>
                </a:solidFill>
                <a:latin typeface="Consolas"/>
                <a:ea typeface="Consolas"/>
                <a:cs typeface="Consolas"/>
                <a:sym typeface="Consolas"/>
              </a:rPr>
              <a:t>length()</a:t>
            </a:r>
            <a:r>
              <a:rPr lang="it"/>
              <a:t> è stato legato un riferimento condiviso a </a:t>
            </a:r>
            <a:r>
              <a:rPr b="1" lang="it">
                <a:solidFill>
                  <a:srgbClr val="0B5394"/>
                </a:solidFill>
                <a:latin typeface="Consolas"/>
                <a:ea typeface="Consolas"/>
                <a:cs typeface="Consolas"/>
                <a:sym typeface="Consolas"/>
              </a:rPr>
              <a:t>p2</a:t>
            </a:r>
            <a:r>
              <a:rPr lang="it"/>
              <a:t>: tale riferimento cessa di esistere quando il metodo ritorna</a:t>
            </a:r>
            <a:endParaRPr/>
          </a:p>
        </p:txBody>
      </p:sp>
      <p:sp>
        <p:nvSpPr>
          <p:cNvPr id="173" name="Google Shape;173;p21"/>
          <p:cNvSpPr/>
          <p:nvPr/>
        </p:nvSpPr>
        <p:spPr>
          <a:xfrm>
            <a:off x="5550425" y="3551771"/>
            <a:ext cx="3022200" cy="1067100"/>
          </a:xfrm>
          <a:prstGeom prst="wedgeRectCallout">
            <a:avLst>
              <a:gd fmla="val -172767" name="adj1"/>
              <a:gd fmla="val -10903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Al parametro </a:t>
            </a:r>
            <a:r>
              <a:rPr b="1" lang="it">
                <a:solidFill>
                  <a:srgbClr val="0B5394"/>
                </a:solidFill>
                <a:latin typeface="Consolas"/>
                <a:ea typeface="Consolas"/>
                <a:cs typeface="Consolas"/>
                <a:sym typeface="Consolas"/>
              </a:rPr>
              <a:t>self</a:t>
            </a:r>
            <a:r>
              <a:rPr lang="it"/>
              <a:t> del metodo </a:t>
            </a:r>
            <a:r>
              <a:rPr b="1" lang="it">
                <a:solidFill>
                  <a:srgbClr val="0B5394"/>
                </a:solidFill>
                <a:latin typeface="Consolas"/>
                <a:ea typeface="Consolas"/>
                <a:cs typeface="Consolas"/>
                <a:sym typeface="Consolas"/>
              </a:rPr>
              <a:t>scale(...)</a:t>
            </a:r>
            <a:r>
              <a:rPr lang="it"/>
              <a:t> è stato legato un riferimento mutabile a </a:t>
            </a:r>
            <a:r>
              <a:rPr b="1" lang="it">
                <a:solidFill>
                  <a:srgbClr val="0B5394"/>
                </a:solidFill>
                <a:latin typeface="Consolas"/>
                <a:ea typeface="Consolas"/>
                <a:cs typeface="Consolas"/>
                <a:sym typeface="Consolas"/>
              </a:rPr>
              <a:t>p2</a:t>
            </a:r>
            <a:r>
              <a:rPr lang="it"/>
              <a:t>: tale riferimento cessa di esistere quando il metodo ritorna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Costruttori</a:t>
            </a:r>
            <a:endParaRPr/>
          </a:p>
        </p:txBody>
      </p:sp>
      <p:sp>
        <p:nvSpPr>
          <p:cNvPr id="179" name="Google Shape;17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A differenza di quanto capita in altri linguaggi, in Rust non esiste il concetto di costruttore</a:t>
            </a:r>
            <a:endParaRPr/>
          </a:p>
          <a:p>
            <a:pPr indent="-317500" lvl="1" marL="914400" rtl="0" algn="l">
              <a:spcBef>
                <a:spcPts val="0"/>
              </a:spcBef>
              <a:spcAft>
                <a:spcPts val="0"/>
              </a:spcAft>
              <a:buSzPts val="1400"/>
              <a:buChar char="○"/>
            </a:pPr>
            <a:r>
              <a:rPr lang="it"/>
              <a:t>Qualunque frammento di codice che abbia visibilità di una data struct e dei suoi campi, può crearne un’istanza, indicando un valore per ciascun campo</a:t>
            </a:r>
            <a:endParaRPr/>
          </a:p>
          <a:p>
            <a:pPr indent="-317500" lvl="1" marL="914400" rtl="0" algn="l">
              <a:spcBef>
                <a:spcPts val="0"/>
              </a:spcBef>
              <a:spcAft>
                <a:spcPts val="0"/>
              </a:spcAft>
              <a:buSzPts val="1400"/>
              <a:buChar char="○"/>
            </a:pPr>
            <a:r>
              <a:rPr lang="it"/>
              <a:t>Questo garantisce che il programmatore sia consapevole delle informazioni contenute al suo interno</a:t>
            </a:r>
            <a:endParaRPr/>
          </a:p>
          <a:p>
            <a:pPr indent="-342900" lvl="0" marL="457200" rtl="0" algn="l">
              <a:spcBef>
                <a:spcPts val="0"/>
              </a:spcBef>
              <a:spcAft>
                <a:spcPts val="0"/>
              </a:spcAft>
              <a:buSzPts val="1800"/>
              <a:buChar char="●"/>
            </a:pPr>
            <a:r>
              <a:rPr lang="it"/>
              <a:t>Per evitare significative duplicazioni di codice e favorire l’incapsulamento, le implementazioni spesso includono metodi statici per l’inizializzazione delle istanze</a:t>
            </a:r>
            <a:endParaRPr/>
          </a:p>
          <a:p>
            <a:pPr indent="-317500" lvl="1" marL="914400" rtl="0" algn="l">
              <a:spcBef>
                <a:spcPts val="0"/>
              </a:spcBef>
              <a:spcAft>
                <a:spcPts val="0"/>
              </a:spcAft>
              <a:buSzPts val="1400"/>
              <a:buChar char="○"/>
            </a:pPr>
            <a:r>
              <a:rPr lang="it"/>
              <a:t>Per convenzione, un metodo di questo tipo viene chiamato </a:t>
            </a:r>
            <a:br>
              <a:rPr lang="it"/>
            </a:br>
            <a:r>
              <a:rPr b="1" lang="it">
                <a:solidFill>
                  <a:srgbClr val="0B5394"/>
                </a:solidFill>
                <a:latin typeface="Consolas"/>
                <a:ea typeface="Consolas"/>
                <a:cs typeface="Consolas"/>
                <a:sym typeface="Consolas"/>
              </a:rPr>
              <a:t>pub fn new() -&gt; </a:t>
            </a:r>
            <a:r>
              <a:rPr b="1" lang="it">
                <a:solidFill>
                  <a:srgbClr val="0B5394"/>
                </a:solidFill>
                <a:latin typeface="Consolas"/>
                <a:ea typeface="Consolas"/>
                <a:cs typeface="Consolas"/>
                <a:sym typeface="Consolas"/>
              </a:rPr>
              <a:t>Self</a:t>
            </a:r>
            <a:r>
              <a:rPr b="1" lang="it">
                <a:solidFill>
                  <a:srgbClr val="0B5394"/>
                </a:solidFill>
                <a:latin typeface="Consolas"/>
                <a:ea typeface="Consolas"/>
                <a:cs typeface="Consolas"/>
                <a:sym typeface="Consolas"/>
              </a:rPr>
              <a:t> {...}</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Poiché Rust non supporta l’overloading delle funzioni, se servono più funzioni di inizializzazione, ciascuna di esse avrà un nome differente: in questo caso la convenzione è utilizzare un pattern come </a:t>
            </a:r>
            <a:r>
              <a:rPr b="1" lang="it">
                <a:solidFill>
                  <a:srgbClr val="0B5394"/>
                </a:solidFill>
                <a:latin typeface="Consolas"/>
                <a:ea typeface="Consolas"/>
                <a:cs typeface="Consolas"/>
                <a:sym typeface="Consolas"/>
              </a:rPr>
              <a:t>pub fn with_</a:t>
            </a:r>
            <a:r>
              <a:rPr b="1" i="1" lang="it">
                <a:solidFill>
                  <a:srgbClr val="0B5394"/>
                </a:solidFill>
                <a:latin typeface="Consolas"/>
                <a:ea typeface="Consolas"/>
                <a:cs typeface="Consolas"/>
                <a:sym typeface="Consolas"/>
              </a:rPr>
              <a:t>details</a:t>
            </a:r>
            <a:r>
              <a:rPr b="1" lang="it">
                <a:solidFill>
                  <a:srgbClr val="0B5394"/>
                </a:solidFill>
                <a:latin typeface="Consolas"/>
                <a:ea typeface="Consolas"/>
                <a:cs typeface="Consolas"/>
                <a:sym typeface="Consolas"/>
              </a:rPr>
              <a:t>(...) -&gt; Self {...}</a:t>
            </a:r>
            <a:endParaRPr b="1">
              <a:solidFill>
                <a:srgbClr val="0B5394"/>
              </a:solidFill>
            </a:endParaRPr>
          </a:p>
        </p:txBody>
      </p:sp>
      <p:sp>
        <p:nvSpPr>
          <p:cNvPr id="180" name="Google Shape;180;p2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Gestione delle risorse</a:t>
            </a:r>
            <a:endParaRPr/>
          </a:p>
        </p:txBody>
      </p:sp>
      <p:sp>
        <p:nvSpPr>
          <p:cNvPr id="186" name="Google Shape;18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Se una struttura contiene al proprio interno risorse la cui semantica richiede una esplicita gestione del ciclo di vita, occorre fare in modo che, quando la struttura cessa di esistere, tali risorse siano liberate</a:t>
            </a:r>
            <a:endParaRPr/>
          </a:p>
          <a:p>
            <a:pPr indent="-317500" lvl="1" marL="914400" rtl="0" algn="l">
              <a:spcBef>
                <a:spcPts val="0"/>
              </a:spcBef>
              <a:spcAft>
                <a:spcPts val="0"/>
              </a:spcAft>
              <a:buSzPts val="1400"/>
              <a:buChar char="○"/>
            </a:pPr>
            <a:r>
              <a:rPr lang="it"/>
              <a:t>Questo compito è affidato ad una funzione speciale detta </a:t>
            </a:r>
            <a:r>
              <a:rPr b="1" lang="it">
                <a:solidFill>
                  <a:srgbClr val="0B5394"/>
                </a:solidFill>
              </a:rPr>
              <a:t>distruttore</a:t>
            </a:r>
            <a:endParaRPr b="1">
              <a:solidFill>
                <a:srgbClr val="0B5394"/>
              </a:solidFill>
            </a:endParaRPr>
          </a:p>
          <a:p>
            <a:pPr indent="-317500" lvl="1" marL="914400" rtl="0" algn="l">
              <a:spcBef>
                <a:spcPts val="0"/>
              </a:spcBef>
              <a:spcAft>
                <a:spcPts val="0"/>
              </a:spcAft>
              <a:buSzPts val="1400"/>
              <a:buChar char="○"/>
            </a:pPr>
            <a:r>
              <a:rPr lang="it"/>
              <a:t>Il suo scopo è liberare le risorse non gestite esplicitamente dal compilatore (chiusura di un file, rilascio di un lock, terminazione di una connessione di rete, …)</a:t>
            </a:r>
            <a:endParaRPr/>
          </a:p>
          <a:p>
            <a:pPr indent="-342900" lvl="0" marL="457200" rtl="0" algn="l">
              <a:spcBef>
                <a:spcPts val="0"/>
              </a:spcBef>
              <a:spcAft>
                <a:spcPts val="0"/>
              </a:spcAft>
              <a:buSzPts val="1800"/>
              <a:buChar char="●"/>
            </a:pPr>
            <a:r>
              <a:rPr lang="it"/>
              <a:t>Rust segue il paradigma RAII - </a:t>
            </a:r>
            <a:r>
              <a:rPr i="1" lang="it"/>
              <a:t>Resource Acquisition Is Initialization</a:t>
            </a:r>
            <a:r>
              <a:rPr lang="it"/>
              <a:t>  	</a:t>
            </a:r>
            <a:endParaRPr/>
          </a:p>
          <a:p>
            <a:pPr indent="-317500" lvl="1" marL="914400" rtl="0" algn="l">
              <a:spcBef>
                <a:spcPts val="0"/>
              </a:spcBef>
              <a:spcAft>
                <a:spcPts val="0"/>
              </a:spcAft>
              <a:buSzPts val="1400"/>
              <a:buChar char="○"/>
            </a:pPr>
            <a:r>
              <a:rPr lang="it"/>
              <a:t>L'acquisizione delle risorse avviene alla creazione, il rilascio alla distruzione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Resource Acquisition Is Initialization (RAII)</a:t>
            </a:r>
            <a:endParaRPr/>
          </a:p>
        </p:txBody>
      </p:sp>
      <p:sp>
        <p:nvSpPr>
          <p:cNvPr id="192" name="Google Shape;19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Le risorse sono incapsulate in una classe (struttura) in cui:</a:t>
            </a:r>
            <a:endParaRPr/>
          </a:p>
          <a:p>
            <a:pPr indent="-317500" lvl="1" marL="914400" rtl="0" algn="l">
              <a:spcBef>
                <a:spcPts val="0"/>
              </a:spcBef>
              <a:spcAft>
                <a:spcPts val="0"/>
              </a:spcAft>
              <a:buSzPts val="1400"/>
              <a:buChar char="○"/>
            </a:pPr>
            <a:r>
              <a:rPr lang="it"/>
              <a:t>il </a:t>
            </a:r>
            <a:r>
              <a:rPr b="1" lang="it">
                <a:solidFill>
                  <a:srgbClr val="0B5394"/>
                </a:solidFill>
              </a:rPr>
              <a:t>costruttore</a:t>
            </a:r>
            <a:r>
              <a:rPr lang="it"/>
              <a:t> acquisisce le risorse e stabilisce eventuali invarianti, oppure lancia un’eccezione se non può essere fatto</a:t>
            </a:r>
            <a:endParaRPr/>
          </a:p>
          <a:p>
            <a:pPr indent="-317500" lvl="1" marL="914400" rtl="0" algn="l">
              <a:spcBef>
                <a:spcPts val="0"/>
              </a:spcBef>
              <a:spcAft>
                <a:spcPts val="0"/>
              </a:spcAft>
              <a:buSzPts val="1400"/>
              <a:buChar char="○"/>
            </a:pPr>
            <a:r>
              <a:rPr lang="it"/>
              <a:t>il </a:t>
            </a:r>
            <a:r>
              <a:rPr b="1" lang="it">
                <a:solidFill>
                  <a:srgbClr val="0B5394"/>
                </a:solidFill>
              </a:rPr>
              <a:t>distruttore</a:t>
            </a:r>
            <a:r>
              <a:rPr lang="it"/>
              <a:t> rilascia le risorse e </a:t>
            </a:r>
            <a:r>
              <a:rPr b="1" i="1" lang="it">
                <a:solidFill>
                  <a:srgbClr val="0B5394"/>
                </a:solidFill>
              </a:rPr>
              <a:t>NON</a:t>
            </a:r>
            <a:r>
              <a:rPr lang="it"/>
              <a:t> lancia mai eccezioni</a:t>
            </a:r>
            <a:endParaRPr/>
          </a:p>
          <a:p>
            <a:pPr indent="-342900" lvl="0" marL="457200" rtl="0" algn="l">
              <a:spcBef>
                <a:spcPts val="0"/>
              </a:spcBef>
              <a:spcAft>
                <a:spcPts val="0"/>
              </a:spcAft>
              <a:buSzPts val="1800"/>
              <a:buChar char="●"/>
            </a:pPr>
            <a:r>
              <a:rPr lang="it"/>
              <a:t>Si usano le risorse attraverso l’istanza di una classe RAII-compatibile che:</a:t>
            </a:r>
            <a:endParaRPr/>
          </a:p>
          <a:p>
            <a:pPr indent="-317500" lvl="1" marL="914400" rtl="0" algn="l">
              <a:spcBef>
                <a:spcPts val="0"/>
              </a:spcBef>
              <a:spcAft>
                <a:spcPts val="0"/>
              </a:spcAft>
              <a:buSzPts val="1400"/>
              <a:buChar char="○"/>
            </a:pPr>
            <a:r>
              <a:rPr lang="it"/>
              <a:t>ha una gestione automatica delle durata di tutte le risorse, </a:t>
            </a:r>
            <a:r>
              <a:rPr b="1" lang="it">
                <a:solidFill>
                  <a:srgbClr val="0B5394"/>
                </a:solidFill>
              </a:rPr>
              <a:t>oppure</a:t>
            </a:r>
            <a:endParaRPr b="1">
              <a:solidFill>
                <a:srgbClr val="0B5394"/>
              </a:solidFill>
            </a:endParaRPr>
          </a:p>
          <a:p>
            <a:pPr indent="-317500" lvl="1" marL="914400" rtl="0" algn="l">
              <a:spcBef>
                <a:spcPts val="0"/>
              </a:spcBef>
              <a:spcAft>
                <a:spcPts val="0"/>
              </a:spcAft>
              <a:buSzPts val="1400"/>
              <a:buChar char="○"/>
            </a:pPr>
            <a:r>
              <a:rPr lang="it"/>
              <a:t>ha un ciclo di vita connesso al ciclo di vita di un altro oggetto (ad es., è parte di esso)</a:t>
            </a:r>
            <a:endParaRPr/>
          </a:p>
          <a:p>
            <a:pPr indent="-342900" lvl="0" marL="457200" rtl="0" algn="l">
              <a:spcBef>
                <a:spcPts val="0"/>
              </a:spcBef>
              <a:spcAft>
                <a:spcPts val="0"/>
              </a:spcAft>
              <a:buSzPts val="1800"/>
              <a:buChar char="●"/>
            </a:pPr>
            <a:r>
              <a:rPr lang="it"/>
              <a:t>In questo contesto, la presenza della semantica del </a:t>
            </a:r>
            <a:r>
              <a:rPr b="1" i="1" lang="it">
                <a:solidFill>
                  <a:srgbClr val="0B5394"/>
                </a:solidFill>
              </a:rPr>
              <a:t>m</a:t>
            </a:r>
            <a:r>
              <a:rPr b="1" i="1" lang="it">
                <a:solidFill>
                  <a:srgbClr val="0B5394"/>
                </a:solidFill>
              </a:rPr>
              <a:t>ovimento</a:t>
            </a:r>
            <a:r>
              <a:rPr lang="it"/>
              <a:t>, garantisce il corretto trasferimento delle risorse, mantenendo la sicurezza del rilascio</a:t>
            </a:r>
            <a:endParaRPr/>
          </a:p>
        </p:txBody>
      </p:sp>
      <p:sp>
        <p:nvSpPr>
          <p:cNvPr id="193" name="Google Shape;193;p2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Distruttori</a:t>
            </a:r>
            <a:endParaRPr/>
          </a:p>
        </p:txBody>
      </p:sp>
      <p:sp>
        <p:nvSpPr>
          <p:cNvPr id="199" name="Google Shape;19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Rust gestisce il rilascio di risorse contenute in un’istanza attraverso il tratto </a:t>
            </a:r>
            <a:r>
              <a:rPr b="1" lang="it">
                <a:solidFill>
                  <a:srgbClr val="0B5394"/>
                </a:solidFill>
                <a:latin typeface="Consolas"/>
                <a:ea typeface="Consolas"/>
                <a:cs typeface="Consolas"/>
                <a:sym typeface="Consolas"/>
              </a:rPr>
              <a:t>Drop</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Tale tratto è costituito dalla sola funzione </a:t>
            </a:r>
            <a:r>
              <a:rPr b="1" lang="it">
                <a:solidFill>
                  <a:srgbClr val="0B5394"/>
                </a:solidFill>
                <a:latin typeface="Consolas"/>
                <a:ea typeface="Consolas"/>
                <a:cs typeface="Consolas"/>
                <a:sym typeface="Consolas"/>
              </a:rPr>
              <a:t>drop(&amp;mut self) -&gt; ()</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Il compilatore riconosce la presenza di questo tratto nei tipi definiti dall’utente e provvederà a chiamare la funzione che lo costituisce quando le variabili di quel tipo escono dal proprio scope sintattico </a:t>
            </a:r>
            <a:endParaRPr/>
          </a:p>
          <a:p>
            <a:pPr indent="-317500" lvl="1" marL="914400" rtl="0" algn="l">
              <a:spcBef>
                <a:spcPts val="0"/>
              </a:spcBef>
              <a:spcAft>
                <a:spcPts val="0"/>
              </a:spcAft>
              <a:buSzPts val="1400"/>
              <a:buChar char="○"/>
            </a:pPr>
            <a:r>
              <a:rPr lang="it"/>
              <a:t>Si può forzare il rilascio delle risorse contenute in un oggetto usando la funzione </a:t>
            </a:r>
            <a:r>
              <a:rPr b="1" lang="it">
                <a:solidFill>
                  <a:srgbClr val="0B5394"/>
                </a:solidFill>
                <a:latin typeface="Consolas"/>
                <a:ea typeface="Consolas"/>
                <a:cs typeface="Consolas"/>
                <a:sym typeface="Consolas"/>
              </a:rPr>
              <a:t>drop(some_object);</a:t>
            </a:r>
            <a:r>
              <a:rPr lang="it"/>
              <a:t> che ne acquisisce il contenuto e determina l’uscita dallo scope</a:t>
            </a:r>
            <a:endParaRPr/>
          </a:p>
        </p:txBody>
      </p:sp>
      <p:sp>
        <p:nvSpPr>
          <p:cNvPr id="200" name="Google Shape;200;p25"/>
          <p:cNvSpPr txBox="1"/>
          <p:nvPr/>
        </p:nvSpPr>
        <p:spPr>
          <a:xfrm>
            <a:off x="633500" y="3267225"/>
            <a:ext cx="3633000" cy="12189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it" sz="1200">
                <a:solidFill>
                  <a:srgbClr val="8959A8"/>
                </a:solidFill>
                <a:latin typeface="Consolas"/>
                <a:ea typeface="Consolas"/>
                <a:cs typeface="Consolas"/>
                <a:sym typeface="Consolas"/>
              </a:rPr>
              <a:t>pub struct</a:t>
            </a:r>
            <a:r>
              <a:rPr b="1" lang="it" sz="1200">
                <a:solidFill>
                  <a:srgbClr val="333333"/>
                </a:solidFill>
                <a:latin typeface="Consolas"/>
                <a:ea typeface="Consolas"/>
                <a:cs typeface="Consolas"/>
                <a:sym typeface="Consolas"/>
              </a:rPr>
              <a:t> </a:t>
            </a:r>
            <a:r>
              <a:rPr b="1" lang="it" sz="1200">
                <a:solidFill>
                  <a:schemeClr val="dk1"/>
                </a:solidFill>
                <a:latin typeface="Consolas"/>
                <a:ea typeface="Consolas"/>
                <a:cs typeface="Consolas"/>
                <a:sym typeface="Consolas"/>
              </a:rPr>
              <a:t>Shape </a:t>
            </a:r>
            <a:r>
              <a:rPr b="1" lang="it" sz="1200">
                <a:solidFill>
                  <a:srgbClr val="333333"/>
                </a:solidFill>
                <a:latin typeface="Consolas"/>
                <a:ea typeface="Consolas"/>
                <a:cs typeface="Consolas"/>
                <a:sym typeface="Consolas"/>
              </a:rPr>
              <a:t>{</a:t>
            </a:r>
            <a:endParaRPr b="1" sz="1200">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sz="1200">
                <a:solidFill>
                  <a:srgbClr val="333333"/>
                </a:solidFill>
                <a:latin typeface="Consolas"/>
                <a:ea typeface="Consolas"/>
                <a:cs typeface="Consolas"/>
                <a:sym typeface="Consolas"/>
              </a:rPr>
              <a:t>  </a:t>
            </a:r>
            <a:r>
              <a:rPr b="1" lang="it" sz="1200">
                <a:solidFill>
                  <a:srgbClr val="8959A8"/>
                </a:solidFill>
                <a:latin typeface="Consolas"/>
                <a:ea typeface="Consolas"/>
                <a:cs typeface="Consolas"/>
                <a:sym typeface="Consolas"/>
              </a:rPr>
              <a:t>pub</a:t>
            </a:r>
            <a:r>
              <a:rPr b="1" lang="it" sz="1200">
                <a:solidFill>
                  <a:srgbClr val="333333"/>
                </a:solidFill>
                <a:latin typeface="Consolas"/>
                <a:ea typeface="Consolas"/>
                <a:cs typeface="Consolas"/>
                <a:sym typeface="Consolas"/>
              </a:rPr>
              <a:t> position: </a:t>
            </a:r>
            <a:r>
              <a:rPr b="1" lang="it" sz="1200">
                <a:solidFill>
                  <a:srgbClr val="8959A8"/>
                </a:solidFill>
                <a:latin typeface="Consolas"/>
                <a:ea typeface="Consolas"/>
                <a:cs typeface="Consolas"/>
                <a:sym typeface="Consolas"/>
              </a:rPr>
              <a:t>(f64, f64)</a:t>
            </a:r>
            <a:r>
              <a:rPr b="1" lang="it" sz="1200">
                <a:solidFill>
                  <a:srgbClr val="333333"/>
                </a:solidFill>
                <a:latin typeface="Consolas"/>
                <a:ea typeface="Consolas"/>
                <a:cs typeface="Consolas"/>
                <a:sym typeface="Consolas"/>
              </a:rPr>
              <a:t>,</a:t>
            </a:r>
            <a:endParaRPr b="1" sz="1200">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sz="1200">
                <a:solidFill>
                  <a:srgbClr val="333333"/>
                </a:solidFill>
                <a:latin typeface="Consolas"/>
                <a:ea typeface="Consolas"/>
                <a:cs typeface="Consolas"/>
                <a:sym typeface="Consolas"/>
              </a:rPr>
              <a:t>  </a:t>
            </a:r>
            <a:r>
              <a:rPr b="1" lang="it" sz="1200">
                <a:solidFill>
                  <a:srgbClr val="8959A8"/>
                </a:solidFill>
                <a:latin typeface="Consolas"/>
                <a:ea typeface="Consolas"/>
                <a:cs typeface="Consolas"/>
                <a:sym typeface="Consolas"/>
              </a:rPr>
              <a:t>pub</a:t>
            </a:r>
            <a:r>
              <a:rPr b="1" lang="it" sz="1200">
                <a:solidFill>
                  <a:srgbClr val="333333"/>
                </a:solidFill>
                <a:latin typeface="Consolas"/>
                <a:ea typeface="Consolas"/>
                <a:cs typeface="Consolas"/>
                <a:sym typeface="Consolas"/>
              </a:rPr>
              <a:t> size: </a:t>
            </a:r>
            <a:r>
              <a:rPr b="1" lang="it" sz="1200">
                <a:solidFill>
                  <a:srgbClr val="8959A8"/>
                </a:solidFill>
                <a:latin typeface="Consolas"/>
                <a:ea typeface="Consolas"/>
                <a:cs typeface="Consolas"/>
                <a:sym typeface="Consolas"/>
              </a:rPr>
              <a:t>(f64, f64)</a:t>
            </a:r>
            <a:r>
              <a:rPr b="1" lang="it" sz="1200">
                <a:solidFill>
                  <a:srgbClr val="333333"/>
                </a:solidFill>
                <a:latin typeface="Consolas"/>
                <a:ea typeface="Consolas"/>
                <a:cs typeface="Consolas"/>
                <a:sym typeface="Consolas"/>
              </a:rPr>
              <a:t>,</a:t>
            </a:r>
            <a:endParaRPr b="1" sz="1200">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sz="1200">
                <a:solidFill>
                  <a:srgbClr val="333333"/>
                </a:solidFill>
                <a:latin typeface="Consolas"/>
                <a:ea typeface="Consolas"/>
                <a:cs typeface="Consolas"/>
                <a:sym typeface="Consolas"/>
              </a:rPr>
              <a:t>  </a:t>
            </a:r>
            <a:r>
              <a:rPr b="1" lang="it" sz="1200">
                <a:solidFill>
                  <a:srgbClr val="8959A8"/>
                </a:solidFill>
                <a:latin typeface="Consolas"/>
                <a:ea typeface="Consolas"/>
                <a:cs typeface="Consolas"/>
                <a:sym typeface="Consolas"/>
              </a:rPr>
              <a:t>pub</a:t>
            </a:r>
            <a:r>
              <a:rPr b="1" lang="it" sz="1200">
                <a:solidFill>
                  <a:srgbClr val="333333"/>
                </a:solidFill>
                <a:latin typeface="Consolas"/>
                <a:ea typeface="Consolas"/>
                <a:cs typeface="Consolas"/>
                <a:sym typeface="Consolas"/>
              </a:rPr>
              <a:t> type: </a:t>
            </a:r>
            <a:r>
              <a:rPr b="1" lang="it" sz="1200">
                <a:solidFill>
                  <a:srgbClr val="8959A8"/>
                </a:solidFill>
                <a:latin typeface="Consolas"/>
                <a:ea typeface="Consolas"/>
                <a:cs typeface="Consolas"/>
                <a:sym typeface="Consolas"/>
              </a:rPr>
              <a:t>String</a:t>
            </a:r>
            <a:endParaRPr b="1" sz="1200">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sz="1200">
                <a:solidFill>
                  <a:srgbClr val="333333"/>
                </a:solidFill>
                <a:latin typeface="Consolas"/>
                <a:ea typeface="Consolas"/>
                <a:cs typeface="Consolas"/>
                <a:sym typeface="Consolas"/>
              </a:rPr>
              <a:t>}</a:t>
            </a:r>
            <a:endParaRPr b="1" sz="1200">
              <a:solidFill>
                <a:srgbClr val="0101FD"/>
              </a:solidFill>
              <a:latin typeface="Consolas"/>
              <a:ea typeface="Consolas"/>
              <a:cs typeface="Consolas"/>
              <a:sym typeface="Consolas"/>
            </a:endParaRPr>
          </a:p>
        </p:txBody>
      </p:sp>
      <p:sp>
        <p:nvSpPr>
          <p:cNvPr id="201" name="Google Shape;201;p25"/>
          <p:cNvSpPr txBox="1"/>
          <p:nvPr/>
        </p:nvSpPr>
        <p:spPr>
          <a:xfrm>
            <a:off x="4770325" y="3267225"/>
            <a:ext cx="3633000" cy="1301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it" sz="1200">
                <a:solidFill>
                  <a:srgbClr val="8959A8"/>
                </a:solidFill>
                <a:latin typeface="Consolas"/>
                <a:ea typeface="Consolas"/>
                <a:cs typeface="Consolas"/>
                <a:sym typeface="Consolas"/>
              </a:rPr>
              <a:t>impl </a:t>
            </a:r>
            <a:r>
              <a:rPr b="1" lang="it" sz="1200">
                <a:solidFill>
                  <a:srgbClr val="F5871F"/>
                </a:solidFill>
                <a:latin typeface="Consolas"/>
                <a:ea typeface="Consolas"/>
                <a:cs typeface="Consolas"/>
                <a:sym typeface="Consolas"/>
              </a:rPr>
              <a:t>Drop</a:t>
            </a:r>
            <a:r>
              <a:rPr b="1" lang="it" sz="1200">
                <a:solidFill>
                  <a:srgbClr val="333333"/>
                </a:solidFill>
                <a:latin typeface="Consolas"/>
                <a:ea typeface="Consolas"/>
                <a:cs typeface="Consolas"/>
                <a:sym typeface="Consolas"/>
              </a:rPr>
              <a:t> </a:t>
            </a:r>
            <a:r>
              <a:rPr b="1" lang="it" sz="1200">
                <a:solidFill>
                  <a:srgbClr val="8959A8"/>
                </a:solidFill>
                <a:latin typeface="Consolas"/>
                <a:ea typeface="Consolas"/>
                <a:cs typeface="Consolas"/>
                <a:sym typeface="Consolas"/>
              </a:rPr>
              <a:t>for</a:t>
            </a:r>
            <a:r>
              <a:rPr b="1" lang="it" sz="1200">
                <a:solidFill>
                  <a:srgbClr val="333333"/>
                </a:solidFill>
                <a:latin typeface="Consolas"/>
                <a:ea typeface="Consolas"/>
                <a:cs typeface="Consolas"/>
                <a:sym typeface="Consolas"/>
              </a:rPr>
              <a:t> Shape {</a:t>
            </a:r>
            <a:endParaRPr b="1" sz="1200">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None/>
            </a:pPr>
            <a:r>
              <a:t/>
            </a:r>
            <a:endParaRPr b="1" sz="1200">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None/>
            </a:pPr>
            <a:r>
              <a:rPr b="1" lang="it" sz="1200">
                <a:solidFill>
                  <a:srgbClr val="333333"/>
                </a:solidFill>
                <a:latin typeface="Consolas"/>
                <a:ea typeface="Consolas"/>
                <a:cs typeface="Consolas"/>
                <a:sym typeface="Consolas"/>
              </a:rPr>
              <a:t>    </a:t>
            </a:r>
            <a:r>
              <a:rPr b="1" lang="it" sz="1200">
                <a:solidFill>
                  <a:srgbClr val="8959A8"/>
                </a:solidFill>
                <a:latin typeface="Consolas"/>
                <a:ea typeface="Consolas"/>
                <a:cs typeface="Consolas"/>
                <a:sym typeface="Consolas"/>
              </a:rPr>
              <a:t>fn</a:t>
            </a:r>
            <a:r>
              <a:rPr b="1" lang="it" sz="1200">
                <a:solidFill>
                  <a:srgbClr val="4271AE"/>
                </a:solidFill>
                <a:latin typeface="Consolas"/>
                <a:ea typeface="Consolas"/>
                <a:cs typeface="Consolas"/>
                <a:sym typeface="Consolas"/>
              </a:rPr>
              <a:t> </a:t>
            </a:r>
            <a:r>
              <a:rPr b="1" lang="it" sz="1200">
                <a:solidFill>
                  <a:schemeClr val="dk1"/>
                </a:solidFill>
                <a:latin typeface="Consolas"/>
                <a:ea typeface="Consolas"/>
                <a:cs typeface="Consolas"/>
                <a:sym typeface="Consolas"/>
              </a:rPr>
              <a:t>drop</a:t>
            </a:r>
            <a:r>
              <a:rPr b="1" lang="it" sz="1200">
                <a:solidFill>
                  <a:srgbClr val="333333"/>
                </a:solidFill>
                <a:latin typeface="Consolas"/>
                <a:ea typeface="Consolas"/>
                <a:cs typeface="Consolas"/>
                <a:sym typeface="Consolas"/>
              </a:rPr>
              <a:t>(&amp;</a:t>
            </a:r>
            <a:r>
              <a:rPr b="1" lang="it" sz="1200">
                <a:solidFill>
                  <a:srgbClr val="8959A8"/>
                </a:solidFill>
                <a:latin typeface="Consolas"/>
                <a:ea typeface="Consolas"/>
                <a:cs typeface="Consolas"/>
                <a:sym typeface="Consolas"/>
              </a:rPr>
              <a:t>mut</a:t>
            </a:r>
            <a:r>
              <a:rPr b="1" lang="it" sz="1200">
                <a:solidFill>
                  <a:srgbClr val="333333"/>
                </a:solidFill>
                <a:latin typeface="Consolas"/>
                <a:ea typeface="Consolas"/>
                <a:cs typeface="Consolas"/>
                <a:sym typeface="Consolas"/>
              </a:rPr>
              <a:t> </a:t>
            </a:r>
            <a:r>
              <a:rPr b="1" lang="it" sz="1200">
                <a:solidFill>
                  <a:srgbClr val="8959A8"/>
                </a:solidFill>
                <a:latin typeface="Consolas"/>
                <a:ea typeface="Consolas"/>
                <a:cs typeface="Consolas"/>
                <a:sym typeface="Consolas"/>
              </a:rPr>
              <a:t>self</a:t>
            </a:r>
            <a:r>
              <a:rPr b="1" lang="it" sz="1200">
                <a:solidFill>
                  <a:srgbClr val="333333"/>
                </a:solidFill>
                <a:latin typeface="Consolas"/>
                <a:ea typeface="Consolas"/>
                <a:cs typeface="Consolas"/>
                <a:sym typeface="Consolas"/>
              </a:rPr>
              <a:t>) {</a:t>
            </a:r>
            <a:endParaRPr b="1" sz="1200">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None/>
            </a:pPr>
            <a:r>
              <a:rPr b="1" lang="it" sz="1200">
                <a:solidFill>
                  <a:srgbClr val="333333"/>
                </a:solidFill>
                <a:latin typeface="Consolas"/>
                <a:ea typeface="Consolas"/>
                <a:cs typeface="Consolas"/>
                <a:sym typeface="Consolas"/>
              </a:rPr>
              <a:t>        </a:t>
            </a:r>
            <a:r>
              <a:rPr b="1" lang="it" sz="1200">
                <a:solidFill>
                  <a:srgbClr val="F5871F"/>
                </a:solidFill>
                <a:latin typeface="Consolas"/>
                <a:ea typeface="Consolas"/>
                <a:cs typeface="Consolas"/>
                <a:sym typeface="Consolas"/>
              </a:rPr>
              <a:t>println!</a:t>
            </a:r>
            <a:r>
              <a:rPr b="1" lang="it" sz="1200">
                <a:solidFill>
                  <a:srgbClr val="333333"/>
                </a:solidFill>
                <a:latin typeface="Consolas"/>
                <a:ea typeface="Consolas"/>
                <a:cs typeface="Consolas"/>
                <a:sym typeface="Consolas"/>
              </a:rPr>
              <a:t>(</a:t>
            </a:r>
            <a:r>
              <a:rPr b="1" lang="it" sz="1200">
                <a:solidFill>
                  <a:srgbClr val="718C00"/>
                </a:solidFill>
                <a:latin typeface="Consolas"/>
                <a:ea typeface="Consolas"/>
                <a:cs typeface="Consolas"/>
                <a:sym typeface="Consolas"/>
              </a:rPr>
              <a:t>"Dropping shape!"</a:t>
            </a:r>
            <a:r>
              <a:rPr b="1" lang="it" sz="1200">
                <a:solidFill>
                  <a:srgbClr val="333333"/>
                </a:solidFill>
                <a:latin typeface="Consolas"/>
                <a:ea typeface="Consolas"/>
                <a:cs typeface="Consolas"/>
                <a:sym typeface="Consolas"/>
              </a:rPr>
              <a:t>);</a:t>
            </a:r>
            <a:endParaRPr b="1" sz="1200">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None/>
            </a:pPr>
            <a:r>
              <a:rPr b="1" lang="it" sz="1200">
                <a:solidFill>
                  <a:srgbClr val="333333"/>
                </a:solidFill>
                <a:latin typeface="Consolas"/>
                <a:ea typeface="Consolas"/>
                <a:cs typeface="Consolas"/>
                <a:sym typeface="Consolas"/>
              </a:rPr>
              <a:t>    }</a:t>
            </a:r>
            <a:endParaRPr b="1" sz="1200">
              <a:solidFill>
                <a:srgbClr val="8E908C"/>
              </a:solidFill>
              <a:latin typeface="Consolas"/>
              <a:ea typeface="Consolas"/>
              <a:cs typeface="Consolas"/>
              <a:sym typeface="Consolas"/>
            </a:endParaRPr>
          </a:p>
          <a:p>
            <a:pPr indent="0" lvl="0" marL="0" marR="0" rtl="0" algn="l">
              <a:lnSpc>
                <a:spcPct val="100000"/>
              </a:lnSpc>
              <a:spcBef>
                <a:spcPts val="0"/>
              </a:spcBef>
              <a:spcAft>
                <a:spcPts val="0"/>
              </a:spcAft>
              <a:buNone/>
            </a:pPr>
            <a:r>
              <a:rPr b="1" lang="it" sz="1200">
                <a:solidFill>
                  <a:srgbClr val="333333"/>
                </a:solidFill>
                <a:latin typeface="Consolas"/>
                <a:ea typeface="Consolas"/>
                <a:cs typeface="Consolas"/>
                <a:sym typeface="Consolas"/>
              </a:rPr>
              <a:t>}</a:t>
            </a:r>
            <a:endParaRPr b="1" sz="1200">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None/>
            </a:pPr>
            <a:r>
              <a:t/>
            </a:r>
            <a:endParaRPr b="1" sz="1200">
              <a:solidFill>
                <a:srgbClr val="0101FD"/>
              </a:solidFill>
              <a:latin typeface="Consolas"/>
              <a:ea typeface="Consolas"/>
              <a:cs typeface="Consolas"/>
              <a:sym typeface="Consolas"/>
            </a:endParaRPr>
          </a:p>
        </p:txBody>
      </p:sp>
      <p:sp>
        <p:nvSpPr>
          <p:cNvPr id="202" name="Google Shape;202;p2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Distruttori</a:t>
            </a:r>
            <a:endParaRPr/>
          </a:p>
        </p:txBody>
      </p:sp>
      <p:sp>
        <p:nvSpPr>
          <p:cNvPr id="208" name="Google Shape;20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paradigma RAII viene mutuato dal C++</a:t>
            </a:r>
            <a:r>
              <a:rPr lang="it"/>
              <a:t> e costituisce un importantissimo modo per gestire automaticamente acquisizione e rilascio di risorse</a:t>
            </a:r>
            <a:endParaRPr/>
          </a:p>
          <a:p>
            <a:pPr indent="-317500" lvl="1" marL="914400" rtl="0" algn="l">
              <a:spcBef>
                <a:spcPts val="0"/>
              </a:spcBef>
              <a:spcAft>
                <a:spcPts val="0"/>
              </a:spcAft>
              <a:buSzPts val="1400"/>
              <a:buChar char="○"/>
            </a:pPr>
            <a:r>
              <a:rPr lang="it"/>
              <a:t>Oltreché permettere l’esecuzione automatica di coppie di funzioni</a:t>
            </a:r>
            <a:endParaRPr/>
          </a:p>
          <a:p>
            <a:pPr indent="-317500" lvl="1" marL="914400" rtl="0" algn="l">
              <a:spcBef>
                <a:spcPts val="0"/>
              </a:spcBef>
              <a:spcAft>
                <a:spcPts val="0"/>
              </a:spcAft>
              <a:buSzPts val="1400"/>
              <a:buChar char="○"/>
            </a:pPr>
            <a:r>
              <a:rPr lang="it"/>
              <a:t>Può essere usato ogni qual volta sia necessario garantire il corretto rilascio di risorse di sistema, come la memoria allocata sullo heap, handle di file, socket, ...</a:t>
            </a:r>
            <a:endParaRPr/>
          </a:p>
          <a:p>
            <a:pPr indent="-342900" lvl="0" marL="457200" rtl="0" algn="l">
              <a:spcBef>
                <a:spcPts val="0"/>
              </a:spcBef>
              <a:spcAft>
                <a:spcPts val="0"/>
              </a:spcAft>
              <a:buSzPts val="1800"/>
              <a:buChar char="●"/>
            </a:pPr>
            <a:r>
              <a:rPr lang="it"/>
              <a:t>Il tratto </a:t>
            </a:r>
            <a:r>
              <a:rPr b="1" lang="it">
                <a:solidFill>
                  <a:srgbClr val="0B5394"/>
                </a:solidFill>
                <a:latin typeface="Consolas"/>
                <a:ea typeface="Consolas"/>
                <a:cs typeface="Consolas"/>
                <a:sym typeface="Consolas"/>
              </a:rPr>
              <a:t>Drop</a:t>
            </a:r>
            <a:r>
              <a:rPr lang="it"/>
              <a:t> è </a:t>
            </a:r>
            <a:r>
              <a:rPr b="1" lang="it">
                <a:solidFill>
                  <a:srgbClr val="0B5394"/>
                </a:solidFill>
                <a:highlight>
                  <a:schemeClr val="accent6"/>
                </a:highlight>
              </a:rPr>
              <a:t>mutuamente esclusivo</a:t>
            </a:r>
            <a:r>
              <a:rPr lang="it"/>
              <a:t> con il tratto </a:t>
            </a:r>
            <a:r>
              <a:rPr b="1" lang="it">
                <a:solidFill>
                  <a:srgbClr val="0B5394"/>
                </a:solidFill>
                <a:latin typeface="Consolas"/>
                <a:ea typeface="Consolas"/>
                <a:cs typeface="Consolas"/>
                <a:sym typeface="Consolas"/>
              </a:rPr>
              <a:t>Copy</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Se un tipo implementa il primo non può implementare l’altro, e viceversa</a:t>
            </a:r>
            <a:endParaRPr/>
          </a:p>
        </p:txBody>
      </p:sp>
      <p:sp>
        <p:nvSpPr>
          <p:cNvPr id="209" name="Google Shape;209;p2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 statici</a:t>
            </a:r>
            <a:endParaRPr/>
          </a:p>
        </p:txBody>
      </p:sp>
      <p:sp>
        <p:nvSpPr>
          <p:cNvPr id="215" name="Google Shape;21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In </a:t>
            </a:r>
            <a:r>
              <a:rPr b="1" lang="it">
                <a:solidFill>
                  <a:srgbClr val="0B5394"/>
                </a:solidFill>
              </a:rPr>
              <a:t>C++</a:t>
            </a:r>
            <a:r>
              <a:rPr lang="it"/>
              <a:t>/</a:t>
            </a:r>
            <a:r>
              <a:rPr b="1" lang="it">
                <a:solidFill>
                  <a:srgbClr val="0B5394"/>
                </a:solidFill>
              </a:rPr>
              <a:t>Java</a:t>
            </a:r>
            <a:r>
              <a:rPr lang="it"/>
              <a:t> è lecito inserire all’interno del costrutto </a:t>
            </a:r>
            <a:r>
              <a:rPr b="1" lang="it">
                <a:solidFill>
                  <a:srgbClr val="0B5394"/>
                </a:solidFill>
                <a:latin typeface="Consolas"/>
                <a:ea typeface="Consolas"/>
                <a:cs typeface="Consolas"/>
                <a:sym typeface="Consolas"/>
              </a:rPr>
              <a:t>class … { }</a:t>
            </a:r>
            <a:r>
              <a:rPr lang="it"/>
              <a:t> la dichiarazione di metodi preceduti dalla parola chiave </a:t>
            </a:r>
            <a:r>
              <a:rPr b="1" lang="it">
                <a:solidFill>
                  <a:srgbClr val="0B5394"/>
                </a:solidFill>
                <a:latin typeface="Consolas"/>
                <a:ea typeface="Consolas"/>
                <a:cs typeface="Consolas"/>
                <a:sym typeface="Consolas"/>
              </a:rPr>
              <a:t>static</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Essi non sono legati ad una specifica istanza, ma possono operare sulle istanze della classe (se ne conoscono l'indirizzo) avendo accesso anche alle componenti private</a:t>
            </a:r>
            <a:endParaRPr/>
          </a:p>
          <a:p>
            <a:pPr indent="-342900" lvl="0" marL="457200" rtl="0" algn="l">
              <a:spcBef>
                <a:spcPts val="0"/>
              </a:spcBef>
              <a:spcAft>
                <a:spcPts val="0"/>
              </a:spcAft>
              <a:buSzPts val="1800"/>
              <a:buChar char="●"/>
            </a:pPr>
            <a:r>
              <a:rPr lang="it"/>
              <a:t>In </a:t>
            </a:r>
            <a:r>
              <a:rPr b="1" lang="it">
                <a:solidFill>
                  <a:srgbClr val="0B5394"/>
                </a:solidFill>
              </a:rPr>
              <a:t>Rust</a:t>
            </a:r>
            <a:r>
              <a:rPr lang="it"/>
              <a:t>, è possibile implementare metodi analoghi semplicemente </a:t>
            </a:r>
            <a:r>
              <a:rPr b="1" lang="it">
                <a:solidFill>
                  <a:srgbClr val="0B5394"/>
                </a:solidFill>
              </a:rPr>
              <a:t>non indicando</a:t>
            </a:r>
            <a:r>
              <a:rPr lang="it"/>
              <a:t>, come primo parametro, né </a:t>
            </a:r>
            <a:r>
              <a:rPr b="1" lang="it">
                <a:solidFill>
                  <a:srgbClr val="0B5394"/>
                </a:solidFill>
                <a:latin typeface="Consolas"/>
                <a:ea typeface="Consolas"/>
                <a:cs typeface="Consolas"/>
                <a:sym typeface="Consolas"/>
              </a:rPr>
              <a:t>self</a:t>
            </a:r>
            <a:r>
              <a:rPr lang="it"/>
              <a:t> né un suo derivato</a:t>
            </a:r>
            <a:endParaRPr/>
          </a:p>
          <a:p>
            <a:pPr indent="-317500" lvl="1" marL="914400" rtl="0" algn="l">
              <a:spcBef>
                <a:spcPts val="0"/>
              </a:spcBef>
              <a:spcAft>
                <a:spcPts val="0"/>
              </a:spcAft>
              <a:buSzPts val="1400"/>
              <a:buChar char="○"/>
            </a:pPr>
            <a:r>
              <a:rPr lang="it"/>
              <a:t>Questo permette la creazione di funzioni per la costruzione di un istanza, metodi per la conversione di istanze di altri tipi nel tipo corrente o, semplicemente, l’accesso a funzionalità statiche (come nel caso di librerie matematiche o l’accesso in lettura di parametri di configurazione)</a:t>
            </a:r>
            <a:endParaRPr/>
          </a:p>
          <a:p>
            <a:pPr indent="-342900" lvl="0" marL="457200" rtl="0" algn="l">
              <a:spcBef>
                <a:spcPts val="0"/>
              </a:spcBef>
              <a:spcAft>
                <a:spcPts val="0"/>
              </a:spcAft>
              <a:buSzPts val="1800"/>
              <a:buChar char="●"/>
            </a:pPr>
            <a:r>
              <a:rPr lang="it"/>
              <a:t>L’esempio tipico è il metodo </a:t>
            </a:r>
            <a:r>
              <a:rPr b="1" lang="it">
                <a:solidFill>
                  <a:srgbClr val="0B5394"/>
                </a:solidFill>
              </a:rPr>
              <a:t>new</a:t>
            </a:r>
            <a:r>
              <a:rPr lang="it"/>
              <a:t>.</a:t>
            </a:r>
            <a:endParaRPr b="1">
              <a:solidFill>
                <a:srgbClr val="0B5394"/>
              </a:solidFill>
            </a:endParaRPr>
          </a:p>
          <a:p>
            <a:pPr indent="-317500" lvl="1" marL="914400" marR="0" rtl="0" algn="l">
              <a:lnSpc>
                <a:spcPct val="115000"/>
              </a:lnSpc>
              <a:spcBef>
                <a:spcPts val="0"/>
              </a:spcBef>
              <a:spcAft>
                <a:spcPts val="0"/>
              </a:spcAft>
              <a:buSzPts val="1400"/>
              <a:buChar char="○"/>
            </a:pPr>
            <a:r>
              <a:rPr lang="it"/>
              <a:t>la chiamata in questo caso sarà </a:t>
            </a:r>
            <a:r>
              <a:rPr b="1" lang="it">
                <a:solidFill>
                  <a:srgbClr val="0B5394"/>
                </a:solidFill>
                <a:latin typeface="Consolas"/>
                <a:ea typeface="Consolas"/>
                <a:cs typeface="Consolas"/>
                <a:sym typeface="Consolas"/>
              </a:rPr>
              <a:t>&lt;Tipo&gt;::metodo(…)</a:t>
            </a:r>
            <a:r>
              <a:rPr lang="it"/>
              <a:t> </a:t>
            </a:r>
            <a:endParaRPr/>
          </a:p>
        </p:txBody>
      </p:sp>
      <p:sp>
        <p:nvSpPr>
          <p:cNvPr id="216" name="Google Shape;216;p2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Enum</a:t>
            </a:r>
            <a:endParaRPr/>
          </a:p>
        </p:txBody>
      </p:sp>
      <p:sp>
        <p:nvSpPr>
          <p:cNvPr id="222" name="Google Shape;222;p28"/>
          <p:cNvSpPr txBox="1"/>
          <p:nvPr>
            <p:ph idx="1" type="body"/>
          </p:nvPr>
        </p:nvSpPr>
        <p:spPr>
          <a:xfrm>
            <a:off x="311700" y="924886"/>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In Rust, è possibile introdurre tipi enumerativi composti da un semplice valore scalare</a:t>
            </a:r>
            <a:endParaRPr/>
          </a:p>
          <a:p>
            <a:pPr indent="-317500" lvl="1" marL="914400" rtl="0" algn="l">
              <a:spcBef>
                <a:spcPts val="0"/>
              </a:spcBef>
              <a:spcAft>
                <a:spcPts val="0"/>
              </a:spcAft>
              <a:buSzPts val="1400"/>
              <a:buChar char="○"/>
            </a:pPr>
            <a:r>
              <a:rPr lang="it"/>
              <a:t>Come in vari altri linguaggi</a:t>
            </a:r>
            <a:endParaRPr/>
          </a:p>
          <a:p>
            <a:pPr indent="-317500" lvl="1" marL="914400" rtl="0" algn="l">
              <a:spcBef>
                <a:spcPts val="0"/>
              </a:spcBef>
              <a:spcAft>
                <a:spcPts val="0"/>
              </a:spcAft>
              <a:buSzPts val="1400"/>
              <a:buChar char="○"/>
            </a:pPr>
            <a:r>
              <a:rPr lang="it"/>
              <a:t>Ma anche incapsulare, in ciascuna alternativa, una tupla o una struct volta a fornire ulteriori informazioni relative allo specifico valore</a:t>
            </a:r>
            <a:endParaRPr/>
          </a:p>
          <a:p>
            <a:pPr indent="-342900" lvl="0" marL="457200" rtl="0" algn="l">
              <a:spcBef>
                <a:spcPts val="0"/>
              </a:spcBef>
              <a:spcAft>
                <a:spcPts val="0"/>
              </a:spcAft>
              <a:buSzPts val="1800"/>
              <a:buChar char="●"/>
            </a:pPr>
            <a:r>
              <a:rPr lang="it"/>
              <a:t>Inoltre, è possibile legare </a:t>
            </a:r>
            <a:r>
              <a:rPr b="1" lang="it">
                <a:solidFill>
                  <a:srgbClr val="0B5394"/>
                </a:solidFill>
              </a:rPr>
              <a:t>metodi</a:t>
            </a:r>
            <a:r>
              <a:rPr lang="it"/>
              <a:t> ad un’enumerazione </a:t>
            </a:r>
            <a:endParaRPr/>
          </a:p>
          <a:p>
            <a:pPr indent="-317500" lvl="1" marL="914400" rtl="0" algn="l">
              <a:spcBef>
                <a:spcPts val="0"/>
              </a:spcBef>
              <a:spcAft>
                <a:spcPts val="0"/>
              </a:spcAft>
              <a:buSzPts val="1400"/>
              <a:buChar char="○"/>
            </a:pPr>
            <a:r>
              <a:rPr lang="it"/>
              <a:t>Aggiungendo un blocco </a:t>
            </a:r>
            <a:r>
              <a:rPr b="1" lang="it">
                <a:solidFill>
                  <a:srgbClr val="0B5394"/>
                </a:solidFill>
                <a:latin typeface="Consolas"/>
                <a:ea typeface="Consolas"/>
                <a:cs typeface="Consolas"/>
                <a:sym typeface="Consolas"/>
              </a:rPr>
              <a:t>impl …</a:t>
            </a:r>
            <a:r>
              <a:rPr lang="it"/>
              <a:t> come nel caso delle struct</a:t>
            </a:r>
            <a:endParaRPr/>
          </a:p>
        </p:txBody>
      </p:sp>
      <p:sp>
        <p:nvSpPr>
          <p:cNvPr id="223" name="Google Shape;223;p28"/>
          <p:cNvSpPr txBox="1"/>
          <p:nvPr/>
        </p:nvSpPr>
        <p:spPr>
          <a:xfrm>
            <a:off x="698825" y="3063622"/>
            <a:ext cx="3633000" cy="1391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it">
                <a:solidFill>
                  <a:srgbClr val="8959A8"/>
                </a:solidFill>
                <a:latin typeface="Consolas"/>
                <a:ea typeface="Consolas"/>
                <a:cs typeface="Consolas"/>
                <a:sym typeface="Consolas"/>
              </a:rPr>
              <a:t>enum</a:t>
            </a:r>
            <a:r>
              <a:rPr b="1" lang="it">
                <a:solidFill>
                  <a:srgbClr val="333333"/>
                </a:solidFill>
                <a:latin typeface="Consolas"/>
                <a:ea typeface="Consolas"/>
                <a:cs typeface="Consolas"/>
                <a:sym typeface="Consolas"/>
              </a:rPr>
              <a:t> </a:t>
            </a:r>
            <a:r>
              <a:rPr b="1" lang="it">
                <a:solidFill>
                  <a:schemeClr val="dk1"/>
                </a:solidFill>
                <a:latin typeface="Consolas"/>
                <a:ea typeface="Consolas"/>
                <a:cs typeface="Consolas"/>
                <a:sym typeface="Consolas"/>
              </a:rPr>
              <a:t>HttpResponse </a:t>
            </a:r>
            <a:r>
              <a:rPr b="1" lang="it">
                <a:solidFill>
                  <a:srgbClr val="333333"/>
                </a:solidFill>
                <a:latin typeface="Consolas"/>
                <a:ea typeface="Consolas"/>
                <a:cs typeface="Consolas"/>
                <a:sym typeface="Consolas"/>
              </a:rPr>
              <a:t>{</a:t>
            </a:r>
            <a:endParaRPr b="1">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a:solidFill>
                  <a:srgbClr val="333333"/>
                </a:solidFill>
                <a:latin typeface="Consolas"/>
                <a:ea typeface="Consolas"/>
                <a:cs typeface="Consolas"/>
                <a:sym typeface="Consolas"/>
              </a:rPr>
              <a:t>  </a:t>
            </a:r>
            <a:r>
              <a:rPr b="1" lang="it">
                <a:solidFill>
                  <a:srgbClr val="B45F06"/>
                </a:solidFill>
                <a:latin typeface="Consolas"/>
                <a:ea typeface="Consolas"/>
                <a:cs typeface="Consolas"/>
                <a:sym typeface="Consolas"/>
              </a:rPr>
              <a:t>Ok </a:t>
            </a:r>
            <a:r>
              <a:rPr b="1" lang="it">
                <a:solidFill>
                  <a:srgbClr val="333333"/>
                </a:solidFill>
                <a:latin typeface="Consolas"/>
                <a:ea typeface="Consolas"/>
                <a:cs typeface="Consolas"/>
                <a:sym typeface="Consolas"/>
              </a:rPr>
              <a:t>= </a:t>
            </a:r>
            <a:r>
              <a:rPr b="1" lang="it">
                <a:solidFill>
                  <a:srgbClr val="B45F06"/>
                </a:solidFill>
                <a:latin typeface="Consolas"/>
                <a:ea typeface="Consolas"/>
                <a:cs typeface="Consolas"/>
                <a:sym typeface="Consolas"/>
              </a:rPr>
              <a:t>200</a:t>
            </a:r>
            <a:r>
              <a:rPr b="1" lang="it">
                <a:solidFill>
                  <a:srgbClr val="333333"/>
                </a:solidFill>
                <a:latin typeface="Consolas"/>
                <a:ea typeface="Consolas"/>
                <a:cs typeface="Consolas"/>
                <a:sym typeface="Consolas"/>
              </a:rPr>
              <a:t>,</a:t>
            </a:r>
            <a:endParaRPr b="1">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a:solidFill>
                  <a:srgbClr val="333333"/>
                </a:solidFill>
                <a:latin typeface="Consolas"/>
                <a:ea typeface="Consolas"/>
                <a:cs typeface="Consolas"/>
                <a:sym typeface="Consolas"/>
              </a:rPr>
              <a:t>  NotFound = </a:t>
            </a:r>
            <a:r>
              <a:rPr b="1" lang="it">
                <a:solidFill>
                  <a:srgbClr val="B45F06"/>
                </a:solidFill>
                <a:latin typeface="Consolas"/>
                <a:ea typeface="Consolas"/>
                <a:cs typeface="Consolas"/>
                <a:sym typeface="Consolas"/>
              </a:rPr>
              <a:t>404</a:t>
            </a:r>
            <a:r>
              <a:rPr b="1" lang="it">
                <a:solidFill>
                  <a:srgbClr val="333333"/>
                </a:solidFill>
                <a:latin typeface="Consolas"/>
                <a:ea typeface="Consolas"/>
                <a:cs typeface="Consolas"/>
                <a:sym typeface="Consolas"/>
              </a:rPr>
              <a:t>,</a:t>
            </a:r>
            <a:endParaRPr b="1">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a:solidFill>
                  <a:srgbClr val="333333"/>
                </a:solidFill>
                <a:latin typeface="Consolas"/>
                <a:ea typeface="Consolas"/>
                <a:cs typeface="Consolas"/>
                <a:sym typeface="Consolas"/>
              </a:rPr>
              <a:t>  InternalError = </a:t>
            </a:r>
            <a:r>
              <a:rPr b="1" lang="it">
                <a:solidFill>
                  <a:srgbClr val="B45F06"/>
                </a:solidFill>
                <a:latin typeface="Consolas"/>
                <a:ea typeface="Consolas"/>
                <a:cs typeface="Consolas"/>
                <a:sym typeface="Consolas"/>
              </a:rPr>
              <a:t>500</a:t>
            </a:r>
            <a:endParaRPr b="1">
              <a:solidFill>
                <a:srgbClr val="B45F06"/>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a:solidFill>
                  <a:srgbClr val="333333"/>
                </a:solidFill>
                <a:latin typeface="Consolas"/>
                <a:ea typeface="Consolas"/>
                <a:cs typeface="Consolas"/>
                <a:sym typeface="Consolas"/>
              </a:rPr>
              <a:t>}</a:t>
            </a:r>
            <a:endParaRPr b="1">
              <a:solidFill>
                <a:srgbClr val="0101FD"/>
              </a:solidFill>
              <a:latin typeface="Consolas"/>
              <a:ea typeface="Consolas"/>
              <a:cs typeface="Consolas"/>
              <a:sym typeface="Consolas"/>
            </a:endParaRPr>
          </a:p>
        </p:txBody>
      </p:sp>
      <p:sp>
        <p:nvSpPr>
          <p:cNvPr id="224" name="Google Shape;224;p28"/>
          <p:cNvSpPr txBox="1"/>
          <p:nvPr/>
        </p:nvSpPr>
        <p:spPr>
          <a:xfrm>
            <a:off x="4572000" y="3063626"/>
            <a:ext cx="3633000" cy="164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it" sz="1200">
                <a:solidFill>
                  <a:srgbClr val="8959A8"/>
                </a:solidFill>
                <a:latin typeface="Consolas"/>
                <a:ea typeface="Consolas"/>
                <a:cs typeface="Consolas"/>
                <a:sym typeface="Consolas"/>
              </a:rPr>
              <a:t>enum</a:t>
            </a:r>
            <a:r>
              <a:rPr b="1" lang="it" sz="1200">
                <a:solidFill>
                  <a:srgbClr val="333333"/>
                </a:solidFill>
                <a:latin typeface="Consolas"/>
                <a:ea typeface="Consolas"/>
                <a:cs typeface="Consolas"/>
                <a:sym typeface="Consolas"/>
              </a:rPr>
              <a:t> </a:t>
            </a:r>
            <a:r>
              <a:rPr b="1" lang="it" sz="1200">
                <a:solidFill>
                  <a:schemeClr val="dk1"/>
                </a:solidFill>
                <a:latin typeface="Consolas"/>
                <a:ea typeface="Consolas"/>
                <a:cs typeface="Consolas"/>
                <a:sym typeface="Consolas"/>
              </a:rPr>
              <a:t>HttpResponse</a:t>
            </a:r>
            <a:r>
              <a:rPr b="1" lang="it" sz="1200">
                <a:solidFill>
                  <a:srgbClr val="333333"/>
                </a:solidFill>
                <a:latin typeface="Consolas"/>
                <a:ea typeface="Consolas"/>
                <a:cs typeface="Consolas"/>
                <a:sym typeface="Consolas"/>
              </a:rPr>
              <a:t> {</a:t>
            </a:r>
            <a:endParaRPr b="1" sz="1200">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sz="1200">
                <a:solidFill>
                  <a:srgbClr val="333333"/>
                </a:solidFill>
                <a:latin typeface="Consolas"/>
                <a:ea typeface="Consolas"/>
                <a:cs typeface="Consolas"/>
                <a:sym typeface="Consolas"/>
              </a:rPr>
              <a:t>  </a:t>
            </a:r>
            <a:r>
              <a:rPr b="1" lang="it" sz="1200">
                <a:solidFill>
                  <a:srgbClr val="B45F06"/>
                </a:solidFill>
                <a:latin typeface="Consolas"/>
                <a:ea typeface="Consolas"/>
                <a:cs typeface="Consolas"/>
                <a:sym typeface="Consolas"/>
              </a:rPr>
              <a:t>Ok</a:t>
            </a:r>
            <a:r>
              <a:rPr b="1" lang="it" sz="1200">
                <a:solidFill>
                  <a:srgbClr val="333333"/>
                </a:solidFill>
                <a:latin typeface="Consolas"/>
                <a:ea typeface="Consolas"/>
                <a:cs typeface="Consolas"/>
                <a:sym typeface="Consolas"/>
              </a:rPr>
              <a:t>,</a:t>
            </a:r>
            <a:endParaRPr b="1" sz="1200">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sz="1200">
                <a:solidFill>
                  <a:srgbClr val="333333"/>
                </a:solidFill>
                <a:latin typeface="Consolas"/>
                <a:ea typeface="Consolas"/>
                <a:cs typeface="Consolas"/>
                <a:sym typeface="Consolas"/>
              </a:rPr>
              <a:t>  NotFound(</a:t>
            </a:r>
            <a:r>
              <a:rPr b="1" lang="it" sz="1200">
                <a:solidFill>
                  <a:srgbClr val="B45F06"/>
                </a:solidFill>
                <a:latin typeface="Consolas"/>
                <a:ea typeface="Consolas"/>
                <a:cs typeface="Consolas"/>
                <a:sym typeface="Consolas"/>
              </a:rPr>
              <a:t>String</a:t>
            </a:r>
            <a:r>
              <a:rPr b="1" lang="it" sz="1200">
                <a:solidFill>
                  <a:srgbClr val="333333"/>
                </a:solidFill>
                <a:latin typeface="Consolas"/>
                <a:ea typeface="Consolas"/>
                <a:cs typeface="Consolas"/>
                <a:sym typeface="Consolas"/>
              </a:rPr>
              <a:t>),</a:t>
            </a:r>
            <a:endParaRPr b="1" sz="1200">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sz="1200">
                <a:solidFill>
                  <a:srgbClr val="333333"/>
                </a:solidFill>
                <a:latin typeface="Consolas"/>
                <a:ea typeface="Consolas"/>
                <a:cs typeface="Consolas"/>
                <a:sym typeface="Consolas"/>
              </a:rPr>
              <a:t>  InternalError { </a:t>
            </a:r>
            <a:br>
              <a:rPr b="1" lang="it" sz="1200">
                <a:solidFill>
                  <a:srgbClr val="333333"/>
                </a:solidFill>
                <a:latin typeface="Consolas"/>
                <a:ea typeface="Consolas"/>
                <a:cs typeface="Consolas"/>
                <a:sym typeface="Consolas"/>
              </a:rPr>
            </a:br>
            <a:r>
              <a:rPr b="1" lang="it" sz="1200">
                <a:solidFill>
                  <a:srgbClr val="333333"/>
                </a:solidFill>
                <a:latin typeface="Consolas"/>
                <a:ea typeface="Consolas"/>
                <a:cs typeface="Consolas"/>
                <a:sym typeface="Consolas"/>
              </a:rPr>
              <a:t>    desc: </a:t>
            </a:r>
            <a:r>
              <a:rPr b="1" lang="it" sz="1200">
                <a:solidFill>
                  <a:srgbClr val="B45F06"/>
                </a:solidFill>
                <a:latin typeface="Consolas"/>
                <a:ea typeface="Consolas"/>
                <a:cs typeface="Consolas"/>
                <a:sym typeface="Consolas"/>
              </a:rPr>
              <a:t>String</a:t>
            </a:r>
            <a:r>
              <a:rPr b="1" lang="it" sz="1200">
                <a:solidFill>
                  <a:srgbClr val="333333"/>
                </a:solidFill>
                <a:latin typeface="Consolas"/>
                <a:ea typeface="Consolas"/>
                <a:cs typeface="Consolas"/>
                <a:sym typeface="Consolas"/>
              </a:rPr>
              <a:t>, </a:t>
            </a:r>
            <a:endParaRPr b="1" sz="1200">
              <a:solidFill>
                <a:srgbClr val="333333"/>
              </a:solidFill>
              <a:latin typeface="Consolas"/>
              <a:ea typeface="Consolas"/>
              <a:cs typeface="Consolas"/>
              <a:sym typeface="Consolas"/>
            </a:endParaRPr>
          </a:p>
          <a:p>
            <a:pPr indent="0" lvl="0" marL="0" marR="0" rtl="0" algn="l">
              <a:lnSpc>
                <a:spcPct val="115000"/>
              </a:lnSpc>
              <a:spcBef>
                <a:spcPts val="0"/>
              </a:spcBef>
              <a:spcAft>
                <a:spcPts val="0"/>
              </a:spcAft>
              <a:buNone/>
            </a:pPr>
            <a:r>
              <a:rPr b="1" lang="it" sz="1200">
                <a:solidFill>
                  <a:srgbClr val="333333"/>
                </a:solidFill>
                <a:latin typeface="Consolas"/>
                <a:ea typeface="Consolas"/>
                <a:cs typeface="Consolas"/>
                <a:sym typeface="Consolas"/>
              </a:rPr>
              <a:t>    data: </a:t>
            </a:r>
            <a:r>
              <a:rPr b="1" lang="it" sz="1200">
                <a:solidFill>
                  <a:srgbClr val="B45F06"/>
                </a:solidFill>
                <a:latin typeface="Consolas"/>
                <a:ea typeface="Consolas"/>
                <a:cs typeface="Consolas"/>
                <a:sym typeface="Consolas"/>
              </a:rPr>
              <a:t>Vec</a:t>
            </a:r>
            <a:r>
              <a:rPr b="1" lang="it" sz="1200">
                <a:solidFill>
                  <a:srgbClr val="333333"/>
                </a:solidFill>
                <a:latin typeface="Consolas"/>
                <a:ea typeface="Consolas"/>
                <a:cs typeface="Consolas"/>
                <a:sym typeface="Consolas"/>
              </a:rPr>
              <a:t>&lt;</a:t>
            </a:r>
            <a:r>
              <a:rPr b="1" lang="it" sz="1200">
                <a:solidFill>
                  <a:srgbClr val="8959A8"/>
                </a:solidFill>
                <a:latin typeface="Consolas"/>
                <a:ea typeface="Consolas"/>
                <a:cs typeface="Consolas"/>
                <a:sym typeface="Consolas"/>
              </a:rPr>
              <a:t>u8</a:t>
            </a:r>
            <a:r>
              <a:rPr b="1" lang="it" sz="1200">
                <a:solidFill>
                  <a:srgbClr val="333333"/>
                </a:solidFill>
                <a:latin typeface="Consolas"/>
                <a:ea typeface="Consolas"/>
                <a:cs typeface="Consolas"/>
                <a:sym typeface="Consolas"/>
              </a:rPr>
              <a:t>&gt; },</a:t>
            </a:r>
            <a:endParaRPr b="1" sz="1200">
              <a:solidFill>
                <a:srgbClr val="333333"/>
              </a:solidFill>
              <a:latin typeface="Consolas"/>
              <a:ea typeface="Consolas"/>
              <a:cs typeface="Consolas"/>
              <a:sym typeface="Consolas"/>
            </a:endParaRPr>
          </a:p>
          <a:p>
            <a:pPr indent="0" lvl="0" marL="0" marR="152400" rtl="0" algn="l">
              <a:lnSpc>
                <a:spcPct val="115000"/>
              </a:lnSpc>
              <a:spcBef>
                <a:spcPts val="0"/>
              </a:spcBef>
              <a:spcAft>
                <a:spcPts val="1500"/>
              </a:spcAft>
              <a:buClr>
                <a:schemeClr val="dk1"/>
              </a:buClr>
              <a:buSzPts val="1100"/>
              <a:buFont typeface="Arial"/>
              <a:buNone/>
            </a:pPr>
            <a:r>
              <a:rPr b="1" lang="it" sz="1200">
                <a:solidFill>
                  <a:srgbClr val="333333"/>
                </a:solidFill>
                <a:latin typeface="Consolas"/>
                <a:ea typeface="Consolas"/>
                <a:cs typeface="Consolas"/>
                <a:sym typeface="Consolas"/>
              </a:rPr>
              <a:t>}</a:t>
            </a:r>
            <a:endParaRPr b="1" sz="1200">
              <a:solidFill>
                <a:srgbClr val="0101FD"/>
              </a:solidFill>
              <a:latin typeface="Consolas"/>
              <a:ea typeface="Consolas"/>
              <a:cs typeface="Consolas"/>
              <a:sym typeface="Consolas"/>
            </a:endParaRPr>
          </a:p>
        </p:txBody>
      </p:sp>
      <p:sp>
        <p:nvSpPr>
          <p:cNvPr id="225" name="Google Shape;225;p2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Enum</a:t>
            </a:r>
            <a:endParaRPr/>
          </a:p>
        </p:txBody>
      </p:sp>
      <p:sp>
        <p:nvSpPr>
          <p:cNvPr id="231" name="Google Shape;23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Enum è definito come tipo </a:t>
            </a:r>
            <a:r>
              <a:rPr b="1" lang="it">
                <a:solidFill>
                  <a:srgbClr val="0B5394"/>
                </a:solidFill>
              </a:rPr>
              <a:t>somma</a:t>
            </a:r>
            <a:endParaRPr b="1">
              <a:solidFill>
                <a:srgbClr val="0B5394"/>
              </a:solidFill>
            </a:endParaRPr>
          </a:p>
          <a:p>
            <a:pPr indent="-317500" lvl="1" marL="914400" rtl="0" algn="l">
              <a:spcBef>
                <a:spcPts val="0"/>
              </a:spcBef>
              <a:spcAft>
                <a:spcPts val="0"/>
              </a:spcAft>
              <a:buSzPts val="1400"/>
              <a:buChar char="○"/>
            </a:pPr>
            <a:r>
              <a:rPr lang="it"/>
              <a:t>L’insieme dei valori che può contenere è l’unione dei valori delle singole alternative</a:t>
            </a:r>
            <a:endParaRPr/>
          </a:p>
          <a:p>
            <a:pPr indent="-317500" lvl="1" marL="914400" rtl="0" algn="l">
              <a:spcBef>
                <a:spcPts val="0"/>
              </a:spcBef>
              <a:spcAft>
                <a:spcPts val="0"/>
              </a:spcAft>
              <a:buSzPts val="1400"/>
              <a:buChar char="○"/>
            </a:pPr>
            <a:r>
              <a:rPr lang="it"/>
              <a:t>Per contro, struct è un tipo </a:t>
            </a:r>
            <a:r>
              <a:rPr b="1" lang="it">
                <a:solidFill>
                  <a:srgbClr val="0B5394"/>
                </a:solidFill>
              </a:rPr>
              <a:t>prodotto</a:t>
            </a:r>
            <a:r>
              <a:rPr lang="it"/>
              <a:t>: l’insieme dei valori che può contenere è il prodotto cartesiano degli insiemi legati ai singoli campi</a:t>
            </a:r>
            <a:endParaRPr/>
          </a:p>
          <a:p>
            <a:pPr indent="-342900" lvl="0" marL="457200" rtl="0" algn="l">
              <a:spcBef>
                <a:spcPts val="0"/>
              </a:spcBef>
              <a:spcAft>
                <a:spcPts val="0"/>
              </a:spcAft>
              <a:buSzPts val="1800"/>
              <a:buChar char="●"/>
            </a:pPr>
            <a:r>
              <a:rPr lang="it"/>
              <a:t>La possibilità di legare, agli specifici valori, uno o più dati è alla base di molti pattern di programmazione tipici di Rust</a:t>
            </a:r>
            <a:endParaRPr/>
          </a:p>
          <a:p>
            <a:pPr indent="-317500" lvl="1" marL="914400" rtl="0" algn="l">
              <a:spcBef>
                <a:spcPts val="0"/>
              </a:spcBef>
              <a:spcAft>
                <a:spcPts val="0"/>
              </a:spcAft>
              <a:buSzPts val="1400"/>
              <a:buChar char="○"/>
            </a:pPr>
            <a:r>
              <a:rPr lang="it"/>
              <a:t>Ad esempio, la gestione dell’opzionalità e la rappresentazione del risultato di una computazione (che può fallire)</a:t>
            </a:r>
            <a:endParaRPr/>
          </a:p>
        </p:txBody>
      </p:sp>
      <p:sp>
        <p:nvSpPr>
          <p:cNvPr id="232" name="Google Shape;232;p2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Rappresentazione in memoria</a:t>
            </a:r>
            <a:endParaRPr/>
          </a:p>
          <a:p>
            <a:pPr indent="0" lvl="0" marL="0" rtl="0" algn="l">
              <a:spcBef>
                <a:spcPts val="0"/>
              </a:spcBef>
              <a:spcAft>
                <a:spcPts val="0"/>
              </a:spcAft>
              <a:buNone/>
            </a:pPr>
            <a:r>
              <a:t/>
            </a:r>
            <a:endParaRPr/>
          </a:p>
        </p:txBody>
      </p:sp>
      <p:sp>
        <p:nvSpPr>
          <p:cNvPr id="238" name="Google Shape;238;p30"/>
          <p:cNvSpPr txBox="1"/>
          <p:nvPr/>
        </p:nvSpPr>
        <p:spPr>
          <a:xfrm>
            <a:off x="3646500" y="3403004"/>
            <a:ext cx="130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t>Point(3, 6)</a:t>
            </a:r>
            <a:endParaRPr sz="1800"/>
          </a:p>
        </p:txBody>
      </p:sp>
      <p:sp>
        <p:nvSpPr>
          <p:cNvPr id="239" name="Google Shape;239;p30"/>
          <p:cNvSpPr txBox="1"/>
          <p:nvPr/>
        </p:nvSpPr>
        <p:spPr>
          <a:xfrm>
            <a:off x="3646325" y="4084929"/>
            <a:ext cx="94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t>Empty</a:t>
            </a:r>
            <a:endParaRPr sz="1800"/>
          </a:p>
        </p:txBody>
      </p:sp>
      <p:sp>
        <p:nvSpPr>
          <p:cNvPr id="240" name="Google Shape;240;p30"/>
          <p:cNvSpPr txBox="1"/>
          <p:nvPr/>
        </p:nvSpPr>
        <p:spPr>
          <a:xfrm>
            <a:off x="6111850" y="2493855"/>
            <a:ext cx="2148900" cy="12621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enum Shape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Square(u32),</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Point(u8, u8),</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Empty,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a:t>
            </a:r>
            <a:endParaRPr>
              <a:latin typeface="Consolas"/>
              <a:ea typeface="Consolas"/>
              <a:cs typeface="Consolas"/>
              <a:sym typeface="Consolas"/>
            </a:endParaRPr>
          </a:p>
        </p:txBody>
      </p:sp>
      <p:sp>
        <p:nvSpPr>
          <p:cNvPr id="241" name="Google Shape;241;p3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42" name="Google Shape;242;p30"/>
          <p:cNvSpPr txBox="1"/>
          <p:nvPr/>
        </p:nvSpPr>
        <p:spPr>
          <a:xfrm>
            <a:off x="311700" y="915953"/>
            <a:ext cx="8520600" cy="778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it" sz="1800">
                <a:solidFill>
                  <a:srgbClr val="595959"/>
                </a:solidFill>
              </a:rPr>
              <a:t>In memoria gli enum occupano lo spazio di un intero da 1 byte più lo spazio necessario a contenere la variante più grande</a:t>
            </a:r>
            <a:endParaRPr sz="1800">
              <a:solidFill>
                <a:srgbClr val="595959"/>
              </a:solidFill>
            </a:endParaRPr>
          </a:p>
        </p:txBody>
      </p:sp>
      <p:sp>
        <p:nvSpPr>
          <p:cNvPr id="243" name="Google Shape;243;p30"/>
          <p:cNvSpPr/>
          <p:nvPr/>
        </p:nvSpPr>
        <p:spPr>
          <a:xfrm>
            <a:off x="1042925" y="4124349"/>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0"/>
          <p:cNvSpPr/>
          <p:nvPr/>
        </p:nvSpPr>
        <p:spPr>
          <a:xfrm>
            <a:off x="1417025" y="4124349"/>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0"/>
          <p:cNvSpPr/>
          <p:nvPr/>
        </p:nvSpPr>
        <p:spPr>
          <a:xfrm>
            <a:off x="1791125" y="4124349"/>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0"/>
          <p:cNvSpPr/>
          <p:nvPr/>
        </p:nvSpPr>
        <p:spPr>
          <a:xfrm>
            <a:off x="2149925" y="4124349"/>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0"/>
          <p:cNvSpPr/>
          <p:nvPr/>
        </p:nvSpPr>
        <p:spPr>
          <a:xfrm>
            <a:off x="2524025" y="4124349"/>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0"/>
          <p:cNvSpPr/>
          <p:nvPr/>
        </p:nvSpPr>
        <p:spPr>
          <a:xfrm>
            <a:off x="2898125" y="4124349"/>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0"/>
          <p:cNvSpPr/>
          <p:nvPr/>
        </p:nvSpPr>
        <p:spPr>
          <a:xfrm>
            <a:off x="3256600" y="4124349"/>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0"/>
          <p:cNvSpPr/>
          <p:nvPr/>
        </p:nvSpPr>
        <p:spPr>
          <a:xfrm>
            <a:off x="1791288" y="3442427"/>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0"/>
          <p:cNvSpPr/>
          <p:nvPr/>
        </p:nvSpPr>
        <p:spPr>
          <a:xfrm>
            <a:off x="2150088" y="3442427"/>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0"/>
          <p:cNvSpPr/>
          <p:nvPr/>
        </p:nvSpPr>
        <p:spPr>
          <a:xfrm>
            <a:off x="2524188" y="3442427"/>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0"/>
          <p:cNvSpPr/>
          <p:nvPr/>
        </p:nvSpPr>
        <p:spPr>
          <a:xfrm>
            <a:off x="2898288" y="3442427"/>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0"/>
          <p:cNvSpPr/>
          <p:nvPr/>
        </p:nvSpPr>
        <p:spPr>
          <a:xfrm>
            <a:off x="3256763" y="3442427"/>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0"/>
          <p:cNvSpPr/>
          <p:nvPr/>
        </p:nvSpPr>
        <p:spPr>
          <a:xfrm>
            <a:off x="668825" y="4124349"/>
            <a:ext cx="374100" cy="336600"/>
          </a:xfrm>
          <a:prstGeom prst="rect">
            <a:avLst/>
          </a:prstGeom>
          <a:solidFill>
            <a:srgbClr val="B6D7A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256" name="Google Shape;256;p30"/>
          <p:cNvSpPr/>
          <p:nvPr/>
        </p:nvSpPr>
        <p:spPr>
          <a:xfrm>
            <a:off x="668825" y="3441100"/>
            <a:ext cx="374100" cy="336600"/>
          </a:xfrm>
          <a:prstGeom prst="rect">
            <a:avLst/>
          </a:prstGeom>
          <a:solidFill>
            <a:srgbClr val="B6D7A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a:t>
            </a:r>
            <a:endParaRPr/>
          </a:p>
        </p:txBody>
      </p:sp>
      <p:sp>
        <p:nvSpPr>
          <p:cNvPr id="257" name="Google Shape;257;p30"/>
          <p:cNvSpPr/>
          <p:nvPr/>
        </p:nvSpPr>
        <p:spPr>
          <a:xfrm>
            <a:off x="1032725" y="3442427"/>
            <a:ext cx="374100" cy="336600"/>
          </a:xfrm>
          <a:prstGeom prst="rect">
            <a:avLst/>
          </a:prstGeom>
          <a:solidFill>
            <a:srgbClr val="AFD7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sp>
        <p:nvSpPr>
          <p:cNvPr id="258" name="Google Shape;258;p30"/>
          <p:cNvSpPr/>
          <p:nvPr/>
        </p:nvSpPr>
        <p:spPr>
          <a:xfrm>
            <a:off x="1409463" y="3442427"/>
            <a:ext cx="374100" cy="336600"/>
          </a:xfrm>
          <a:prstGeom prst="rect">
            <a:avLst/>
          </a:prstGeom>
          <a:solidFill>
            <a:srgbClr val="AFD7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6</a:t>
            </a:r>
            <a:endParaRPr/>
          </a:p>
        </p:txBody>
      </p:sp>
      <p:sp>
        <p:nvSpPr>
          <p:cNvPr id="259" name="Google Shape;259;p30"/>
          <p:cNvSpPr/>
          <p:nvPr/>
        </p:nvSpPr>
        <p:spPr>
          <a:xfrm rot="-5400000">
            <a:off x="784620" y="2009855"/>
            <a:ext cx="160500" cy="3357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0"/>
          <p:cNvSpPr txBox="1"/>
          <p:nvPr/>
        </p:nvSpPr>
        <p:spPr>
          <a:xfrm>
            <a:off x="2508620" y="1714625"/>
            <a:ext cx="793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a:t>u32</a:t>
            </a:r>
            <a:endParaRPr/>
          </a:p>
        </p:txBody>
      </p:sp>
      <p:sp>
        <p:nvSpPr>
          <p:cNvPr id="261" name="Google Shape;261;p30"/>
          <p:cNvSpPr txBox="1"/>
          <p:nvPr/>
        </p:nvSpPr>
        <p:spPr>
          <a:xfrm>
            <a:off x="467970" y="1742311"/>
            <a:ext cx="793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a:t>Tag</a:t>
            </a:r>
            <a:endParaRPr/>
          </a:p>
        </p:txBody>
      </p:sp>
      <p:sp>
        <p:nvSpPr>
          <p:cNvPr id="262" name="Google Shape;262;p30"/>
          <p:cNvSpPr/>
          <p:nvPr/>
        </p:nvSpPr>
        <p:spPr>
          <a:xfrm>
            <a:off x="1042920" y="2380456"/>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0"/>
          <p:cNvSpPr/>
          <p:nvPr/>
        </p:nvSpPr>
        <p:spPr>
          <a:xfrm>
            <a:off x="1417020" y="2380456"/>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0"/>
          <p:cNvSpPr/>
          <p:nvPr/>
        </p:nvSpPr>
        <p:spPr>
          <a:xfrm>
            <a:off x="1791120" y="2380456"/>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0"/>
          <p:cNvSpPr/>
          <p:nvPr/>
        </p:nvSpPr>
        <p:spPr>
          <a:xfrm>
            <a:off x="1042920" y="2380456"/>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0"/>
          <p:cNvSpPr/>
          <p:nvPr/>
        </p:nvSpPr>
        <p:spPr>
          <a:xfrm>
            <a:off x="1417020" y="2380456"/>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0"/>
          <p:cNvSpPr/>
          <p:nvPr/>
        </p:nvSpPr>
        <p:spPr>
          <a:xfrm>
            <a:off x="1791120" y="2380456"/>
            <a:ext cx="374100" cy="336600"/>
          </a:xfrm>
          <a:prstGeom prst="rect">
            <a:avLst/>
          </a:prstGeom>
          <a:solidFill>
            <a:schemeClr val="lt2"/>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0"/>
          <p:cNvSpPr/>
          <p:nvPr/>
        </p:nvSpPr>
        <p:spPr>
          <a:xfrm>
            <a:off x="2165220" y="2380467"/>
            <a:ext cx="1468200" cy="336600"/>
          </a:xfrm>
          <a:prstGeom prst="rect">
            <a:avLst/>
          </a:prstGeom>
          <a:solidFill>
            <a:srgbClr val="AFD7F7"/>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10</a:t>
            </a:r>
            <a:endParaRPr/>
          </a:p>
        </p:txBody>
      </p:sp>
      <p:sp>
        <p:nvSpPr>
          <p:cNvPr id="269" name="Google Shape;269;p30"/>
          <p:cNvSpPr/>
          <p:nvPr/>
        </p:nvSpPr>
        <p:spPr>
          <a:xfrm>
            <a:off x="668820" y="2377801"/>
            <a:ext cx="374100" cy="336600"/>
          </a:xfrm>
          <a:prstGeom prst="rect">
            <a:avLst/>
          </a:prstGeom>
          <a:solidFill>
            <a:srgbClr val="B6D7A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0</a:t>
            </a:r>
            <a:endParaRPr/>
          </a:p>
        </p:txBody>
      </p:sp>
      <p:sp>
        <p:nvSpPr>
          <p:cNvPr id="270" name="Google Shape;270;p30"/>
          <p:cNvSpPr/>
          <p:nvPr/>
        </p:nvSpPr>
        <p:spPr>
          <a:xfrm rot="5400000">
            <a:off x="1505620" y="2337785"/>
            <a:ext cx="181800" cy="10827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0"/>
          <p:cNvSpPr/>
          <p:nvPr/>
        </p:nvSpPr>
        <p:spPr>
          <a:xfrm flipH="1" rot="5400000">
            <a:off x="2814607" y="1469870"/>
            <a:ext cx="181800" cy="14157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
          <p:cNvSpPr txBox="1"/>
          <p:nvPr/>
        </p:nvSpPr>
        <p:spPr>
          <a:xfrm>
            <a:off x="1062720" y="2895414"/>
            <a:ext cx="1082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it"/>
              <a:t>padding</a:t>
            </a:r>
            <a:endParaRPr i="1"/>
          </a:p>
        </p:txBody>
      </p:sp>
      <p:sp>
        <p:nvSpPr>
          <p:cNvPr id="273" name="Google Shape;273;p30"/>
          <p:cNvSpPr txBox="1"/>
          <p:nvPr/>
        </p:nvSpPr>
        <p:spPr>
          <a:xfrm>
            <a:off x="3613345" y="2363984"/>
            <a:ext cx="137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t>Square(10)</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Enumerazioni e clausole match</a:t>
            </a:r>
            <a:endParaRPr/>
          </a:p>
        </p:txBody>
      </p:sp>
      <p:sp>
        <p:nvSpPr>
          <p:cNvPr id="279" name="Google Shape;27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costrutto </a:t>
            </a:r>
            <a:r>
              <a:rPr b="1" lang="it">
                <a:solidFill>
                  <a:srgbClr val="0B5394"/>
                </a:solidFill>
                <a:latin typeface="Consolas"/>
                <a:ea typeface="Consolas"/>
                <a:cs typeface="Consolas"/>
                <a:sym typeface="Consolas"/>
              </a:rPr>
              <a:t>match…</a:t>
            </a:r>
            <a:r>
              <a:rPr lang="it"/>
              <a:t> si presta particolarmente per gestire in modo differenziato valori enumerativi</a:t>
            </a:r>
            <a:endParaRPr/>
          </a:p>
          <a:p>
            <a:pPr indent="-317500" lvl="1" marL="914400" rtl="0" algn="l">
              <a:spcBef>
                <a:spcPts val="0"/>
              </a:spcBef>
              <a:spcAft>
                <a:spcPts val="0"/>
              </a:spcAft>
              <a:buSzPts val="1400"/>
              <a:buChar char="○"/>
            </a:pPr>
            <a:r>
              <a:rPr lang="it"/>
              <a:t>Il comportamento offerto dal pattern matching e la possibilità di legare variabili temporanee in base alla struttura del valore che viene analizzato offre una sintassi compatta ed efficiente per esprimere comportamenti alternativi (</a:t>
            </a:r>
            <a:r>
              <a:rPr b="1" lang="it">
                <a:solidFill>
                  <a:srgbClr val="0B5394"/>
                </a:solidFill>
              </a:rPr>
              <a:t>destructuring assignment</a:t>
            </a:r>
            <a:r>
              <a:rPr lang="it"/>
              <a:t>)</a:t>
            </a:r>
            <a:endParaRPr/>
          </a:p>
          <a:p>
            <a:pPr indent="-317500" lvl="1" marL="914400" rtl="0" algn="l">
              <a:spcBef>
                <a:spcPts val="0"/>
              </a:spcBef>
              <a:spcAft>
                <a:spcPts val="0"/>
              </a:spcAft>
              <a:buSzPts val="1400"/>
              <a:buChar char="○"/>
            </a:pPr>
            <a:r>
              <a:rPr lang="it"/>
              <a:t>Il fatto che i pattern confrontati debbano essere esaustivi, garantisce che il codice resti coerente anche se il numero di possibili alternative presenti nell’enumerazione cambia nel tempo</a:t>
            </a:r>
            <a:endParaRPr/>
          </a:p>
        </p:txBody>
      </p:sp>
      <p:sp>
        <p:nvSpPr>
          <p:cNvPr id="280" name="Google Shape;280;p3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81" name="Google Shape;281;p31"/>
          <p:cNvSpPr txBox="1"/>
          <p:nvPr/>
        </p:nvSpPr>
        <p:spPr>
          <a:xfrm>
            <a:off x="383475" y="3339945"/>
            <a:ext cx="4131600" cy="12621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enum </a:t>
            </a:r>
            <a:r>
              <a:rPr b="1" lang="it">
                <a:solidFill>
                  <a:srgbClr val="0B5394"/>
                </a:solidFill>
                <a:latin typeface="Consolas"/>
                <a:ea typeface="Consolas"/>
                <a:cs typeface="Consolas"/>
                <a:sym typeface="Consolas"/>
              </a:rPr>
              <a:t>Shape</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Square { s: f64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Circle { r: f64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Rectangle { w: f64, h: f64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282" name="Google Shape;282;p31"/>
          <p:cNvSpPr txBox="1"/>
          <p:nvPr/>
        </p:nvSpPr>
        <p:spPr>
          <a:xfrm>
            <a:off x="4700700" y="3145950"/>
            <a:ext cx="4131600" cy="16932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compute_area(shape: </a:t>
            </a:r>
            <a:r>
              <a:rPr b="1" lang="it">
                <a:solidFill>
                  <a:srgbClr val="0B5394"/>
                </a:solidFill>
                <a:latin typeface="Consolas"/>
                <a:ea typeface="Consolas"/>
                <a:cs typeface="Consolas"/>
                <a:sym typeface="Consolas"/>
              </a:rPr>
              <a:t>Shape</a:t>
            </a:r>
            <a:r>
              <a:rPr b="1" lang="it">
                <a:latin typeface="Consolas"/>
                <a:ea typeface="Consolas"/>
                <a:cs typeface="Consolas"/>
                <a:sym typeface="Consolas"/>
              </a:rPr>
              <a:t>) -&gt; f64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r>
              <a:rPr b="1" lang="it">
                <a:highlight>
                  <a:schemeClr val="accent6"/>
                </a:highlight>
                <a:latin typeface="Consolas"/>
                <a:ea typeface="Consolas"/>
                <a:cs typeface="Consolas"/>
                <a:sym typeface="Consolas"/>
              </a:rPr>
              <a:t>match shape</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Square { s } =&gt; s*s,</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Circle { r } =&gt; r*r*3.1415926,</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Rectangle {w, h} =&gt; w*h,</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Destrutturazione</a:t>
            </a:r>
            <a:endParaRPr/>
          </a:p>
        </p:txBody>
      </p:sp>
      <p:sp>
        <p:nvSpPr>
          <p:cNvPr id="288" name="Google Shape;288;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L'utilizzo del pattern matching e la possibilità di destrutturare un valore complesso non sono limitate al costrutto </a:t>
            </a:r>
            <a:r>
              <a:rPr b="1" lang="it">
                <a:solidFill>
                  <a:srgbClr val="0B5394"/>
                </a:solidFill>
                <a:latin typeface="Consolas"/>
                <a:ea typeface="Consolas"/>
                <a:cs typeface="Consolas"/>
                <a:sym typeface="Consolas"/>
              </a:rPr>
              <a:t>match …</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E' possibile usare la stessa tecnica anche all'interno di costrutti </a:t>
            </a:r>
            <a:br>
              <a:rPr lang="it"/>
            </a:br>
            <a:r>
              <a:rPr b="1" lang="it">
                <a:solidFill>
                  <a:srgbClr val="0B5394"/>
                </a:solidFill>
                <a:latin typeface="Consolas"/>
                <a:ea typeface="Consolas"/>
                <a:cs typeface="Consolas"/>
                <a:sym typeface="Consolas"/>
              </a:rPr>
              <a:t>if let &lt;pattern&gt; = &lt;value&gt; …</a:t>
            </a:r>
            <a:r>
              <a:rPr lang="it"/>
              <a:t> e </a:t>
            </a:r>
            <a:r>
              <a:rPr b="1" lang="it">
                <a:solidFill>
                  <a:srgbClr val="0B5394"/>
                </a:solidFill>
                <a:latin typeface="Consolas"/>
                <a:ea typeface="Consolas"/>
                <a:cs typeface="Consolas"/>
                <a:sym typeface="Consolas"/>
              </a:rPr>
              <a:t>while let &lt;pattern&gt; = &lt;value&gt;</a:t>
            </a:r>
            <a:endParaRPr/>
          </a:p>
          <a:p>
            <a:pPr indent="-317500" lvl="1" marL="914400" rtl="0" algn="l">
              <a:spcBef>
                <a:spcPts val="0"/>
              </a:spcBef>
              <a:spcAft>
                <a:spcPts val="0"/>
              </a:spcAft>
              <a:buSzPts val="1400"/>
              <a:buChar char="○"/>
            </a:pPr>
            <a:r>
              <a:rPr lang="it"/>
              <a:t>Tali costrutti verificano se il valore fornito corrisponda o meno al pattern indicato e, nel caso, eseguono le necessarie assegnazioni alle variabili contenute nel pattern</a:t>
            </a:r>
            <a:endParaRPr/>
          </a:p>
        </p:txBody>
      </p:sp>
      <p:sp>
        <p:nvSpPr>
          <p:cNvPr id="289" name="Google Shape;289;p3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90" name="Google Shape;290;p32"/>
          <p:cNvSpPr txBox="1"/>
          <p:nvPr/>
        </p:nvSpPr>
        <p:spPr>
          <a:xfrm>
            <a:off x="377575" y="3145950"/>
            <a:ext cx="3369300" cy="12621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enum </a:t>
            </a:r>
            <a:r>
              <a:rPr b="1" lang="it">
                <a:solidFill>
                  <a:srgbClr val="0B5394"/>
                </a:solidFill>
                <a:latin typeface="Consolas"/>
                <a:ea typeface="Consolas"/>
                <a:cs typeface="Consolas"/>
                <a:sym typeface="Consolas"/>
              </a:rPr>
              <a:t>Shape</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Square { s: f64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Circle { r: f64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Rectangle { w: f64, h: f64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291" name="Google Shape;291;p32"/>
          <p:cNvSpPr txBox="1"/>
          <p:nvPr/>
        </p:nvSpPr>
        <p:spPr>
          <a:xfrm>
            <a:off x="3900275" y="3145950"/>
            <a:ext cx="4932000" cy="1477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process(shape: </a:t>
            </a:r>
            <a:r>
              <a:rPr b="1" lang="it">
                <a:solidFill>
                  <a:srgbClr val="0B5394"/>
                </a:solidFill>
                <a:latin typeface="Consolas"/>
                <a:ea typeface="Consolas"/>
                <a:cs typeface="Consolas"/>
                <a:sym typeface="Consolas"/>
              </a:rPr>
              <a:t>Shape</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stampa solo se shape è Square…</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r>
              <a:rPr b="1" lang="it">
                <a:highlight>
                  <a:schemeClr val="accent6"/>
                </a:highlight>
                <a:latin typeface="Consolas"/>
                <a:ea typeface="Consolas"/>
                <a:cs typeface="Consolas"/>
                <a:sym typeface="Consolas"/>
              </a:rPr>
              <a:t>if let Square { s } = shape</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println!("Square side {}", s);</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Destrutturazione</a:t>
            </a:r>
            <a:endParaRPr/>
          </a:p>
        </p:txBody>
      </p:sp>
      <p:sp>
        <p:nvSpPr>
          <p:cNvPr id="297" name="Google Shape;29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La destrutturazione è anche utile per ottenere un “parsing” di una struttura, così da gestirne più facilmente i campi, estraendoli in contenitori singoli da trattare separatamente.</a:t>
            </a:r>
            <a:endParaRPr/>
          </a:p>
          <a:p>
            <a:pPr indent="-317500" lvl="1" marL="914400" rtl="0" algn="l">
              <a:spcBef>
                <a:spcPts val="0"/>
              </a:spcBef>
              <a:spcAft>
                <a:spcPts val="0"/>
              </a:spcAft>
              <a:buSzPts val="1400"/>
              <a:buChar char="○"/>
            </a:pPr>
            <a:r>
              <a:rPr lang="it"/>
              <a:t>I campi della struttura sono “estratti” con il loro nome.</a:t>
            </a:r>
            <a:endParaRPr/>
          </a:p>
        </p:txBody>
      </p:sp>
      <p:sp>
        <p:nvSpPr>
          <p:cNvPr id="298" name="Google Shape;298;p3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99" name="Google Shape;299;p33"/>
          <p:cNvSpPr txBox="1"/>
          <p:nvPr/>
        </p:nvSpPr>
        <p:spPr>
          <a:xfrm>
            <a:off x="311700" y="2539256"/>
            <a:ext cx="2171100" cy="1046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solidFill>
                  <a:srgbClr val="8959A8"/>
                </a:solidFill>
                <a:latin typeface="Consolas"/>
                <a:ea typeface="Consolas"/>
                <a:cs typeface="Consolas"/>
                <a:sym typeface="Consolas"/>
              </a:rPr>
              <a:t>pub</a:t>
            </a:r>
            <a:r>
              <a:rPr b="1" lang="it" sz="1200">
                <a:solidFill>
                  <a:srgbClr val="8959A8"/>
                </a:solidFill>
                <a:latin typeface="Consolas"/>
                <a:ea typeface="Consolas"/>
                <a:cs typeface="Consolas"/>
                <a:sym typeface="Consolas"/>
              </a:rPr>
              <a:t> </a:t>
            </a:r>
            <a:r>
              <a:rPr b="1" lang="it">
                <a:latin typeface="Consolas"/>
                <a:ea typeface="Consolas"/>
                <a:cs typeface="Consolas"/>
                <a:sym typeface="Consolas"/>
              </a:rPr>
              <a:t>struct </a:t>
            </a:r>
            <a:r>
              <a:rPr b="1" lang="it">
                <a:solidFill>
                  <a:srgbClr val="0B5394"/>
                </a:solidFill>
                <a:latin typeface="Consolas"/>
                <a:ea typeface="Consolas"/>
                <a:cs typeface="Consolas"/>
                <a:sym typeface="Consolas"/>
              </a:rPr>
              <a:t>Point</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x: </a:t>
            </a:r>
            <a:r>
              <a:rPr b="1" lang="it">
                <a:solidFill>
                  <a:srgbClr val="8959A8"/>
                </a:solidFill>
                <a:latin typeface="Consolas"/>
                <a:ea typeface="Consolas"/>
                <a:cs typeface="Consolas"/>
                <a:sym typeface="Consolas"/>
              </a:rPr>
              <a:t>i</a:t>
            </a:r>
            <a:r>
              <a:rPr b="1" lang="it">
                <a:solidFill>
                  <a:srgbClr val="8959A8"/>
                </a:solidFill>
                <a:latin typeface="Consolas"/>
                <a:ea typeface="Consolas"/>
                <a:cs typeface="Consolas"/>
                <a:sym typeface="Consolas"/>
              </a:rPr>
              <a:t>32</a:t>
            </a: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y: </a:t>
            </a:r>
            <a:r>
              <a:rPr b="1" lang="it">
                <a:solidFill>
                  <a:srgbClr val="8959A8"/>
                </a:solidFill>
                <a:latin typeface="Consolas"/>
                <a:ea typeface="Consolas"/>
                <a:cs typeface="Consolas"/>
                <a:sym typeface="Consolas"/>
              </a:rPr>
              <a:t>i</a:t>
            </a:r>
            <a:r>
              <a:rPr b="1" lang="it">
                <a:solidFill>
                  <a:srgbClr val="8959A8"/>
                </a:solidFill>
                <a:latin typeface="Consolas"/>
                <a:ea typeface="Consolas"/>
                <a:cs typeface="Consolas"/>
                <a:sym typeface="Consolas"/>
              </a:rPr>
              <a:t>32</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300" name="Google Shape;300;p33"/>
          <p:cNvSpPr txBox="1"/>
          <p:nvPr/>
        </p:nvSpPr>
        <p:spPr>
          <a:xfrm>
            <a:off x="2672425" y="2539256"/>
            <a:ext cx="57138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solidFill>
                  <a:srgbClr val="8959A8"/>
                </a:solidFill>
                <a:latin typeface="Consolas"/>
                <a:ea typeface="Consolas"/>
                <a:cs typeface="Consolas"/>
                <a:sym typeface="Consolas"/>
              </a:rPr>
              <a:t>let</a:t>
            </a:r>
            <a:r>
              <a:rPr b="1" lang="it">
                <a:latin typeface="Consolas"/>
                <a:ea typeface="Consolas"/>
                <a:cs typeface="Consolas"/>
                <a:sym typeface="Consolas"/>
              </a:rPr>
              <a:t> p = </a:t>
            </a:r>
            <a:r>
              <a:rPr b="1" lang="it">
                <a:solidFill>
                  <a:srgbClr val="0B5394"/>
                </a:solidFill>
                <a:latin typeface="Consolas"/>
                <a:ea typeface="Consolas"/>
                <a:cs typeface="Consolas"/>
                <a:sym typeface="Consolas"/>
              </a:rPr>
              <a:t>Point</a:t>
            </a:r>
            <a:r>
              <a:rPr b="1" lang="it">
                <a:latin typeface="Consolas"/>
                <a:ea typeface="Consolas"/>
                <a:cs typeface="Consolas"/>
                <a:sym typeface="Consolas"/>
              </a:rPr>
              <a:t> { x: 5, y: 10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la destrutturazione deve rispettare i nomi dei campi</a:t>
            </a:r>
            <a:endParaRPr b="1">
              <a:latin typeface="Consolas"/>
              <a:ea typeface="Consolas"/>
              <a:cs typeface="Consolas"/>
              <a:sym typeface="Consolas"/>
            </a:endParaRPr>
          </a:p>
          <a:p>
            <a:pPr indent="0" lvl="0" marL="0" rtl="0" algn="l">
              <a:spcBef>
                <a:spcPts val="0"/>
              </a:spcBef>
              <a:spcAft>
                <a:spcPts val="0"/>
              </a:spcAft>
              <a:buNone/>
            </a:pPr>
            <a:r>
              <a:rPr b="1" lang="it">
                <a:solidFill>
                  <a:srgbClr val="8959A8"/>
                </a:solidFill>
                <a:latin typeface="Consolas"/>
                <a:ea typeface="Consolas"/>
                <a:cs typeface="Consolas"/>
                <a:sym typeface="Consolas"/>
              </a:rPr>
              <a:t>let</a:t>
            </a:r>
            <a:r>
              <a:rPr b="1" lang="it">
                <a:latin typeface="Consolas"/>
                <a:ea typeface="Consolas"/>
                <a:cs typeface="Consolas"/>
                <a:sym typeface="Consolas"/>
              </a:rPr>
              <a:t> </a:t>
            </a:r>
            <a:r>
              <a:rPr b="1" lang="it">
                <a:solidFill>
                  <a:srgbClr val="0B5394"/>
                </a:solidFill>
                <a:latin typeface="Consolas"/>
                <a:ea typeface="Consolas"/>
                <a:cs typeface="Consolas"/>
                <a:sym typeface="Consolas"/>
              </a:rPr>
              <a:t>Point</a:t>
            </a:r>
            <a:r>
              <a:rPr b="1" lang="it">
                <a:latin typeface="Consolas"/>
                <a:ea typeface="Consolas"/>
                <a:cs typeface="Consolas"/>
                <a:sym typeface="Consolas"/>
              </a:rPr>
              <a:t> { x, y } = p;</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solidFill>
                  <a:srgbClr val="8959A8"/>
                </a:solidFill>
                <a:latin typeface="Consolas"/>
                <a:ea typeface="Consolas"/>
                <a:cs typeface="Consolas"/>
                <a:sym typeface="Consolas"/>
              </a:rPr>
              <a:t>println!</a:t>
            </a:r>
            <a:r>
              <a:rPr b="1" lang="it">
                <a:latin typeface="Consolas"/>
                <a:ea typeface="Consolas"/>
                <a:cs typeface="Consolas"/>
                <a:sym typeface="Consolas"/>
              </a:rPr>
              <a:t>("The original point was: ({},{})", x, y);</a:t>
            </a:r>
            <a:endParaRPr b="1">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Destrutturazione</a:t>
            </a:r>
            <a:endParaRPr/>
          </a:p>
        </p:txBody>
      </p:sp>
      <p:sp>
        <p:nvSpPr>
          <p:cNvPr id="306" name="Google Shape;306;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processo di destrutturazione utilizza la semantica delle assegnazioni</a:t>
            </a:r>
            <a:endParaRPr/>
          </a:p>
          <a:p>
            <a:pPr indent="-317500" lvl="1" marL="914400" rtl="0" algn="l">
              <a:spcBef>
                <a:spcPts val="0"/>
              </a:spcBef>
              <a:spcAft>
                <a:spcPts val="0"/>
              </a:spcAft>
              <a:buSzPts val="1400"/>
              <a:buChar char="○"/>
            </a:pPr>
            <a:r>
              <a:rPr lang="it"/>
              <a:t>Se il valore implementa il tratto </a:t>
            </a:r>
            <a:r>
              <a:rPr b="1" lang="it">
                <a:solidFill>
                  <a:srgbClr val="0B5394"/>
                </a:solidFill>
                <a:latin typeface="Consolas"/>
                <a:ea typeface="Consolas"/>
                <a:cs typeface="Consolas"/>
                <a:sym typeface="Consolas"/>
              </a:rPr>
              <a:t>copy</a:t>
            </a:r>
            <a:r>
              <a:rPr lang="it"/>
              <a:t>, le variabili introdotte nel pattern conterranno una copia dell'elemento corrispondente</a:t>
            </a:r>
            <a:endParaRPr/>
          </a:p>
          <a:p>
            <a:pPr indent="-317500" lvl="1" marL="914400" rtl="0" algn="l">
              <a:spcBef>
                <a:spcPts val="0"/>
              </a:spcBef>
              <a:spcAft>
                <a:spcPts val="0"/>
              </a:spcAft>
              <a:buSzPts val="1400"/>
              <a:buChar char="○"/>
            </a:pPr>
            <a:r>
              <a:rPr lang="it"/>
              <a:t>In caso contrario, verrà eseguito un movimento, invalidando il valore originale</a:t>
            </a:r>
            <a:endParaRPr/>
          </a:p>
          <a:p>
            <a:pPr indent="-342900" lvl="0" marL="457200" rtl="0" algn="l">
              <a:spcBef>
                <a:spcPts val="0"/>
              </a:spcBef>
              <a:spcAft>
                <a:spcPts val="0"/>
              </a:spcAft>
              <a:buSzPts val="1800"/>
              <a:buChar char="●"/>
            </a:pPr>
            <a:r>
              <a:rPr lang="it"/>
              <a:t>In caso di </a:t>
            </a:r>
            <a:r>
              <a:rPr i="1" lang="it"/>
              <a:t>pattern matching</a:t>
            </a:r>
            <a:r>
              <a:rPr lang="it"/>
              <a:t>, a partire dalla edizione 2024, viene adottata una tecnica chiamata </a:t>
            </a:r>
            <a:r>
              <a:rPr i="1" lang="it"/>
              <a:t>"match ergonomics"</a:t>
            </a:r>
            <a:r>
              <a:rPr lang="it"/>
              <a:t> che consente di destrutturare un valore mantenendo il livello di indirezione (valore, riferimento semplice, riferimento mutabile) dell'originale</a:t>
            </a:r>
            <a:endParaRPr/>
          </a:p>
        </p:txBody>
      </p:sp>
      <p:sp>
        <p:nvSpPr>
          <p:cNvPr id="307" name="Google Shape;307;p3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08" name="Google Shape;308;p34"/>
          <p:cNvSpPr txBox="1"/>
          <p:nvPr/>
        </p:nvSpPr>
        <p:spPr>
          <a:xfrm>
            <a:off x="377575" y="3533761"/>
            <a:ext cx="4131600" cy="12621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enum </a:t>
            </a:r>
            <a:r>
              <a:rPr b="1" lang="it">
                <a:solidFill>
                  <a:srgbClr val="0B5394"/>
                </a:solidFill>
                <a:latin typeface="Consolas"/>
                <a:ea typeface="Consolas"/>
                <a:cs typeface="Consolas"/>
                <a:sym typeface="Consolas"/>
              </a:rPr>
              <a:t>Shape</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Square { s: f64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Circle { r: f64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Rectangle { w: f64, h: f64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309" name="Google Shape;309;p34"/>
          <p:cNvSpPr txBox="1"/>
          <p:nvPr/>
        </p:nvSpPr>
        <p:spPr>
          <a:xfrm>
            <a:off x="4700700" y="3533761"/>
            <a:ext cx="4131600" cy="12621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shrink_if_circle(shape: &amp;mut </a:t>
            </a:r>
            <a:r>
              <a:rPr b="1" lang="it">
                <a:solidFill>
                  <a:srgbClr val="0B5394"/>
                </a:solidFill>
                <a:latin typeface="Consolas"/>
                <a:ea typeface="Consolas"/>
                <a:cs typeface="Consolas"/>
                <a:sym typeface="Consolas"/>
              </a:rPr>
              <a:t>Shape</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r>
              <a:rPr b="1" lang="it">
                <a:highlight>
                  <a:schemeClr val="accent6"/>
                </a:highlight>
                <a:latin typeface="Consolas"/>
                <a:ea typeface="Consolas"/>
                <a:cs typeface="Consolas"/>
                <a:sym typeface="Consolas"/>
              </a:rPr>
              <a:t>if let Shape::Circle { r } = shape</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*r *= 0.5;  //r ha tipo &amp;mut f64</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 saperne di più</a:t>
            </a:r>
            <a:endParaRPr/>
          </a:p>
        </p:txBody>
      </p:sp>
      <p:sp>
        <p:nvSpPr>
          <p:cNvPr id="315" name="Google Shape;31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Rust Basics: Structs, Methods, and Traits</a:t>
            </a:r>
            <a:endParaRPr/>
          </a:p>
          <a:p>
            <a:pPr indent="-317500" lvl="1" marL="914400" rtl="0" algn="l">
              <a:spcBef>
                <a:spcPts val="0"/>
              </a:spcBef>
              <a:spcAft>
                <a:spcPts val="0"/>
              </a:spcAft>
              <a:buSzPts val="1400"/>
              <a:buChar char="○"/>
            </a:pPr>
            <a:r>
              <a:rPr lang="it" u="sng">
                <a:solidFill>
                  <a:schemeClr val="hlink"/>
                </a:solidFill>
                <a:hlinkClick r:id="rId3"/>
              </a:rPr>
              <a:t>https://medium.com/better-programming/rust-basics-structs-methods-and-traits-bb4839cd57bd</a:t>
            </a:r>
            <a:r>
              <a:rPr lang="it"/>
              <a:t> </a:t>
            </a:r>
            <a:endParaRPr/>
          </a:p>
          <a:p>
            <a:pPr indent="-342900" lvl="0" marL="457200" rtl="0" algn="l">
              <a:spcBef>
                <a:spcPts val="0"/>
              </a:spcBef>
              <a:spcAft>
                <a:spcPts val="0"/>
              </a:spcAft>
              <a:buSzPts val="1800"/>
              <a:buChar char="●"/>
            </a:pPr>
            <a:r>
              <a:rPr lang="it"/>
              <a:t>Mastering Enums in Rust: Best Practices and Examples</a:t>
            </a:r>
            <a:endParaRPr/>
          </a:p>
          <a:p>
            <a:pPr indent="-317500" lvl="1" marL="914400" rtl="0" algn="l">
              <a:spcBef>
                <a:spcPts val="0"/>
              </a:spcBef>
              <a:spcAft>
                <a:spcPts val="0"/>
              </a:spcAft>
              <a:buSzPts val="1400"/>
              <a:buChar char="○"/>
            </a:pPr>
            <a:r>
              <a:rPr lang="it" u="sng">
                <a:solidFill>
                  <a:schemeClr val="hlink"/>
                </a:solidFill>
                <a:hlinkClick r:id="rId4"/>
              </a:rPr>
              <a:t>https://sterlingcobb.medium.com/mastering-enums-in-rust-best-practices-and-examples-a0bd76ea8cf</a:t>
            </a:r>
            <a:r>
              <a:rPr lang="it"/>
              <a:t> </a:t>
            </a:r>
            <a:endParaRPr/>
          </a:p>
          <a:p>
            <a:pPr indent="-342900" lvl="0" marL="457200" rtl="0" algn="l">
              <a:spcBef>
                <a:spcPts val="0"/>
              </a:spcBef>
              <a:spcAft>
                <a:spcPts val="0"/>
              </a:spcAft>
              <a:buSzPts val="1800"/>
              <a:buChar char="●"/>
            </a:pPr>
            <a:r>
              <a:rPr lang="it"/>
              <a:t>Enums and Pattern Matching in Rust</a:t>
            </a:r>
            <a:endParaRPr/>
          </a:p>
          <a:p>
            <a:pPr indent="-317500" lvl="1" marL="914400" rtl="0" algn="l">
              <a:spcBef>
                <a:spcPts val="0"/>
              </a:spcBef>
              <a:spcAft>
                <a:spcPts val="0"/>
              </a:spcAft>
              <a:buSzPts val="1400"/>
              <a:buChar char="○"/>
            </a:pPr>
            <a:r>
              <a:rPr lang="it" u="sng">
                <a:solidFill>
                  <a:schemeClr val="hlink"/>
                </a:solidFill>
                <a:hlinkClick r:id="rId5"/>
              </a:rPr>
              <a:t>https://medium.com/better-programming/rust-enums-and-pattern-matching-177b03a4152</a:t>
            </a:r>
            <a:r>
              <a:rPr lang="it"/>
              <a:t> </a:t>
            </a:r>
            <a:endParaRPr/>
          </a:p>
          <a:p>
            <a:pPr indent="-342900" lvl="0" marL="457200" rtl="0" algn="l">
              <a:spcBef>
                <a:spcPts val="0"/>
              </a:spcBef>
              <a:spcAft>
                <a:spcPts val="0"/>
              </a:spcAft>
              <a:buSzPts val="1800"/>
              <a:buChar char="●"/>
            </a:pPr>
            <a:r>
              <a:rPr lang="it"/>
              <a:t>Destructuring</a:t>
            </a:r>
            <a:endParaRPr/>
          </a:p>
          <a:p>
            <a:pPr indent="-317500" lvl="1" marL="914400" rtl="0" algn="l">
              <a:spcBef>
                <a:spcPts val="0"/>
              </a:spcBef>
              <a:spcAft>
                <a:spcPts val="0"/>
              </a:spcAft>
              <a:buSzPts val="1400"/>
              <a:buChar char="○"/>
            </a:pPr>
            <a:r>
              <a:rPr lang="it" u="sng">
                <a:solidFill>
                  <a:schemeClr val="hlink"/>
                </a:solidFill>
                <a:hlinkClick r:id="rId6"/>
              </a:rPr>
              <a:t>https://aminb.gitbooks.io/rust-for-c/content/destructuring/index.html</a:t>
            </a:r>
            <a:r>
              <a:rPr lang="it"/>
              <a:t> </a:t>
            </a:r>
            <a:endParaRPr/>
          </a:p>
          <a:p>
            <a:pPr indent="-317500" lvl="1" marL="914400" rtl="0" algn="l">
              <a:spcBef>
                <a:spcPts val="0"/>
              </a:spcBef>
              <a:spcAft>
                <a:spcPts val="0"/>
              </a:spcAft>
              <a:buSzPts val="1400"/>
              <a:buChar char="○"/>
            </a:pPr>
            <a:r>
              <a:rPr lang="it" u="sng">
                <a:solidFill>
                  <a:schemeClr val="hlink"/>
                </a:solidFill>
                <a:hlinkClick r:id="rId7"/>
              </a:rPr>
              <a:t>https://aminb.gitbooks.io/rust-for-c/content/destructuring_2/index.html</a:t>
            </a:r>
            <a:r>
              <a:rPr lang="it"/>
              <a:t> </a:t>
            </a:r>
            <a:endParaRPr/>
          </a:p>
        </p:txBody>
      </p:sp>
      <p:sp>
        <p:nvSpPr>
          <p:cNvPr id="316" name="Google Shape;316;p3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17" name="Google Shape;317;p35"/>
          <p:cNvPicPr preferRelativeResize="0"/>
          <p:nvPr/>
        </p:nvPicPr>
        <p:blipFill rotWithShape="1">
          <a:blip r:embed="rId8">
            <a:alphaModFix/>
          </a:blip>
          <a:srcRect b="18806" l="17235" r="17235" t="18800"/>
          <a:stretch/>
        </p:blipFill>
        <p:spPr>
          <a:xfrm>
            <a:off x="7771925" y="140952"/>
            <a:ext cx="1249224" cy="10705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