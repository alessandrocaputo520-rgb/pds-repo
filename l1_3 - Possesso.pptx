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0FB459-A639-4E69-BF2F-BE9D303E0CE3}">
  <a:tblStyle styleId="{7E0FB459-A639-4E69-BF2F-BE9D303E0CE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g3c42f2e806f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 name="Google Shape;34;g3c42f2e80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c42f2e806f_0_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 name="Google Shape;41;g3c42f2e806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3c42f2e806f_0_1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3c42f2e806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42f2e806f_0_3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42f2e806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42f2e806f_0_6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42f2e806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42f2e806f_0_8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42f2e806f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42f2e806f_0_11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c42f2e806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42f2e806f_0_14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c42f2e806f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42f2e806f_0_17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c42f2e806f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42f2e806f_0_18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42f2e806f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42f2e806f_0_18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c42f2e806f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42f2e806f_0_21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c42f2e806f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c42f2e806f_0_23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c42f2e806f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c42f2e806f_0_26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c42f2e806f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c42f2e806f_0_29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c42f2e806f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c42f2e806f_0_30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c42f2e806f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c42f2e806f_0_30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c42f2e806f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c42f2e806f_0_31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c42f2e806f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c42f2e806f_0_32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c42f2e806f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c42f2e806f_0_35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c42f2e806f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c42f2e806f_0_36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c42f2e806f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c42f2e806f_0_38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c42f2e806f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c42f2e806f_0_41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c42f2e806f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c42f2e806f_0_44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c42f2e806f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c42f2e806f_0_47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c42f2e806f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c66dfd5e11_0_1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c66dfd5e1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c66dfd5e11_0_2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c66dfd5e1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c66dfd5e11_0_2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c66dfd5e1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c66dfd5e11_0_4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c66dfd5e1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c66dfd5e11_0_6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c66dfd5e1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c66dfd5e11_0_8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c66dfd5e1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c66dfd5e11_0_10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c66dfd5e11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c66dfd5e11_0_12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c66dfd5e11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c66dfd5e11_0_13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c66dfd5e11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c66dfd5e11_0_14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c66dfd5e11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c66dfd5e11_0_16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c66dfd5e11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c66dfd5e11_0_18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3c66dfd5e11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c66dfd5e11_0_21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c66dfd5e11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c66dfd5e11_0_22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3c66dfd5e11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c66dfd5e11_0_24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c66dfd5e11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c42f2e806f_0_50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3c42f2e806f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cd972896e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3cd972896e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c42f2e806f_0_51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3c42f2e806f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c42f2e806f_0_52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3c42f2e806f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c42f2e806f_0_52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3c42f2e806f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c42f2e806f_0_53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c42f2e806f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c42f2e806f_0_56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c42f2e806f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c42f2e806f_0_60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c42f2e806f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c42f2e806f_0_61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3c42f2e806f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c42f2e806f_0_61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3c42f2e806f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c42f2e806f_0_62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3c42f2e806f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c42f2e806f_0_63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3c42f2e806f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c42f2e806f_0_63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3c42f2e806f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c42f2e806f_0_64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3c42f2e806f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cd972896e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3cd972896e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c42fcce4b6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3c42fcce4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c42fcce4b6_0_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c42fcce4b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c42fcce4b6_0_1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3c42fcce4b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c42fcce4b6_0_1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3c42fcce4b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c42fcce4b6_0_2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3c42fcce4b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c42fcce4b6_0_3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c42fcce4b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c42fcce4b6_0_4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3c42fcce4b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c42fcce4b6_0_4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3c42fcce4b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c42fcce4b6_0_5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3c42fcce4b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c42fcce4b6_0_6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3c42fcce4b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c42f2e806f_0_65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3c42f2e806f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c66dfd5e11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c66dfd5e11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c42f2e806f_0_66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c42f2e806f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c42f2e806f_0_66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3c42f2e806f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3c42f2e806f_0_67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3c42f2e806f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3c42f2e806f_0_68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9" name="Google Shape;1109;g3c42f2e806f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c42f2e806f_0_68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3c42f2e806f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c42f2e806f_0_69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c42f2e806f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c66dfd5e11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3c66dfd5e11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c66dfd5e11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3c66dfd5e11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3c66dfd5e11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7" name="Google Shape;1147;g3c66dfd5e11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 name="Google Shape;17;p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 name="Google Shape;18;p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7" name="Shape 27"/>
        <p:cNvGrpSpPr/>
        <p:nvPr/>
      </p:nvGrpSpPr>
      <p:grpSpPr>
        <a:xfrm>
          <a:off x="0" y="0"/>
          <a:ext cx="0" cy="0"/>
          <a:chOff x="0" y="0"/>
          <a:chExt cx="0" cy="0"/>
        </a:xfrm>
      </p:grpSpPr>
      <p:sp>
        <p:nvSpPr>
          <p:cNvPr id="28" name="Google Shape;28;p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29" name="Google Shape;29;p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a:blip r:embed="rId1">
            <a:alphaModFix/>
          </a:blip>
          <a:stretch>
            <a:fillRect/>
          </a:stretch>
        </p:blipFill>
        <p:spPr>
          <a:xfrm>
            <a:off x="0" y="4787168"/>
            <a:ext cx="9144000" cy="356333"/>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1pPr>
            <a:lvl2pPr lvl="1">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2pPr>
            <a:lvl3pPr lvl="2">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3pPr>
            <a:lvl4pPr lvl="3">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4pPr>
            <a:lvl5pPr lvl="4">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5pPr>
            <a:lvl6pPr lvl="5">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6pPr>
            <a:lvl7pPr lvl="6">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7pPr>
            <a:lvl8pPr lvl="7">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8pPr>
            <a:lvl9pPr lvl="8">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alibri"/>
              <a:buChar char="●"/>
              <a:defRPr sz="1800">
                <a:solidFill>
                  <a:schemeClr val="dk2"/>
                </a:solidFill>
                <a:latin typeface="Calibri"/>
                <a:ea typeface="Calibri"/>
                <a:cs typeface="Calibri"/>
                <a:sym typeface="Calibri"/>
              </a:defRPr>
            </a:lvl1pPr>
            <a:lvl2pPr indent="-317500" lvl="1" marL="914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2pPr>
            <a:lvl3pPr indent="-317500" lvl="2" marL="1371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3pPr>
            <a:lvl4pPr indent="-317500" lvl="3" marL="1828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4pPr>
            <a:lvl5pPr indent="-317500" lvl="4" marL="22860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5pPr>
            <a:lvl6pPr indent="-317500" lvl="5" marL="27432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6pPr>
            <a:lvl7pPr indent="-317500" lvl="6" marL="3200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7pPr>
            <a:lvl8pPr indent="-317500" lvl="7" marL="3657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8pPr>
            <a:lvl9pPr indent="-317500" lvl="8" marL="4114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9pPr>
          </a:lstStyle>
          <a:p/>
        </p:txBody>
      </p:sp>
      <p:sp>
        <p:nvSpPr>
          <p:cNvPr id="9" name="Google Shape;9;p1"/>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
        <p:nvSpPr>
          <p:cNvPr id="10" name="Google Shape;10;p1"/>
          <p:cNvSpPr txBox="1"/>
          <p:nvPr/>
        </p:nvSpPr>
        <p:spPr>
          <a:xfrm>
            <a:off x="1019175" y="4806045"/>
            <a:ext cx="6677100" cy="31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it" sz="1100">
                <a:solidFill>
                  <a:schemeClr val="lt1"/>
                </a:solidFill>
              </a:rPr>
              <a:t>© G. Malnati, 2021-26</a:t>
            </a:r>
            <a:endParaRPr i="1" sz="11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 Id="rId3" Type="http://schemas.openxmlformats.org/officeDocument/2006/relationships/image" Target="../media/image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 Id="rId3" Type="http://schemas.openxmlformats.org/officeDocument/2006/relationships/image" Target="../media/image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hyperlink" Target="https://depth-first.com/articles/2020/01/27/rust-ownership-by-example/" TargetMode="External"/><Relationship Id="rId4" Type="http://schemas.openxmlformats.org/officeDocument/2006/relationships/hyperlink" Target="https://medium.com/coinmonks/understanding-ownership-in-rust-with-examples-73835ba931b1" TargetMode="External"/><Relationship Id="rId5" Type="http://schemas.openxmlformats.org/officeDocument/2006/relationships/hyperlink" Target="https://earthly.dev/blog/rust-lifetimes-ownership-burrowing/" TargetMode="External"/><Relationship Id="rId6" Type="http://schemas.openxmlformats.org/officeDocument/2006/relationships/hyperlink" Target="https://www.lurklurk.org/effective-rust/lifetimes.html" TargetMode="External"/><Relationship Id="rId7" Type="http://schemas.openxmlformats.org/officeDocument/2006/relationships/image" Target="../media/image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8"/>
          <p:cNvSpPr txBox="1"/>
          <p:nvPr>
            <p:ph type="ctrTitle"/>
          </p:nvPr>
        </p:nvSpPr>
        <p:spPr>
          <a:xfrm>
            <a:off x="311708" y="149895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Possesso</a:t>
            </a:r>
            <a:endParaRPr/>
          </a:p>
        </p:txBody>
      </p:sp>
      <p:sp>
        <p:nvSpPr>
          <p:cNvPr id="37" name="Google Shape;37;p8"/>
          <p:cNvSpPr txBox="1"/>
          <p:nvPr>
            <p:ph idx="1" type="subTitle"/>
          </p:nvPr>
        </p:nvSpPr>
        <p:spPr>
          <a:xfrm>
            <a:off x="311700" y="358850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a:t>2025-26</a:t>
            </a:r>
            <a:endParaRPr/>
          </a:p>
        </p:txBody>
      </p:sp>
      <p:pic>
        <p:nvPicPr>
          <p:cNvPr id="38" name="Google Shape;38;p8"/>
          <p:cNvPicPr preferRelativeResize="0"/>
          <p:nvPr/>
        </p:nvPicPr>
        <p:blipFill>
          <a:blip r:embed="rId3">
            <a:alphaModFix/>
          </a:blip>
          <a:stretch>
            <a:fillRect/>
          </a:stretch>
        </p:blipFill>
        <p:spPr>
          <a:xfrm>
            <a:off x="3076600" y="136170"/>
            <a:ext cx="2691720" cy="26917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Possesso</a:t>
            </a:r>
            <a:endParaRPr/>
          </a:p>
        </p:txBody>
      </p:sp>
      <p:sp>
        <p:nvSpPr>
          <p:cNvPr id="44" name="Google Shape;44;p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it"/>
              <a:t>In Rust, ogni valore introdotto nel programma è </a:t>
            </a:r>
            <a:r>
              <a:rPr b="1" lang="it">
                <a:solidFill>
                  <a:srgbClr val="0B5394"/>
                </a:solidFill>
              </a:rPr>
              <a:t>posseduto</a:t>
            </a:r>
            <a:r>
              <a:rPr lang="it"/>
              <a:t> da una ed una sola variabile</a:t>
            </a:r>
            <a:endParaRPr/>
          </a:p>
          <a:p>
            <a:pPr indent="-310832" lvl="1" marL="914400" rtl="0" algn="l">
              <a:spcBef>
                <a:spcPts val="0"/>
              </a:spcBef>
              <a:spcAft>
                <a:spcPts val="0"/>
              </a:spcAft>
              <a:buSzPct val="100000"/>
              <a:buChar char="○"/>
            </a:pPr>
            <a:r>
              <a:rPr lang="it"/>
              <a:t>Un particolare blocco logico contenuto nel compilatore, detto </a:t>
            </a:r>
            <a:r>
              <a:rPr b="1" lang="it">
                <a:solidFill>
                  <a:srgbClr val="0B5394"/>
                </a:solidFill>
              </a:rPr>
              <a:t>borrow checker</a:t>
            </a:r>
            <a:r>
              <a:rPr lang="it"/>
              <a:t>, verifica formalmente questo fatto, per ogni punto dell’esecuzione del programma</a:t>
            </a:r>
            <a:endParaRPr/>
          </a:p>
          <a:p>
            <a:pPr indent="-310832" lvl="1" marL="914400" rtl="0" algn="l">
              <a:spcBef>
                <a:spcPts val="0"/>
              </a:spcBef>
              <a:spcAft>
                <a:spcPts val="0"/>
              </a:spcAft>
              <a:buSzPct val="100000"/>
              <a:buChar char="○"/>
            </a:pPr>
            <a:r>
              <a:rPr lang="it"/>
              <a:t>Ogni violazione porta ad un </a:t>
            </a:r>
            <a:r>
              <a:rPr b="1" lang="it">
                <a:solidFill>
                  <a:srgbClr val="0B5394"/>
                </a:solidFill>
              </a:rPr>
              <a:t>fallimento della compilazione</a:t>
            </a:r>
            <a:endParaRPr b="1">
              <a:solidFill>
                <a:srgbClr val="0B5394"/>
              </a:solidFill>
            </a:endParaRPr>
          </a:p>
          <a:p>
            <a:pPr indent="-334327" lvl="0" marL="457200" rtl="0" algn="l">
              <a:spcBef>
                <a:spcPts val="0"/>
              </a:spcBef>
              <a:spcAft>
                <a:spcPts val="0"/>
              </a:spcAft>
              <a:buSzPct val="100000"/>
              <a:buChar char="●"/>
            </a:pPr>
            <a:r>
              <a:rPr lang="it"/>
              <a:t>Possedere un valore significa essere responsabili del suo </a:t>
            </a:r>
            <a:r>
              <a:rPr b="1" lang="it">
                <a:solidFill>
                  <a:srgbClr val="0B5394"/>
                </a:solidFill>
              </a:rPr>
              <a:t>rilascio</a:t>
            </a:r>
            <a:endParaRPr b="1">
              <a:solidFill>
                <a:srgbClr val="0B5394"/>
              </a:solidFill>
            </a:endParaRPr>
          </a:p>
          <a:p>
            <a:pPr indent="-310832" lvl="1" marL="914400" rtl="0" algn="l">
              <a:spcBef>
                <a:spcPts val="0"/>
              </a:spcBef>
              <a:spcAft>
                <a:spcPts val="0"/>
              </a:spcAft>
              <a:buSzPct val="100000"/>
              <a:buChar char="○"/>
            </a:pPr>
            <a:r>
              <a:rPr lang="it"/>
              <a:t>Se il valore contiene una risorsa (puntatore ad memoria dinamica, handle di file o socket, …), questa deve essere liberata</a:t>
            </a:r>
            <a:endParaRPr/>
          </a:p>
          <a:p>
            <a:pPr indent="-310832" lvl="1" marL="914400" rtl="0" algn="l">
              <a:spcBef>
                <a:spcPts val="0"/>
              </a:spcBef>
              <a:spcAft>
                <a:spcPts val="0"/>
              </a:spcAft>
              <a:buSzPct val="100000"/>
              <a:buChar char="○"/>
            </a:pPr>
            <a:r>
              <a:rPr lang="it"/>
              <a:t>Dopodiché occorre restituire al sistema operativo la memoria in cui il valore è memorizzato</a:t>
            </a:r>
            <a:endParaRPr/>
          </a:p>
          <a:p>
            <a:pPr indent="-334327" lvl="0" marL="457200" marR="0" rtl="0" algn="l">
              <a:lnSpc>
                <a:spcPct val="115000"/>
              </a:lnSpc>
              <a:spcBef>
                <a:spcPts val="0"/>
              </a:spcBef>
              <a:spcAft>
                <a:spcPts val="0"/>
              </a:spcAft>
              <a:buSzPct val="100000"/>
              <a:buChar char="●"/>
            </a:pPr>
            <a:r>
              <a:rPr lang="it"/>
              <a:t>Il rilascio avviene quando la variabile che lo possiede </a:t>
            </a:r>
            <a:r>
              <a:rPr b="1" lang="it">
                <a:solidFill>
                  <a:srgbClr val="0B5394"/>
                </a:solidFill>
              </a:rPr>
              <a:t>esce</a:t>
            </a:r>
            <a:r>
              <a:rPr lang="it"/>
              <a:t> dal proprio </a:t>
            </a:r>
            <a:r>
              <a:rPr i="1" lang="it"/>
              <a:t>scope</a:t>
            </a:r>
            <a:r>
              <a:rPr lang="it"/>
              <a:t> sintattico </a:t>
            </a:r>
            <a:r>
              <a:rPr b="1" lang="it">
                <a:solidFill>
                  <a:srgbClr val="0B5394"/>
                </a:solidFill>
              </a:rPr>
              <a:t>o</a:t>
            </a:r>
            <a:r>
              <a:rPr lang="it"/>
              <a:t> quando le viene </a:t>
            </a:r>
            <a:r>
              <a:rPr b="1" lang="it">
                <a:solidFill>
                  <a:srgbClr val="0B5394"/>
                </a:solidFill>
              </a:rPr>
              <a:t>assegnato</a:t>
            </a:r>
            <a:r>
              <a:rPr lang="it"/>
              <a:t> un nuovo valore</a:t>
            </a:r>
            <a:endParaRPr/>
          </a:p>
          <a:p>
            <a:pPr indent="-310832" lvl="1" marL="914400" rtl="0" algn="l">
              <a:spcBef>
                <a:spcPts val="0"/>
              </a:spcBef>
              <a:spcAft>
                <a:spcPts val="0"/>
              </a:spcAft>
              <a:buSzPct val="100000"/>
              <a:buChar char="○"/>
            </a:pPr>
            <a:r>
              <a:rPr lang="it"/>
              <a:t>Rust offre un meccanismo (drop) mediante il quale è possibile associare azioni arbitrarie da eseguire prima che sia liberata la memoria  </a:t>
            </a:r>
            <a:endParaRPr/>
          </a:p>
          <a:p>
            <a:pPr indent="-310832" lvl="1" marL="914400" rtl="0" algn="l">
              <a:spcBef>
                <a:spcPts val="0"/>
              </a:spcBef>
              <a:spcAft>
                <a:spcPts val="0"/>
              </a:spcAft>
              <a:buSzPct val="100000"/>
              <a:buChar char="○"/>
            </a:pPr>
            <a:r>
              <a:rPr lang="it"/>
              <a:t>Il rilascio può essere rimandato a dopo, se  il contenuto della variabile viene trasferito (mosso) in un’altra variabile: in questo caso la nuova variabile diventa responsabile del suo rilascio</a:t>
            </a:r>
            <a:endParaRPr/>
          </a:p>
        </p:txBody>
      </p:sp>
      <p:sp>
        <p:nvSpPr>
          <p:cNvPr id="45" name="Google Shape;45;p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0"/>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Possesso e rilascio</a:t>
            </a:r>
            <a:endParaRPr/>
          </a:p>
        </p:txBody>
      </p:sp>
      <p:sp>
        <p:nvSpPr>
          <p:cNvPr id="51" name="Google Shape;51;p10"/>
          <p:cNvSpPr txBox="1"/>
          <p:nvPr>
            <p:ph idx="1" type="body"/>
          </p:nvPr>
        </p:nvSpPr>
        <p:spPr>
          <a:xfrm>
            <a:off x="311700" y="1037228"/>
            <a:ext cx="3999900" cy="30747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Consolas"/>
                <a:ea typeface="Consolas"/>
                <a:cs typeface="Consolas"/>
                <a:sym typeface="Consolas"/>
              </a:rPr>
              <a:t>fn main()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r>
              <a:rPr b="1" lang="it">
                <a:solidFill>
                  <a:srgbClr val="980000"/>
                </a:solidFill>
                <a:latin typeface="Consolas"/>
                <a:ea typeface="Consolas"/>
                <a:cs typeface="Consolas"/>
                <a:sym typeface="Consolas"/>
              </a:rPr>
              <a:t>let mut v = Vec::with_capacity(4);</a:t>
            </a:r>
            <a:r>
              <a:rPr b="1" lang="it">
                <a:latin typeface="Consolas"/>
                <a:ea typeface="Consolas"/>
                <a:cs typeface="Consolas"/>
                <a:sym typeface="Consolas"/>
              </a:rPr>
              <a:t> </a:t>
            </a:r>
            <a:br>
              <a:rPr b="1" lang="it">
                <a:latin typeface="Consolas"/>
                <a:ea typeface="Consolas"/>
                <a:cs typeface="Consolas"/>
                <a:sym typeface="Consolas"/>
              </a:rPr>
            </a:br>
            <a:r>
              <a:rPr b="1" lang="it">
                <a:latin typeface="Consolas"/>
                <a:ea typeface="Consolas"/>
                <a:cs typeface="Consolas"/>
                <a:sym typeface="Consolas"/>
              </a:rPr>
              <a:t>                // v possiede il vec</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for i in 1..=5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v.push(i);</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println!(“{:?}”,v);</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1200"/>
              </a:spcBef>
              <a:spcAft>
                <a:spcPts val="1200"/>
              </a:spcAft>
              <a:buNone/>
            </a:pPr>
            <a:r>
              <a:t/>
            </a:r>
            <a:endParaRPr b="1">
              <a:latin typeface="Consolas"/>
              <a:ea typeface="Consolas"/>
              <a:cs typeface="Consolas"/>
              <a:sym typeface="Consolas"/>
            </a:endParaRPr>
          </a:p>
        </p:txBody>
      </p:sp>
      <p:sp>
        <p:nvSpPr>
          <p:cNvPr id="52" name="Google Shape;52;p10"/>
          <p:cNvSpPr txBox="1"/>
          <p:nvPr>
            <p:ph idx="12" type="sldNum"/>
          </p:nvPr>
        </p:nvSpPr>
        <p:spPr>
          <a:xfrm>
            <a:off x="8472458" y="4786194"/>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53" name="Google Shape;53;p10"/>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55" name="Google Shape;55;p10"/>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57" name="Google Shape;57;p10"/>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0</a:t>
            </a:r>
            <a:endParaRPr/>
          </a:p>
        </p:txBody>
      </p:sp>
      <p:sp>
        <p:nvSpPr>
          <p:cNvPr id="58" name="Google Shape;58;p10"/>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0"/>
          <p:cNvSpPr txBox="1"/>
          <p:nvPr/>
        </p:nvSpPr>
        <p:spPr>
          <a:xfrm>
            <a:off x="6069900" y="1189969"/>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v</a:t>
            </a:r>
            <a:endParaRPr b="1"/>
          </a:p>
        </p:txBody>
      </p:sp>
      <p:sp>
        <p:nvSpPr>
          <p:cNvPr id="60" name="Google Shape;60;p10"/>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0"/>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62" name="Google Shape;62;p10"/>
          <p:cNvSpPr/>
          <p:nvPr/>
        </p:nvSpPr>
        <p:spPr>
          <a:xfrm>
            <a:off x="5768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0"/>
          <p:cNvSpPr/>
          <p:nvPr/>
        </p:nvSpPr>
        <p:spPr>
          <a:xfrm>
            <a:off x="6140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0"/>
          <p:cNvSpPr/>
          <p:nvPr/>
        </p:nvSpPr>
        <p:spPr>
          <a:xfrm>
            <a:off x="6512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0"/>
          <p:cNvSpPr/>
          <p:nvPr/>
        </p:nvSpPr>
        <p:spPr>
          <a:xfrm>
            <a:off x="6884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 name="Google Shape;66;p10"/>
          <p:cNvCxnSpPr>
            <a:stCxn id="67" idx="2"/>
            <a:endCxn id="62" idx="0"/>
          </p:cNvCxnSpPr>
          <p:nvPr/>
        </p:nvCxnSpPr>
        <p:spPr>
          <a:xfrm flipH="1" rot="-5400000">
            <a:off x="5344200" y="2210010"/>
            <a:ext cx="1085700" cy="1353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67" name="Google Shape;67;p10"/>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p:nvPr/>
        </p:nvSpPr>
        <p:spPr>
          <a:xfrm>
            <a:off x="6895950" y="1685295"/>
            <a:ext cx="304500" cy="200400"/>
          </a:xfrm>
          <a:prstGeom prst="rightArrow">
            <a:avLst>
              <a:gd fmla="val 50000" name="adj1"/>
              <a:gd fmla="val 50000"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0"/>
          <p:cNvSpPr/>
          <p:nvPr/>
        </p:nvSpPr>
        <p:spPr>
          <a:xfrm>
            <a:off x="450850" y="1474267"/>
            <a:ext cx="3596100" cy="324600"/>
          </a:xfrm>
          <a:prstGeom prst="roundRect">
            <a:avLst>
              <a:gd fmla="val 16667" name="adj"/>
            </a:avLst>
          </a:prstGeom>
          <a:solidFill>
            <a:srgbClr val="FFFFFF">
              <a:alpha val="12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nvSpPr>
        <p:spPr>
          <a:xfrm>
            <a:off x="4637825" y="3352703"/>
            <a:ext cx="4194600" cy="831300"/>
          </a:xfrm>
          <a:prstGeom prst="rect">
            <a:avLst/>
          </a:prstGeom>
          <a:solidFill>
            <a:srgbClr val="BDE8F8">
              <a:alpha val="33880"/>
            </a:srgbClr>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it"/>
              <a:t>All’atto della creazione, viene acquisito un blocco sullo heap, il cui puntatore è memorizzato all’interno della struttura dati sullo stack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1"/>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Possesso e rilascio</a:t>
            </a:r>
            <a:endParaRPr/>
          </a:p>
        </p:txBody>
      </p:sp>
      <p:sp>
        <p:nvSpPr>
          <p:cNvPr id="76" name="Google Shape;76;p11"/>
          <p:cNvSpPr txBox="1"/>
          <p:nvPr>
            <p:ph idx="1" type="body"/>
          </p:nvPr>
        </p:nvSpPr>
        <p:spPr>
          <a:xfrm>
            <a:off x="311700" y="1037228"/>
            <a:ext cx="3999900" cy="30585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fn main()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let mut v = Vec::with_capacity(4); </a:t>
            </a:r>
            <a:br>
              <a:rPr b="1" lang="it">
                <a:latin typeface="Consolas"/>
                <a:ea typeface="Consolas"/>
                <a:cs typeface="Consolas"/>
                <a:sym typeface="Consolas"/>
              </a:rPr>
            </a:br>
            <a:r>
              <a:rPr b="1" lang="it">
                <a:latin typeface="Consolas"/>
                <a:ea typeface="Consolas"/>
                <a:cs typeface="Consolas"/>
                <a:sym typeface="Consolas"/>
              </a:rPr>
              <a:t>                // v possiede il vec</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for i in 1..=5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r>
              <a:rPr b="1" lang="it">
                <a:solidFill>
                  <a:srgbClr val="980000"/>
                </a:solidFill>
                <a:latin typeface="Consolas"/>
                <a:ea typeface="Consolas"/>
                <a:cs typeface="Consolas"/>
                <a:sym typeface="Consolas"/>
              </a:rPr>
              <a:t>v.push(i);</a:t>
            </a:r>
            <a:endParaRPr b="1">
              <a:solidFill>
                <a:srgbClr val="980000"/>
              </a:solidFill>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println!(“{:?}”,v);</a:t>
            </a:r>
            <a:endParaRPr b="1">
              <a:latin typeface="Consolas"/>
              <a:ea typeface="Consolas"/>
              <a:cs typeface="Consolas"/>
              <a:sym typeface="Consolas"/>
            </a:endParaRPr>
          </a:p>
          <a:p>
            <a:pPr indent="0" lvl="0" marL="0" rtl="0" algn="l">
              <a:spcBef>
                <a:spcPts val="1200"/>
              </a:spcBef>
              <a:spcAft>
                <a:spcPts val="120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77" name="Google Shape;77;p11"/>
          <p:cNvSpPr txBox="1"/>
          <p:nvPr>
            <p:ph idx="12" type="sldNum"/>
          </p:nvPr>
        </p:nvSpPr>
        <p:spPr>
          <a:xfrm>
            <a:off x="8472458" y="4778381"/>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8" name="Google Shape;78;p11"/>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1"/>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80" name="Google Shape;80;p11"/>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82" name="Google Shape;82;p11"/>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83" name="Google Shape;83;p11"/>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1"/>
          <p:cNvSpPr txBox="1"/>
          <p:nvPr/>
        </p:nvSpPr>
        <p:spPr>
          <a:xfrm>
            <a:off x="6069900" y="1189969"/>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v</a:t>
            </a:r>
            <a:endParaRPr b="1"/>
          </a:p>
        </p:txBody>
      </p:sp>
      <p:sp>
        <p:nvSpPr>
          <p:cNvPr id="85" name="Google Shape;85;p11"/>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1"/>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87" name="Google Shape;87;p11"/>
          <p:cNvSpPr/>
          <p:nvPr/>
        </p:nvSpPr>
        <p:spPr>
          <a:xfrm>
            <a:off x="5768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1</a:t>
            </a:r>
            <a:endParaRPr/>
          </a:p>
        </p:txBody>
      </p:sp>
      <p:sp>
        <p:nvSpPr>
          <p:cNvPr id="88" name="Google Shape;88;p11"/>
          <p:cNvSpPr/>
          <p:nvPr/>
        </p:nvSpPr>
        <p:spPr>
          <a:xfrm>
            <a:off x="6140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89" name="Google Shape;89;p11"/>
          <p:cNvSpPr/>
          <p:nvPr/>
        </p:nvSpPr>
        <p:spPr>
          <a:xfrm>
            <a:off x="6512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1"/>
          <p:cNvSpPr/>
          <p:nvPr/>
        </p:nvSpPr>
        <p:spPr>
          <a:xfrm>
            <a:off x="6884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 name="Google Shape;91;p11"/>
          <p:cNvCxnSpPr>
            <a:stCxn id="92" idx="2"/>
            <a:endCxn id="87" idx="0"/>
          </p:cNvCxnSpPr>
          <p:nvPr/>
        </p:nvCxnSpPr>
        <p:spPr>
          <a:xfrm flipH="1" rot="-5400000">
            <a:off x="5344200" y="2210010"/>
            <a:ext cx="1085700" cy="1353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92" name="Google Shape;92;p11"/>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1"/>
          <p:cNvSpPr/>
          <p:nvPr/>
        </p:nvSpPr>
        <p:spPr>
          <a:xfrm>
            <a:off x="72084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94" name="Google Shape;94;p11"/>
          <p:cNvSpPr txBox="1"/>
          <p:nvPr/>
        </p:nvSpPr>
        <p:spPr>
          <a:xfrm>
            <a:off x="7270200" y="1263004"/>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i</a:t>
            </a:r>
            <a:endParaRPr b="1"/>
          </a:p>
        </p:txBody>
      </p:sp>
      <p:sp>
        <p:nvSpPr>
          <p:cNvPr id="95" name="Google Shape;95;p11"/>
          <p:cNvSpPr/>
          <p:nvPr/>
        </p:nvSpPr>
        <p:spPr>
          <a:xfrm>
            <a:off x="7755275" y="1685295"/>
            <a:ext cx="304500" cy="200400"/>
          </a:xfrm>
          <a:prstGeom prst="rightArrow">
            <a:avLst>
              <a:gd fmla="val 50000" name="adj1"/>
              <a:gd fmla="val 50000"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1"/>
          <p:cNvSpPr/>
          <p:nvPr/>
        </p:nvSpPr>
        <p:spPr>
          <a:xfrm>
            <a:off x="488350" y="2517172"/>
            <a:ext cx="3596100" cy="324600"/>
          </a:xfrm>
          <a:prstGeom prst="roundRect">
            <a:avLst>
              <a:gd fmla="val 16667" name="adj"/>
            </a:avLst>
          </a:prstGeom>
          <a:solidFill>
            <a:srgbClr val="FFFFFF">
              <a:alpha val="12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1"/>
          <p:cNvSpPr txBox="1"/>
          <p:nvPr/>
        </p:nvSpPr>
        <p:spPr>
          <a:xfrm>
            <a:off x="4637825" y="3352703"/>
            <a:ext cx="4194600" cy="615600"/>
          </a:xfrm>
          <a:prstGeom prst="rect">
            <a:avLst/>
          </a:prstGeom>
          <a:solidFill>
            <a:srgbClr val="BDE8F8">
              <a:alpha val="33880"/>
            </a:srgbClr>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it"/>
              <a:t>Inserendo valori all'interno del vettore, lo spazio precedentemente allocato viene via via riempito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2"/>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Possesso e rilascio</a:t>
            </a:r>
            <a:endParaRPr/>
          </a:p>
        </p:txBody>
      </p:sp>
      <p:sp>
        <p:nvSpPr>
          <p:cNvPr id="103" name="Google Shape;103;p12"/>
          <p:cNvSpPr txBox="1"/>
          <p:nvPr>
            <p:ph idx="1" type="body"/>
          </p:nvPr>
        </p:nvSpPr>
        <p:spPr>
          <a:xfrm>
            <a:off x="311700" y="1037228"/>
            <a:ext cx="3999900" cy="30585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fn main()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let mut v = Vec::with_capacity(4); </a:t>
            </a:r>
            <a:br>
              <a:rPr b="1" lang="it">
                <a:latin typeface="Consolas"/>
                <a:ea typeface="Consolas"/>
                <a:cs typeface="Consolas"/>
                <a:sym typeface="Consolas"/>
              </a:rPr>
            </a:br>
            <a:r>
              <a:rPr b="1" lang="it">
                <a:latin typeface="Consolas"/>
                <a:ea typeface="Consolas"/>
                <a:cs typeface="Consolas"/>
                <a:sym typeface="Consolas"/>
              </a:rPr>
              <a:t>                // v possiede il vec</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for i in 1..=5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r>
              <a:rPr b="1" lang="it">
                <a:solidFill>
                  <a:srgbClr val="980000"/>
                </a:solidFill>
                <a:latin typeface="Consolas"/>
                <a:ea typeface="Consolas"/>
                <a:cs typeface="Consolas"/>
                <a:sym typeface="Consolas"/>
              </a:rPr>
              <a:t>v.push(i);</a:t>
            </a:r>
            <a:endParaRPr b="1">
              <a:solidFill>
                <a:srgbClr val="980000"/>
              </a:solidFill>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println!(“{:?}”,v);</a:t>
            </a:r>
            <a:endParaRPr b="1">
              <a:latin typeface="Consolas"/>
              <a:ea typeface="Consolas"/>
              <a:cs typeface="Consolas"/>
              <a:sym typeface="Consolas"/>
            </a:endParaRPr>
          </a:p>
          <a:p>
            <a:pPr indent="0" lvl="0" marL="0" rtl="0" algn="l">
              <a:spcBef>
                <a:spcPts val="1200"/>
              </a:spcBef>
              <a:spcAft>
                <a:spcPts val="120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104" name="Google Shape;104;p12"/>
          <p:cNvSpPr txBox="1"/>
          <p:nvPr>
            <p:ph idx="12" type="sldNum"/>
          </p:nvPr>
        </p:nvSpPr>
        <p:spPr>
          <a:xfrm>
            <a:off x="8472458" y="4786194"/>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5" name="Google Shape;105;p12"/>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2"/>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107" name="Google Shape;107;p12"/>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2"/>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109" name="Google Shape;109;p12"/>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3</a:t>
            </a:r>
            <a:endParaRPr/>
          </a:p>
        </p:txBody>
      </p:sp>
      <p:sp>
        <p:nvSpPr>
          <p:cNvPr id="110" name="Google Shape;110;p12"/>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2"/>
          <p:cNvSpPr txBox="1"/>
          <p:nvPr/>
        </p:nvSpPr>
        <p:spPr>
          <a:xfrm>
            <a:off x="6069900" y="1189969"/>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v</a:t>
            </a:r>
            <a:endParaRPr b="1"/>
          </a:p>
        </p:txBody>
      </p:sp>
      <p:sp>
        <p:nvSpPr>
          <p:cNvPr id="112" name="Google Shape;112;p12"/>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2"/>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114" name="Google Shape;114;p12"/>
          <p:cNvSpPr/>
          <p:nvPr/>
        </p:nvSpPr>
        <p:spPr>
          <a:xfrm>
            <a:off x="5768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1</a:t>
            </a:r>
            <a:endParaRPr/>
          </a:p>
        </p:txBody>
      </p:sp>
      <p:sp>
        <p:nvSpPr>
          <p:cNvPr id="115" name="Google Shape;115;p12"/>
          <p:cNvSpPr/>
          <p:nvPr/>
        </p:nvSpPr>
        <p:spPr>
          <a:xfrm>
            <a:off x="6140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116" name="Google Shape;116;p12"/>
          <p:cNvSpPr/>
          <p:nvPr/>
        </p:nvSpPr>
        <p:spPr>
          <a:xfrm>
            <a:off x="6512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3</a:t>
            </a:r>
            <a:endParaRPr/>
          </a:p>
        </p:txBody>
      </p:sp>
      <p:sp>
        <p:nvSpPr>
          <p:cNvPr id="117" name="Google Shape;117;p12"/>
          <p:cNvSpPr/>
          <p:nvPr/>
        </p:nvSpPr>
        <p:spPr>
          <a:xfrm>
            <a:off x="6884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 name="Google Shape;118;p12"/>
          <p:cNvCxnSpPr>
            <a:stCxn id="119" idx="2"/>
            <a:endCxn id="114" idx="0"/>
          </p:cNvCxnSpPr>
          <p:nvPr/>
        </p:nvCxnSpPr>
        <p:spPr>
          <a:xfrm flipH="1" rot="-5400000">
            <a:off x="5344200" y="2210010"/>
            <a:ext cx="1085700" cy="1353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119" name="Google Shape;119;p12"/>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2"/>
          <p:cNvSpPr/>
          <p:nvPr/>
        </p:nvSpPr>
        <p:spPr>
          <a:xfrm>
            <a:off x="72084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3</a:t>
            </a:r>
            <a:endParaRPr/>
          </a:p>
        </p:txBody>
      </p:sp>
      <p:sp>
        <p:nvSpPr>
          <p:cNvPr id="121" name="Google Shape;121;p12"/>
          <p:cNvSpPr txBox="1"/>
          <p:nvPr/>
        </p:nvSpPr>
        <p:spPr>
          <a:xfrm>
            <a:off x="7270200" y="1263004"/>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i</a:t>
            </a:r>
            <a:endParaRPr b="1"/>
          </a:p>
        </p:txBody>
      </p:sp>
      <p:sp>
        <p:nvSpPr>
          <p:cNvPr id="122" name="Google Shape;122;p12"/>
          <p:cNvSpPr/>
          <p:nvPr/>
        </p:nvSpPr>
        <p:spPr>
          <a:xfrm>
            <a:off x="488350" y="2517172"/>
            <a:ext cx="3596100" cy="324600"/>
          </a:xfrm>
          <a:prstGeom prst="roundRect">
            <a:avLst>
              <a:gd fmla="val 16667" name="adj"/>
            </a:avLst>
          </a:prstGeom>
          <a:solidFill>
            <a:srgbClr val="FFFFFF">
              <a:alpha val="12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2"/>
          <p:cNvSpPr txBox="1"/>
          <p:nvPr/>
        </p:nvSpPr>
        <p:spPr>
          <a:xfrm>
            <a:off x="4637825" y="3352703"/>
            <a:ext cx="4194600" cy="615600"/>
          </a:xfrm>
          <a:prstGeom prst="rect">
            <a:avLst/>
          </a:prstGeom>
          <a:solidFill>
            <a:srgbClr val="BDE8F8">
              <a:alpha val="33880"/>
            </a:srgbClr>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it"/>
              <a:t>Inserendo valori all'interno del vettore, lo spazio precedentemente allocato viene via via riempito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Possesso e rilascio</a:t>
            </a:r>
            <a:endParaRPr/>
          </a:p>
        </p:txBody>
      </p:sp>
      <p:sp>
        <p:nvSpPr>
          <p:cNvPr id="129" name="Google Shape;129;p13"/>
          <p:cNvSpPr txBox="1"/>
          <p:nvPr>
            <p:ph idx="1" type="body"/>
          </p:nvPr>
        </p:nvSpPr>
        <p:spPr>
          <a:xfrm>
            <a:off x="311700" y="1037228"/>
            <a:ext cx="3999900" cy="30585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fn main()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let mut v = Vec::with_capacity(4); </a:t>
            </a:r>
            <a:br>
              <a:rPr b="1" lang="it">
                <a:latin typeface="Consolas"/>
                <a:ea typeface="Consolas"/>
                <a:cs typeface="Consolas"/>
                <a:sym typeface="Consolas"/>
              </a:rPr>
            </a:br>
            <a:r>
              <a:rPr b="1" lang="it">
                <a:latin typeface="Consolas"/>
                <a:ea typeface="Consolas"/>
                <a:cs typeface="Consolas"/>
                <a:sym typeface="Consolas"/>
              </a:rPr>
              <a:t>                // v possiede il vec</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for i in 1..=5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r>
              <a:rPr b="1" lang="it">
                <a:solidFill>
                  <a:srgbClr val="980000"/>
                </a:solidFill>
                <a:latin typeface="Consolas"/>
                <a:ea typeface="Consolas"/>
                <a:cs typeface="Consolas"/>
                <a:sym typeface="Consolas"/>
              </a:rPr>
              <a:t>v.push(i);</a:t>
            </a:r>
            <a:endParaRPr b="1">
              <a:solidFill>
                <a:srgbClr val="980000"/>
              </a:solidFill>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println!(“{:?}”,v);</a:t>
            </a:r>
            <a:endParaRPr b="1">
              <a:latin typeface="Consolas"/>
              <a:ea typeface="Consolas"/>
              <a:cs typeface="Consolas"/>
              <a:sym typeface="Consolas"/>
            </a:endParaRPr>
          </a:p>
          <a:p>
            <a:pPr indent="0" lvl="0" marL="0" rtl="0" algn="l">
              <a:spcBef>
                <a:spcPts val="1200"/>
              </a:spcBef>
              <a:spcAft>
                <a:spcPts val="120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130" name="Google Shape;130;p13"/>
          <p:cNvSpPr txBox="1"/>
          <p:nvPr>
            <p:ph idx="12" type="sldNum"/>
          </p:nvPr>
        </p:nvSpPr>
        <p:spPr>
          <a:xfrm>
            <a:off x="8472458" y="4787716"/>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31" name="Google Shape;131;p13"/>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133" name="Google Shape;133;p13"/>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135" name="Google Shape;135;p13"/>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136" name="Google Shape;136;p13"/>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txBox="1"/>
          <p:nvPr/>
        </p:nvSpPr>
        <p:spPr>
          <a:xfrm>
            <a:off x="6069900" y="1189969"/>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v</a:t>
            </a:r>
            <a:endParaRPr b="1"/>
          </a:p>
        </p:txBody>
      </p:sp>
      <p:sp>
        <p:nvSpPr>
          <p:cNvPr id="138" name="Google Shape;138;p13"/>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140" name="Google Shape;140;p13"/>
          <p:cNvSpPr/>
          <p:nvPr/>
        </p:nvSpPr>
        <p:spPr>
          <a:xfrm>
            <a:off x="5768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1</a:t>
            </a:r>
            <a:endParaRPr/>
          </a:p>
        </p:txBody>
      </p:sp>
      <p:sp>
        <p:nvSpPr>
          <p:cNvPr id="141" name="Google Shape;141;p13"/>
          <p:cNvSpPr/>
          <p:nvPr/>
        </p:nvSpPr>
        <p:spPr>
          <a:xfrm>
            <a:off x="6140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142" name="Google Shape;142;p13"/>
          <p:cNvSpPr/>
          <p:nvPr/>
        </p:nvSpPr>
        <p:spPr>
          <a:xfrm>
            <a:off x="6512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3</a:t>
            </a:r>
            <a:endParaRPr/>
          </a:p>
        </p:txBody>
      </p:sp>
      <p:sp>
        <p:nvSpPr>
          <p:cNvPr id="143" name="Google Shape;143;p13"/>
          <p:cNvSpPr/>
          <p:nvPr/>
        </p:nvSpPr>
        <p:spPr>
          <a:xfrm>
            <a:off x="6884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4</a:t>
            </a:r>
            <a:endParaRPr/>
          </a:p>
        </p:txBody>
      </p:sp>
      <p:cxnSp>
        <p:nvCxnSpPr>
          <p:cNvPr id="144" name="Google Shape;144;p13"/>
          <p:cNvCxnSpPr>
            <a:stCxn id="145" idx="2"/>
            <a:endCxn id="140" idx="0"/>
          </p:cNvCxnSpPr>
          <p:nvPr/>
        </p:nvCxnSpPr>
        <p:spPr>
          <a:xfrm flipH="1" rot="-5400000">
            <a:off x="5344200" y="2210010"/>
            <a:ext cx="1085700" cy="1353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145" name="Google Shape;145;p13"/>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a:off x="72084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147" name="Google Shape;147;p13"/>
          <p:cNvSpPr txBox="1"/>
          <p:nvPr/>
        </p:nvSpPr>
        <p:spPr>
          <a:xfrm>
            <a:off x="7270200" y="1263004"/>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i</a:t>
            </a:r>
            <a:endParaRPr b="1"/>
          </a:p>
        </p:txBody>
      </p:sp>
      <p:sp>
        <p:nvSpPr>
          <p:cNvPr id="148" name="Google Shape;148;p13"/>
          <p:cNvSpPr/>
          <p:nvPr/>
        </p:nvSpPr>
        <p:spPr>
          <a:xfrm>
            <a:off x="488350" y="2517172"/>
            <a:ext cx="3596100" cy="324600"/>
          </a:xfrm>
          <a:prstGeom prst="roundRect">
            <a:avLst>
              <a:gd fmla="val 16667" name="adj"/>
            </a:avLst>
          </a:prstGeom>
          <a:solidFill>
            <a:srgbClr val="FFFFFF">
              <a:alpha val="12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3"/>
          <p:cNvSpPr txBox="1"/>
          <p:nvPr/>
        </p:nvSpPr>
        <p:spPr>
          <a:xfrm>
            <a:off x="4637825" y="3352703"/>
            <a:ext cx="4194600" cy="615600"/>
          </a:xfrm>
          <a:prstGeom prst="rect">
            <a:avLst/>
          </a:prstGeom>
          <a:solidFill>
            <a:srgbClr val="BDE8F8">
              <a:alpha val="33880"/>
            </a:srgbClr>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it"/>
              <a:t>Inserendo valori all'interno del vettore, lo spazio precedentemente allocato viene via via riempito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4"/>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Possesso e rilascio</a:t>
            </a:r>
            <a:endParaRPr/>
          </a:p>
        </p:txBody>
      </p:sp>
      <p:sp>
        <p:nvSpPr>
          <p:cNvPr id="155" name="Google Shape;155;p14"/>
          <p:cNvSpPr txBox="1"/>
          <p:nvPr>
            <p:ph idx="1" type="body"/>
          </p:nvPr>
        </p:nvSpPr>
        <p:spPr>
          <a:xfrm>
            <a:off x="311700" y="1037228"/>
            <a:ext cx="3999900" cy="30585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fn main()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let mut v = Vec::with_capacity(4); </a:t>
            </a:r>
            <a:br>
              <a:rPr b="1" lang="it">
                <a:latin typeface="Consolas"/>
                <a:ea typeface="Consolas"/>
                <a:cs typeface="Consolas"/>
                <a:sym typeface="Consolas"/>
              </a:rPr>
            </a:br>
            <a:r>
              <a:rPr b="1" lang="it">
                <a:latin typeface="Consolas"/>
                <a:ea typeface="Consolas"/>
                <a:cs typeface="Consolas"/>
                <a:sym typeface="Consolas"/>
              </a:rPr>
              <a:t>                // v possiede il vec</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for i in 1..=5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r>
              <a:rPr b="1" lang="it">
                <a:solidFill>
                  <a:srgbClr val="980000"/>
                </a:solidFill>
                <a:latin typeface="Consolas"/>
                <a:ea typeface="Consolas"/>
                <a:cs typeface="Consolas"/>
                <a:sym typeface="Consolas"/>
              </a:rPr>
              <a:t>v.push(i);</a:t>
            </a:r>
            <a:endParaRPr b="1">
              <a:solidFill>
                <a:srgbClr val="980000"/>
              </a:solidFill>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println!(“{:?}”,v);</a:t>
            </a:r>
            <a:endParaRPr b="1">
              <a:latin typeface="Consolas"/>
              <a:ea typeface="Consolas"/>
              <a:cs typeface="Consolas"/>
              <a:sym typeface="Consolas"/>
            </a:endParaRPr>
          </a:p>
          <a:p>
            <a:pPr indent="0" lvl="0" marL="0" rtl="0" algn="l">
              <a:spcBef>
                <a:spcPts val="1200"/>
              </a:spcBef>
              <a:spcAft>
                <a:spcPts val="120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156" name="Google Shape;156;p14"/>
          <p:cNvSpPr txBox="1"/>
          <p:nvPr>
            <p:ph idx="12" type="sldNum"/>
          </p:nvPr>
        </p:nvSpPr>
        <p:spPr>
          <a:xfrm>
            <a:off x="8472458" y="4794008"/>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57" name="Google Shape;157;p14"/>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159" name="Google Shape;159;p14"/>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8</a:t>
            </a:r>
            <a:endParaRPr/>
          </a:p>
        </p:txBody>
      </p:sp>
      <p:sp>
        <p:nvSpPr>
          <p:cNvPr id="161" name="Google Shape;161;p14"/>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162" name="Google Shape;162;p14"/>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
          <p:cNvSpPr txBox="1"/>
          <p:nvPr/>
        </p:nvSpPr>
        <p:spPr>
          <a:xfrm>
            <a:off x="6069900" y="1189969"/>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v</a:t>
            </a:r>
            <a:endParaRPr b="1"/>
          </a:p>
        </p:txBody>
      </p:sp>
      <p:sp>
        <p:nvSpPr>
          <p:cNvPr id="164" name="Google Shape;164;p14"/>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166" name="Google Shape;166;p14"/>
          <p:cNvSpPr/>
          <p:nvPr/>
        </p:nvSpPr>
        <p:spPr>
          <a:xfrm>
            <a:off x="5768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1</a:t>
            </a:r>
            <a:endParaRPr/>
          </a:p>
        </p:txBody>
      </p:sp>
      <p:sp>
        <p:nvSpPr>
          <p:cNvPr id="167" name="Google Shape;167;p14"/>
          <p:cNvSpPr/>
          <p:nvPr/>
        </p:nvSpPr>
        <p:spPr>
          <a:xfrm>
            <a:off x="6140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168" name="Google Shape;168;p14"/>
          <p:cNvSpPr/>
          <p:nvPr/>
        </p:nvSpPr>
        <p:spPr>
          <a:xfrm>
            <a:off x="6512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3</a:t>
            </a:r>
            <a:endParaRPr/>
          </a:p>
        </p:txBody>
      </p:sp>
      <p:sp>
        <p:nvSpPr>
          <p:cNvPr id="169" name="Google Shape;169;p14"/>
          <p:cNvSpPr/>
          <p:nvPr/>
        </p:nvSpPr>
        <p:spPr>
          <a:xfrm>
            <a:off x="6884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4</a:t>
            </a:r>
            <a:endParaRPr/>
          </a:p>
        </p:txBody>
      </p:sp>
      <p:cxnSp>
        <p:nvCxnSpPr>
          <p:cNvPr id="170" name="Google Shape;170;p14"/>
          <p:cNvCxnSpPr>
            <a:stCxn id="171" idx="2"/>
            <a:endCxn id="166" idx="0"/>
          </p:cNvCxnSpPr>
          <p:nvPr/>
        </p:nvCxnSpPr>
        <p:spPr>
          <a:xfrm flipH="1" rot="-5400000">
            <a:off x="5344200" y="2210010"/>
            <a:ext cx="1085700" cy="1353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171" name="Google Shape;171;p14"/>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
          <p:cNvSpPr/>
          <p:nvPr/>
        </p:nvSpPr>
        <p:spPr>
          <a:xfrm>
            <a:off x="72084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173" name="Google Shape;173;p14"/>
          <p:cNvSpPr txBox="1"/>
          <p:nvPr/>
        </p:nvSpPr>
        <p:spPr>
          <a:xfrm>
            <a:off x="7270200" y="1263004"/>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i</a:t>
            </a:r>
            <a:endParaRPr b="1"/>
          </a:p>
        </p:txBody>
      </p:sp>
      <p:sp>
        <p:nvSpPr>
          <p:cNvPr id="174" name="Google Shape;174;p14"/>
          <p:cNvSpPr/>
          <p:nvPr/>
        </p:nvSpPr>
        <p:spPr>
          <a:xfrm>
            <a:off x="488350" y="2517172"/>
            <a:ext cx="3596100" cy="324600"/>
          </a:xfrm>
          <a:prstGeom prst="roundRect">
            <a:avLst>
              <a:gd fmla="val 16667" name="adj"/>
            </a:avLst>
          </a:prstGeom>
          <a:solidFill>
            <a:srgbClr val="FFFFFF">
              <a:alpha val="12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
          <p:cNvSpPr txBox="1"/>
          <p:nvPr/>
        </p:nvSpPr>
        <p:spPr>
          <a:xfrm>
            <a:off x="4637825" y="3352703"/>
            <a:ext cx="4194600" cy="615600"/>
          </a:xfrm>
          <a:prstGeom prst="rect">
            <a:avLst/>
          </a:prstGeom>
          <a:solidFill>
            <a:srgbClr val="BDE8F8">
              <a:alpha val="33880"/>
            </a:srgbClr>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it"/>
              <a:t>Se necessario, il blocco viene riallocato, per fare spazio ad un maggior numero di elementi </a:t>
            </a:r>
            <a:endParaRPr/>
          </a:p>
        </p:txBody>
      </p:sp>
      <p:sp>
        <p:nvSpPr>
          <p:cNvPr id="176" name="Google Shape;176;p14"/>
          <p:cNvSpPr/>
          <p:nvPr/>
        </p:nvSpPr>
        <p:spPr>
          <a:xfrm>
            <a:off x="7256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177" name="Google Shape;177;p14"/>
          <p:cNvSpPr/>
          <p:nvPr/>
        </p:nvSpPr>
        <p:spPr>
          <a:xfrm>
            <a:off x="7628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
          <p:cNvSpPr/>
          <p:nvPr/>
        </p:nvSpPr>
        <p:spPr>
          <a:xfrm>
            <a:off x="8000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
          <p:cNvSpPr/>
          <p:nvPr/>
        </p:nvSpPr>
        <p:spPr>
          <a:xfrm>
            <a:off x="8372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5"/>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Possesso e rilascio</a:t>
            </a:r>
            <a:endParaRPr/>
          </a:p>
        </p:txBody>
      </p:sp>
      <p:sp>
        <p:nvSpPr>
          <p:cNvPr id="185" name="Google Shape;185;p15"/>
          <p:cNvSpPr txBox="1"/>
          <p:nvPr>
            <p:ph idx="1" type="body"/>
          </p:nvPr>
        </p:nvSpPr>
        <p:spPr>
          <a:xfrm>
            <a:off x="311700" y="1037228"/>
            <a:ext cx="3999900" cy="30585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fn main()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let mut v = Vec::with_capacity(4); </a:t>
            </a:r>
            <a:br>
              <a:rPr b="1" lang="it">
                <a:latin typeface="Consolas"/>
                <a:ea typeface="Consolas"/>
                <a:cs typeface="Consolas"/>
                <a:sym typeface="Consolas"/>
              </a:rPr>
            </a:br>
            <a:r>
              <a:rPr b="1" lang="it">
                <a:latin typeface="Consolas"/>
                <a:ea typeface="Consolas"/>
                <a:cs typeface="Consolas"/>
                <a:sym typeface="Consolas"/>
              </a:rPr>
              <a:t>                // v possiede il vec</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for i in 1..=5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v.push(i);</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r>
              <a:rPr b="1" lang="it">
                <a:solidFill>
                  <a:srgbClr val="980000"/>
                </a:solidFill>
                <a:latin typeface="Consolas"/>
                <a:ea typeface="Consolas"/>
                <a:cs typeface="Consolas"/>
                <a:sym typeface="Consolas"/>
              </a:rPr>
              <a:t>println!(“{:?}”,v);</a:t>
            </a:r>
            <a:endParaRPr b="1">
              <a:solidFill>
                <a:srgbClr val="980000"/>
              </a:solidFill>
              <a:latin typeface="Consolas"/>
              <a:ea typeface="Consolas"/>
              <a:cs typeface="Consolas"/>
              <a:sym typeface="Consolas"/>
            </a:endParaRPr>
          </a:p>
          <a:p>
            <a:pPr indent="0" lvl="0" marL="0" rtl="0" algn="l">
              <a:spcBef>
                <a:spcPts val="1200"/>
              </a:spcBef>
              <a:spcAft>
                <a:spcPts val="120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186" name="Google Shape;186;p15"/>
          <p:cNvSpPr txBox="1"/>
          <p:nvPr>
            <p:ph idx="12" type="sldNum"/>
          </p:nvPr>
        </p:nvSpPr>
        <p:spPr>
          <a:xfrm>
            <a:off x="8472458" y="4794008"/>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87" name="Google Shape;187;p15"/>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189" name="Google Shape;189;p15"/>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8</a:t>
            </a:r>
            <a:endParaRPr/>
          </a:p>
        </p:txBody>
      </p:sp>
      <p:sp>
        <p:nvSpPr>
          <p:cNvPr id="191" name="Google Shape;191;p15"/>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192" name="Google Shape;192;p15"/>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txBox="1"/>
          <p:nvPr/>
        </p:nvSpPr>
        <p:spPr>
          <a:xfrm>
            <a:off x="6069900" y="1189969"/>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v</a:t>
            </a:r>
            <a:endParaRPr b="1"/>
          </a:p>
        </p:txBody>
      </p:sp>
      <p:sp>
        <p:nvSpPr>
          <p:cNvPr id="194" name="Google Shape;194;p15"/>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cxnSp>
        <p:nvCxnSpPr>
          <p:cNvPr id="196" name="Google Shape;196;p15"/>
          <p:cNvCxnSpPr>
            <a:stCxn id="197" idx="2"/>
            <a:endCxn id="198" idx="0"/>
          </p:cNvCxnSpPr>
          <p:nvPr/>
        </p:nvCxnSpPr>
        <p:spPr>
          <a:xfrm flipH="1" rot="-5400000">
            <a:off x="5344200" y="2210010"/>
            <a:ext cx="1085700" cy="1353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197" name="Google Shape;197;p15"/>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flipH="1">
            <a:off x="6895950" y="1685295"/>
            <a:ext cx="304500" cy="200400"/>
          </a:xfrm>
          <a:prstGeom prst="rightArrow">
            <a:avLst>
              <a:gd fmla="val 50000" name="adj1"/>
              <a:gd fmla="val 50000"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p:nvPr/>
        </p:nvSpPr>
        <p:spPr>
          <a:xfrm>
            <a:off x="463860" y="3319041"/>
            <a:ext cx="3596100" cy="324600"/>
          </a:xfrm>
          <a:prstGeom prst="roundRect">
            <a:avLst>
              <a:gd fmla="val 16667" name="adj"/>
            </a:avLst>
          </a:prstGeom>
          <a:solidFill>
            <a:srgbClr val="FFFFFF">
              <a:alpha val="12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a:off x="5768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1</a:t>
            </a:r>
            <a:endParaRPr/>
          </a:p>
        </p:txBody>
      </p:sp>
      <p:sp>
        <p:nvSpPr>
          <p:cNvPr id="201" name="Google Shape;201;p15"/>
          <p:cNvSpPr/>
          <p:nvPr/>
        </p:nvSpPr>
        <p:spPr>
          <a:xfrm>
            <a:off x="6140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202" name="Google Shape;202;p15"/>
          <p:cNvSpPr/>
          <p:nvPr/>
        </p:nvSpPr>
        <p:spPr>
          <a:xfrm>
            <a:off x="6512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3</a:t>
            </a:r>
            <a:endParaRPr/>
          </a:p>
        </p:txBody>
      </p:sp>
      <p:sp>
        <p:nvSpPr>
          <p:cNvPr id="203" name="Google Shape;203;p15"/>
          <p:cNvSpPr/>
          <p:nvPr/>
        </p:nvSpPr>
        <p:spPr>
          <a:xfrm>
            <a:off x="6884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4</a:t>
            </a:r>
            <a:endParaRPr/>
          </a:p>
        </p:txBody>
      </p:sp>
      <p:sp>
        <p:nvSpPr>
          <p:cNvPr id="204" name="Google Shape;204;p15"/>
          <p:cNvSpPr/>
          <p:nvPr/>
        </p:nvSpPr>
        <p:spPr>
          <a:xfrm>
            <a:off x="7256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205" name="Google Shape;205;p15"/>
          <p:cNvSpPr/>
          <p:nvPr/>
        </p:nvSpPr>
        <p:spPr>
          <a:xfrm>
            <a:off x="7628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
          <p:cNvSpPr/>
          <p:nvPr/>
        </p:nvSpPr>
        <p:spPr>
          <a:xfrm>
            <a:off x="8000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
          <p:cNvSpPr/>
          <p:nvPr/>
        </p:nvSpPr>
        <p:spPr>
          <a:xfrm>
            <a:off x="8372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txBox="1"/>
          <p:nvPr/>
        </p:nvSpPr>
        <p:spPr>
          <a:xfrm>
            <a:off x="4637825" y="3352703"/>
            <a:ext cx="4194600" cy="615600"/>
          </a:xfrm>
          <a:prstGeom prst="rect">
            <a:avLst/>
          </a:prstGeom>
          <a:solidFill>
            <a:srgbClr val="BDE8F8">
              <a:alpha val="33880"/>
            </a:srgbClr>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it"/>
              <a:t>Finché la variabile è in scope, le risorse che possiede sono accessibili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6"/>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Possesso e rilascio</a:t>
            </a:r>
            <a:endParaRPr/>
          </a:p>
        </p:txBody>
      </p:sp>
      <p:sp>
        <p:nvSpPr>
          <p:cNvPr id="214" name="Google Shape;214;p16"/>
          <p:cNvSpPr txBox="1"/>
          <p:nvPr>
            <p:ph idx="1" type="body"/>
          </p:nvPr>
        </p:nvSpPr>
        <p:spPr>
          <a:xfrm>
            <a:off x="311700" y="1037228"/>
            <a:ext cx="3999900" cy="30747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it">
                <a:latin typeface="Consolas"/>
                <a:ea typeface="Consolas"/>
                <a:cs typeface="Consolas"/>
                <a:sym typeface="Consolas"/>
              </a:rPr>
              <a:t>fn main()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let mut v = Vec::with_capacity(4); </a:t>
            </a:r>
            <a:br>
              <a:rPr b="1" lang="it">
                <a:latin typeface="Consolas"/>
                <a:ea typeface="Consolas"/>
                <a:cs typeface="Consolas"/>
                <a:sym typeface="Consolas"/>
              </a:rPr>
            </a:br>
            <a:r>
              <a:rPr b="1" lang="it">
                <a:latin typeface="Consolas"/>
                <a:ea typeface="Consolas"/>
                <a:cs typeface="Consolas"/>
                <a:sym typeface="Consolas"/>
              </a:rPr>
              <a:t>                // v possiede il vec</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for i in 1..=5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v.push(i);</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1200"/>
              </a:spcBef>
              <a:spcAft>
                <a:spcPts val="0"/>
              </a:spcAft>
              <a:buNone/>
            </a:pPr>
            <a:r>
              <a:rPr b="1" lang="it">
                <a:latin typeface="Consolas"/>
                <a:ea typeface="Consolas"/>
                <a:cs typeface="Consolas"/>
                <a:sym typeface="Consolas"/>
              </a:rPr>
              <a:t>  println!(“{:?}”,v);</a:t>
            </a:r>
            <a:endParaRPr b="1">
              <a:latin typeface="Consolas"/>
              <a:ea typeface="Consolas"/>
              <a:cs typeface="Consolas"/>
              <a:sym typeface="Consolas"/>
            </a:endParaRPr>
          </a:p>
          <a:p>
            <a:pPr indent="0" lvl="0" marL="0" rtl="0" algn="l">
              <a:spcBef>
                <a:spcPts val="1200"/>
              </a:spcBef>
              <a:spcAft>
                <a:spcPts val="1200"/>
              </a:spcAft>
              <a:buNone/>
            </a:pPr>
            <a:r>
              <a:rPr b="1" lang="it">
                <a:solidFill>
                  <a:srgbClr val="980000"/>
                </a:solidFill>
                <a:latin typeface="Consolas"/>
                <a:ea typeface="Consolas"/>
                <a:cs typeface="Consolas"/>
                <a:sym typeface="Consolas"/>
              </a:rPr>
              <a:t>}</a:t>
            </a:r>
            <a:endParaRPr b="1">
              <a:latin typeface="Consolas"/>
              <a:ea typeface="Consolas"/>
              <a:cs typeface="Consolas"/>
              <a:sym typeface="Consolas"/>
            </a:endParaRPr>
          </a:p>
        </p:txBody>
      </p:sp>
      <p:sp>
        <p:nvSpPr>
          <p:cNvPr id="215" name="Google Shape;215;p16"/>
          <p:cNvSpPr txBox="1"/>
          <p:nvPr>
            <p:ph idx="12" type="sldNum"/>
          </p:nvPr>
        </p:nvSpPr>
        <p:spPr>
          <a:xfrm>
            <a:off x="8472458" y="4787716"/>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16" name="Google Shape;216;p16"/>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218" name="Google Shape;218;p16"/>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220" name="Google Shape;220;p16"/>
          <p:cNvSpPr/>
          <p:nvPr/>
        </p:nvSpPr>
        <p:spPr>
          <a:xfrm flipH="1">
            <a:off x="5371450" y="1685295"/>
            <a:ext cx="304500" cy="200400"/>
          </a:xfrm>
          <a:prstGeom prst="rightArrow">
            <a:avLst>
              <a:gd fmla="val 50000" name="adj1"/>
              <a:gd fmla="val 50000"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6"/>
          <p:cNvSpPr/>
          <p:nvPr/>
        </p:nvSpPr>
        <p:spPr>
          <a:xfrm>
            <a:off x="364350" y="3709037"/>
            <a:ext cx="3596100" cy="324600"/>
          </a:xfrm>
          <a:prstGeom prst="roundRect">
            <a:avLst>
              <a:gd fmla="val 16667" name="adj"/>
            </a:avLst>
          </a:prstGeom>
          <a:solidFill>
            <a:srgbClr val="FFFFFF">
              <a:alpha val="12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
          <p:cNvSpPr txBox="1"/>
          <p:nvPr/>
        </p:nvSpPr>
        <p:spPr>
          <a:xfrm>
            <a:off x="4637825" y="3352703"/>
            <a:ext cx="4194600" cy="1046700"/>
          </a:xfrm>
          <a:prstGeom prst="rect">
            <a:avLst/>
          </a:prstGeom>
          <a:solidFill>
            <a:srgbClr val="BDE8F8">
              <a:alpha val="33880"/>
            </a:srgbClr>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it"/>
              <a:t>Quando v esce dal proprio scope sintattico,  si occupa di rilasciare le risorse che  possiede :</a:t>
            </a:r>
            <a:endParaRPr/>
          </a:p>
          <a:p>
            <a:pPr indent="0" lvl="0" marL="0" rtl="0" algn="l">
              <a:spcBef>
                <a:spcPts val="0"/>
              </a:spcBef>
              <a:spcAft>
                <a:spcPts val="0"/>
              </a:spcAft>
              <a:buNone/>
            </a:pPr>
            <a:r>
              <a:rPr lang="it"/>
              <a:t>(l’array allocato sullo heap, con tutto il suo contenuto)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Movimento</a:t>
            </a:r>
            <a:endParaRPr/>
          </a:p>
        </p:txBody>
      </p:sp>
      <p:sp>
        <p:nvSpPr>
          <p:cNvPr id="228" name="Google Shape;22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Quando una variabile viene inizializzata, prende possesso del relativo valore</a:t>
            </a:r>
            <a:endParaRPr/>
          </a:p>
          <a:p>
            <a:pPr indent="-317500" lvl="1" marL="914400" rtl="0" algn="l">
              <a:spcBef>
                <a:spcPts val="0"/>
              </a:spcBef>
              <a:spcAft>
                <a:spcPts val="0"/>
              </a:spcAft>
              <a:buSzPts val="1400"/>
              <a:buChar char="○"/>
            </a:pPr>
            <a:r>
              <a:rPr lang="it"/>
              <a:t>Se ad una variabile (mutabile) è assegnato un nuovo valore, quello precedentemente posseduto viene rilasciato e la variabile diventa proprietaria del nuovo valore</a:t>
            </a:r>
            <a:endParaRPr/>
          </a:p>
          <a:p>
            <a:pPr indent="-342900" lvl="0" marL="457200" rtl="0" algn="l">
              <a:spcBef>
                <a:spcPts val="0"/>
              </a:spcBef>
              <a:spcAft>
                <a:spcPts val="0"/>
              </a:spcAft>
              <a:buSzPts val="1800"/>
              <a:buChar char="●"/>
            </a:pPr>
            <a:r>
              <a:rPr lang="it"/>
              <a:t>Se una variabile viene assegnata ad un’altra variabile oppure passata come argomento ad una funzione, il suo contenuto viene </a:t>
            </a:r>
            <a:r>
              <a:rPr b="1" lang="it">
                <a:solidFill>
                  <a:srgbClr val="0B5394"/>
                </a:solidFill>
              </a:rPr>
              <a:t>MOSSO</a:t>
            </a:r>
            <a:r>
              <a:rPr lang="it"/>
              <a:t> nella destinazione</a:t>
            </a:r>
            <a:endParaRPr/>
          </a:p>
          <a:p>
            <a:pPr indent="-317500" lvl="1" marL="914400" rtl="0" algn="l">
              <a:spcBef>
                <a:spcPts val="0"/>
              </a:spcBef>
              <a:spcAft>
                <a:spcPts val="0"/>
              </a:spcAft>
              <a:buSzPts val="1400"/>
              <a:buChar char="○"/>
            </a:pPr>
            <a:r>
              <a:rPr lang="it"/>
              <a:t>La variabile originale cessa di possedere il valore (non ne è più responsabile) ed il possesso passa alla variabile destinazione (o al parametro della funzione invocata)</a:t>
            </a:r>
            <a:endParaRPr/>
          </a:p>
          <a:p>
            <a:pPr indent="-317500" lvl="1" marL="914400" rtl="0" algn="l">
              <a:spcBef>
                <a:spcPts val="0"/>
              </a:spcBef>
              <a:spcAft>
                <a:spcPts val="0"/>
              </a:spcAft>
              <a:buSzPts val="1400"/>
              <a:buChar char="○"/>
            </a:pPr>
            <a:r>
              <a:rPr lang="it"/>
              <a:t>La variabile originale resta allocata fino a quando non termina la sua visibilità (chiusura del blocco in cui è stata definita)</a:t>
            </a:r>
            <a:endParaRPr/>
          </a:p>
          <a:p>
            <a:pPr indent="-317500" lvl="1" marL="914400" rtl="0" algn="l">
              <a:spcBef>
                <a:spcPts val="0"/>
              </a:spcBef>
              <a:spcAft>
                <a:spcPts val="0"/>
              </a:spcAft>
              <a:buSzPts val="1400"/>
              <a:buChar char="○"/>
            </a:pPr>
            <a:r>
              <a:rPr lang="it"/>
              <a:t>Eventuali accessi in </a:t>
            </a:r>
            <a:r>
              <a:rPr b="1" lang="it">
                <a:solidFill>
                  <a:srgbClr val="0B5394"/>
                </a:solidFill>
              </a:rPr>
              <a:t>lettura</a:t>
            </a:r>
            <a:r>
              <a:rPr lang="it"/>
              <a:t> alla variabile originale porteranno ad </a:t>
            </a:r>
            <a:r>
              <a:rPr b="1" lang="it">
                <a:solidFill>
                  <a:srgbClr val="0B5394"/>
                </a:solidFill>
              </a:rPr>
              <a:t>errori di compilazione</a:t>
            </a:r>
            <a:endParaRPr b="1">
              <a:solidFill>
                <a:srgbClr val="0B5394"/>
              </a:solidFill>
            </a:endParaRPr>
          </a:p>
          <a:p>
            <a:pPr indent="-317500" lvl="1" marL="914400" marR="0" rtl="0" algn="l">
              <a:lnSpc>
                <a:spcPct val="115000"/>
              </a:lnSpc>
              <a:spcBef>
                <a:spcPts val="0"/>
              </a:spcBef>
              <a:spcAft>
                <a:spcPts val="0"/>
              </a:spcAft>
              <a:buSzPts val="1400"/>
              <a:buChar char="○"/>
            </a:pPr>
            <a:r>
              <a:rPr lang="it"/>
              <a:t>Eventuali accessi in </a:t>
            </a:r>
            <a:r>
              <a:rPr b="1" lang="it">
                <a:solidFill>
                  <a:srgbClr val="0B5394"/>
                </a:solidFill>
              </a:rPr>
              <a:t>scrittura</a:t>
            </a:r>
            <a:r>
              <a:rPr lang="it"/>
              <a:t> alla variabile originale </a:t>
            </a:r>
            <a:r>
              <a:rPr b="1" lang="it">
                <a:solidFill>
                  <a:srgbClr val="0B5394"/>
                </a:solidFill>
              </a:rPr>
              <a:t>avranno successo</a:t>
            </a:r>
            <a:r>
              <a:rPr lang="it"/>
              <a:t> e ne riabiliteranno la lettura</a:t>
            </a:r>
            <a:endParaRPr/>
          </a:p>
          <a:p>
            <a:pPr indent="-317500" lvl="1" marL="914400" marR="0" rtl="0" algn="l">
              <a:lnSpc>
                <a:spcPct val="115000"/>
              </a:lnSpc>
              <a:spcBef>
                <a:spcPts val="0"/>
              </a:spcBef>
              <a:spcAft>
                <a:spcPts val="0"/>
              </a:spcAft>
              <a:buSzPts val="1400"/>
              <a:buChar char="○"/>
            </a:pPr>
            <a:r>
              <a:rPr lang="it"/>
              <a:t>La variabile destinazione conterrà una </a:t>
            </a:r>
            <a:r>
              <a:rPr b="1" lang="it">
                <a:solidFill>
                  <a:srgbClr val="0B5394"/>
                </a:solidFill>
              </a:rPr>
              <a:t>copia</a:t>
            </a:r>
            <a:r>
              <a:rPr lang="it"/>
              <a:t> bit a bit del valore originale (ammesso che il compilatore non riesca a riusare i dati originali al loro posto)</a:t>
            </a:r>
            <a:endParaRPr/>
          </a:p>
        </p:txBody>
      </p:sp>
      <p:sp>
        <p:nvSpPr>
          <p:cNvPr id="229" name="Google Shape;229;p1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Movimento</a:t>
            </a:r>
            <a:endParaRPr/>
          </a:p>
        </p:txBody>
      </p:sp>
      <p:sp>
        <p:nvSpPr>
          <p:cNvPr id="235" name="Google Shape;235;p1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36" name="Google Shape;236;p18"/>
          <p:cNvSpPr txBox="1"/>
          <p:nvPr/>
        </p:nvSpPr>
        <p:spPr>
          <a:xfrm>
            <a:off x="697500" y="1419638"/>
            <a:ext cx="3721500" cy="32016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rgbClr val="980000"/>
                </a:solidFill>
                <a:latin typeface="Consolas"/>
                <a:ea typeface="Consolas"/>
                <a:cs typeface="Consolas"/>
                <a:sym typeface="Consolas"/>
              </a:rPr>
              <a:t>let mut s1 = “hello”.to_string();</a:t>
            </a:r>
            <a:endParaRPr b="1">
              <a:solidFill>
                <a:srgbClr val="980000"/>
              </a:solidFill>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println!(“s1: {}”, s1);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s2 = s1;</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println!(“s2: {}”, s2);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//s1 non è più accessibile</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p:txBody>
      </p:sp>
      <p:sp>
        <p:nvSpPr>
          <p:cNvPr id="237" name="Google Shape;237;p18"/>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8"/>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239" name="Google Shape;239;p18"/>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8"/>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241" name="Google Shape;241;p18"/>
          <p:cNvSpPr/>
          <p:nvPr/>
        </p:nvSpPr>
        <p:spPr>
          <a:xfrm>
            <a:off x="6895950" y="1685295"/>
            <a:ext cx="304500" cy="200400"/>
          </a:xfrm>
          <a:prstGeom prst="rightArrow">
            <a:avLst>
              <a:gd fmla="val 50000" name="adj1"/>
              <a:gd fmla="val 50000"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8"/>
          <p:cNvSpPr/>
          <p:nvPr/>
        </p:nvSpPr>
        <p:spPr>
          <a:xfrm>
            <a:off x="736718" y="1447631"/>
            <a:ext cx="3596100" cy="324600"/>
          </a:xfrm>
          <a:prstGeom prst="roundRect">
            <a:avLst>
              <a:gd fmla="val 16667" name="adj"/>
            </a:avLst>
          </a:prstGeom>
          <a:solidFill>
            <a:srgbClr val="FFFFFF">
              <a:alpha val="12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8"/>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245" name="Google Shape;245;p18"/>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246" name="Google Shape;246;p18"/>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8"/>
          <p:cNvSpPr txBox="1"/>
          <p:nvPr/>
        </p:nvSpPr>
        <p:spPr>
          <a:xfrm>
            <a:off x="5919750" y="1165714"/>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s1</a:t>
            </a:r>
            <a:endParaRPr b="1"/>
          </a:p>
        </p:txBody>
      </p:sp>
      <p:sp>
        <p:nvSpPr>
          <p:cNvPr id="248" name="Google Shape;248;p18"/>
          <p:cNvSpPr/>
          <p:nvPr/>
        </p:nvSpPr>
        <p:spPr>
          <a:xfrm>
            <a:off x="5844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249" name="Google Shape;249;p18"/>
          <p:cNvSpPr/>
          <p:nvPr/>
        </p:nvSpPr>
        <p:spPr>
          <a:xfrm>
            <a:off x="6216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e</a:t>
            </a:r>
            <a:endParaRPr/>
          </a:p>
        </p:txBody>
      </p:sp>
      <p:sp>
        <p:nvSpPr>
          <p:cNvPr id="250" name="Google Shape;250;p18"/>
          <p:cNvSpPr/>
          <p:nvPr/>
        </p:nvSpPr>
        <p:spPr>
          <a:xfrm>
            <a:off x="6588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l</a:t>
            </a:r>
            <a:endParaRPr/>
          </a:p>
        </p:txBody>
      </p:sp>
      <p:sp>
        <p:nvSpPr>
          <p:cNvPr id="251" name="Google Shape;251;p18"/>
          <p:cNvSpPr/>
          <p:nvPr/>
        </p:nvSpPr>
        <p:spPr>
          <a:xfrm>
            <a:off x="6960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l</a:t>
            </a:r>
            <a:endParaRPr/>
          </a:p>
        </p:txBody>
      </p:sp>
      <p:cxnSp>
        <p:nvCxnSpPr>
          <p:cNvPr id="252" name="Google Shape;252;p18"/>
          <p:cNvCxnSpPr>
            <a:stCxn id="253" idx="2"/>
            <a:endCxn id="248" idx="0"/>
          </p:cNvCxnSpPr>
          <p:nvPr/>
        </p:nvCxnSpPr>
        <p:spPr>
          <a:xfrm flipH="1" rot="-5400000">
            <a:off x="5382300" y="2171910"/>
            <a:ext cx="1085700" cy="2115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253" name="Google Shape;253;p18"/>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8"/>
          <p:cNvSpPr/>
          <p:nvPr/>
        </p:nvSpPr>
        <p:spPr>
          <a:xfrm>
            <a:off x="7332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Movimento</a:t>
            </a:r>
            <a:endParaRPr/>
          </a:p>
        </p:txBody>
      </p:sp>
      <p:sp>
        <p:nvSpPr>
          <p:cNvPr id="260" name="Google Shape;260;p1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61" name="Google Shape;261;p19"/>
          <p:cNvSpPr txBox="1"/>
          <p:nvPr/>
        </p:nvSpPr>
        <p:spPr>
          <a:xfrm>
            <a:off x="697500" y="1419638"/>
            <a:ext cx="3721500" cy="32016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let mut s1 = “hello”.to_string();</a:t>
            </a:r>
            <a:endParaRPr b="1">
              <a:solidFill>
                <a:schemeClr val="dk1"/>
              </a:solidFill>
              <a:latin typeface="Consolas"/>
              <a:ea typeface="Consolas"/>
              <a:cs typeface="Consolas"/>
              <a:sym typeface="Consolas"/>
            </a:endParaRPr>
          </a:p>
          <a:p>
            <a:pPr indent="0" lvl="0" marL="0" rtl="0" algn="l">
              <a:spcBef>
                <a:spcPts val="0"/>
              </a:spcBef>
              <a:spcAft>
                <a:spcPts val="0"/>
              </a:spcAft>
              <a:buNone/>
            </a:pPr>
            <a:r>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println!(“s1: {}”, s1);</a:t>
            </a: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s2 = s1;</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println!(“s2: {}”, s2);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//s1 non è più accessibile</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p:txBody>
      </p:sp>
      <p:sp>
        <p:nvSpPr>
          <p:cNvPr id="262" name="Google Shape;262;p19"/>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264" name="Google Shape;264;p19"/>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9"/>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266" name="Google Shape;266;p19"/>
          <p:cNvSpPr/>
          <p:nvPr/>
        </p:nvSpPr>
        <p:spPr>
          <a:xfrm>
            <a:off x="744418" y="1890085"/>
            <a:ext cx="3596100" cy="324600"/>
          </a:xfrm>
          <a:prstGeom prst="roundRect">
            <a:avLst>
              <a:gd fmla="val 16667" name="adj"/>
            </a:avLst>
          </a:prstGeom>
          <a:solidFill>
            <a:srgbClr val="FFFFFF">
              <a:alpha val="12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9"/>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269" name="Google Shape;269;p19"/>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270" name="Google Shape;270;p19"/>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
          <p:cNvSpPr txBox="1"/>
          <p:nvPr/>
        </p:nvSpPr>
        <p:spPr>
          <a:xfrm>
            <a:off x="5919750" y="1165714"/>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s1</a:t>
            </a:r>
            <a:endParaRPr b="1"/>
          </a:p>
        </p:txBody>
      </p:sp>
      <p:sp>
        <p:nvSpPr>
          <p:cNvPr id="272" name="Google Shape;272;p19"/>
          <p:cNvSpPr/>
          <p:nvPr/>
        </p:nvSpPr>
        <p:spPr>
          <a:xfrm>
            <a:off x="5844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273" name="Google Shape;273;p19"/>
          <p:cNvSpPr/>
          <p:nvPr/>
        </p:nvSpPr>
        <p:spPr>
          <a:xfrm>
            <a:off x="6216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e</a:t>
            </a:r>
            <a:endParaRPr/>
          </a:p>
        </p:txBody>
      </p:sp>
      <p:sp>
        <p:nvSpPr>
          <p:cNvPr id="274" name="Google Shape;274;p19"/>
          <p:cNvSpPr/>
          <p:nvPr/>
        </p:nvSpPr>
        <p:spPr>
          <a:xfrm>
            <a:off x="6588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l</a:t>
            </a:r>
            <a:endParaRPr/>
          </a:p>
        </p:txBody>
      </p:sp>
      <p:sp>
        <p:nvSpPr>
          <p:cNvPr id="275" name="Google Shape;275;p19"/>
          <p:cNvSpPr/>
          <p:nvPr/>
        </p:nvSpPr>
        <p:spPr>
          <a:xfrm>
            <a:off x="6960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l</a:t>
            </a:r>
            <a:endParaRPr/>
          </a:p>
        </p:txBody>
      </p:sp>
      <p:cxnSp>
        <p:nvCxnSpPr>
          <p:cNvPr id="276" name="Google Shape;276;p19"/>
          <p:cNvCxnSpPr>
            <a:stCxn id="277" idx="2"/>
            <a:endCxn id="272" idx="0"/>
          </p:cNvCxnSpPr>
          <p:nvPr/>
        </p:nvCxnSpPr>
        <p:spPr>
          <a:xfrm flipH="1" rot="-5400000">
            <a:off x="5382300" y="2171910"/>
            <a:ext cx="1085700" cy="2115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277" name="Google Shape;277;p19"/>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
          <p:cNvSpPr/>
          <p:nvPr/>
        </p:nvSpPr>
        <p:spPr>
          <a:xfrm>
            <a:off x="7332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Movimento</a:t>
            </a:r>
            <a:endParaRPr/>
          </a:p>
        </p:txBody>
      </p:sp>
      <p:sp>
        <p:nvSpPr>
          <p:cNvPr id="284" name="Google Shape;284;p2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85" name="Google Shape;285;p20"/>
          <p:cNvSpPr txBox="1"/>
          <p:nvPr/>
        </p:nvSpPr>
        <p:spPr>
          <a:xfrm>
            <a:off x="697500" y="1419638"/>
            <a:ext cx="3721500" cy="32016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let mut s1 = “hello”.to_string();</a:t>
            </a:r>
            <a:endParaRPr b="1">
              <a:solidFill>
                <a:schemeClr val="dk1"/>
              </a:solidFill>
              <a:latin typeface="Consolas"/>
              <a:ea typeface="Consolas"/>
              <a:cs typeface="Consolas"/>
              <a:sym typeface="Consolas"/>
            </a:endParaRPr>
          </a:p>
          <a:p>
            <a:pPr indent="0" lvl="0" marL="0" rtl="0" algn="l">
              <a:spcBef>
                <a:spcPts val="0"/>
              </a:spcBef>
              <a:spcAft>
                <a:spcPts val="0"/>
              </a:spcAft>
              <a:buNone/>
            </a:pPr>
            <a:r>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println!(“s1: {}”, s1);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let s2 = s1;</a:t>
            </a:r>
            <a:endParaRPr b="1">
              <a:solidFill>
                <a:srgbClr val="980000"/>
              </a:solidFill>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println!(“s2: {}”, s2);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//s1 non è più accessibile</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p:txBody>
      </p:sp>
      <p:sp>
        <p:nvSpPr>
          <p:cNvPr id="286" name="Google Shape;286;p20"/>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288" name="Google Shape;288;p20"/>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0"/>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290" name="Google Shape;290;p20"/>
          <p:cNvSpPr/>
          <p:nvPr/>
        </p:nvSpPr>
        <p:spPr>
          <a:xfrm>
            <a:off x="8275875" y="1685295"/>
            <a:ext cx="304500" cy="200400"/>
          </a:xfrm>
          <a:prstGeom prst="rightArrow">
            <a:avLst>
              <a:gd fmla="val 50000" name="adj1"/>
              <a:gd fmla="val 50000"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0"/>
          <p:cNvSpPr/>
          <p:nvPr/>
        </p:nvSpPr>
        <p:spPr>
          <a:xfrm>
            <a:off x="735083" y="2306924"/>
            <a:ext cx="3596100" cy="324600"/>
          </a:xfrm>
          <a:prstGeom prst="roundRect">
            <a:avLst>
              <a:gd fmla="val 16667" name="adj"/>
            </a:avLst>
          </a:prstGeom>
          <a:solidFill>
            <a:srgbClr val="FFFFFF">
              <a:alpha val="12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0"/>
          <p:cNvSpPr/>
          <p:nvPr/>
        </p:nvSpPr>
        <p:spPr>
          <a:xfrm>
            <a:off x="5636100" y="1623195"/>
            <a:ext cx="372000" cy="324600"/>
          </a:xfrm>
          <a:prstGeom prst="rect">
            <a:avLst/>
          </a:prstGeom>
          <a:solidFill>
            <a:srgbClr val="AFD7F7"/>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0"/>
          <p:cNvSpPr/>
          <p:nvPr/>
        </p:nvSpPr>
        <p:spPr>
          <a:xfrm>
            <a:off x="6008100" y="1623195"/>
            <a:ext cx="372000" cy="324600"/>
          </a:xfrm>
          <a:prstGeom prst="rect">
            <a:avLst/>
          </a:prstGeom>
          <a:solidFill>
            <a:srgbClr val="AFD7F7"/>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999999"/>
                </a:solidFill>
              </a:rPr>
              <a:t>5</a:t>
            </a:r>
            <a:endParaRPr>
              <a:solidFill>
                <a:srgbClr val="999999"/>
              </a:solidFill>
            </a:endParaRPr>
          </a:p>
        </p:txBody>
      </p:sp>
      <p:sp>
        <p:nvSpPr>
          <p:cNvPr id="294" name="Google Shape;294;p20"/>
          <p:cNvSpPr/>
          <p:nvPr/>
        </p:nvSpPr>
        <p:spPr>
          <a:xfrm>
            <a:off x="6380100" y="1623195"/>
            <a:ext cx="372000" cy="324600"/>
          </a:xfrm>
          <a:prstGeom prst="rect">
            <a:avLst/>
          </a:prstGeom>
          <a:solidFill>
            <a:srgbClr val="AFD7F7"/>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999999"/>
                </a:solidFill>
              </a:rPr>
              <a:t>5</a:t>
            </a:r>
            <a:endParaRPr>
              <a:solidFill>
                <a:srgbClr val="999999"/>
              </a:solidFill>
            </a:endParaRPr>
          </a:p>
        </p:txBody>
      </p:sp>
      <p:sp>
        <p:nvSpPr>
          <p:cNvPr id="295" name="Google Shape;295;p20"/>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0"/>
          <p:cNvSpPr txBox="1"/>
          <p:nvPr/>
        </p:nvSpPr>
        <p:spPr>
          <a:xfrm>
            <a:off x="5919750" y="1165714"/>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s1</a:t>
            </a:r>
            <a:endParaRPr b="1"/>
          </a:p>
        </p:txBody>
      </p:sp>
      <p:sp>
        <p:nvSpPr>
          <p:cNvPr id="297" name="Google Shape;297;p20"/>
          <p:cNvSpPr/>
          <p:nvPr/>
        </p:nvSpPr>
        <p:spPr>
          <a:xfrm>
            <a:off x="5844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298" name="Google Shape;298;p20"/>
          <p:cNvSpPr/>
          <p:nvPr/>
        </p:nvSpPr>
        <p:spPr>
          <a:xfrm>
            <a:off x="6216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e</a:t>
            </a:r>
            <a:endParaRPr/>
          </a:p>
        </p:txBody>
      </p:sp>
      <p:sp>
        <p:nvSpPr>
          <p:cNvPr id="299" name="Google Shape;299;p20"/>
          <p:cNvSpPr/>
          <p:nvPr/>
        </p:nvSpPr>
        <p:spPr>
          <a:xfrm>
            <a:off x="6588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l</a:t>
            </a:r>
            <a:endParaRPr/>
          </a:p>
        </p:txBody>
      </p:sp>
      <p:sp>
        <p:nvSpPr>
          <p:cNvPr id="300" name="Google Shape;300;p20"/>
          <p:cNvSpPr/>
          <p:nvPr/>
        </p:nvSpPr>
        <p:spPr>
          <a:xfrm>
            <a:off x="6960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l</a:t>
            </a:r>
            <a:endParaRPr/>
          </a:p>
        </p:txBody>
      </p:sp>
      <p:cxnSp>
        <p:nvCxnSpPr>
          <p:cNvPr id="301" name="Google Shape;301;p20"/>
          <p:cNvCxnSpPr>
            <a:stCxn id="302" idx="2"/>
            <a:endCxn id="297" idx="0"/>
          </p:cNvCxnSpPr>
          <p:nvPr/>
        </p:nvCxnSpPr>
        <p:spPr>
          <a:xfrm flipH="1" rot="-5400000">
            <a:off x="5382300" y="2171910"/>
            <a:ext cx="1085700" cy="211500"/>
          </a:xfrm>
          <a:prstGeom prst="bentConnector3">
            <a:avLst>
              <a:gd fmla="val 49996" name="adj1"/>
            </a:avLst>
          </a:prstGeom>
          <a:noFill/>
          <a:ln cap="flat" cmpd="sng" w="28575">
            <a:solidFill>
              <a:srgbClr val="999999"/>
            </a:solidFill>
            <a:prstDash val="dash"/>
            <a:round/>
            <a:headEnd len="med" w="med" type="oval"/>
            <a:tailEnd len="med" w="med" type="triangle"/>
          </a:ln>
        </p:spPr>
      </p:cxnSp>
      <p:sp>
        <p:nvSpPr>
          <p:cNvPr id="302" name="Google Shape;302;p20"/>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0"/>
          <p:cNvSpPr/>
          <p:nvPr/>
        </p:nvSpPr>
        <p:spPr>
          <a:xfrm>
            <a:off x="7332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o</a:t>
            </a:r>
            <a:endParaRPr/>
          </a:p>
        </p:txBody>
      </p:sp>
      <p:sp>
        <p:nvSpPr>
          <p:cNvPr id="304" name="Google Shape;304;p20"/>
          <p:cNvSpPr/>
          <p:nvPr/>
        </p:nvSpPr>
        <p:spPr>
          <a:xfrm>
            <a:off x="6955975"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0"/>
          <p:cNvSpPr/>
          <p:nvPr/>
        </p:nvSpPr>
        <p:spPr>
          <a:xfrm>
            <a:off x="7327975"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306" name="Google Shape;306;p20"/>
          <p:cNvSpPr/>
          <p:nvPr/>
        </p:nvSpPr>
        <p:spPr>
          <a:xfrm>
            <a:off x="7699975"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307" name="Google Shape;307;p20"/>
          <p:cNvSpPr/>
          <p:nvPr/>
        </p:nvSpPr>
        <p:spPr>
          <a:xfrm rot="-5400000">
            <a:off x="7456825"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0"/>
          <p:cNvSpPr txBox="1"/>
          <p:nvPr/>
        </p:nvSpPr>
        <p:spPr>
          <a:xfrm>
            <a:off x="7239625" y="1165714"/>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s2</a:t>
            </a:r>
            <a:endParaRPr b="1"/>
          </a:p>
        </p:txBody>
      </p:sp>
      <p:cxnSp>
        <p:nvCxnSpPr>
          <p:cNvPr id="309" name="Google Shape;309;p20"/>
          <p:cNvCxnSpPr>
            <a:stCxn id="310" idx="2"/>
            <a:endCxn id="297" idx="0"/>
          </p:cNvCxnSpPr>
          <p:nvPr/>
        </p:nvCxnSpPr>
        <p:spPr>
          <a:xfrm rot="5400000">
            <a:off x="6042175" y="1723410"/>
            <a:ext cx="1085700" cy="11085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310" name="Google Shape;310;p20"/>
          <p:cNvSpPr/>
          <p:nvPr/>
        </p:nvSpPr>
        <p:spPr>
          <a:xfrm>
            <a:off x="7034875"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Movimento</a:t>
            </a:r>
            <a:endParaRPr/>
          </a:p>
        </p:txBody>
      </p:sp>
      <p:sp>
        <p:nvSpPr>
          <p:cNvPr id="316" name="Google Shape;316;p2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17" name="Google Shape;317;p21"/>
          <p:cNvSpPr txBox="1"/>
          <p:nvPr/>
        </p:nvSpPr>
        <p:spPr>
          <a:xfrm>
            <a:off x="697500" y="1419638"/>
            <a:ext cx="3721500" cy="32016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let mut s1 = “hello”.to_string();</a:t>
            </a:r>
            <a:endParaRPr b="1">
              <a:solidFill>
                <a:schemeClr val="dk1"/>
              </a:solidFill>
              <a:latin typeface="Consolas"/>
              <a:ea typeface="Consolas"/>
              <a:cs typeface="Consolas"/>
              <a:sym typeface="Consolas"/>
            </a:endParaRPr>
          </a:p>
          <a:p>
            <a:pPr indent="0" lvl="0" marL="0" rtl="0" algn="l">
              <a:spcBef>
                <a:spcPts val="0"/>
              </a:spcBef>
              <a:spcAft>
                <a:spcPts val="0"/>
              </a:spcAft>
              <a:buNone/>
            </a:pPr>
            <a:r>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println!(“s1: {}”, s1);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s2 = s1;</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println!(“s2: {}”, s2);			</a:t>
            </a:r>
            <a:endParaRPr b="1">
              <a:solidFill>
                <a:srgbClr val="980000"/>
              </a:solidFill>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//s1 non è più accessibile</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p:txBody>
      </p:sp>
      <p:sp>
        <p:nvSpPr>
          <p:cNvPr id="318" name="Google Shape;318;p21"/>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1"/>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320" name="Google Shape;320;p21"/>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1"/>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322" name="Google Shape;322;p21"/>
          <p:cNvSpPr/>
          <p:nvPr/>
        </p:nvSpPr>
        <p:spPr>
          <a:xfrm>
            <a:off x="737038" y="2730431"/>
            <a:ext cx="3596100" cy="324600"/>
          </a:xfrm>
          <a:prstGeom prst="roundRect">
            <a:avLst>
              <a:gd fmla="val 16667" name="adj"/>
            </a:avLst>
          </a:prstGeom>
          <a:solidFill>
            <a:srgbClr val="FFFFFF">
              <a:alpha val="12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1"/>
          <p:cNvSpPr/>
          <p:nvPr/>
        </p:nvSpPr>
        <p:spPr>
          <a:xfrm>
            <a:off x="5636100" y="1623195"/>
            <a:ext cx="372000" cy="324600"/>
          </a:xfrm>
          <a:prstGeom prst="rect">
            <a:avLst/>
          </a:prstGeom>
          <a:solidFill>
            <a:srgbClr val="AFD7F7"/>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1"/>
          <p:cNvSpPr/>
          <p:nvPr/>
        </p:nvSpPr>
        <p:spPr>
          <a:xfrm>
            <a:off x="6008100" y="1623195"/>
            <a:ext cx="372000" cy="324600"/>
          </a:xfrm>
          <a:prstGeom prst="rect">
            <a:avLst/>
          </a:prstGeom>
          <a:solidFill>
            <a:srgbClr val="AFD7F7"/>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999999"/>
                </a:solidFill>
              </a:rPr>
              <a:t>5</a:t>
            </a:r>
            <a:endParaRPr>
              <a:solidFill>
                <a:srgbClr val="999999"/>
              </a:solidFill>
            </a:endParaRPr>
          </a:p>
        </p:txBody>
      </p:sp>
      <p:sp>
        <p:nvSpPr>
          <p:cNvPr id="325" name="Google Shape;325;p21"/>
          <p:cNvSpPr/>
          <p:nvPr/>
        </p:nvSpPr>
        <p:spPr>
          <a:xfrm>
            <a:off x="6380100" y="1623195"/>
            <a:ext cx="372000" cy="324600"/>
          </a:xfrm>
          <a:prstGeom prst="rect">
            <a:avLst/>
          </a:prstGeom>
          <a:solidFill>
            <a:srgbClr val="AFD7F7"/>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999999"/>
                </a:solidFill>
              </a:rPr>
              <a:t>5</a:t>
            </a:r>
            <a:endParaRPr>
              <a:solidFill>
                <a:srgbClr val="999999"/>
              </a:solidFill>
            </a:endParaRPr>
          </a:p>
        </p:txBody>
      </p:sp>
      <p:sp>
        <p:nvSpPr>
          <p:cNvPr id="326" name="Google Shape;326;p21"/>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1"/>
          <p:cNvSpPr txBox="1"/>
          <p:nvPr/>
        </p:nvSpPr>
        <p:spPr>
          <a:xfrm>
            <a:off x="5919750" y="1165714"/>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s1</a:t>
            </a:r>
            <a:endParaRPr b="1"/>
          </a:p>
        </p:txBody>
      </p:sp>
      <p:sp>
        <p:nvSpPr>
          <p:cNvPr id="328" name="Google Shape;328;p21"/>
          <p:cNvSpPr/>
          <p:nvPr/>
        </p:nvSpPr>
        <p:spPr>
          <a:xfrm>
            <a:off x="5844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329" name="Google Shape;329;p21"/>
          <p:cNvSpPr/>
          <p:nvPr/>
        </p:nvSpPr>
        <p:spPr>
          <a:xfrm>
            <a:off x="6216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e</a:t>
            </a:r>
            <a:endParaRPr/>
          </a:p>
        </p:txBody>
      </p:sp>
      <p:sp>
        <p:nvSpPr>
          <p:cNvPr id="330" name="Google Shape;330;p21"/>
          <p:cNvSpPr/>
          <p:nvPr/>
        </p:nvSpPr>
        <p:spPr>
          <a:xfrm>
            <a:off x="6588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l</a:t>
            </a:r>
            <a:endParaRPr/>
          </a:p>
        </p:txBody>
      </p:sp>
      <p:sp>
        <p:nvSpPr>
          <p:cNvPr id="331" name="Google Shape;331;p21"/>
          <p:cNvSpPr/>
          <p:nvPr/>
        </p:nvSpPr>
        <p:spPr>
          <a:xfrm>
            <a:off x="6960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l</a:t>
            </a:r>
            <a:endParaRPr/>
          </a:p>
        </p:txBody>
      </p:sp>
      <p:cxnSp>
        <p:nvCxnSpPr>
          <p:cNvPr id="332" name="Google Shape;332;p21"/>
          <p:cNvCxnSpPr>
            <a:stCxn id="333" idx="2"/>
            <a:endCxn id="328" idx="0"/>
          </p:cNvCxnSpPr>
          <p:nvPr/>
        </p:nvCxnSpPr>
        <p:spPr>
          <a:xfrm flipH="1" rot="-5400000">
            <a:off x="5382300" y="2171910"/>
            <a:ext cx="1085700" cy="211500"/>
          </a:xfrm>
          <a:prstGeom prst="bentConnector3">
            <a:avLst>
              <a:gd fmla="val 49996" name="adj1"/>
            </a:avLst>
          </a:prstGeom>
          <a:noFill/>
          <a:ln cap="flat" cmpd="sng" w="28575">
            <a:solidFill>
              <a:srgbClr val="999999"/>
            </a:solidFill>
            <a:prstDash val="dash"/>
            <a:round/>
            <a:headEnd len="med" w="med" type="oval"/>
            <a:tailEnd len="med" w="med" type="triangle"/>
          </a:ln>
        </p:spPr>
      </p:cxnSp>
      <p:sp>
        <p:nvSpPr>
          <p:cNvPr id="333" name="Google Shape;333;p21"/>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1"/>
          <p:cNvSpPr/>
          <p:nvPr/>
        </p:nvSpPr>
        <p:spPr>
          <a:xfrm>
            <a:off x="73328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o</a:t>
            </a:r>
            <a:endParaRPr/>
          </a:p>
        </p:txBody>
      </p:sp>
      <p:sp>
        <p:nvSpPr>
          <p:cNvPr id="335" name="Google Shape;335;p21"/>
          <p:cNvSpPr/>
          <p:nvPr/>
        </p:nvSpPr>
        <p:spPr>
          <a:xfrm>
            <a:off x="6955975"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1"/>
          <p:cNvSpPr/>
          <p:nvPr/>
        </p:nvSpPr>
        <p:spPr>
          <a:xfrm>
            <a:off x="7327975"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337" name="Google Shape;337;p21"/>
          <p:cNvSpPr/>
          <p:nvPr/>
        </p:nvSpPr>
        <p:spPr>
          <a:xfrm>
            <a:off x="7699975"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338" name="Google Shape;338;p21"/>
          <p:cNvSpPr/>
          <p:nvPr/>
        </p:nvSpPr>
        <p:spPr>
          <a:xfrm rot="-5400000">
            <a:off x="7456825"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1"/>
          <p:cNvSpPr txBox="1"/>
          <p:nvPr/>
        </p:nvSpPr>
        <p:spPr>
          <a:xfrm>
            <a:off x="7239625" y="1165714"/>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s2</a:t>
            </a:r>
            <a:endParaRPr b="1"/>
          </a:p>
        </p:txBody>
      </p:sp>
      <p:cxnSp>
        <p:nvCxnSpPr>
          <p:cNvPr id="340" name="Google Shape;340;p21"/>
          <p:cNvCxnSpPr>
            <a:stCxn id="341" idx="2"/>
            <a:endCxn id="328" idx="0"/>
          </p:cNvCxnSpPr>
          <p:nvPr/>
        </p:nvCxnSpPr>
        <p:spPr>
          <a:xfrm rot="5400000">
            <a:off x="6042175" y="1723410"/>
            <a:ext cx="1085700" cy="11085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341" name="Google Shape;341;p21"/>
          <p:cNvSpPr/>
          <p:nvPr/>
        </p:nvSpPr>
        <p:spPr>
          <a:xfrm>
            <a:off x="7034875"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Movimento</a:t>
            </a:r>
            <a:endParaRPr/>
          </a:p>
        </p:txBody>
      </p:sp>
      <p:sp>
        <p:nvSpPr>
          <p:cNvPr id="347" name="Google Shape;347;p2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48" name="Google Shape;348;p22"/>
          <p:cNvSpPr txBox="1"/>
          <p:nvPr/>
        </p:nvSpPr>
        <p:spPr>
          <a:xfrm>
            <a:off x="697500" y="1419638"/>
            <a:ext cx="7749000" cy="29862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let mut s1 = “hello”.to_string();</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println!(“s1: {}”, s1);     			// s1: hello</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s2 = s1;</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println!(“s2: {}”, s2);				// s2: hello, in s1 c’è la stessa cosa:</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ma NON è più accessibile</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s1 = “world”.to_string();			// de-commentando questa riga, s1 torna</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a possedere un valore</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strike="sngStrike">
                <a:solidFill>
                  <a:srgbClr val="980000"/>
                </a:solidFill>
                <a:latin typeface="Consolas"/>
                <a:ea typeface="Consolas"/>
                <a:cs typeface="Consolas"/>
                <a:sym typeface="Consolas"/>
              </a:rPr>
              <a:t>println!(“s1.to_uppercase(): {}”, s1.to_uppercase());	</a:t>
            </a:r>
            <a:r>
              <a:rPr b="1" lang="it">
                <a:latin typeface="Consolas"/>
                <a:ea typeface="Consolas"/>
                <a:cs typeface="Consolas"/>
                <a:sym typeface="Consolas"/>
              </a:rPr>
              <a:t>			</a:t>
            </a:r>
            <a:br>
              <a:rPr b="1" lang="it">
                <a:latin typeface="Consolas"/>
                <a:ea typeface="Consolas"/>
                <a:cs typeface="Consolas"/>
                <a:sym typeface="Consolas"/>
              </a:rPr>
            </a:br>
            <a:r>
              <a:rPr b="1" lang="it">
                <a:latin typeface="Consolas"/>
                <a:ea typeface="Consolas"/>
                <a:cs typeface="Consolas"/>
                <a:sym typeface="Consolas"/>
              </a:rPr>
              <a:t>                                     // NON possibile senza de-commentare</a:t>
            </a:r>
            <a:br>
              <a:rPr b="1" lang="it">
                <a:latin typeface="Consolas"/>
                <a:ea typeface="Consolas"/>
                <a:cs typeface="Consolas"/>
                <a:sym typeface="Consolas"/>
              </a:rPr>
            </a:br>
            <a:r>
              <a:rPr b="1" lang="it">
                <a:latin typeface="Consolas"/>
                <a:ea typeface="Consolas"/>
                <a:cs typeface="Consolas"/>
                <a:sym typeface="Consolas"/>
              </a:rPr>
              <a:t>                                     	// la riga precedente</a:t>
            </a:r>
            <a:endParaRPr b="1">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Movimento</a:t>
            </a:r>
            <a:endParaRPr/>
          </a:p>
        </p:txBody>
      </p:sp>
      <p:sp>
        <p:nvSpPr>
          <p:cNvPr id="354" name="Google Shape;354;p2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55" name="Google Shape;355;p23"/>
          <p:cNvSpPr txBox="1"/>
          <p:nvPr/>
        </p:nvSpPr>
        <p:spPr>
          <a:xfrm>
            <a:off x="550250" y="1421955"/>
            <a:ext cx="7749000" cy="25551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18   |     let mut s1 = "hello".to_string();</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 move occurs because `s1` has type `String`, which does not implement the `Copy` trait</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19   |     println!("s1: {}", s1);</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20   |     let s2 = s1;</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 value moved here</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23   |     println!("s1.to_uppercase(): {}", s1.to_uppercase());</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 value borrowed here after move</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Copia</a:t>
            </a:r>
            <a:endParaRPr/>
          </a:p>
        </p:txBody>
      </p:sp>
      <p:sp>
        <p:nvSpPr>
          <p:cNvPr id="361" name="Google Shape;36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334327" lvl="0" marL="457200" rtl="0" algn="l">
              <a:spcBef>
                <a:spcPts val="0"/>
              </a:spcBef>
              <a:spcAft>
                <a:spcPts val="0"/>
              </a:spcAft>
              <a:buSzPct val="100000"/>
              <a:buChar char="●"/>
            </a:pPr>
            <a:r>
              <a:rPr lang="it"/>
              <a:t>Alcuni tipi, tra cui quelli numerici, sono definiti </a:t>
            </a:r>
            <a:r>
              <a:rPr b="1" lang="it">
                <a:solidFill>
                  <a:srgbClr val="0B5394"/>
                </a:solidFill>
              </a:rPr>
              <a:t>copiabili</a:t>
            </a:r>
            <a:endParaRPr b="1">
              <a:solidFill>
                <a:srgbClr val="0B5394"/>
              </a:solidFill>
            </a:endParaRPr>
          </a:p>
          <a:p>
            <a:pPr indent="-310832" lvl="1" marL="914400" marR="0" rtl="0" algn="l">
              <a:lnSpc>
                <a:spcPct val="115000"/>
              </a:lnSpc>
              <a:spcBef>
                <a:spcPts val="0"/>
              </a:spcBef>
              <a:spcAft>
                <a:spcPts val="0"/>
              </a:spcAft>
              <a:buSzPct val="100000"/>
              <a:buChar char="○"/>
            </a:pPr>
            <a:r>
              <a:rPr lang="it"/>
              <a:t>Implementano il tratto </a:t>
            </a:r>
            <a:r>
              <a:rPr b="1" lang="it">
                <a:solidFill>
                  <a:srgbClr val="0B5394"/>
                </a:solidFill>
                <a:latin typeface="Consolas"/>
                <a:ea typeface="Consolas"/>
                <a:cs typeface="Consolas"/>
                <a:sym typeface="Consolas"/>
              </a:rPr>
              <a:t>Copy</a:t>
            </a:r>
            <a:endParaRPr b="1">
              <a:solidFill>
                <a:srgbClr val="0B5394"/>
              </a:solidFill>
              <a:latin typeface="Consolas"/>
              <a:ea typeface="Consolas"/>
              <a:cs typeface="Consolas"/>
              <a:sym typeface="Consolas"/>
            </a:endParaRPr>
          </a:p>
          <a:p>
            <a:pPr indent="-310832" lvl="1" marL="914400" rtl="0" algn="l">
              <a:spcBef>
                <a:spcPts val="0"/>
              </a:spcBef>
              <a:spcAft>
                <a:spcPts val="0"/>
              </a:spcAft>
              <a:buSzPct val="100000"/>
              <a:buChar char="○"/>
            </a:pPr>
            <a:r>
              <a:rPr lang="it"/>
              <a:t>Quando un valore viene assegnato ad un’altra variabile o usato come argomento in una chiamata a funzione, il valore originale rimane accessibile in lettura</a:t>
            </a:r>
            <a:endParaRPr/>
          </a:p>
          <a:p>
            <a:pPr indent="-310832" lvl="1" marL="914400" rtl="0" algn="l">
              <a:spcBef>
                <a:spcPts val="0"/>
              </a:spcBef>
              <a:spcAft>
                <a:spcPts val="0"/>
              </a:spcAft>
              <a:buSzPct val="100000"/>
              <a:buChar char="○"/>
            </a:pPr>
            <a:r>
              <a:rPr lang="it"/>
              <a:t>Questo è possibile quando il valore contenuto non costituisce una “risorsa” che richiede ulteriori azioni di rilascio</a:t>
            </a:r>
            <a:endParaRPr/>
          </a:p>
          <a:p>
            <a:pPr indent="-334327" lvl="0" marL="457200" rtl="0" algn="l">
              <a:spcBef>
                <a:spcPts val="0"/>
              </a:spcBef>
              <a:spcAft>
                <a:spcPts val="0"/>
              </a:spcAft>
              <a:buSzPct val="100000"/>
              <a:buChar char="●"/>
            </a:pPr>
            <a:r>
              <a:rPr lang="it"/>
              <a:t>I tipi semplici e le loro combinazioni (tuple e array di numeri, ad esempio) sono copiabili</a:t>
            </a:r>
            <a:endParaRPr/>
          </a:p>
          <a:p>
            <a:pPr indent="-310832" lvl="1" marL="914400" rtl="0" algn="l">
              <a:spcBef>
                <a:spcPts val="0"/>
              </a:spcBef>
              <a:spcAft>
                <a:spcPts val="0"/>
              </a:spcAft>
              <a:buSzPct val="100000"/>
              <a:buChar char="○"/>
            </a:pPr>
            <a:r>
              <a:rPr lang="it"/>
              <a:t>Così come sono copiabili i riferimenti a valori non mutabili</a:t>
            </a:r>
            <a:endParaRPr/>
          </a:p>
          <a:p>
            <a:pPr indent="-310832" lvl="1" marL="914400" rtl="0" algn="l">
              <a:spcBef>
                <a:spcPts val="0"/>
              </a:spcBef>
              <a:spcAft>
                <a:spcPts val="0"/>
              </a:spcAft>
              <a:buSzPct val="100000"/>
              <a:buChar char="○"/>
            </a:pPr>
            <a:r>
              <a:rPr lang="it"/>
              <a:t>I riferimenti a valori mutabili NON sono copiabili</a:t>
            </a:r>
            <a:endParaRPr/>
          </a:p>
          <a:p>
            <a:pPr indent="-334327" lvl="0" marL="457200" rtl="0" algn="l">
              <a:spcBef>
                <a:spcPts val="0"/>
              </a:spcBef>
              <a:spcAft>
                <a:spcPts val="0"/>
              </a:spcAft>
              <a:buSzPct val="100000"/>
              <a:buChar char="●"/>
            </a:pPr>
            <a:r>
              <a:rPr lang="it"/>
              <a:t>Da un punto di vista del codice generato, </a:t>
            </a:r>
            <a:r>
              <a:rPr b="1" lang="it">
                <a:solidFill>
                  <a:srgbClr val="0B5394"/>
                </a:solidFill>
              </a:rPr>
              <a:t>non cambia nulla</a:t>
            </a:r>
            <a:r>
              <a:rPr lang="it"/>
              <a:t> tra copia e movimento</a:t>
            </a:r>
            <a:endParaRPr/>
          </a:p>
          <a:p>
            <a:pPr indent="-310832" lvl="1" marL="914400" rtl="0" algn="l">
              <a:spcBef>
                <a:spcPts val="0"/>
              </a:spcBef>
              <a:spcAft>
                <a:spcPts val="0"/>
              </a:spcAft>
              <a:buSzPct val="100000"/>
              <a:buChar char="○"/>
            </a:pPr>
            <a:r>
              <a:rPr lang="it"/>
              <a:t>L’istruzione di assegnazione o il passaggio come argomento comporta la duplicazione (bit a bit) del valore originale </a:t>
            </a:r>
            <a:endParaRPr/>
          </a:p>
          <a:p>
            <a:pPr indent="-310832" lvl="1" marL="914400" rtl="0" algn="l">
              <a:spcBef>
                <a:spcPts val="0"/>
              </a:spcBef>
              <a:spcAft>
                <a:spcPts val="0"/>
              </a:spcAft>
              <a:buSzPct val="100000"/>
              <a:buChar char="○"/>
            </a:pPr>
            <a:r>
              <a:rPr lang="it"/>
              <a:t>Semplicemente, in caso di copia, il borrow checker non impedisce l’ulteriore accesso in lettura al dato originale</a:t>
            </a:r>
            <a:endParaRPr/>
          </a:p>
        </p:txBody>
      </p:sp>
      <p:sp>
        <p:nvSpPr>
          <p:cNvPr id="362" name="Google Shape;362;p2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5"/>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Copia e movimento</a:t>
            </a:r>
            <a:endParaRPr/>
          </a:p>
        </p:txBody>
      </p:sp>
      <p:sp>
        <p:nvSpPr>
          <p:cNvPr id="368" name="Google Shape;368;p25"/>
          <p:cNvSpPr txBox="1"/>
          <p:nvPr>
            <p:ph idx="12" type="sldNum"/>
          </p:nvPr>
        </p:nvSpPr>
        <p:spPr>
          <a:xfrm>
            <a:off x="8472458" y="4787716"/>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369" name="Google Shape;369;p25"/>
          <p:cNvPicPr preferRelativeResize="0"/>
          <p:nvPr/>
        </p:nvPicPr>
        <p:blipFill>
          <a:blip r:embed="rId3">
            <a:alphaModFix/>
          </a:blip>
          <a:stretch>
            <a:fillRect/>
          </a:stretch>
        </p:blipFill>
        <p:spPr>
          <a:xfrm>
            <a:off x="311700" y="1403331"/>
            <a:ext cx="7668541" cy="25212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6"/>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Copia e movimento </a:t>
            </a:r>
            <a:endParaRPr/>
          </a:p>
        </p:txBody>
      </p:sp>
      <p:sp>
        <p:nvSpPr>
          <p:cNvPr id="375" name="Google Shape;375;p26"/>
          <p:cNvSpPr txBox="1"/>
          <p:nvPr>
            <p:ph idx="12" type="sldNum"/>
          </p:nvPr>
        </p:nvSpPr>
        <p:spPr>
          <a:xfrm>
            <a:off x="8472458" y="4787716"/>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76" name="Google Shape;376;p26"/>
          <p:cNvSpPr txBox="1"/>
          <p:nvPr/>
        </p:nvSpPr>
        <p:spPr>
          <a:xfrm>
            <a:off x="307150" y="1095840"/>
            <a:ext cx="8380500" cy="12621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Consolas"/>
                <a:ea typeface="Consolas"/>
                <a:cs typeface="Consolas"/>
                <a:sym typeface="Consolas"/>
              </a:rPr>
              <a:t>let string1 = "Hello".to_string();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let string2 = string1; //da qui in poi, string1 è inaccessibile in lettura</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//a meno che non venga riassegnato</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let num1: i32 = 3;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let num2 = num1;       //nessun vincolo su num1!</a:t>
            </a:r>
            <a:endParaRPr>
              <a:latin typeface="Consolas"/>
              <a:ea typeface="Consolas"/>
              <a:cs typeface="Consolas"/>
              <a:sym typeface="Consolas"/>
            </a:endParaRPr>
          </a:p>
        </p:txBody>
      </p:sp>
      <p:sp>
        <p:nvSpPr>
          <p:cNvPr id="377" name="Google Shape;377;p26"/>
          <p:cNvSpPr/>
          <p:nvPr/>
        </p:nvSpPr>
        <p:spPr>
          <a:xfrm>
            <a:off x="1803525" y="3004965"/>
            <a:ext cx="58953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6"/>
          <p:cNvSpPr txBox="1"/>
          <p:nvPr/>
        </p:nvSpPr>
        <p:spPr>
          <a:xfrm>
            <a:off x="1025750" y="298714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379" name="Google Shape;379;p26"/>
          <p:cNvSpPr/>
          <p:nvPr/>
        </p:nvSpPr>
        <p:spPr>
          <a:xfrm>
            <a:off x="2175525" y="3004965"/>
            <a:ext cx="372000" cy="324600"/>
          </a:xfrm>
          <a:prstGeom prst="rect">
            <a:avLst/>
          </a:prstGeom>
          <a:solidFill>
            <a:srgbClr val="AFD7F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6"/>
          <p:cNvSpPr/>
          <p:nvPr/>
        </p:nvSpPr>
        <p:spPr>
          <a:xfrm>
            <a:off x="2547525" y="3004965"/>
            <a:ext cx="372000" cy="324600"/>
          </a:xfrm>
          <a:prstGeom prst="rect">
            <a:avLst/>
          </a:prstGeom>
          <a:solidFill>
            <a:srgbClr val="AFD7F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999999"/>
                </a:solidFill>
              </a:rPr>
              <a:t>5</a:t>
            </a:r>
            <a:endParaRPr>
              <a:solidFill>
                <a:srgbClr val="999999"/>
              </a:solidFill>
            </a:endParaRPr>
          </a:p>
        </p:txBody>
      </p:sp>
      <p:sp>
        <p:nvSpPr>
          <p:cNvPr id="381" name="Google Shape;381;p26"/>
          <p:cNvSpPr/>
          <p:nvPr/>
        </p:nvSpPr>
        <p:spPr>
          <a:xfrm>
            <a:off x="2919525" y="3004965"/>
            <a:ext cx="372000" cy="324600"/>
          </a:xfrm>
          <a:prstGeom prst="rect">
            <a:avLst/>
          </a:prstGeom>
          <a:solidFill>
            <a:srgbClr val="AFD7F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999999"/>
                </a:solidFill>
              </a:rPr>
              <a:t>5</a:t>
            </a:r>
            <a:endParaRPr>
              <a:solidFill>
                <a:srgbClr val="999999"/>
              </a:solidFill>
            </a:endParaRPr>
          </a:p>
        </p:txBody>
      </p:sp>
      <p:sp>
        <p:nvSpPr>
          <p:cNvPr id="382" name="Google Shape;382;p26"/>
          <p:cNvSpPr/>
          <p:nvPr/>
        </p:nvSpPr>
        <p:spPr>
          <a:xfrm rot="-5400000">
            <a:off x="2676375" y="235143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6"/>
          <p:cNvSpPr txBox="1"/>
          <p:nvPr/>
        </p:nvSpPr>
        <p:spPr>
          <a:xfrm>
            <a:off x="2264925" y="2571750"/>
            <a:ext cx="937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string1</a:t>
            </a:r>
            <a:endParaRPr b="1"/>
          </a:p>
        </p:txBody>
      </p:sp>
      <p:sp>
        <p:nvSpPr>
          <p:cNvPr id="384" name="Google Shape;384;p26"/>
          <p:cNvSpPr/>
          <p:nvPr/>
        </p:nvSpPr>
        <p:spPr>
          <a:xfrm>
            <a:off x="1803525" y="4202280"/>
            <a:ext cx="58953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6"/>
          <p:cNvSpPr txBox="1"/>
          <p:nvPr/>
        </p:nvSpPr>
        <p:spPr>
          <a:xfrm>
            <a:off x="1025750" y="416664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386" name="Google Shape;386;p26"/>
          <p:cNvSpPr/>
          <p:nvPr/>
        </p:nvSpPr>
        <p:spPr>
          <a:xfrm>
            <a:off x="2384275" y="420228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387" name="Google Shape;387;p26"/>
          <p:cNvSpPr/>
          <p:nvPr/>
        </p:nvSpPr>
        <p:spPr>
          <a:xfrm>
            <a:off x="2756275" y="420228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e</a:t>
            </a:r>
            <a:endParaRPr/>
          </a:p>
        </p:txBody>
      </p:sp>
      <p:sp>
        <p:nvSpPr>
          <p:cNvPr id="388" name="Google Shape;388;p26"/>
          <p:cNvSpPr/>
          <p:nvPr/>
        </p:nvSpPr>
        <p:spPr>
          <a:xfrm>
            <a:off x="3128275" y="420228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l</a:t>
            </a:r>
            <a:endParaRPr/>
          </a:p>
        </p:txBody>
      </p:sp>
      <p:sp>
        <p:nvSpPr>
          <p:cNvPr id="389" name="Google Shape;389;p26"/>
          <p:cNvSpPr/>
          <p:nvPr/>
        </p:nvSpPr>
        <p:spPr>
          <a:xfrm>
            <a:off x="3500275" y="420228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l</a:t>
            </a:r>
            <a:endParaRPr/>
          </a:p>
        </p:txBody>
      </p:sp>
      <p:cxnSp>
        <p:nvCxnSpPr>
          <p:cNvPr id="390" name="Google Shape;390;p26"/>
          <p:cNvCxnSpPr>
            <a:stCxn id="391" idx="2"/>
            <a:endCxn id="386" idx="0"/>
          </p:cNvCxnSpPr>
          <p:nvPr/>
        </p:nvCxnSpPr>
        <p:spPr>
          <a:xfrm flipH="1" rot="-5400000">
            <a:off x="1921725" y="3553680"/>
            <a:ext cx="1085700" cy="211500"/>
          </a:xfrm>
          <a:prstGeom prst="curvedConnector3">
            <a:avLst>
              <a:gd fmla="val 49996" name="adj1"/>
            </a:avLst>
          </a:prstGeom>
          <a:noFill/>
          <a:ln cap="flat" cmpd="sng" w="28575">
            <a:solidFill>
              <a:srgbClr val="999999"/>
            </a:solidFill>
            <a:prstDash val="dash"/>
            <a:round/>
            <a:headEnd len="med" w="med" type="oval"/>
            <a:tailEnd len="med" w="med" type="triangle"/>
          </a:ln>
        </p:spPr>
      </p:cxnSp>
      <p:sp>
        <p:nvSpPr>
          <p:cNvPr id="391" name="Google Shape;391;p26"/>
          <p:cNvSpPr/>
          <p:nvPr/>
        </p:nvSpPr>
        <p:spPr>
          <a:xfrm>
            <a:off x="2254425" y="305568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6"/>
          <p:cNvSpPr/>
          <p:nvPr/>
        </p:nvSpPr>
        <p:spPr>
          <a:xfrm>
            <a:off x="5576625" y="300496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3</a:t>
            </a:r>
            <a:endParaRPr/>
          </a:p>
        </p:txBody>
      </p:sp>
      <p:sp>
        <p:nvSpPr>
          <p:cNvPr id="393" name="Google Shape;393;p26"/>
          <p:cNvSpPr txBox="1"/>
          <p:nvPr/>
        </p:nvSpPr>
        <p:spPr>
          <a:xfrm>
            <a:off x="5407425" y="2644785"/>
            <a:ext cx="710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num2</a:t>
            </a:r>
            <a:endParaRPr b="1"/>
          </a:p>
        </p:txBody>
      </p:sp>
      <p:sp>
        <p:nvSpPr>
          <p:cNvPr id="394" name="Google Shape;394;p26"/>
          <p:cNvSpPr/>
          <p:nvPr/>
        </p:nvSpPr>
        <p:spPr>
          <a:xfrm>
            <a:off x="6123500" y="3067065"/>
            <a:ext cx="304500" cy="200400"/>
          </a:xfrm>
          <a:prstGeom prst="rightArrow">
            <a:avLst>
              <a:gd fmla="val 50000" name="adj1"/>
              <a:gd fmla="val 50000"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6"/>
          <p:cNvSpPr/>
          <p:nvPr/>
        </p:nvSpPr>
        <p:spPr>
          <a:xfrm>
            <a:off x="3872275" y="420228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o</a:t>
            </a:r>
            <a:endParaRPr/>
          </a:p>
        </p:txBody>
      </p:sp>
      <p:sp>
        <p:nvSpPr>
          <p:cNvPr id="396" name="Google Shape;396;p26"/>
          <p:cNvSpPr/>
          <p:nvPr/>
        </p:nvSpPr>
        <p:spPr>
          <a:xfrm>
            <a:off x="4860550" y="300496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3</a:t>
            </a:r>
            <a:endParaRPr/>
          </a:p>
        </p:txBody>
      </p:sp>
      <p:sp>
        <p:nvSpPr>
          <p:cNvPr id="397" name="Google Shape;397;p26"/>
          <p:cNvSpPr txBox="1"/>
          <p:nvPr/>
        </p:nvSpPr>
        <p:spPr>
          <a:xfrm>
            <a:off x="4691350" y="2644785"/>
            <a:ext cx="710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num1</a:t>
            </a:r>
            <a:endParaRPr b="1"/>
          </a:p>
        </p:txBody>
      </p:sp>
      <p:sp>
        <p:nvSpPr>
          <p:cNvPr id="398" name="Google Shape;398;p26"/>
          <p:cNvSpPr/>
          <p:nvPr/>
        </p:nvSpPr>
        <p:spPr>
          <a:xfrm>
            <a:off x="3514138" y="300496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6"/>
          <p:cNvSpPr/>
          <p:nvPr/>
        </p:nvSpPr>
        <p:spPr>
          <a:xfrm>
            <a:off x="3886138" y="300496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400" name="Google Shape;400;p26"/>
          <p:cNvSpPr/>
          <p:nvPr/>
        </p:nvSpPr>
        <p:spPr>
          <a:xfrm>
            <a:off x="4258138" y="300496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401" name="Google Shape;401;p26"/>
          <p:cNvSpPr/>
          <p:nvPr/>
        </p:nvSpPr>
        <p:spPr>
          <a:xfrm rot="-5400000">
            <a:off x="4014988" y="235143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6"/>
          <p:cNvSpPr txBox="1"/>
          <p:nvPr/>
        </p:nvSpPr>
        <p:spPr>
          <a:xfrm>
            <a:off x="3603538" y="2571750"/>
            <a:ext cx="937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string2</a:t>
            </a:r>
            <a:endParaRPr b="1"/>
          </a:p>
        </p:txBody>
      </p:sp>
      <p:cxnSp>
        <p:nvCxnSpPr>
          <p:cNvPr id="403" name="Google Shape;403;p26"/>
          <p:cNvCxnSpPr>
            <a:stCxn id="404" idx="2"/>
            <a:endCxn id="386" idx="0"/>
          </p:cNvCxnSpPr>
          <p:nvPr/>
        </p:nvCxnSpPr>
        <p:spPr>
          <a:xfrm rot="5400000">
            <a:off x="2591038" y="3095880"/>
            <a:ext cx="1085700" cy="1127100"/>
          </a:xfrm>
          <a:prstGeom prst="curvedConnector3">
            <a:avLst>
              <a:gd fmla="val 49996" name="adj1"/>
            </a:avLst>
          </a:prstGeom>
          <a:noFill/>
          <a:ln cap="flat" cmpd="sng" w="28575">
            <a:solidFill>
              <a:schemeClr val="dk2"/>
            </a:solidFill>
            <a:prstDash val="solid"/>
            <a:round/>
            <a:headEnd len="med" w="med" type="oval"/>
            <a:tailEnd len="med" w="med" type="triangle"/>
          </a:ln>
        </p:spPr>
      </p:cxnSp>
      <p:sp>
        <p:nvSpPr>
          <p:cNvPr id="404" name="Google Shape;404;p26"/>
          <p:cNvSpPr/>
          <p:nvPr/>
        </p:nvSpPr>
        <p:spPr>
          <a:xfrm>
            <a:off x="3593038" y="305568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Clonazione</a:t>
            </a:r>
            <a:endParaRPr/>
          </a:p>
        </p:txBody>
      </p:sp>
      <p:sp>
        <p:nvSpPr>
          <p:cNvPr id="410" name="Google Shape;410;p2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11" name="Google Shape;41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 tipi che implementano il tratto </a:t>
            </a:r>
            <a:r>
              <a:rPr b="1" lang="it">
                <a:solidFill>
                  <a:srgbClr val="0B5394"/>
                </a:solidFill>
                <a:latin typeface="Consolas"/>
                <a:ea typeface="Consolas"/>
                <a:cs typeface="Consolas"/>
                <a:sym typeface="Consolas"/>
              </a:rPr>
              <a:t>Clone</a:t>
            </a:r>
            <a:r>
              <a:rPr lang="it"/>
              <a:t> possono essere duplicati invocando il metodo </a:t>
            </a:r>
            <a:r>
              <a:rPr b="1" lang="it">
                <a:solidFill>
                  <a:srgbClr val="0B5394"/>
                </a:solidFill>
                <a:latin typeface="Consolas"/>
                <a:ea typeface="Consolas"/>
                <a:cs typeface="Consolas"/>
                <a:sym typeface="Consolas"/>
              </a:rPr>
              <a:t>clone()</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A differenza della copia e del movimento, la clonazione può comportare una </a:t>
            </a:r>
            <a:r>
              <a:rPr b="1" lang="it">
                <a:solidFill>
                  <a:srgbClr val="0B5394"/>
                </a:solidFill>
              </a:rPr>
              <a:t>copia in profondità</a:t>
            </a:r>
            <a:r>
              <a:rPr lang="it"/>
              <a:t> dei valori</a:t>
            </a:r>
            <a:endParaRPr/>
          </a:p>
          <a:p>
            <a:pPr indent="-317500" lvl="1" marL="914400" rtl="0" algn="l">
              <a:spcBef>
                <a:spcPts val="0"/>
              </a:spcBef>
              <a:spcAft>
                <a:spcPts val="0"/>
              </a:spcAft>
              <a:buSzPts val="1400"/>
              <a:buChar char="○"/>
            </a:pPr>
            <a:r>
              <a:rPr lang="it"/>
              <a:t>Di conseguenza, il costo della clonazione può essere elevato</a:t>
            </a:r>
            <a:endParaRPr/>
          </a:p>
          <a:p>
            <a:pPr indent="-342900" lvl="0" marL="457200" rtl="0" algn="l">
              <a:spcBef>
                <a:spcPts val="0"/>
              </a:spcBef>
              <a:spcAft>
                <a:spcPts val="0"/>
              </a:spcAft>
              <a:buSzPts val="1800"/>
              <a:buChar char="●"/>
            </a:pPr>
            <a:r>
              <a:rPr lang="it"/>
              <a:t>L'implementazione dell'operazione di clonazione è modificabile dal programmatore</a:t>
            </a:r>
            <a:endParaRPr/>
          </a:p>
          <a:p>
            <a:pPr indent="-317500" lvl="1" marL="914400" rtl="0" algn="l">
              <a:spcBef>
                <a:spcPts val="0"/>
              </a:spcBef>
              <a:spcAft>
                <a:spcPts val="0"/>
              </a:spcAft>
              <a:buSzPts val="1400"/>
              <a:buChar char="○"/>
            </a:pPr>
            <a:r>
              <a:rPr lang="it"/>
              <a:t>L'implementazione di copia e movimento, invece, è sotto il controllo esclusivo del compilatore ed è basata sull'invocazione della funzione </a:t>
            </a:r>
            <a:r>
              <a:rPr b="1" lang="it">
                <a:solidFill>
                  <a:srgbClr val="0B5394"/>
                </a:solidFill>
                <a:latin typeface="Consolas"/>
                <a:ea typeface="Consolas"/>
                <a:cs typeface="Consolas"/>
                <a:sym typeface="Consolas"/>
              </a:rPr>
              <a:t>memcpy(...)</a:t>
            </a:r>
            <a:endParaRPr b="1">
              <a:solidFill>
                <a:srgbClr val="0B5394"/>
              </a:solidFill>
              <a:latin typeface="Consolas"/>
              <a:ea typeface="Consolas"/>
              <a:cs typeface="Consolas"/>
              <a:sym typeface="Consolas"/>
            </a:endParaRPr>
          </a:p>
          <a:p>
            <a:pPr indent="-342900" lvl="0" marL="457200" marR="0" rtl="0" algn="l">
              <a:lnSpc>
                <a:spcPct val="115000"/>
              </a:lnSpc>
              <a:spcBef>
                <a:spcPts val="0"/>
              </a:spcBef>
              <a:spcAft>
                <a:spcPts val="0"/>
              </a:spcAft>
              <a:buSzPts val="1800"/>
              <a:buChar char="●"/>
            </a:pPr>
            <a:r>
              <a:rPr lang="it"/>
              <a:t>Affinché un tipo possa implementare il tratto </a:t>
            </a:r>
            <a:r>
              <a:rPr b="1" lang="it">
                <a:solidFill>
                  <a:srgbClr val="0B5394"/>
                </a:solidFill>
                <a:latin typeface="Consolas"/>
                <a:ea typeface="Consolas"/>
                <a:cs typeface="Consolas"/>
                <a:sym typeface="Consolas"/>
              </a:rPr>
              <a:t>Copy</a:t>
            </a:r>
            <a:r>
              <a:rPr lang="it"/>
              <a:t>, occorre che implementi </a:t>
            </a:r>
            <a:r>
              <a:rPr b="1" lang="it">
                <a:solidFill>
                  <a:srgbClr val="0B5394"/>
                </a:solidFill>
              </a:rPr>
              <a:t>anche</a:t>
            </a:r>
            <a:r>
              <a:rPr lang="it"/>
              <a:t> il tratto </a:t>
            </a:r>
            <a:r>
              <a:rPr b="1" lang="it">
                <a:solidFill>
                  <a:srgbClr val="0B5394"/>
                </a:solidFill>
                <a:latin typeface="Consolas"/>
                <a:ea typeface="Consolas"/>
                <a:cs typeface="Consolas"/>
                <a:sym typeface="Consolas"/>
              </a:rPr>
              <a:t>Clone</a:t>
            </a:r>
            <a:endParaRPr/>
          </a:p>
          <a:p>
            <a:pPr indent="-317500" lvl="1" marL="914400" rtl="0" algn="l">
              <a:spcBef>
                <a:spcPts val="0"/>
              </a:spcBef>
              <a:spcAft>
                <a:spcPts val="0"/>
              </a:spcAft>
              <a:buSzPts val="1400"/>
              <a:buChar char="○"/>
            </a:pPr>
            <a:r>
              <a:rPr lang="it"/>
              <a:t>Tuttavia, non occorre che le due implementazioni coincidano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Clonazione</a:t>
            </a:r>
            <a:endParaRPr/>
          </a:p>
        </p:txBody>
      </p:sp>
      <p:sp>
        <p:nvSpPr>
          <p:cNvPr id="417" name="Google Shape;417;p2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18" name="Google Shape;418;p28"/>
          <p:cNvSpPr txBox="1"/>
          <p:nvPr/>
        </p:nvSpPr>
        <p:spPr>
          <a:xfrm>
            <a:off x="697500" y="1419638"/>
            <a:ext cx="3721500" cy="21240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a:solidFill>
                  <a:srgbClr val="980000"/>
                </a:solidFill>
                <a:latin typeface="Consolas"/>
                <a:ea typeface="Consolas"/>
                <a:cs typeface="Consolas"/>
                <a:sym typeface="Consolas"/>
              </a:rPr>
              <a:t>let mut s1 = "hi".to_string();</a:t>
            </a:r>
            <a:endParaRPr b="1">
              <a:solidFill>
                <a:srgbClr val="98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1"/>
                </a:solidFill>
                <a:latin typeface="Consolas"/>
                <a:ea typeface="Consolas"/>
                <a:cs typeface="Consolas"/>
                <a:sym typeface="Consolas"/>
              </a:rPr>
              <a:t>let s2 = s1.clone();</a:t>
            </a:r>
            <a:endParaRPr b="1">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1"/>
                </a:solidFill>
                <a:latin typeface="Consolas"/>
                <a:ea typeface="Consolas"/>
                <a:cs typeface="Consolas"/>
                <a:sym typeface="Consolas"/>
              </a:rPr>
              <a:t>s1.push('!');</a:t>
            </a:r>
            <a:endParaRPr b="1">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1"/>
                </a:solidFill>
                <a:latin typeface="Consolas"/>
                <a:ea typeface="Consolas"/>
                <a:cs typeface="Consolas"/>
                <a:sym typeface="Consolas"/>
              </a:rPr>
              <a:t>println!("s1: {}", s1); //hi!  </a:t>
            </a:r>
            <a:endParaRPr b="1">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println!("s2: {}", s2);	 //hi</a:t>
            </a:r>
            <a:endParaRPr b="1">
              <a:latin typeface="Consolas"/>
              <a:ea typeface="Consolas"/>
              <a:cs typeface="Consolas"/>
              <a:sym typeface="Consolas"/>
            </a:endParaRPr>
          </a:p>
        </p:txBody>
      </p:sp>
      <p:sp>
        <p:nvSpPr>
          <p:cNvPr id="419" name="Google Shape;419;p28"/>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421" name="Google Shape;421;p28"/>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8"/>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423" name="Google Shape;423;p28"/>
          <p:cNvSpPr/>
          <p:nvPr/>
        </p:nvSpPr>
        <p:spPr>
          <a:xfrm>
            <a:off x="6895950" y="1685295"/>
            <a:ext cx="304500" cy="200400"/>
          </a:xfrm>
          <a:prstGeom prst="rightArrow">
            <a:avLst>
              <a:gd fmla="val 50000" name="adj1"/>
              <a:gd fmla="val 50000"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8"/>
          <p:cNvSpPr/>
          <p:nvPr/>
        </p:nvSpPr>
        <p:spPr>
          <a:xfrm>
            <a:off x="732714" y="1448089"/>
            <a:ext cx="3596100" cy="324600"/>
          </a:xfrm>
          <a:prstGeom prst="roundRect">
            <a:avLst>
              <a:gd fmla="val 16667" name="adj"/>
            </a:avLst>
          </a:prstGeom>
          <a:solidFill>
            <a:srgbClr val="FFD900">
              <a:alpha val="12549"/>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8"/>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8"/>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427" name="Google Shape;427;p28"/>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428" name="Google Shape;428;p28"/>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8"/>
          <p:cNvSpPr txBox="1"/>
          <p:nvPr/>
        </p:nvSpPr>
        <p:spPr>
          <a:xfrm>
            <a:off x="5919750" y="1165714"/>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s1</a:t>
            </a:r>
            <a:endParaRPr b="1"/>
          </a:p>
        </p:txBody>
      </p:sp>
      <p:sp>
        <p:nvSpPr>
          <p:cNvPr id="430" name="Google Shape;430;p28"/>
          <p:cNvSpPr/>
          <p:nvPr/>
        </p:nvSpPr>
        <p:spPr>
          <a:xfrm>
            <a:off x="5387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431" name="Google Shape;431;p28"/>
          <p:cNvSpPr/>
          <p:nvPr/>
        </p:nvSpPr>
        <p:spPr>
          <a:xfrm>
            <a:off x="5759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a:t>
            </a:r>
            <a:endParaRPr/>
          </a:p>
        </p:txBody>
      </p:sp>
      <p:cxnSp>
        <p:nvCxnSpPr>
          <p:cNvPr id="432" name="Google Shape;432;p28"/>
          <p:cNvCxnSpPr>
            <a:stCxn id="433" idx="2"/>
            <a:endCxn id="430" idx="0"/>
          </p:cNvCxnSpPr>
          <p:nvPr/>
        </p:nvCxnSpPr>
        <p:spPr>
          <a:xfrm rot="5400000">
            <a:off x="5153700" y="2154810"/>
            <a:ext cx="1085700" cy="2457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433" name="Google Shape;433;p28"/>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Clonazione</a:t>
            </a:r>
            <a:endParaRPr/>
          </a:p>
        </p:txBody>
      </p:sp>
      <p:sp>
        <p:nvSpPr>
          <p:cNvPr id="439" name="Google Shape;439;p2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40" name="Google Shape;440;p29"/>
          <p:cNvSpPr txBox="1"/>
          <p:nvPr/>
        </p:nvSpPr>
        <p:spPr>
          <a:xfrm>
            <a:off x="697500" y="1419638"/>
            <a:ext cx="3721500" cy="21240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let mut s1 = "hi".to_string();</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let s2 = s1.clone();</a:t>
            </a:r>
            <a:endParaRPr b="1">
              <a:solidFill>
                <a:srgbClr val="980000"/>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s1.push('!');</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println!("s1: {}", s1); //hi!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println!("s2: {}", s2);	 //hi</a:t>
            </a:r>
            <a:endParaRPr b="1">
              <a:latin typeface="Consolas"/>
              <a:ea typeface="Consolas"/>
              <a:cs typeface="Consolas"/>
              <a:sym typeface="Consolas"/>
            </a:endParaRPr>
          </a:p>
        </p:txBody>
      </p:sp>
      <p:sp>
        <p:nvSpPr>
          <p:cNvPr id="441" name="Google Shape;441;p29"/>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9"/>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443" name="Google Shape;443;p29"/>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9"/>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445" name="Google Shape;445;p29"/>
          <p:cNvSpPr/>
          <p:nvPr/>
        </p:nvSpPr>
        <p:spPr>
          <a:xfrm>
            <a:off x="8234075" y="1685295"/>
            <a:ext cx="304500" cy="200400"/>
          </a:xfrm>
          <a:prstGeom prst="rightArrow">
            <a:avLst>
              <a:gd fmla="val 50000" name="adj1"/>
              <a:gd fmla="val 50000"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9"/>
          <p:cNvSpPr/>
          <p:nvPr/>
        </p:nvSpPr>
        <p:spPr>
          <a:xfrm>
            <a:off x="732714" y="1883885"/>
            <a:ext cx="3596100" cy="324600"/>
          </a:xfrm>
          <a:prstGeom prst="roundRect">
            <a:avLst>
              <a:gd fmla="val 16667" name="adj"/>
            </a:avLst>
          </a:prstGeom>
          <a:solidFill>
            <a:srgbClr val="FFD900">
              <a:alpha val="12549"/>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9"/>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9"/>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449" name="Google Shape;449;p29"/>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450" name="Google Shape;450;p29"/>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9"/>
          <p:cNvSpPr txBox="1"/>
          <p:nvPr/>
        </p:nvSpPr>
        <p:spPr>
          <a:xfrm>
            <a:off x="5919750" y="1165714"/>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s1</a:t>
            </a:r>
            <a:endParaRPr b="1"/>
          </a:p>
        </p:txBody>
      </p:sp>
      <p:sp>
        <p:nvSpPr>
          <p:cNvPr id="452" name="Google Shape;452;p29"/>
          <p:cNvSpPr/>
          <p:nvPr/>
        </p:nvSpPr>
        <p:spPr>
          <a:xfrm>
            <a:off x="5387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453" name="Google Shape;453;p29"/>
          <p:cNvSpPr/>
          <p:nvPr/>
        </p:nvSpPr>
        <p:spPr>
          <a:xfrm>
            <a:off x="57596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a:t>
            </a:r>
            <a:endParaRPr/>
          </a:p>
        </p:txBody>
      </p:sp>
      <p:cxnSp>
        <p:nvCxnSpPr>
          <p:cNvPr id="454" name="Google Shape;454;p29"/>
          <p:cNvCxnSpPr>
            <a:stCxn id="455" idx="2"/>
            <a:endCxn id="452" idx="0"/>
          </p:cNvCxnSpPr>
          <p:nvPr/>
        </p:nvCxnSpPr>
        <p:spPr>
          <a:xfrm rot="5400000">
            <a:off x="5153700" y="2154810"/>
            <a:ext cx="1085700" cy="245700"/>
          </a:xfrm>
          <a:prstGeom prst="bentConnector3">
            <a:avLst>
              <a:gd fmla="val 49996" name="adj1"/>
            </a:avLst>
          </a:prstGeom>
          <a:noFill/>
          <a:ln cap="flat" cmpd="sng" w="28575">
            <a:solidFill>
              <a:schemeClr val="dk2"/>
            </a:solidFill>
            <a:prstDash val="solid"/>
            <a:round/>
            <a:headEnd len="med" w="med" type="oval"/>
            <a:tailEnd len="med" w="med" type="triangle"/>
          </a:ln>
        </p:spPr>
      </p:cxnSp>
      <p:sp>
        <p:nvSpPr>
          <p:cNvPr id="455" name="Google Shape;455;p29"/>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9"/>
          <p:cNvSpPr/>
          <p:nvPr/>
        </p:nvSpPr>
        <p:spPr>
          <a:xfrm>
            <a:off x="6932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9"/>
          <p:cNvSpPr/>
          <p:nvPr/>
        </p:nvSpPr>
        <p:spPr>
          <a:xfrm>
            <a:off x="7304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458" name="Google Shape;458;p29"/>
          <p:cNvSpPr/>
          <p:nvPr/>
        </p:nvSpPr>
        <p:spPr>
          <a:xfrm>
            <a:off x="7676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459" name="Google Shape;459;p29"/>
          <p:cNvSpPr/>
          <p:nvPr/>
        </p:nvSpPr>
        <p:spPr>
          <a:xfrm rot="-5400000">
            <a:off x="7433538" y="966645"/>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9"/>
          <p:cNvSpPr txBox="1"/>
          <p:nvPr/>
        </p:nvSpPr>
        <p:spPr>
          <a:xfrm>
            <a:off x="7216338" y="1162699"/>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s2</a:t>
            </a:r>
            <a:endParaRPr b="1"/>
          </a:p>
        </p:txBody>
      </p:sp>
      <p:cxnSp>
        <p:nvCxnSpPr>
          <p:cNvPr id="461" name="Google Shape;461;p29"/>
          <p:cNvCxnSpPr>
            <a:stCxn id="462" idx="2"/>
            <a:endCxn id="463" idx="0"/>
          </p:cNvCxnSpPr>
          <p:nvPr/>
        </p:nvCxnSpPr>
        <p:spPr>
          <a:xfrm rot="5400000">
            <a:off x="6240438" y="1944945"/>
            <a:ext cx="1088700" cy="662400"/>
          </a:xfrm>
          <a:prstGeom prst="bentConnector3">
            <a:avLst>
              <a:gd fmla="val 49998" name="adj1"/>
            </a:avLst>
          </a:prstGeom>
          <a:noFill/>
          <a:ln cap="flat" cmpd="sng" w="28575">
            <a:solidFill>
              <a:schemeClr val="dk2"/>
            </a:solidFill>
            <a:prstDash val="solid"/>
            <a:round/>
            <a:headEnd len="med" w="med" type="oval"/>
            <a:tailEnd len="med" w="med" type="triangle"/>
          </a:ln>
        </p:spPr>
      </p:cxnSp>
      <p:sp>
        <p:nvSpPr>
          <p:cNvPr id="462" name="Google Shape;462;p29"/>
          <p:cNvSpPr/>
          <p:nvPr/>
        </p:nvSpPr>
        <p:spPr>
          <a:xfrm>
            <a:off x="7011588" y="167089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9"/>
          <p:cNvSpPr/>
          <p:nvPr/>
        </p:nvSpPr>
        <p:spPr>
          <a:xfrm>
            <a:off x="626760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464" name="Google Shape;464;p29"/>
          <p:cNvSpPr/>
          <p:nvPr/>
        </p:nvSpPr>
        <p:spPr>
          <a:xfrm>
            <a:off x="663960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Clonazione</a:t>
            </a:r>
            <a:endParaRPr/>
          </a:p>
        </p:txBody>
      </p:sp>
      <p:sp>
        <p:nvSpPr>
          <p:cNvPr id="470" name="Google Shape;470;p3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71" name="Google Shape;471;p30"/>
          <p:cNvSpPr txBox="1"/>
          <p:nvPr/>
        </p:nvSpPr>
        <p:spPr>
          <a:xfrm>
            <a:off x="697500" y="1419638"/>
            <a:ext cx="3721500" cy="21240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let mut s1 = "hi".to_string();</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let s2 = s1.clone();</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s1.push('!');</a:t>
            </a:r>
            <a:endParaRPr b="1">
              <a:solidFill>
                <a:srgbClr val="980000"/>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println!("s1: {}", s1); //hi!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println!("s2: {}", s2);	 //hi</a:t>
            </a:r>
            <a:endParaRPr b="1">
              <a:latin typeface="Consolas"/>
              <a:ea typeface="Consolas"/>
              <a:cs typeface="Consolas"/>
              <a:sym typeface="Consolas"/>
            </a:endParaRPr>
          </a:p>
        </p:txBody>
      </p:sp>
      <p:sp>
        <p:nvSpPr>
          <p:cNvPr id="472" name="Google Shape;472;p30"/>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0"/>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474" name="Google Shape;474;p30"/>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0"/>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476" name="Google Shape;476;p30"/>
          <p:cNvSpPr/>
          <p:nvPr/>
        </p:nvSpPr>
        <p:spPr>
          <a:xfrm>
            <a:off x="760189" y="2325184"/>
            <a:ext cx="3596100" cy="324600"/>
          </a:xfrm>
          <a:prstGeom prst="roundRect">
            <a:avLst>
              <a:gd fmla="val 16667" name="adj"/>
            </a:avLst>
          </a:prstGeom>
          <a:solidFill>
            <a:srgbClr val="FFD900">
              <a:alpha val="12549"/>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0"/>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0"/>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479" name="Google Shape;479;p30"/>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3</a:t>
            </a:r>
            <a:endParaRPr/>
          </a:p>
        </p:txBody>
      </p:sp>
      <p:sp>
        <p:nvSpPr>
          <p:cNvPr id="480" name="Google Shape;480;p30"/>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0"/>
          <p:cNvSpPr txBox="1"/>
          <p:nvPr/>
        </p:nvSpPr>
        <p:spPr>
          <a:xfrm>
            <a:off x="5919750" y="1165714"/>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s1</a:t>
            </a:r>
            <a:endParaRPr b="1"/>
          </a:p>
        </p:txBody>
      </p:sp>
      <p:cxnSp>
        <p:nvCxnSpPr>
          <p:cNvPr id="482" name="Google Shape;482;p30"/>
          <p:cNvCxnSpPr>
            <a:stCxn id="483" idx="2"/>
            <a:endCxn id="484" idx="0"/>
          </p:cNvCxnSpPr>
          <p:nvPr/>
        </p:nvCxnSpPr>
        <p:spPr>
          <a:xfrm flipH="1" rot="-5400000">
            <a:off x="6033600" y="1520610"/>
            <a:ext cx="1085700" cy="1514100"/>
          </a:xfrm>
          <a:prstGeom prst="bentConnector3">
            <a:avLst>
              <a:gd fmla="val 65011" name="adj1"/>
            </a:avLst>
          </a:prstGeom>
          <a:noFill/>
          <a:ln cap="flat" cmpd="sng" w="28575">
            <a:solidFill>
              <a:schemeClr val="dk2"/>
            </a:solidFill>
            <a:prstDash val="solid"/>
            <a:round/>
            <a:headEnd len="med" w="med" type="oval"/>
            <a:tailEnd len="med" w="med" type="triangle"/>
          </a:ln>
        </p:spPr>
      </p:cxnSp>
      <p:sp>
        <p:nvSpPr>
          <p:cNvPr id="483" name="Google Shape;483;p30"/>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0"/>
          <p:cNvSpPr/>
          <p:nvPr/>
        </p:nvSpPr>
        <p:spPr>
          <a:xfrm>
            <a:off x="6932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0"/>
          <p:cNvSpPr/>
          <p:nvPr/>
        </p:nvSpPr>
        <p:spPr>
          <a:xfrm>
            <a:off x="7304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487" name="Google Shape;487;p30"/>
          <p:cNvSpPr/>
          <p:nvPr/>
        </p:nvSpPr>
        <p:spPr>
          <a:xfrm>
            <a:off x="7676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488" name="Google Shape;488;p30"/>
          <p:cNvSpPr/>
          <p:nvPr/>
        </p:nvSpPr>
        <p:spPr>
          <a:xfrm rot="-5400000">
            <a:off x="7433538" y="966645"/>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0"/>
          <p:cNvSpPr txBox="1"/>
          <p:nvPr/>
        </p:nvSpPr>
        <p:spPr>
          <a:xfrm>
            <a:off x="7216338" y="1162699"/>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s2</a:t>
            </a:r>
            <a:endParaRPr b="1"/>
          </a:p>
        </p:txBody>
      </p:sp>
      <p:cxnSp>
        <p:nvCxnSpPr>
          <p:cNvPr id="490" name="Google Shape;490;p30"/>
          <p:cNvCxnSpPr>
            <a:endCxn id="491" idx="0"/>
          </p:cNvCxnSpPr>
          <p:nvPr/>
        </p:nvCxnSpPr>
        <p:spPr>
          <a:xfrm rot="5400000">
            <a:off x="6240450" y="1944960"/>
            <a:ext cx="1088700" cy="662400"/>
          </a:xfrm>
          <a:prstGeom prst="bentConnector3">
            <a:avLst>
              <a:gd fmla="val 50000" name="adj1"/>
            </a:avLst>
          </a:prstGeom>
          <a:noFill/>
          <a:ln cap="flat" cmpd="sng" w="28575">
            <a:solidFill>
              <a:schemeClr val="dk2"/>
            </a:solidFill>
            <a:prstDash val="solid"/>
            <a:round/>
            <a:headEnd len="med" w="med" type="oval"/>
            <a:tailEnd len="med" w="med" type="triangle"/>
          </a:ln>
        </p:spPr>
      </p:cxnSp>
      <p:sp>
        <p:nvSpPr>
          <p:cNvPr id="491" name="Google Shape;491;p30"/>
          <p:cNvSpPr/>
          <p:nvPr/>
        </p:nvSpPr>
        <p:spPr>
          <a:xfrm>
            <a:off x="626760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492" name="Google Shape;492;p30"/>
          <p:cNvSpPr/>
          <p:nvPr/>
        </p:nvSpPr>
        <p:spPr>
          <a:xfrm>
            <a:off x="663960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a:t>
            </a:r>
            <a:endParaRPr/>
          </a:p>
        </p:txBody>
      </p:sp>
      <p:sp>
        <p:nvSpPr>
          <p:cNvPr id="484" name="Google Shape;484;p30"/>
          <p:cNvSpPr/>
          <p:nvPr/>
        </p:nvSpPr>
        <p:spPr>
          <a:xfrm>
            <a:off x="7147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493" name="Google Shape;493;p30"/>
          <p:cNvSpPr/>
          <p:nvPr/>
        </p:nvSpPr>
        <p:spPr>
          <a:xfrm>
            <a:off x="7519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a:t>
            </a:r>
            <a:endParaRPr/>
          </a:p>
        </p:txBody>
      </p:sp>
      <p:sp>
        <p:nvSpPr>
          <p:cNvPr id="494" name="Google Shape;494;p30"/>
          <p:cNvSpPr/>
          <p:nvPr/>
        </p:nvSpPr>
        <p:spPr>
          <a:xfrm>
            <a:off x="7891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a:t>
            </a:r>
            <a:endParaRPr/>
          </a:p>
        </p:txBody>
      </p:sp>
      <p:sp>
        <p:nvSpPr>
          <p:cNvPr id="495" name="Google Shape;495;p30"/>
          <p:cNvSpPr/>
          <p:nvPr/>
        </p:nvSpPr>
        <p:spPr>
          <a:xfrm>
            <a:off x="8263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Clonazione</a:t>
            </a:r>
            <a:endParaRPr/>
          </a:p>
        </p:txBody>
      </p:sp>
      <p:sp>
        <p:nvSpPr>
          <p:cNvPr id="501" name="Google Shape;501;p3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502" name="Google Shape;502;p31"/>
          <p:cNvSpPr txBox="1"/>
          <p:nvPr/>
        </p:nvSpPr>
        <p:spPr>
          <a:xfrm>
            <a:off x="697500" y="1419638"/>
            <a:ext cx="3721500" cy="21240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let mut s1 = "hi".to_string();</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let s2 = s1.clone();</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s1.push('!');</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println!("s1: {}", s1); //hi!  </a:t>
            </a:r>
            <a:endParaRPr b="1">
              <a:solidFill>
                <a:srgbClr val="980000"/>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println!("s2: {}", s2);	 //hi</a:t>
            </a:r>
            <a:endParaRPr b="1">
              <a:latin typeface="Consolas"/>
              <a:ea typeface="Consolas"/>
              <a:cs typeface="Consolas"/>
              <a:sym typeface="Consolas"/>
            </a:endParaRPr>
          </a:p>
        </p:txBody>
      </p:sp>
      <p:sp>
        <p:nvSpPr>
          <p:cNvPr id="503" name="Google Shape;503;p31"/>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1"/>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505" name="Google Shape;505;p31"/>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1"/>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507" name="Google Shape;507;p31"/>
          <p:cNvSpPr/>
          <p:nvPr/>
        </p:nvSpPr>
        <p:spPr>
          <a:xfrm>
            <a:off x="760189" y="2751560"/>
            <a:ext cx="3596100" cy="324600"/>
          </a:xfrm>
          <a:prstGeom prst="roundRect">
            <a:avLst>
              <a:gd fmla="val 16667" name="adj"/>
            </a:avLst>
          </a:prstGeom>
          <a:solidFill>
            <a:srgbClr val="FFD900">
              <a:alpha val="12549"/>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1"/>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1"/>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510" name="Google Shape;510;p31"/>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3</a:t>
            </a:r>
            <a:endParaRPr/>
          </a:p>
        </p:txBody>
      </p:sp>
      <p:sp>
        <p:nvSpPr>
          <p:cNvPr id="511" name="Google Shape;511;p31"/>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1"/>
          <p:cNvSpPr txBox="1"/>
          <p:nvPr/>
        </p:nvSpPr>
        <p:spPr>
          <a:xfrm>
            <a:off x="5919750" y="1165714"/>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s1</a:t>
            </a:r>
            <a:endParaRPr b="1"/>
          </a:p>
        </p:txBody>
      </p:sp>
      <p:cxnSp>
        <p:nvCxnSpPr>
          <p:cNvPr id="513" name="Google Shape;513;p31"/>
          <p:cNvCxnSpPr>
            <a:stCxn id="514" idx="2"/>
            <a:endCxn id="515" idx="0"/>
          </p:cNvCxnSpPr>
          <p:nvPr/>
        </p:nvCxnSpPr>
        <p:spPr>
          <a:xfrm flipH="1" rot="-5400000">
            <a:off x="6033600" y="1520610"/>
            <a:ext cx="1085700" cy="1514100"/>
          </a:xfrm>
          <a:prstGeom prst="bentConnector3">
            <a:avLst>
              <a:gd fmla="val 65011" name="adj1"/>
            </a:avLst>
          </a:prstGeom>
          <a:noFill/>
          <a:ln cap="flat" cmpd="sng" w="28575">
            <a:solidFill>
              <a:schemeClr val="dk2"/>
            </a:solidFill>
            <a:prstDash val="solid"/>
            <a:round/>
            <a:headEnd len="med" w="med" type="oval"/>
            <a:tailEnd len="med" w="med" type="triangle"/>
          </a:ln>
        </p:spPr>
      </p:cxnSp>
      <p:sp>
        <p:nvSpPr>
          <p:cNvPr id="514" name="Google Shape;514;p31"/>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1"/>
          <p:cNvSpPr/>
          <p:nvPr/>
        </p:nvSpPr>
        <p:spPr>
          <a:xfrm>
            <a:off x="6932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1"/>
          <p:cNvSpPr/>
          <p:nvPr/>
        </p:nvSpPr>
        <p:spPr>
          <a:xfrm>
            <a:off x="7304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518" name="Google Shape;518;p31"/>
          <p:cNvSpPr/>
          <p:nvPr/>
        </p:nvSpPr>
        <p:spPr>
          <a:xfrm>
            <a:off x="7676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519" name="Google Shape;519;p31"/>
          <p:cNvSpPr/>
          <p:nvPr/>
        </p:nvSpPr>
        <p:spPr>
          <a:xfrm rot="-5400000">
            <a:off x="7433538" y="966645"/>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1"/>
          <p:cNvSpPr txBox="1"/>
          <p:nvPr/>
        </p:nvSpPr>
        <p:spPr>
          <a:xfrm>
            <a:off x="7216338" y="1162699"/>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s2</a:t>
            </a:r>
            <a:endParaRPr b="1"/>
          </a:p>
        </p:txBody>
      </p:sp>
      <p:cxnSp>
        <p:nvCxnSpPr>
          <p:cNvPr id="521" name="Google Shape;521;p31"/>
          <p:cNvCxnSpPr>
            <a:endCxn id="522" idx="0"/>
          </p:cNvCxnSpPr>
          <p:nvPr/>
        </p:nvCxnSpPr>
        <p:spPr>
          <a:xfrm rot="5400000">
            <a:off x="6240450" y="1944960"/>
            <a:ext cx="1088700" cy="662400"/>
          </a:xfrm>
          <a:prstGeom prst="bentConnector3">
            <a:avLst>
              <a:gd fmla="val 50000" name="adj1"/>
            </a:avLst>
          </a:prstGeom>
          <a:noFill/>
          <a:ln cap="flat" cmpd="sng" w="28575">
            <a:solidFill>
              <a:schemeClr val="dk2"/>
            </a:solidFill>
            <a:prstDash val="solid"/>
            <a:round/>
            <a:headEnd len="med" w="med" type="oval"/>
            <a:tailEnd len="med" w="med" type="triangle"/>
          </a:ln>
        </p:spPr>
      </p:cxnSp>
      <p:sp>
        <p:nvSpPr>
          <p:cNvPr id="522" name="Google Shape;522;p31"/>
          <p:cNvSpPr/>
          <p:nvPr/>
        </p:nvSpPr>
        <p:spPr>
          <a:xfrm>
            <a:off x="626760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523" name="Google Shape;523;p31"/>
          <p:cNvSpPr/>
          <p:nvPr/>
        </p:nvSpPr>
        <p:spPr>
          <a:xfrm>
            <a:off x="663960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a:t>
            </a:r>
            <a:endParaRPr/>
          </a:p>
        </p:txBody>
      </p:sp>
      <p:sp>
        <p:nvSpPr>
          <p:cNvPr id="515" name="Google Shape;515;p31"/>
          <p:cNvSpPr/>
          <p:nvPr/>
        </p:nvSpPr>
        <p:spPr>
          <a:xfrm>
            <a:off x="7147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524" name="Google Shape;524;p31"/>
          <p:cNvSpPr/>
          <p:nvPr/>
        </p:nvSpPr>
        <p:spPr>
          <a:xfrm>
            <a:off x="7519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a:t>
            </a:r>
            <a:endParaRPr/>
          </a:p>
        </p:txBody>
      </p:sp>
      <p:sp>
        <p:nvSpPr>
          <p:cNvPr id="525" name="Google Shape;525;p31"/>
          <p:cNvSpPr/>
          <p:nvPr/>
        </p:nvSpPr>
        <p:spPr>
          <a:xfrm>
            <a:off x="7891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a:t>
            </a:r>
            <a:endParaRPr/>
          </a:p>
        </p:txBody>
      </p:sp>
      <p:sp>
        <p:nvSpPr>
          <p:cNvPr id="526" name="Google Shape;526;p31"/>
          <p:cNvSpPr/>
          <p:nvPr/>
        </p:nvSpPr>
        <p:spPr>
          <a:xfrm>
            <a:off x="8263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Clonazione</a:t>
            </a:r>
            <a:endParaRPr/>
          </a:p>
        </p:txBody>
      </p:sp>
      <p:sp>
        <p:nvSpPr>
          <p:cNvPr id="532" name="Google Shape;532;p3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533" name="Google Shape;533;p32"/>
          <p:cNvSpPr txBox="1"/>
          <p:nvPr/>
        </p:nvSpPr>
        <p:spPr>
          <a:xfrm>
            <a:off x="697500" y="1419638"/>
            <a:ext cx="3721500" cy="21240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let mut s1 = "hi".to_string();</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let s2 = s1.clone();</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s1.push('!');</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println!("s1: {}", s1); //hi!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println!("s2: {}", s2);	 //hi</a:t>
            </a:r>
            <a:endParaRPr b="1">
              <a:solidFill>
                <a:srgbClr val="980000"/>
              </a:solidFill>
              <a:latin typeface="Consolas"/>
              <a:ea typeface="Consolas"/>
              <a:cs typeface="Consolas"/>
              <a:sym typeface="Consolas"/>
            </a:endParaRPr>
          </a:p>
        </p:txBody>
      </p:sp>
      <p:sp>
        <p:nvSpPr>
          <p:cNvPr id="534" name="Google Shape;534;p32"/>
          <p:cNvSpPr/>
          <p:nvPr/>
        </p:nvSpPr>
        <p:spPr>
          <a:xfrm>
            <a:off x="5264100" y="1623195"/>
            <a:ext cx="3568200" cy="324600"/>
          </a:xfrm>
          <a:prstGeom prst="rect">
            <a:avLst/>
          </a:prstGeom>
          <a:solidFill>
            <a:srgbClr val="3C78D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2"/>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536" name="Google Shape;536;p32"/>
          <p:cNvSpPr/>
          <p:nvPr/>
        </p:nvSpPr>
        <p:spPr>
          <a:xfrm>
            <a:off x="5264100" y="2820510"/>
            <a:ext cx="3568200" cy="324600"/>
          </a:xfrm>
          <a:prstGeom prst="rect">
            <a:avLst/>
          </a:prstGeom>
          <a:solidFill>
            <a:srgbClr val="FF99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2"/>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538" name="Google Shape;538;p32"/>
          <p:cNvSpPr/>
          <p:nvPr/>
        </p:nvSpPr>
        <p:spPr>
          <a:xfrm>
            <a:off x="760189" y="3183391"/>
            <a:ext cx="3596100" cy="324600"/>
          </a:xfrm>
          <a:prstGeom prst="roundRect">
            <a:avLst>
              <a:gd fmla="val 16667" name="adj"/>
            </a:avLst>
          </a:prstGeom>
          <a:solidFill>
            <a:srgbClr val="FFD900">
              <a:alpha val="12549"/>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2"/>
          <p:cNvSpPr/>
          <p:nvPr/>
        </p:nvSpPr>
        <p:spPr>
          <a:xfrm>
            <a:off x="5636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2"/>
          <p:cNvSpPr/>
          <p:nvPr/>
        </p:nvSpPr>
        <p:spPr>
          <a:xfrm>
            <a:off x="6008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541" name="Google Shape;541;p32"/>
          <p:cNvSpPr/>
          <p:nvPr/>
        </p:nvSpPr>
        <p:spPr>
          <a:xfrm>
            <a:off x="6380100" y="1623195"/>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3</a:t>
            </a:r>
            <a:endParaRPr/>
          </a:p>
        </p:txBody>
      </p:sp>
      <p:sp>
        <p:nvSpPr>
          <p:cNvPr id="542" name="Google Shape;542;p32"/>
          <p:cNvSpPr/>
          <p:nvPr/>
        </p:nvSpPr>
        <p:spPr>
          <a:xfrm rot="-5400000">
            <a:off x="6136950" y="969660"/>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2"/>
          <p:cNvSpPr txBox="1"/>
          <p:nvPr/>
        </p:nvSpPr>
        <p:spPr>
          <a:xfrm>
            <a:off x="5919750" y="1165714"/>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s1</a:t>
            </a:r>
            <a:endParaRPr b="1"/>
          </a:p>
        </p:txBody>
      </p:sp>
      <p:cxnSp>
        <p:nvCxnSpPr>
          <p:cNvPr id="544" name="Google Shape;544;p32"/>
          <p:cNvCxnSpPr>
            <a:stCxn id="545" idx="2"/>
            <a:endCxn id="546" idx="0"/>
          </p:cNvCxnSpPr>
          <p:nvPr/>
        </p:nvCxnSpPr>
        <p:spPr>
          <a:xfrm flipH="1" rot="-5400000">
            <a:off x="6033600" y="1520610"/>
            <a:ext cx="1085700" cy="1514100"/>
          </a:xfrm>
          <a:prstGeom prst="bentConnector3">
            <a:avLst>
              <a:gd fmla="val 65011" name="adj1"/>
            </a:avLst>
          </a:prstGeom>
          <a:noFill/>
          <a:ln cap="flat" cmpd="sng" w="28575">
            <a:solidFill>
              <a:schemeClr val="dk2"/>
            </a:solidFill>
            <a:prstDash val="solid"/>
            <a:round/>
            <a:headEnd len="med" w="med" type="oval"/>
            <a:tailEnd len="med" w="med" type="triangle"/>
          </a:ln>
        </p:spPr>
      </p:cxnSp>
      <p:sp>
        <p:nvSpPr>
          <p:cNvPr id="545" name="Google Shape;545;p32"/>
          <p:cNvSpPr/>
          <p:nvPr/>
        </p:nvSpPr>
        <p:spPr>
          <a:xfrm>
            <a:off x="5715000" y="1673910"/>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2"/>
          <p:cNvSpPr/>
          <p:nvPr/>
        </p:nvSpPr>
        <p:spPr>
          <a:xfrm>
            <a:off x="6932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2"/>
          <p:cNvSpPr/>
          <p:nvPr/>
        </p:nvSpPr>
        <p:spPr>
          <a:xfrm>
            <a:off x="7304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549" name="Google Shape;549;p32"/>
          <p:cNvSpPr/>
          <p:nvPr/>
        </p:nvSpPr>
        <p:spPr>
          <a:xfrm>
            <a:off x="7676688" y="1620180"/>
            <a:ext cx="372000" cy="324600"/>
          </a:xfrm>
          <a:prstGeom prst="rect">
            <a:avLst/>
          </a:prstGeom>
          <a:solidFill>
            <a:srgbClr val="AFD7F7"/>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550" name="Google Shape;550;p32"/>
          <p:cNvSpPr/>
          <p:nvPr/>
        </p:nvSpPr>
        <p:spPr>
          <a:xfrm rot="-5400000">
            <a:off x="7433538" y="966645"/>
            <a:ext cx="114300" cy="10710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2"/>
          <p:cNvSpPr txBox="1"/>
          <p:nvPr/>
        </p:nvSpPr>
        <p:spPr>
          <a:xfrm>
            <a:off x="7216338" y="1162699"/>
            <a:ext cx="54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s2</a:t>
            </a:r>
            <a:endParaRPr b="1"/>
          </a:p>
        </p:txBody>
      </p:sp>
      <p:cxnSp>
        <p:nvCxnSpPr>
          <p:cNvPr id="552" name="Google Shape;552;p32"/>
          <p:cNvCxnSpPr>
            <a:endCxn id="553" idx="0"/>
          </p:cNvCxnSpPr>
          <p:nvPr/>
        </p:nvCxnSpPr>
        <p:spPr>
          <a:xfrm rot="5400000">
            <a:off x="6240450" y="1944960"/>
            <a:ext cx="1088700" cy="662400"/>
          </a:xfrm>
          <a:prstGeom prst="bentConnector3">
            <a:avLst>
              <a:gd fmla="val 50000" name="adj1"/>
            </a:avLst>
          </a:prstGeom>
          <a:noFill/>
          <a:ln cap="flat" cmpd="sng" w="28575">
            <a:solidFill>
              <a:schemeClr val="dk2"/>
            </a:solidFill>
            <a:prstDash val="solid"/>
            <a:round/>
            <a:headEnd len="med" w="med" type="oval"/>
            <a:tailEnd len="med" w="med" type="triangle"/>
          </a:ln>
        </p:spPr>
      </p:cxnSp>
      <p:sp>
        <p:nvSpPr>
          <p:cNvPr id="553" name="Google Shape;553;p32"/>
          <p:cNvSpPr/>
          <p:nvPr/>
        </p:nvSpPr>
        <p:spPr>
          <a:xfrm>
            <a:off x="626760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554" name="Google Shape;554;p32"/>
          <p:cNvSpPr/>
          <p:nvPr/>
        </p:nvSpPr>
        <p:spPr>
          <a:xfrm>
            <a:off x="663960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a:t>
            </a:r>
            <a:endParaRPr/>
          </a:p>
        </p:txBody>
      </p:sp>
      <p:sp>
        <p:nvSpPr>
          <p:cNvPr id="546" name="Google Shape;546;p32"/>
          <p:cNvSpPr/>
          <p:nvPr/>
        </p:nvSpPr>
        <p:spPr>
          <a:xfrm>
            <a:off x="7147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a:t>
            </a:r>
            <a:endParaRPr/>
          </a:p>
        </p:txBody>
      </p:sp>
      <p:sp>
        <p:nvSpPr>
          <p:cNvPr id="555" name="Google Shape;555;p32"/>
          <p:cNvSpPr/>
          <p:nvPr/>
        </p:nvSpPr>
        <p:spPr>
          <a:xfrm>
            <a:off x="7519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a:t>
            </a:r>
            <a:endParaRPr/>
          </a:p>
        </p:txBody>
      </p:sp>
      <p:sp>
        <p:nvSpPr>
          <p:cNvPr id="556" name="Google Shape;556;p32"/>
          <p:cNvSpPr/>
          <p:nvPr/>
        </p:nvSpPr>
        <p:spPr>
          <a:xfrm>
            <a:off x="7891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a:t>
            </a:r>
            <a:endParaRPr/>
          </a:p>
        </p:txBody>
      </p:sp>
      <p:sp>
        <p:nvSpPr>
          <p:cNvPr id="557" name="Google Shape;557;p32"/>
          <p:cNvSpPr/>
          <p:nvPr/>
        </p:nvSpPr>
        <p:spPr>
          <a:xfrm>
            <a:off x="8263550" y="2820510"/>
            <a:ext cx="372000" cy="324600"/>
          </a:xfrm>
          <a:prstGeom prst="rect">
            <a:avLst/>
          </a:prstGeom>
          <a:solidFill>
            <a:srgbClr val="FCE5C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563" name="Google Shape;563;p33"/>
          <p:cNvSpPr txBox="1"/>
          <p:nvPr>
            <p:ph idx="4294967295"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Una variabile locale è </a:t>
            </a:r>
            <a:r>
              <a:rPr b="1" lang="it">
                <a:solidFill>
                  <a:srgbClr val="0B5394"/>
                </a:solidFill>
              </a:rPr>
              <a:t>SEMPRE</a:t>
            </a:r>
            <a:r>
              <a:rPr lang="it"/>
              <a:t> allocata sullo stack</a:t>
            </a:r>
            <a:endParaRPr/>
          </a:p>
          <a:p>
            <a:pPr indent="-317500" lvl="1" marL="914400" rtl="0" algn="l">
              <a:spcBef>
                <a:spcPts val="0"/>
              </a:spcBef>
              <a:spcAft>
                <a:spcPts val="0"/>
              </a:spcAft>
              <a:buSzPts val="1400"/>
              <a:buChar char="○"/>
            </a:pPr>
            <a:r>
              <a:rPr lang="it"/>
              <a:t>Questo si estende di una quantità pari alla dimensione del valore che deve essere memorizzato nella variabile</a:t>
            </a:r>
            <a:endParaRPr/>
          </a:p>
          <a:p>
            <a:pPr indent="-317500" lvl="1" marL="914400" rtl="0" algn="l">
              <a:spcBef>
                <a:spcPts val="0"/>
              </a:spcBef>
              <a:spcAft>
                <a:spcPts val="0"/>
              </a:spcAft>
              <a:buSzPts val="1400"/>
              <a:buChar char="○"/>
            </a:pPr>
            <a:r>
              <a:rPr lang="it"/>
              <a:t>Quando la variabile esce dal proprio scope sintattico (quando, cioè, il programma raggiunge la fine del blocco in cui la variabile è stata definita), lo stack si contrae ed il valore viene rilasciato</a:t>
            </a:r>
            <a:endParaRPr/>
          </a:p>
          <a:p>
            <a:pPr indent="-342900" lvl="0" marL="457200" rtl="0" algn="l">
              <a:spcBef>
                <a:spcPts val="0"/>
              </a:spcBef>
              <a:spcAft>
                <a:spcPts val="0"/>
              </a:spcAft>
              <a:buSzPts val="1800"/>
              <a:buChar char="●"/>
            </a:pPr>
            <a:r>
              <a:rPr lang="it"/>
              <a:t>In alcune situazioni </a:t>
            </a:r>
            <a:r>
              <a:rPr b="1" lang="it">
                <a:solidFill>
                  <a:srgbClr val="0B5394"/>
                </a:solidFill>
              </a:rPr>
              <a:t>non è nota la dimensione</a:t>
            </a:r>
            <a:r>
              <a:rPr lang="it"/>
              <a:t> del dato che deve essere memorizzato</a:t>
            </a:r>
            <a:endParaRPr/>
          </a:p>
          <a:p>
            <a:pPr indent="-317500" lvl="1" marL="914400" rtl="0" algn="l">
              <a:spcBef>
                <a:spcPts val="0"/>
              </a:spcBef>
              <a:spcAft>
                <a:spcPts val="0"/>
              </a:spcAft>
              <a:buSzPts val="1400"/>
              <a:buChar char="○"/>
            </a:pPr>
            <a:r>
              <a:rPr lang="it"/>
              <a:t>In altri, occorre </a:t>
            </a:r>
            <a:r>
              <a:rPr b="1" lang="it">
                <a:solidFill>
                  <a:srgbClr val="0B5394"/>
                </a:solidFill>
              </a:rPr>
              <a:t>prolungare il tempo di vita</a:t>
            </a:r>
            <a:r>
              <a:rPr lang="it"/>
              <a:t> del valore oltre quello del blocco sintattico in cui è definito</a:t>
            </a:r>
            <a:endParaRPr/>
          </a:p>
          <a:p>
            <a:pPr indent="-317500" lvl="1" marL="914400" marR="0" rtl="0" algn="l">
              <a:lnSpc>
                <a:spcPct val="115000"/>
              </a:lnSpc>
              <a:spcBef>
                <a:spcPts val="0"/>
              </a:spcBef>
              <a:spcAft>
                <a:spcPts val="0"/>
              </a:spcAft>
              <a:buSzPts val="1400"/>
              <a:buChar char="○"/>
            </a:pPr>
            <a:r>
              <a:rPr lang="it"/>
              <a:t>In altri ancora, la </a:t>
            </a:r>
            <a:r>
              <a:rPr b="1" lang="it">
                <a:solidFill>
                  <a:srgbClr val="0B5394"/>
                </a:solidFill>
              </a:rPr>
              <a:t>dimensione</a:t>
            </a:r>
            <a:r>
              <a:rPr lang="it"/>
              <a:t> del valore è </a:t>
            </a:r>
            <a:r>
              <a:rPr b="1" lang="it">
                <a:solidFill>
                  <a:srgbClr val="0B5394"/>
                </a:solidFill>
              </a:rPr>
              <a:t>maggiore</a:t>
            </a:r>
            <a:r>
              <a:rPr lang="it"/>
              <a:t> della dimensione dello stack</a:t>
            </a:r>
            <a:endParaRPr/>
          </a:p>
          <a:p>
            <a:pPr indent="-342900" lvl="0" marL="457200" rtl="0" algn="l">
              <a:spcBef>
                <a:spcPts val="0"/>
              </a:spcBef>
              <a:spcAft>
                <a:spcPts val="0"/>
              </a:spcAft>
              <a:buSzPts val="1800"/>
              <a:buChar char="●"/>
            </a:pPr>
            <a:r>
              <a:rPr lang="it"/>
              <a:t>In queste occasioni si può allocare un oggetto sullo heap, utilizzando il tipo generico </a:t>
            </a:r>
            <a:r>
              <a:rPr b="1" lang="it">
                <a:solidFill>
                  <a:srgbClr val="0B5394"/>
                </a:solidFill>
              </a:rPr>
              <a:t>Box&lt;T&gt;</a:t>
            </a:r>
            <a:endParaRPr b="1">
              <a:solidFill>
                <a:srgbClr val="0B5394"/>
              </a:solidFill>
            </a:endParaRPr>
          </a:p>
          <a:p>
            <a:pPr indent="-317500" lvl="1" marL="914400" rtl="0" algn="l">
              <a:spcBef>
                <a:spcPts val="0"/>
              </a:spcBef>
              <a:spcAft>
                <a:spcPts val="0"/>
              </a:spcAft>
              <a:buSzPts val="1400"/>
              <a:buChar char="○"/>
            </a:pPr>
            <a:r>
              <a:rPr lang="it"/>
              <a:t>Una variabile di questo tipo contiene un </a:t>
            </a:r>
            <a:r>
              <a:rPr b="1" lang="it">
                <a:solidFill>
                  <a:srgbClr val="0B5394"/>
                </a:solidFill>
              </a:rPr>
              <a:t>puntatore</a:t>
            </a:r>
            <a:r>
              <a:rPr lang="it"/>
              <a:t> al valore</a:t>
            </a:r>
            <a:endParaRPr/>
          </a:p>
        </p:txBody>
      </p:sp>
      <p:sp>
        <p:nvSpPr>
          <p:cNvPr id="564" name="Google Shape;564;p3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570" name="Google Shape;570;p34"/>
          <p:cNvSpPr txBox="1"/>
          <p:nvPr>
            <p:ph idx="4294967295"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Si alloca un valore di tipo </a:t>
            </a:r>
            <a:r>
              <a:rPr b="1" lang="it">
                <a:solidFill>
                  <a:srgbClr val="0B5394"/>
                </a:solidFill>
                <a:latin typeface="Consolas"/>
                <a:ea typeface="Consolas"/>
                <a:cs typeface="Consolas"/>
                <a:sym typeface="Consolas"/>
              </a:rPr>
              <a:t>Box</a:t>
            </a:r>
            <a:r>
              <a:rPr lang="it"/>
              <a:t> con il costrutto</a:t>
            </a:r>
            <a:r>
              <a:rPr b="1" lang="it">
                <a:solidFill>
                  <a:srgbClr val="6684E1"/>
                </a:solidFill>
                <a:latin typeface="Consolas"/>
                <a:ea typeface="Consolas"/>
                <a:cs typeface="Consolas"/>
                <a:sym typeface="Consolas"/>
              </a:rPr>
              <a:t> </a:t>
            </a:r>
            <a:br>
              <a:rPr b="1" lang="it">
                <a:solidFill>
                  <a:srgbClr val="6684E1"/>
                </a:solidFill>
                <a:latin typeface="Consolas"/>
                <a:ea typeface="Consolas"/>
                <a:cs typeface="Consolas"/>
                <a:sym typeface="Consolas"/>
              </a:rPr>
            </a:br>
            <a:r>
              <a:rPr b="1" lang="it">
                <a:solidFill>
                  <a:srgbClr val="6684E1"/>
                </a:solidFill>
                <a:latin typeface="Consolas"/>
                <a:ea typeface="Consolas"/>
                <a:cs typeface="Consolas"/>
                <a:sym typeface="Consolas"/>
              </a:rPr>
              <a:t>	</a:t>
            </a:r>
            <a:r>
              <a:rPr b="1" lang="it">
                <a:solidFill>
                  <a:srgbClr val="0B5394"/>
                </a:solidFill>
                <a:latin typeface="Consolas"/>
                <a:ea typeface="Consolas"/>
                <a:cs typeface="Consolas"/>
                <a:sym typeface="Consolas"/>
              </a:rPr>
              <a:t>let b = Box::new(v);</a:t>
            </a:r>
            <a:br>
              <a:rPr b="1" lang="it">
                <a:solidFill>
                  <a:srgbClr val="6684E1"/>
                </a:solidFill>
                <a:latin typeface="Consolas"/>
                <a:ea typeface="Consolas"/>
                <a:cs typeface="Consolas"/>
                <a:sym typeface="Consolas"/>
              </a:rPr>
            </a:br>
            <a:r>
              <a:rPr lang="it"/>
              <a:t>dove </a:t>
            </a:r>
            <a:r>
              <a:rPr b="1" lang="it">
                <a:solidFill>
                  <a:srgbClr val="0B5394"/>
                </a:solidFill>
                <a:latin typeface="Consolas"/>
                <a:ea typeface="Consolas"/>
                <a:cs typeface="Consolas"/>
                <a:sym typeface="Consolas"/>
              </a:rPr>
              <a:t>v</a:t>
            </a:r>
            <a:r>
              <a:rPr lang="it"/>
              <a:t> è un qualsiasi valore </a:t>
            </a:r>
            <a:endParaRPr/>
          </a:p>
          <a:p>
            <a:pPr indent="-317500" lvl="1" marL="914400" rtl="0" algn="l">
              <a:spcBef>
                <a:spcPts val="0"/>
              </a:spcBef>
              <a:spcAft>
                <a:spcPts val="0"/>
              </a:spcAft>
              <a:buSzPts val="1400"/>
              <a:buChar char="○"/>
            </a:pPr>
            <a:r>
              <a:rPr lang="it"/>
              <a:t>Questa istruzione definisce la variabile </a:t>
            </a:r>
            <a:r>
              <a:rPr b="1" lang="it">
                <a:solidFill>
                  <a:srgbClr val="0B5394"/>
                </a:solidFill>
                <a:latin typeface="Consolas"/>
                <a:ea typeface="Consolas"/>
                <a:cs typeface="Consolas"/>
                <a:sym typeface="Consolas"/>
              </a:rPr>
              <a:t>b</a:t>
            </a:r>
            <a:r>
              <a:rPr lang="it"/>
              <a:t> che conterrà un puntatore ad un blocco allocato sullo heap che a sua volta contiene il valore </a:t>
            </a:r>
            <a:r>
              <a:rPr b="1" lang="it">
                <a:solidFill>
                  <a:srgbClr val="0B5394"/>
                </a:solidFill>
                <a:latin typeface="Consolas"/>
                <a:ea typeface="Consolas"/>
                <a:cs typeface="Consolas"/>
                <a:sym typeface="Consolas"/>
              </a:rPr>
              <a:t>v</a:t>
            </a:r>
            <a:endParaRPr b="1">
              <a:solidFill>
                <a:srgbClr val="0B5394"/>
              </a:solidFill>
              <a:latin typeface="Consolas"/>
              <a:ea typeface="Consolas"/>
              <a:cs typeface="Consolas"/>
              <a:sym typeface="Consolas"/>
            </a:endParaRPr>
          </a:p>
          <a:p>
            <a:pPr indent="-342900" lvl="0" marL="457200" marR="0" rtl="0" algn="l">
              <a:lnSpc>
                <a:spcPct val="115000"/>
              </a:lnSpc>
              <a:spcBef>
                <a:spcPts val="0"/>
              </a:spcBef>
              <a:spcAft>
                <a:spcPts val="0"/>
              </a:spcAft>
              <a:buSzPts val="1800"/>
              <a:buChar char="●"/>
            </a:pPr>
            <a:r>
              <a:rPr lang="it"/>
              <a:t>Si accede al valore contenuto nel blocco con l’espressione </a:t>
            </a:r>
            <a:r>
              <a:rPr b="1" lang="it">
                <a:solidFill>
                  <a:srgbClr val="0B5394"/>
                </a:solidFill>
                <a:latin typeface="Consolas"/>
                <a:ea typeface="Consolas"/>
                <a:cs typeface="Consolas"/>
                <a:sym typeface="Consolas"/>
              </a:rPr>
              <a:t>*b</a:t>
            </a:r>
            <a:endParaRPr>
              <a:solidFill>
                <a:srgbClr val="0B5394"/>
              </a:solidFill>
            </a:endParaRPr>
          </a:p>
          <a:p>
            <a:pPr indent="-317500" lvl="1" marL="914400" marR="0" rtl="0" algn="l">
              <a:lnSpc>
                <a:spcPct val="115000"/>
              </a:lnSpc>
              <a:spcBef>
                <a:spcPts val="0"/>
              </a:spcBef>
              <a:spcAft>
                <a:spcPts val="0"/>
              </a:spcAft>
              <a:buSzPts val="1400"/>
              <a:buChar char="○"/>
            </a:pPr>
            <a:r>
              <a:rPr lang="it"/>
              <a:t>Se la variabile b è definita come mutabile, è possibile modificare il contenuto a cui si punta con l’espressione </a:t>
            </a:r>
            <a:r>
              <a:rPr b="1" lang="it">
                <a:solidFill>
                  <a:srgbClr val="0B5394"/>
                </a:solidFill>
                <a:latin typeface="Consolas"/>
                <a:ea typeface="Consolas"/>
                <a:cs typeface="Consolas"/>
                <a:sym typeface="Consolas"/>
              </a:rPr>
              <a:t>*b = …;</a:t>
            </a:r>
            <a:endParaRPr>
              <a:solidFill>
                <a:srgbClr val="0B5394"/>
              </a:solidFill>
            </a:endParaRPr>
          </a:p>
          <a:p>
            <a:pPr indent="-342900" lvl="0" marL="457200" marR="0" rtl="0" algn="l">
              <a:lnSpc>
                <a:spcPct val="115000"/>
              </a:lnSpc>
              <a:spcBef>
                <a:spcPts val="0"/>
              </a:spcBef>
              <a:spcAft>
                <a:spcPts val="0"/>
              </a:spcAft>
              <a:buSzPts val="1800"/>
              <a:buChar char="●"/>
            </a:pPr>
            <a:r>
              <a:rPr lang="it"/>
              <a:t>Quando l’esecuzione del programma raggiungerà la fine del blocco di codice in cui la variabile </a:t>
            </a:r>
            <a:r>
              <a:rPr b="1" lang="it">
                <a:solidFill>
                  <a:srgbClr val="0B5394"/>
                </a:solidFill>
                <a:latin typeface="Consolas"/>
                <a:ea typeface="Consolas"/>
                <a:cs typeface="Consolas"/>
                <a:sym typeface="Consolas"/>
              </a:rPr>
              <a:t>b</a:t>
            </a:r>
            <a:r>
              <a:rPr lang="it"/>
              <a:t> è stata definita (fine del sua visibilità sintattica), il blocco sarà rilasciato </a:t>
            </a:r>
            <a:endParaRPr/>
          </a:p>
          <a:p>
            <a:pPr indent="-317500" lvl="1" marL="914400" marR="0" rtl="0" algn="l">
              <a:lnSpc>
                <a:spcPct val="115000"/>
              </a:lnSpc>
              <a:spcBef>
                <a:spcPts val="0"/>
              </a:spcBef>
              <a:spcAft>
                <a:spcPts val="0"/>
              </a:spcAft>
              <a:buSzPts val="1400"/>
              <a:buChar char="○"/>
            </a:pPr>
            <a:r>
              <a:rPr lang="it"/>
              <a:t>A meno che il contenuto di </a:t>
            </a:r>
            <a:r>
              <a:rPr b="1" lang="it">
                <a:solidFill>
                  <a:srgbClr val="0B5394"/>
                </a:solidFill>
                <a:latin typeface="Consolas"/>
                <a:ea typeface="Consolas"/>
                <a:cs typeface="Consolas"/>
                <a:sym typeface="Consolas"/>
              </a:rPr>
              <a:t>b</a:t>
            </a:r>
            <a:r>
              <a:rPr lang="it"/>
              <a:t> (il puntatore al blocco) sia stato </a:t>
            </a:r>
            <a:r>
              <a:rPr b="1" lang="it">
                <a:solidFill>
                  <a:srgbClr val="0B5394"/>
                </a:solidFill>
              </a:rPr>
              <a:t>mosso</a:t>
            </a:r>
            <a:r>
              <a:rPr lang="it"/>
              <a:t> in un’altra variabile </a:t>
            </a:r>
            <a:endParaRPr/>
          </a:p>
        </p:txBody>
      </p:sp>
      <p:sp>
        <p:nvSpPr>
          <p:cNvPr id="571" name="Google Shape;571;p3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577" name="Google Shape;577;p3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578" name="Google Shape;578;p35"/>
          <p:cNvSpPr txBox="1"/>
          <p:nvPr/>
        </p:nvSpPr>
        <p:spPr>
          <a:xfrm>
            <a:off x="429600" y="1241933"/>
            <a:ext cx="36192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solidFill>
                  <a:schemeClr val="dk1"/>
                </a:solidFill>
                <a:latin typeface="Consolas"/>
                <a:ea typeface="Consolas"/>
                <a:cs typeface="Consolas"/>
                <a:sym typeface="Consolas"/>
              </a:rPr>
              <a:t>fn useBox()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a:t>
            </a:r>
            <a:r>
              <a:rPr b="1" lang="it">
                <a:solidFill>
                  <a:srgbClr val="980000"/>
                </a:solidFill>
                <a:latin typeface="Consolas"/>
                <a:ea typeface="Consolas"/>
                <a:cs typeface="Consolas"/>
                <a:sym typeface="Consolas"/>
              </a:rPr>
              <a:t>let i = 4;</a:t>
            </a:r>
            <a:endParaRPr b="1">
              <a:solidFill>
                <a:srgbClr val="980000"/>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let mut b = Box::new( (5, 2) );</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(*b).1 = 7;</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println!("{:?}", *b); // (5,7)</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println!("{:?}", b);  // (5,7)</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rPr>
              <a:t>}</a:t>
            </a:r>
            <a:endParaRPr>
              <a:solidFill>
                <a:schemeClr val="dk1"/>
              </a:solidFill>
            </a:endParaRPr>
          </a:p>
        </p:txBody>
      </p:sp>
      <p:sp>
        <p:nvSpPr>
          <p:cNvPr id="579" name="Google Shape;579;p35"/>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5"/>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581" name="Google Shape;581;p35"/>
          <p:cNvSpPr/>
          <p:nvPr/>
        </p:nvSpPr>
        <p:spPr>
          <a:xfrm>
            <a:off x="5634250" y="1623172"/>
            <a:ext cx="372000" cy="324600"/>
          </a:xfrm>
          <a:prstGeom prst="rect">
            <a:avLst/>
          </a:prstGeom>
          <a:solidFill>
            <a:srgbClr val="AFD7F7"/>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980000"/>
                </a:solidFill>
              </a:rPr>
              <a:t>4</a:t>
            </a:r>
            <a:endParaRPr>
              <a:solidFill>
                <a:srgbClr val="980000"/>
              </a:solidFill>
            </a:endParaRPr>
          </a:p>
        </p:txBody>
      </p:sp>
      <p:sp>
        <p:nvSpPr>
          <p:cNvPr id="582" name="Google Shape;582;p35"/>
          <p:cNvSpPr txBox="1"/>
          <p:nvPr/>
        </p:nvSpPr>
        <p:spPr>
          <a:xfrm>
            <a:off x="5695200" y="1140345"/>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i</a:t>
            </a:r>
            <a:endParaRPr b="1"/>
          </a:p>
        </p:txBody>
      </p:sp>
      <p:sp>
        <p:nvSpPr>
          <p:cNvPr id="583" name="Google Shape;583;p35"/>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5"/>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585" name="Google Shape;585;p35"/>
          <p:cNvSpPr/>
          <p:nvPr/>
        </p:nvSpPr>
        <p:spPr>
          <a:xfrm>
            <a:off x="6062775" y="1685272"/>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5"/>
          <p:cNvSpPr/>
          <p:nvPr/>
        </p:nvSpPr>
        <p:spPr>
          <a:xfrm>
            <a:off x="613375" y="1570759"/>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592" name="Google Shape;592;p3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593" name="Google Shape;593;p36"/>
          <p:cNvSpPr txBox="1"/>
          <p:nvPr/>
        </p:nvSpPr>
        <p:spPr>
          <a:xfrm>
            <a:off x="429600" y="1241933"/>
            <a:ext cx="36192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solidFill>
                  <a:schemeClr val="dk1"/>
                </a:solidFill>
                <a:latin typeface="Consolas"/>
                <a:ea typeface="Consolas"/>
                <a:cs typeface="Consolas"/>
                <a:sym typeface="Consolas"/>
              </a:rPr>
              <a:t>fn useBox()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let i = 4;</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a:t>
            </a:r>
            <a:r>
              <a:rPr b="1" lang="it">
                <a:solidFill>
                  <a:srgbClr val="980000"/>
                </a:solidFill>
                <a:latin typeface="Consolas"/>
                <a:ea typeface="Consolas"/>
                <a:cs typeface="Consolas"/>
                <a:sym typeface="Consolas"/>
              </a:rPr>
              <a:t>let mut b = Box::new( (5, 2) )</a:t>
            </a:r>
            <a:r>
              <a:rPr lang="it">
                <a:solidFill>
                  <a:srgbClr val="980000"/>
                </a:solidFill>
                <a:latin typeface="Consolas"/>
                <a:ea typeface="Consolas"/>
                <a:cs typeface="Consolas"/>
                <a:sym typeface="Consolas"/>
              </a:rPr>
              <a:t>;</a:t>
            </a:r>
            <a:endParaRPr>
              <a:solidFill>
                <a:srgbClr val="980000"/>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(*b).1 = 7;</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println!("{:?}", *b); // (5,7)</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println!("{:?}", b);  // (5,7)</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rPr>
              <a:t>}</a:t>
            </a:r>
            <a:endParaRPr>
              <a:solidFill>
                <a:schemeClr val="dk1"/>
              </a:solidFill>
            </a:endParaRPr>
          </a:p>
        </p:txBody>
      </p:sp>
      <p:sp>
        <p:nvSpPr>
          <p:cNvPr id="594" name="Google Shape;594;p36"/>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6"/>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596" name="Google Shape;596;p36"/>
          <p:cNvSpPr/>
          <p:nvPr/>
        </p:nvSpPr>
        <p:spPr>
          <a:xfrm>
            <a:off x="563425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597" name="Google Shape;597;p36"/>
          <p:cNvSpPr/>
          <p:nvPr/>
        </p:nvSpPr>
        <p:spPr>
          <a:xfrm>
            <a:off x="6008100" y="1623172"/>
            <a:ext cx="372000" cy="324600"/>
          </a:xfrm>
          <a:prstGeom prst="rect">
            <a:avLst/>
          </a:prstGeom>
          <a:solidFill>
            <a:srgbClr val="AFD7F7"/>
          </a:solidFill>
          <a:ln cap="flat" cmpd="sng" w="19050">
            <a:solidFill>
              <a:srgbClr val="BF1B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6"/>
          <p:cNvSpPr txBox="1"/>
          <p:nvPr/>
        </p:nvSpPr>
        <p:spPr>
          <a:xfrm>
            <a:off x="5695200" y="1140345"/>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i</a:t>
            </a:r>
            <a:endParaRPr b="1"/>
          </a:p>
        </p:txBody>
      </p:sp>
      <p:sp>
        <p:nvSpPr>
          <p:cNvPr id="599" name="Google Shape;599;p36"/>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6"/>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601" name="Google Shape;601;p36"/>
          <p:cNvSpPr/>
          <p:nvPr/>
        </p:nvSpPr>
        <p:spPr>
          <a:xfrm>
            <a:off x="5844850" y="2820510"/>
            <a:ext cx="372000" cy="324600"/>
          </a:xfrm>
          <a:prstGeom prst="rect">
            <a:avLst/>
          </a:prstGeom>
          <a:solidFill>
            <a:srgbClr val="FCE5CD"/>
          </a:solidFill>
          <a:ln cap="flat" cmpd="sng" w="19050">
            <a:solidFill>
              <a:srgbClr val="BF1B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
                <a:solidFill>
                  <a:srgbClr val="BF1B1B"/>
                </a:solidFill>
              </a:rPr>
              <a:t>5</a:t>
            </a:r>
            <a:endParaRPr b="1">
              <a:solidFill>
                <a:srgbClr val="BF1B1B"/>
              </a:solidFill>
            </a:endParaRPr>
          </a:p>
        </p:txBody>
      </p:sp>
      <p:sp>
        <p:nvSpPr>
          <p:cNvPr id="602" name="Google Shape;602;p36"/>
          <p:cNvSpPr/>
          <p:nvPr/>
        </p:nvSpPr>
        <p:spPr>
          <a:xfrm>
            <a:off x="6216850" y="2820510"/>
            <a:ext cx="372000" cy="324600"/>
          </a:xfrm>
          <a:prstGeom prst="rect">
            <a:avLst/>
          </a:prstGeom>
          <a:solidFill>
            <a:srgbClr val="FCE5CD"/>
          </a:solidFill>
          <a:ln cap="flat" cmpd="sng" w="19050">
            <a:solidFill>
              <a:srgbClr val="BF1B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
                <a:solidFill>
                  <a:srgbClr val="BF1B1B"/>
                </a:solidFill>
              </a:rPr>
              <a:t>2</a:t>
            </a:r>
            <a:endParaRPr b="1">
              <a:solidFill>
                <a:srgbClr val="BF1B1B"/>
              </a:solidFill>
            </a:endParaRPr>
          </a:p>
        </p:txBody>
      </p:sp>
      <p:cxnSp>
        <p:nvCxnSpPr>
          <p:cNvPr id="603" name="Google Shape;603;p36"/>
          <p:cNvCxnSpPr>
            <a:stCxn id="604" idx="2"/>
            <a:endCxn id="601" idx="0"/>
          </p:cNvCxnSpPr>
          <p:nvPr/>
        </p:nvCxnSpPr>
        <p:spPr>
          <a:xfrm rot="5400000">
            <a:off x="5564850" y="2191275"/>
            <a:ext cx="1095300" cy="163200"/>
          </a:xfrm>
          <a:prstGeom prst="bentConnector3">
            <a:avLst>
              <a:gd fmla="val 50002" name="adj1"/>
            </a:avLst>
          </a:prstGeom>
          <a:noFill/>
          <a:ln cap="flat" cmpd="sng" w="28575">
            <a:solidFill>
              <a:srgbClr val="BF1B1B"/>
            </a:solidFill>
            <a:prstDash val="solid"/>
            <a:round/>
            <a:headEnd len="med" w="med" type="oval"/>
            <a:tailEnd len="med" w="med" type="triangle"/>
          </a:ln>
        </p:spPr>
      </p:cxnSp>
      <p:sp>
        <p:nvSpPr>
          <p:cNvPr id="604" name="Google Shape;604;p36"/>
          <p:cNvSpPr/>
          <p:nvPr/>
        </p:nvSpPr>
        <p:spPr>
          <a:xfrm>
            <a:off x="608970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6"/>
          <p:cNvSpPr/>
          <p:nvPr/>
        </p:nvSpPr>
        <p:spPr>
          <a:xfrm>
            <a:off x="6443775" y="1685272"/>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6"/>
          <p:cNvSpPr txBox="1"/>
          <p:nvPr/>
        </p:nvSpPr>
        <p:spPr>
          <a:xfrm>
            <a:off x="606990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b</a:t>
            </a:r>
            <a:endParaRPr b="1"/>
          </a:p>
        </p:txBody>
      </p:sp>
      <p:sp>
        <p:nvSpPr>
          <p:cNvPr id="607" name="Google Shape;607;p36"/>
          <p:cNvSpPr/>
          <p:nvPr/>
        </p:nvSpPr>
        <p:spPr>
          <a:xfrm>
            <a:off x="613375" y="1773959"/>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613" name="Google Shape;613;p3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14" name="Google Shape;614;p37"/>
          <p:cNvSpPr txBox="1"/>
          <p:nvPr/>
        </p:nvSpPr>
        <p:spPr>
          <a:xfrm>
            <a:off x="429600" y="1241933"/>
            <a:ext cx="36192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solidFill>
                  <a:schemeClr val="dk1"/>
                </a:solidFill>
                <a:latin typeface="Consolas"/>
                <a:ea typeface="Consolas"/>
                <a:cs typeface="Consolas"/>
                <a:sym typeface="Consolas"/>
              </a:rPr>
              <a:t>fn useBox()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let i = 4;</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let mut b = Box::new( (5, 2) );</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rgbClr val="980000"/>
                </a:solidFill>
                <a:latin typeface="Consolas"/>
                <a:ea typeface="Consolas"/>
                <a:cs typeface="Consolas"/>
                <a:sym typeface="Consolas"/>
              </a:rPr>
              <a:t>  </a:t>
            </a:r>
            <a:r>
              <a:rPr b="1" lang="it">
                <a:solidFill>
                  <a:srgbClr val="980000"/>
                </a:solidFill>
                <a:latin typeface="Consolas"/>
                <a:ea typeface="Consolas"/>
                <a:cs typeface="Consolas"/>
                <a:sym typeface="Consolas"/>
              </a:rPr>
              <a:t>(*b).1 = 7;</a:t>
            </a:r>
            <a:endParaRPr b="1">
              <a:solidFill>
                <a:srgbClr val="980000"/>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println!("{:?}", *b); // (5,7)</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println!("{:?}", b);  // (5,7)</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rPr>
              <a:t>}</a:t>
            </a:r>
            <a:endParaRPr>
              <a:solidFill>
                <a:schemeClr val="dk1"/>
              </a:solidFill>
            </a:endParaRPr>
          </a:p>
        </p:txBody>
      </p:sp>
      <p:sp>
        <p:nvSpPr>
          <p:cNvPr id="615" name="Google Shape;615;p37"/>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7"/>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617" name="Google Shape;617;p37"/>
          <p:cNvSpPr/>
          <p:nvPr/>
        </p:nvSpPr>
        <p:spPr>
          <a:xfrm>
            <a:off x="600810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7"/>
          <p:cNvSpPr/>
          <p:nvPr/>
        </p:nvSpPr>
        <p:spPr>
          <a:xfrm>
            <a:off x="563425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619" name="Google Shape;619;p37"/>
          <p:cNvSpPr txBox="1"/>
          <p:nvPr/>
        </p:nvSpPr>
        <p:spPr>
          <a:xfrm>
            <a:off x="5695200" y="1140345"/>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i</a:t>
            </a:r>
            <a:endParaRPr b="1"/>
          </a:p>
        </p:txBody>
      </p:sp>
      <p:sp>
        <p:nvSpPr>
          <p:cNvPr id="620" name="Google Shape;620;p37"/>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7"/>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622" name="Google Shape;622;p37"/>
          <p:cNvSpPr/>
          <p:nvPr/>
        </p:nvSpPr>
        <p:spPr>
          <a:xfrm>
            <a:off x="5844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5</a:t>
            </a:r>
            <a:endParaRPr/>
          </a:p>
        </p:txBody>
      </p:sp>
      <p:sp>
        <p:nvSpPr>
          <p:cNvPr id="623" name="Google Shape;623;p37"/>
          <p:cNvSpPr/>
          <p:nvPr/>
        </p:nvSpPr>
        <p:spPr>
          <a:xfrm>
            <a:off x="6216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
                <a:solidFill>
                  <a:srgbClr val="BF1B1B"/>
                </a:solidFill>
              </a:rPr>
              <a:t>7</a:t>
            </a:r>
            <a:endParaRPr b="1">
              <a:solidFill>
                <a:srgbClr val="BF1B1B"/>
              </a:solidFill>
            </a:endParaRPr>
          </a:p>
        </p:txBody>
      </p:sp>
      <p:cxnSp>
        <p:nvCxnSpPr>
          <p:cNvPr id="624" name="Google Shape;624;p37"/>
          <p:cNvCxnSpPr>
            <a:stCxn id="625" idx="2"/>
            <a:endCxn id="622" idx="0"/>
          </p:cNvCxnSpPr>
          <p:nvPr/>
        </p:nvCxnSpPr>
        <p:spPr>
          <a:xfrm rot="5400000">
            <a:off x="5564850" y="2191275"/>
            <a:ext cx="1095300" cy="163200"/>
          </a:xfrm>
          <a:prstGeom prst="bentConnector3">
            <a:avLst>
              <a:gd fmla="val 50002" name="adj1"/>
            </a:avLst>
          </a:prstGeom>
          <a:noFill/>
          <a:ln cap="flat" cmpd="sng" w="28575">
            <a:solidFill>
              <a:srgbClr val="595959"/>
            </a:solidFill>
            <a:prstDash val="solid"/>
            <a:round/>
            <a:headEnd len="med" w="med" type="oval"/>
            <a:tailEnd len="med" w="med" type="triangle"/>
          </a:ln>
        </p:spPr>
      </p:cxnSp>
      <p:sp>
        <p:nvSpPr>
          <p:cNvPr id="625" name="Google Shape;625;p37"/>
          <p:cNvSpPr/>
          <p:nvPr/>
        </p:nvSpPr>
        <p:spPr>
          <a:xfrm>
            <a:off x="608970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7"/>
          <p:cNvSpPr/>
          <p:nvPr/>
        </p:nvSpPr>
        <p:spPr>
          <a:xfrm>
            <a:off x="6443775" y="1685272"/>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7"/>
          <p:cNvSpPr txBox="1"/>
          <p:nvPr/>
        </p:nvSpPr>
        <p:spPr>
          <a:xfrm>
            <a:off x="606990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b</a:t>
            </a:r>
            <a:endParaRPr b="1"/>
          </a:p>
        </p:txBody>
      </p:sp>
      <p:sp>
        <p:nvSpPr>
          <p:cNvPr id="628" name="Google Shape;628;p37"/>
          <p:cNvSpPr/>
          <p:nvPr/>
        </p:nvSpPr>
        <p:spPr>
          <a:xfrm>
            <a:off x="613375" y="2198176"/>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634" name="Google Shape;634;p3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35" name="Google Shape;635;p38"/>
          <p:cNvSpPr txBox="1"/>
          <p:nvPr/>
        </p:nvSpPr>
        <p:spPr>
          <a:xfrm>
            <a:off x="429600" y="1241933"/>
            <a:ext cx="36192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solidFill>
                  <a:schemeClr val="dk1"/>
                </a:solidFill>
                <a:latin typeface="Consolas"/>
                <a:ea typeface="Consolas"/>
                <a:cs typeface="Consolas"/>
                <a:sym typeface="Consolas"/>
              </a:rPr>
              <a:t>fn useBox()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let i = 4;</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let mut b = Box::new( (5, 2) );</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(*b).1 = 7;</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rgbClr val="980000"/>
                </a:solidFill>
                <a:latin typeface="Consolas"/>
                <a:ea typeface="Consolas"/>
                <a:cs typeface="Consolas"/>
                <a:sym typeface="Consolas"/>
              </a:rPr>
              <a:t>  </a:t>
            </a:r>
            <a:r>
              <a:rPr b="1" lang="it">
                <a:solidFill>
                  <a:srgbClr val="980000"/>
                </a:solidFill>
                <a:latin typeface="Consolas"/>
                <a:ea typeface="Consolas"/>
                <a:cs typeface="Consolas"/>
                <a:sym typeface="Consolas"/>
              </a:rPr>
              <a:t>println!("{:?}", *b); // (5,7)</a:t>
            </a:r>
            <a:endParaRPr b="1">
              <a:solidFill>
                <a:srgbClr val="980000"/>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println!("{:?}", b);  // (5,7)</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rPr>
              <a:t>}</a:t>
            </a:r>
            <a:endParaRPr>
              <a:solidFill>
                <a:schemeClr val="dk1"/>
              </a:solidFill>
            </a:endParaRPr>
          </a:p>
        </p:txBody>
      </p:sp>
      <p:sp>
        <p:nvSpPr>
          <p:cNvPr id="636" name="Google Shape;636;p38"/>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8"/>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638" name="Google Shape;638;p38"/>
          <p:cNvSpPr/>
          <p:nvPr/>
        </p:nvSpPr>
        <p:spPr>
          <a:xfrm>
            <a:off x="600810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8"/>
          <p:cNvSpPr/>
          <p:nvPr/>
        </p:nvSpPr>
        <p:spPr>
          <a:xfrm>
            <a:off x="563425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640" name="Google Shape;640;p38"/>
          <p:cNvSpPr txBox="1"/>
          <p:nvPr/>
        </p:nvSpPr>
        <p:spPr>
          <a:xfrm>
            <a:off x="5695200" y="1140345"/>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i</a:t>
            </a:r>
            <a:endParaRPr b="1"/>
          </a:p>
        </p:txBody>
      </p:sp>
      <p:sp>
        <p:nvSpPr>
          <p:cNvPr id="641" name="Google Shape;641;p38"/>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8"/>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643" name="Google Shape;643;p38"/>
          <p:cNvSpPr/>
          <p:nvPr/>
        </p:nvSpPr>
        <p:spPr>
          <a:xfrm>
            <a:off x="5844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5</a:t>
            </a:r>
            <a:endParaRPr/>
          </a:p>
        </p:txBody>
      </p:sp>
      <p:sp>
        <p:nvSpPr>
          <p:cNvPr id="644" name="Google Shape;644;p38"/>
          <p:cNvSpPr/>
          <p:nvPr/>
        </p:nvSpPr>
        <p:spPr>
          <a:xfrm>
            <a:off x="6216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7</a:t>
            </a:r>
            <a:endParaRPr/>
          </a:p>
        </p:txBody>
      </p:sp>
      <p:cxnSp>
        <p:nvCxnSpPr>
          <p:cNvPr id="645" name="Google Shape;645;p38"/>
          <p:cNvCxnSpPr>
            <a:stCxn id="646" idx="2"/>
            <a:endCxn id="643" idx="0"/>
          </p:cNvCxnSpPr>
          <p:nvPr/>
        </p:nvCxnSpPr>
        <p:spPr>
          <a:xfrm rot="5400000">
            <a:off x="5564850" y="2191275"/>
            <a:ext cx="1095300" cy="163200"/>
          </a:xfrm>
          <a:prstGeom prst="bentConnector3">
            <a:avLst>
              <a:gd fmla="val 50002" name="adj1"/>
            </a:avLst>
          </a:prstGeom>
          <a:noFill/>
          <a:ln cap="flat" cmpd="sng" w="28575">
            <a:solidFill>
              <a:srgbClr val="595959"/>
            </a:solidFill>
            <a:prstDash val="solid"/>
            <a:round/>
            <a:headEnd len="med" w="med" type="oval"/>
            <a:tailEnd len="med" w="med" type="triangle"/>
          </a:ln>
        </p:spPr>
      </p:cxnSp>
      <p:sp>
        <p:nvSpPr>
          <p:cNvPr id="646" name="Google Shape;646;p38"/>
          <p:cNvSpPr/>
          <p:nvPr/>
        </p:nvSpPr>
        <p:spPr>
          <a:xfrm>
            <a:off x="608970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8"/>
          <p:cNvSpPr/>
          <p:nvPr/>
        </p:nvSpPr>
        <p:spPr>
          <a:xfrm>
            <a:off x="6443775" y="1685272"/>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8"/>
          <p:cNvSpPr txBox="1"/>
          <p:nvPr/>
        </p:nvSpPr>
        <p:spPr>
          <a:xfrm>
            <a:off x="606990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b</a:t>
            </a:r>
            <a:endParaRPr b="1"/>
          </a:p>
        </p:txBody>
      </p:sp>
      <p:sp>
        <p:nvSpPr>
          <p:cNvPr id="649" name="Google Shape;649;p38"/>
          <p:cNvSpPr/>
          <p:nvPr/>
        </p:nvSpPr>
        <p:spPr>
          <a:xfrm>
            <a:off x="613375" y="2636678"/>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655" name="Google Shape;655;p3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56" name="Google Shape;656;p39"/>
          <p:cNvSpPr txBox="1"/>
          <p:nvPr/>
        </p:nvSpPr>
        <p:spPr>
          <a:xfrm>
            <a:off x="429600" y="1241933"/>
            <a:ext cx="36192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solidFill>
                  <a:schemeClr val="dk1"/>
                </a:solidFill>
                <a:latin typeface="Consolas"/>
                <a:ea typeface="Consolas"/>
                <a:cs typeface="Consolas"/>
                <a:sym typeface="Consolas"/>
              </a:rPr>
              <a:t>fn useBox()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let i = 4;</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let mut b = Box::new( (5, 2) );</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(*b).1 = 7;</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println!("{:?}", *b); // (5,7)</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rgbClr val="980000"/>
                </a:solidFill>
                <a:latin typeface="Consolas"/>
                <a:ea typeface="Consolas"/>
                <a:cs typeface="Consolas"/>
                <a:sym typeface="Consolas"/>
              </a:rPr>
              <a:t>  </a:t>
            </a:r>
            <a:r>
              <a:rPr b="1" lang="it">
                <a:solidFill>
                  <a:srgbClr val="980000"/>
                </a:solidFill>
                <a:latin typeface="Consolas"/>
                <a:ea typeface="Consolas"/>
                <a:cs typeface="Consolas"/>
                <a:sym typeface="Consolas"/>
              </a:rPr>
              <a:t>println!("{:?}", b);  // (5,7)</a:t>
            </a:r>
            <a:endParaRPr b="1">
              <a:solidFill>
                <a:srgbClr val="980000"/>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rPr>
              <a:t>}</a:t>
            </a:r>
            <a:endParaRPr>
              <a:solidFill>
                <a:schemeClr val="dk1"/>
              </a:solidFill>
            </a:endParaRPr>
          </a:p>
        </p:txBody>
      </p:sp>
      <p:sp>
        <p:nvSpPr>
          <p:cNvPr id="657" name="Google Shape;657;p39"/>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9"/>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659" name="Google Shape;659;p39"/>
          <p:cNvSpPr/>
          <p:nvPr/>
        </p:nvSpPr>
        <p:spPr>
          <a:xfrm>
            <a:off x="600810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9"/>
          <p:cNvSpPr/>
          <p:nvPr/>
        </p:nvSpPr>
        <p:spPr>
          <a:xfrm>
            <a:off x="563425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4</a:t>
            </a:r>
            <a:endParaRPr/>
          </a:p>
        </p:txBody>
      </p:sp>
      <p:sp>
        <p:nvSpPr>
          <p:cNvPr id="661" name="Google Shape;661;p39"/>
          <p:cNvSpPr txBox="1"/>
          <p:nvPr/>
        </p:nvSpPr>
        <p:spPr>
          <a:xfrm>
            <a:off x="5695200" y="1140345"/>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i</a:t>
            </a:r>
            <a:endParaRPr b="1"/>
          </a:p>
        </p:txBody>
      </p:sp>
      <p:sp>
        <p:nvSpPr>
          <p:cNvPr id="662" name="Google Shape;662;p39"/>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9"/>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664" name="Google Shape;664;p39"/>
          <p:cNvSpPr/>
          <p:nvPr/>
        </p:nvSpPr>
        <p:spPr>
          <a:xfrm>
            <a:off x="5844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5</a:t>
            </a:r>
            <a:endParaRPr/>
          </a:p>
        </p:txBody>
      </p:sp>
      <p:sp>
        <p:nvSpPr>
          <p:cNvPr id="665" name="Google Shape;665;p39"/>
          <p:cNvSpPr/>
          <p:nvPr/>
        </p:nvSpPr>
        <p:spPr>
          <a:xfrm>
            <a:off x="6216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7</a:t>
            </a:r>
            <a:endParaRPr/>
          </a:p>
        </p:txBody>
      </p:sp>
      <p:cxnSp>
        <p:nvCxnSpPr>
          <p:cNvPr id="666" name="Google Shape;666;p39"/>
          <p:cNvCxnSpPr>
            <a:stCxn id="667" idx="2"/>
            <a:endCxn id="664" idx="0"/>
          </p:cNvCxnSpPr>
          <p:nvPr/>
        </p:nvCxnSpPr>
        <p:spPr>
          <a:xfrm rot="5400000">
            <a:off x="5564850" y="2191275"/>
            <a:ext cx="1095300" cy="163200"/>
          </a:xfrm>
          <a:prstGeom prst="bentConnector3">
            <a:avLst>
              <a:gd fmla="val 50002" name="adj1"/>
            </a:avLst>
          </a:prstGeom>
          <a:noFill/>
          <a:ln cap="flat" cmpd="sng" w="28575">
            <a:solidFill>
              <a:srgbClr val="595959"/>
            </a:solidFill>
            <a:prstDash val="solid"/>
            <a:round/>
            <a:headEnd len="med" w="med" type="oval"/>
            <a:tailEnd len="med" w="med" type="triangle"/>
          </a:ln>
        </p:spPr>
      </p:cxnSp>
      <p:sp>
        <p:nvSpPr>
          <p:cNvPr id="667" name="Google Shape;667;p39"/>
          <p:cNvSpPr/>
          <p:nvPr/>
        </p:nvSpPr>
        <p:spPr>
          <a:xfrm>
            <a:off x="608970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9"/>
          <p:cNvSpPr/>
          <p:nvPr/>
        </p:nvSpPr>
        <p:spPr>
          <a:xfrm>
            <a:off x="6443775" y="1685272"/>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9"/>
          <p:cNvSpPr txBox="1"/>
          <p:nvPr/>
        </p:nvSpPr>
        <p:spPr>
          <a:xfrm>
            <a:off x="606990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b</a:t>
            </a:r>
            <a:endParaRPr b="1"/>
          </a:p>
        </p:txBody>
      </p:sp>
      <p:sp>
        <p:nvSpPr>
          <p:cNvPr id="670" name="Google Shape;670;p39"/>
          <p:cNvSpPr/>
          <p:nvPr/>
        </p:nvSpPr>
        <p:spPr>
          <a:xfrm>
            <a:off x="613375" y="2846097"/>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676" name="Google Shape;676;p4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77" name="Google Shape;677;p40"/>
          <p:cNvSpPr txBox="1"/>
          <p:nvPr/>
        </p:nvSpPr>
        <p:spPr>
          <a:xfrm>
            <a:off x="429600" y="1241933"/>
            <a:ext cx="36192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solidFill>
                  <a:schemeClr val="dk1"/>
                </a:solidFill>
                <a:latin typeface="Consolas"/>
                <a:ea typeface="Consolas"/>
                <a:cs typeface="Consolas"/>
                <a:sym typeface="Consolas"/>
              </a:rPr>
              <a:t>fn useBox()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let i = 4;</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let mut b = Box::new( (5, 2) );</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(*b).1 = 7;</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println!("{:?}", *b); // (5,7)</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it">
                <a:solidFill>
                  <a:schemeClr val="dk1"/>
                </a:solidFill>
                <a:latin typeface="Consolas"/>
                <a:ea typeface="Consolas"/>
                <a:cs typeface="Consolas"/>
                <a:sym typeface="Consolas"/>
              </a:rPr>
              <a:t>  println!("{:?}", b);  // (5,7)</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rgbClr val="980000"/>
                </a:solidFill>
              </a:rPr>
              <a:t>}</a:t>
            </a:r>
            <a:endParaRPr b="1">
              <a:solidFill>
                <a:srgbClr val="980000"/>
              </a:solidFill>
            </a:endParaRPr>
          </a:p>
        </p:txBody>
      </p:sp>
      <p:sp>
        <p:nvSpPr>
          <p:cNvPr id="678" name="Google Shape;678;p40"/>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0"/>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680" name="Google Shape;680;p40"/>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0"/>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682" name="Google Shape;682;p40"/>
          <p:cNvSpPr/>
          <p:nvPr/>
        </p:nvSpPr>
        <p:spPr>
          <a:xfrm flipH="1">
            <a:off x="5519475" y="1685295"/>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0"/>
          <p:cNvSpPr/>
          <p:nvPr/>
        </p:nvSpPr>
        <p:spPr>
          <a:xfrm>
            <a:off x="472759" y="3064287"/>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689" name="Google Shape;689;p4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90" name="Google Shape;690;p41"/>
          <p:cNvSpPr txBox="1"/>
          <p:nvPr/>
        </p:nvSpPr>
        <p:spPr>
          <a:xfrm>
            <a:off x="429600" y="1241933"/>
            <a:ext cx="39894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latin typeface="Consolas"/>
                <a:ea typeface="Consolas"/>
                <a:cs typeface="Consolas"/>
                <a:sym typeface="Consolas"/>
              </a:rPr>
              <a:t>fn makeBox(a: i32) -&gt; Box&lt;(i32,i32)&gt;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r = Box::new( (a, 1)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return r;</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rtl="0" algn="l">
              <a:spcBef>
                <a:spcPts val="0"/>
              </a:spcBef>
              <a:spcAft>
                <a:spcPts val="0"/>
              </a:spcAft>
              <a:buNone/>
            </a:pPr>
            <a:r>
              <a:rPr lang="it">
                <a:solidFill>
                  <a:srgbClr val="980000"/>
                </a:solidFill>
                <a:latin typeface="Consolas"/>
                <a:ea typeface="Consolas"/>
                <a:cs typeface="Consolas"/>
                <a:sym typeface="Consolas"/>
              </a:rPr>
              <a:t>  </a:t>
            </a:r>
            <a:r>
              <a:rPr b="1" lang="it">
                <a:solidFill>
                  <a:srgbClr val="980000"/>
                </a:solidFill>
                <a:latin typeface="Consolas"/>
                <a:ea typeface="Consolas"/>
                <a:cs typeface="Consolas"/>
                <a:sym typeface="Consolas"/>
              </a:rPr>
              <a:t>let b = makeBox(5);</a:t>
            </a:r>
            <a:endParaRPr b="1">
              <a:solidFill>
                <a:srgbClr val="980000"/>
              </a:solidFill>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c  = b.0 + b.1;</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p:txBody>
      </p:sp>
      <p:sp>
        <p:nvSpPr>
          <p:cNvPr id="691" name="Google Shape;691;p41"/>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1"/>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693" name="Google Shape;693;p41"/>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1"/>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695" name="Google Shape;695;p41"/>
          <p:cNvSpPr/>
          <p:nvPr/>
        </p:nvSpPr>
        <p:spPr>
          <a:xfrm>
            <a:off x="5976675" y="1685295"/>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1"/>
          <p:cNvSpPr/>
          <p:nvPr/>
        </p:nvSpPr>
        <p:spPr>
          <a:xfrm>
            <a:off x="613375" y="2633563"/>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1"/>
          <p:cNvSpPr/>
          <p:nvPr/>
        </p:nvSpPr>
        <p:spPr>
          <a:xfrm>
            <a:off x="5398500" y="1623172"/>
            <a:ext cx="372000" cy="324600"/>
          </a:xfrm>
          <a:prstGeom prst="rect">
            <a:avLst/>
          </a:prstGeom>
          <a:solidFill>
            <a:srgbClr val="AFD7F7"/>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1"/>
          <p:cNvSpPr/>
          <p:nvPr/>
        </p:nvSpPr>
        <p:spPr>
          <a:xfrm>
            <a:off x="548010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1"/>
          <p:cNvSpPr txBox="1"/>
          <p:nvPr/>
        </p:nvSpPr>
        <p:spPr>
          <a:xfrm>
            <a:off x="546030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b</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705" name="Google Shape;705;p4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06" name="Google Shape;706;p42"/>
          <p:cNvSpPr txBox="1"/>
          <p:nvPr/>
        </p:nvSpPr>
        <p:spPr>
          <a:xfrm>
            <a:off x="429600" y="1241933"/>
            <a:ext cx="39894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solidFill>
                  <a:srgbClr val="980000"/>
                </a:solidFill>
                <a:latin typeface="Consolas"/>
                <a:ea typeface="Consolas"/>
                <a:cs typeface="Consolas"/>
                <a:sym typeface="Consolas"/>
              </a:rPr>
              <a:t>fn </a:t>
            </a:r>
            <a:r>
              <a:rPr b="1" lang="it">
                <a:solidFill>
                  <a:srgbClr val="980000"/>
                </a:solidFill>
                <a:latin typeface="Consolas"/>
                <a:ea typeface="Consolas"/>
                <a:cs typeface="Consolas"/>
                <a:sym typeface="Consolas"/>
              </a:rPr>
              <a:t>makeBox(a: i32)</a:t>
            </a:r>
            <a:r>
              <a:rPr lang="it">
                <a:solidFill>
                  <a:srgbClr val="980000"/>
                </a:solidFill>
                <a:latin typeface="Consolas"/>
                <a:ea typeface="Consolas"/>
                <a:cs typeface="Consolas"/>
                <a:sym typeface="Consolas"/>
              </a:rPr>
              <a:t> -&gt; Box&lt;(i32,i32)&gt; {</a:t>
            </a:r>
            <a:endParaRPr>
              <a:solidFill>
                <a:srgbClr val="980000"/>
              </a:solidFill>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r = Box::new( (a, 1)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return r;</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b = makeBox(5);</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c  = b.0 + b.1;</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p:txBody>
      </p:sp>
      <p:sp>
        <p:nvSpPr>
          <p:cNvPr id="707" name="Google Shape;707;p42"/>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2"/>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709" name="Google Shape;709;p42"/>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42"/>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711" name="Google Shape;711;p42"/>
          <p:cNvSpPr/>
          <p:nvPr/>
        </p:nvSpPr>
        <p:spPr>
          <a:xfrm>
            <a:off x="6236700" y="1685272"/>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2"/>
          <p:cNvSpPr/>
          <p:nvPr/>
        </p:nvSpPr>
        <p:spPr>
          <a:xfrm>
            <a:off x="483775" y="1348260"/>
            <a:ext cx="36168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42"/>
          <p:cNvSpPr/>
          <p:nvPr/>
        </p:nvSpPr>
        <p:spPr>
          <a:xfrm>
            <a:off x="539850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42"/>
          <p:cNvSpPr/>
          <p:nvPr/>
        </p:nvSpPr>
        <p:spPr>
          <a:xfrm>
            <a:off x="548010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42"/>
          <p:cNvSpPr txBox="1"/>
          <p:nvPr/>
        </p:nvSpPr>
        <p:spPr>
          <a:xfrm>
            <a:off x="546030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b</a:t>
            </a:r>
            <a:endParaRPr b="1"/>
          </a:p>
        </p:txBody>
      </p:sp>
      <p:sp>
        <p:nvSpPr>
          <p:cNvPr id="716" name="Google Shape;716;p42"/>
          <p:cNvSpPr/>
          <p:nvPr/>
        </p:nvSpPr>
        <p:spPr>
          <a:xfrm>
            <a:off x="5817588" y="1623195"/>
            <a:ext cx="372000" cy="324600"/>
          </a:xfrm>
          <a:prstGeom prst="rect">
            <a:avLst/>
          </a:prstGeom>
          <a:solidFill>
            <a:srgbClr val="AFD7F7"/>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980000"/>
                </a:solidFill>
              </a:rPr>
              <a:t>5</a:t>
            </a:r>
            <a:endParaRPr>
              <a:solidFill>
                <a:srgbClr val="980000"/>
              </a:solidFill>
            </a:endParaRPr>
          </a:p>
        </p:txBody>
      </p:sp>
      <p:sp>
        <p:nvSpPr>
          <p:cNvPr id="717" name="Google Shape;717;p42"/>
          <p:cNvSpPr txBox="1"/>
          <p:nvPr/>
        </p:nvSpPr>
        <p:spPr>
          <a:xfrm>
            <a:off x="5878538" y="1140368"/>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a</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723" name="Google Shape;723;p4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24" name="Google Shape;724;p43"/>
          <p:cNvSpPr txBox="1"/>
          <p:nvPr/>
        </p:nvSpPr>
        <p:spPr>
          <a:xfrm>
            <a:off x="429600" y="1241933"/>
            <a:ext cx="39894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latin typeface="Consolas"/>
                <a:ea typeface="Consolas"/>
                <a:cs typeface="Consolas"/>
                <a:sym typeface="Consolas"/>
              </a:rPr>
              <a:t>fn makeBox(a: i32) -&gt; Box&lt;(i32,i32)&gt; {</a:t>
            </a:r>
            <a:endParaRPr>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  let r = Box::new( (a, 1) );</a:t>
            </a:r>
            <a:endParaRPr b="1">
              <a:solidFill>
                <a:srgbClr val="980000"/>
              </a:solidFill>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return r;</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b = makeBox(5);</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c  = b.0 + b.1;</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p:txBody>
      </p:sp>
      <p:sp>
        <p:nvSpPr>
          <p:cNvPr id="725" name="Google Shape;725;p43"/>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43"/>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727" name="Google Shape;727;p43"/>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43"/>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729" name="Google Shape;729;p43"/>
          <p:cNvSpPr/>
          <p:nvPr/>
        </p:nvSpPr>
        <p:spPr>
          <a:xfrm>
            <a:off x="6672700" y="1685295"/>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43"/>
          <p:cNvSpPr/>
          <p:nvPr/>
        </p:nvSpPr>
        <p:spPr>
          <a:xfrm>
            <a:off x="636950" y="1568432"/>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3"/>
          <p:cNvSpPr/>
          <p:nvPr/>
        </p:nvSpPr>
        <p:spPr>
          <a:xfrm>
            <a:off x="539850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43"/>
          <p:cNvSpPr/>
          <p:nvPr/>
        </p:nvSpPr>
        <p:spPr>
          <a:xfrm>
            <a:off x="548010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43"/>
          <p:cNvSpPr txBox="1"/>
          <p:nvPr/>
        </p:nvSpPr>
        <p:spPr>
          <a:xfrm>
            <a:off x="546030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b</a:t>
            </a:r>
            <a:endParaRPr b="1"/>
          </a:p>
        </p:txBody>
      </p:sp>
      <p:sp>
        <p:nvSpPr>
          <p:cNvPr id="734" name="Google Shape;734;p43"/>
          <p:cNvSpPr/>
          <p:nvPr/>
        </p:nvSpPr>
        <p:spPr>
          <a:xfrm>
            <a:off x="5817588" y="1623195"/>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735" name="Google Shape;735;p43"/>
          <p:cNvSpPr txBox="1"/>
          <p:nvPr/>
        </p:nvSpPr>
        <p:spPr>
          <a:xfrm>
            <a:off x="5878538" y="1140368"/>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a</a:t>
            </a:r>
            <a:endParaRPr b="1"/>
          </a:p>
        </p:txBody>
      </p:sp>
      <p:sp>
        <p:nvSpPr>
          <p:cNvPr id="736" name="Google Shape;736;p43"/>
          <p:cNvSpPr/>
          <p:nvPr/>
        </p:nvSpPr>
        <p:spPr>
          <a:xfrm>
            <a:off x="6245150" y="1623172"/>
            <a:ext cx="372000" cy="324600"/>
          </a:xfrm>
          <a:prstGeom prst="rect">
            <a:avLst/>
          </a:prstGeom>
          <a:solidFill>
            <a:srgbClr val="AFD7F7"/>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43"/>
          <p:cNvSpPr/>
          <p:nvPr/>
        </p:nvSpPr>
        <p:spPr>
          <a:xfrm>
            <a:off x="632675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3"/>
          <p:cNvSpPr txBox="1"/>
          <p:nvPr/>
        </p:nvSpPr>
        <p:spPr>
          <a:xfrm>
            <a:off x="630695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r</a:t>
            </a:r>
            <a:endParaRPr b="1"/>
          </a:p>
        </p:txBody>
      </p:sp>
      <p:sp>
        <p:nvSpPr>
          <p:cNvPr id="739" name="Google Shape;739;p43"/>
          <p:cNvSpPr/>
          <p:nvPr/>
        </p:nvSpPr>
        <p:spPr>
          <a:xfrm>
            <a:off x="5844850" y="2820510"/>
            <a:ext cx="372000" cy="324600"/>
          </a:xfrm>
          <a:prstGeom prst="rect">
            <a:avLst/>
          </a:prstGeom>
          <a:solidFill>
            <a:srgbClr val="FCE5CD"/>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980000"/>
                </a:solidFill>
              </a:rPr>
              <a:t>5</a:t>
            </a:r>
            <a:endParaRPr>
              <a:solidFill>
                <a:srgbClr val="980000"/>
              </a:solidFill>
            </a:endParaRPr>
          </a:p>
        </p:txBody>
      </p:sp>
      <p:sp>
        <p:nvSpPr>
          <p:cNvPr id="740" name="Google Shape;740;p43"/>
          <p:cNvSpPr/>
          <p:nvPr/>
        </p:nvSpPr>
        <p:spPr>
          <a:xfrm>
            <a:off x="6216850" y="2820510"/>
            <a:ext cx="372000" cy="324600"/>
          </a:xfrm>
          <a:prstGeom prst="rect">
            <a:avLst/>
          </a:prstGeom>
          <a:solidFill>
            <a:srgbClr val="FCE5CD"/>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980000"/>
                </a:solidFill>
              </a:rPr>
              <a:t>1</a:t>
            </a:r>
            <a:endParaRPr>
              <a:solidFill>
                <a:srgbClr val="980000"/>
              </a:solidFill>
            </a:endParaRPr>
          </a:p>
        </p:txBody>
      </p:sp>
      <p:cxnSp>
        <p:nvCxnSpPr>
          <p:cNvPr id="741" name="Google Shape;741;p43"/>
          <p:cNvCxnSpPr>
            <a:stCxn id="737" idx="2"/>
            <a:endCxn id="739" idx="0"/>
          </p:cNvCxnSpPr>
          <p:nvPr/>
        </p:nvCxnSpPr>
        <p:spPr>
          <a:xfrm rot="5400000">
            <a:off x="5683400" y="2072775"/>
            <a:ext cx="1095300" cy="400200"/>
          </a:xfrm>
          <a:prstGeom prst="bentConnector3">
            <a:avLst>
              <a:gd fmla="val 50002" name="adj1"/>
            </a:avLst>
          </a:prstGeom>
          <a:noFill/>
          <a:ln cap="flat" cmpd="sng" w="28575">
            <a:solidFill>
              <a:srgbClr val="980000"/>
            </a:solidFill>
            <a:prstDash val="solid"/>
            <a:round/>
            <a:headEnd len="med" w="med" type="oval"/>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747" name="Google Shape;747;p4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48" name="Google Shape;748;p44"/>
          <p:cNvSpPr txBox="1"/>
          <p:nvPr/>
        </p:nvSpPr>
        <p:spPr>
          <a:xfrm>
            <a:off x="429600" y="1241933"/>
            <a:ext cx="39894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latin typeface="Consolas"/>
                <a:ea typeface="Consolas"/>
                <a:cs typeface="Consolas"/>
                <a:sym typeface="Consolas"/>
              </a:rPr>
              <a:t>fn makeBox(a: i32) -&gt; Box&lt;(i32,i32)&gt;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r = Box::new( (a, 1) );</a:t>
            </a:r>
            <a:endParaRPr>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  return r;</a:t>
            </a:r>
            <a:endParaRPr b="1">
              <a:solidFill>
                <a:srgbClr val="980000"/>
              </a:solidFill>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b = makeBox(5);</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c  = b.0 + b.1;</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p:txBody>
      </p:sp>
      <p:sp>
        <p:nvSpPr>
          <p:cNvPr id="749" name="Google Shape;749;p44"/>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44"/>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751" name="Google Shape;751;p44"/>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44"/>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753" name="Google Shape;753;p44"/>
          <p:cNvSpPr/>
          <p:nvPr/>
        </p:nvSpPr>
        <p:spPr>
          <a:xfrm>
            <a:off x="636950" y="1791571"/>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4"/>
          <p:cNvSpPr/>
          <p:nvPr/>
        </p:nvSpPr>
        <p:spPr>
          <a:xfrm>
            <a:off x="539850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44"/>
          <p:cNvSpPr/>
          <p:nvPr/>
        </p:nvSpPr>
        <p:spPr>
          <a:xfrm>
            <a:off x="548010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4"/>
          <p:cNvSpPr txBox="1"/>
          <p:nvPr/>
        </p:nvSpPr>
        <p:spPr>
          <a:xfrm>
            <a:off x="546030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b</a:t>
            </a:r>
            <a:endParaRPr b="1"/>
          </a:p>
        </p:txBody>
      </p:sp>
      <p:sp>
        <p:nvSpPr>
          <p:cNvPr id="757" name="Google Shape;757;p44"/>
          <p:cNvSpPr/>
          <p:nvPr/>
        </p:nvSpPr>
        <p:spPr>
          <a:xfrm>
            <a:off x="5817588" y="1623195"/>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5</a:t>
            </a:r>
            <a:endParaRPr/>
          </a:p>
        </p:txBody>
      </p:sp>
      <p:sp>
        <p:nvSpPr>
          <p:cNvPr id="758" name="Google Shape;758;p44"/>
          <p:cNvSpPr txBox="1"/>
          <p:nvPr/>
        </p:nvSpPr>
        <p:spPr>
          <a:xfrm>
            <a:off x="5878538" y="1140368"/>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a</a:t>
            </a:r>
            <a:endParaRPr b="1"/>
          </a:p>
        </p:txBody>
      </p:sp>
      <p:sp>
        <p:nvSpPr>
          <p:cNvPr id="759" name="Google Shape;759;p44"/>
          <p:cNvSpPr/>
          <p:nvPr/>
        </p:nvSpPr>
        <p:spPr>
          <a:xfrm>
            <a:off x="6245150" y="1623172"/>
            <a:ext cx="372000" cy="324600"/>
          </a:xfrm>
          <a:prstGeom prst="rect">
            <a:avLst/>
          </a:prstGeom>
          <a:solidFill>
            <a:srgbClr val="AFD7F7"/>
          </a:soli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44"/>
          <p:cNvSpPr/>
          <p:nvPr/>
        </p:nvSpPr>
        <p:spPr>
          <a:xfrm>
            <a:off x="632675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4"/>
          <p:cNvSpPr txBox="1"/>
          <p:nvPr/>
        </p:nvSpPr>
        <p:spPr>
          <a:xfrm>
            <a:off x="630695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r</a:t>
            </a:r>
            <a:endParaRPr b="1"/>
          </a:p>
        </p:txBody>
      </p:sp>
      <p:sp>
        <p:nvSpPr>
          <p:cNvPr id="762" name="Google Shape;762;p44"/>
          <p:cNvSpPr/>
          <p:nvPr/>
        </p:nvSpPr>
        <p:spPr>
          <a:xfrm>
            <a:off x="5844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5</a:t>
            </a:r>
            <a:endParaRPr/>
          </a:p>
        </p:txBody>
      </p:sp>
      <p:sp>
        <p:nvSpPr>
          <p:cNvPr id="763" name="Google Shape;763;p44"/>
          <p:cNvSpPr/>
          <p:nvPr/>
        </p:nvSpPr>
        <p:spPr>
          <a:xfrm>
            <a:off x="6216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1</a:t>
            </a:r>
            <a:endParaRPr/>
          </a:p>
        </p:txBody>
      </p:sp>
      <p:cxnSp>
        <p:nvCxnSpPr>
          <p:cNvPr id="764" name="Google Shape;764;p44"/>
          <p:cNvCxnSpPr>
            <a:stCxn id="760" idx="2"/>
            <a:endCxn id="762" idx="0"/>
          </p:cNvCxnSpPr>
          <p:nvPr/>
        </p:nvCxnSpPr>
        <p:spPr>
          <a:xfrm rot="5400000">
            <a:off x="5683400" y="2072775"/>
            <a:ext cx="1095300" cy="400200"/>
          </a:xfrm>
          <a:prstGeom prst="bentConnector3">
            <a:avLst>
              <a:gd fmla="val 50002" name="adj1"/>
            </a:avLst>
          </a:prstGeom>
          <a:noFill/>
          <a:ln cap="flat" cmpd="sng" w="28575">
            <a:solidFill>
              <a:srgbClr val="999999"/>
            </a:solidFill>
            <a:prstDash val="dash"/>
            <a:round/>
            <a:headEnd len="med" w="med" type="oval"/>
            <a:tailEnd len="med" w="med" type="triangle"/>
          </a:ln>
        </p:spPr>
      </p:cxnSp>
      <p:cxnSp>
        <p:nvCxnSpPr>
          <p:cNvPr id="765" name="Google Shape;765;p44"/>
          <p:cNvCxnSpPr>
            <a:stCxn id="755" idx="2"/>
            <a:endCxn id="762" idx="0"/>
          </p:cNvCxnSpPr>
          <p:nvPr/>
        </p:nvCxnSpPr>
        <p:spPr>
          <a:xfrm flipH="1" rot="-5400000">
            <a:off x="5260050" y="2049675"/>
            <a:ext cx="1095300" cy="446400"/>
          </a:xfrm>
          <a:prstGeom prst="bentConnector3">
            <a:avLst>
              <a:gd fmla="val 50002" name="adj1"/>
            </a:avLst>
          </a:prstGeom>
          <a:noFill/>
          <a:ln cap="flat" cmpd="sng" w="28575">
            <a:solidFill>
              <a:srgbClr val="595959"/>
            </a:solidFill>
            <a:prstDash val="solid"/>
            <a:round/>
            <a:headEnd len="med" w="med" type="oval"/>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771" name="Google Shape;771;p4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72" name="Google Shape;772;p45"/>
          <p:cNvSpPr txBox="1"/>
          <p:nvPr/>
        </p:nvSpPr>
        <p:spPr>
          <a:xfrm>
            <a:off x="429600" y="1241933"/>
            <a:ext cx="39894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latin typeface="Consolas"/>
                <a:ea typeface="Consolas"/>
                <a:cs typeface="Consolas"/>
                <a:sym typeface="Consolas"/>
              </a:rPr>
              <a:t>fn makeBox(a: i32) -&gt; Box&lt;(i32,i32)&gt; {</a:t>
            </a:r>
            <a:endParaRPr>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let r = Box::new( (a, 1) );</a:t>
            </a:r>
            <a:endParaRPr b="1">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return r;</a:t>
            </a:r>
            <a:endParaRPr>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a:t>
            </a:r>
            <a:endParaRPr b="1">
              <a:solidFill>
                <a:srgbClr val="980000"/>
              </a:solidFill>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b = makeBox(5);</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c  = b.0 + b.1;</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p:txBody>
      </p:sp>
      <p:sp>
        <p:nvSpPr>
          <p:cNvPr id="773" name="Google Shape;773;p45"/>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5"/>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775" name="Google Shape;775;p45"/>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45"/>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777" name="Google Shape;777;p45"/>
          <p:cNvSpPr/>
          <p:nvPr/>
        </p:nvSpPr>
        <p:spPr>
          <a:xfrm flipH="1">
            <a:off x="5878600" y="1685295"/>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45"/>
          <p:cNvSpPr/>
          <p:nvPr/>
        </p:nvSpPr>
        <p:spPr>
          <a:xfrm>
            <a:off x="487150" y="1990867"/>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45"/>
          <p:cNvSpPr/>
          <p:nvPr/>
        </p:nvSpPr>
        <p:spPr>
          <a:xfrm>
            <a:off x="539850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5"/>
          <p:cNvSpPr/>
          <p:nvPr/>
        </p:nvSpPr>
        <p:spPr>
          <a:xfrm>
            <a:off x="548010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45"/>
          <p:cNvSpPr txBox="1"/>
          <p:nvPr/>
        </p:nvSpPr>
        <p:spPr>
          <a:xfrm>
            <a:off x="546030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b</a:t>
            </a:r>
            <a:endParaRPr b="1"/>
          </a:p>
        </p:txBody>
      </p:sp>
      <p:sp>
        <p:nvSpPr>
          <p:cNvPr id="782" name="Google Shape;782;p45"/>
          <p:cNvSpPr/>
          <p:nvPr/>
        </p:nvSpPr>
        <p:spPr>
          <a:xfrm>
            <a:off x="5844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5</a:t>
            </a:r>
            <a:endParaRPr/>
          </a:p>
        </p:txBody>
      </p:sp>
      <p:sp>
        <p:nvSpPr>
          <p:cNvPr id="783" name="Google Shape;783;p45"/>
          <p:cNvSpPr/>
          <p:nvPr/>
        </p:nvSpPr>
        <p:spPr>
          <a:xfrm>
            <a:off x="6216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1</a:t>
            </a:r>
            <a:endParaRPr/>
          </a:p>
        </p:txBody>
      </p:sp>
      <p:cxnSp>
        <p:nvCxnSpPr>
          <p:cNvPr id="784" name="Google Shape;784;p45"/>
          <p:cNvCxnSpPr>
            <a:stCxn id="780" idx="2"/>
            <a:endCxn id="782" idx="0"/>
          </p:cNvCxnSpPr>
          <p:nvPr/>
        </p:nvCxnSpPr>
        <p:spPr>
          <a:xfrm flipH="1" rot="-5400000">
            <a:off x="5260050" y="2049675"/>
            <a:ext cx="1095300" cy="446400"/>
          </a:xfrm>
          <a:prstGeom prst="bentConnector3">
            <a:avLst>
              <a:gd fmla="val 50002" name="adj1"/>
            </a:avLst>
          </a:prstGeom>
          <a:noFill/>
          <a:ln cap="flat" cmpd="sng" w="28575">
            <a:solidFill>
              <a:srgbClr val="595959"/>
            </a:solidFill>
            <a:prstDash val="solid"/>
            <a:round/>
            <a:headEnd len="med" w="med" type="oval"/>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790" name="Google Shape;790;p4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91" name="Google Shape;791;p46"/>
          <p:cNvSpPr txBox="1"/>
          <p:nvPr/>
        </p:nvSpPr>
        <p:spPr>
          <a:xfrm>
            <a:off x="429600" y="1241933"/>
            <a:ext cx="39894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latin typeface="Consolas"/>
                <a:ea typeface="Consolas"/>
                <a:cs typeface="Consolas"/>
                <a:sym typeface="Consolas"/>
              </a:rPr>
              <a:t>fn makeBox(a: i32) -&gt; Box&lt;(i32,i32)&gt; {</a:t>
            </a:r>
            <a:endParaRPr>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let r = Box::new( (a, 1) );</a:t>
            </a:r>
            <a:endParaRPr b="1">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return r;</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b = makeBox(5);</a:t>
            </a:r>
            <a:endParaRPr>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  let c  = b.0 + b.1;</a:t>
            </a:r>
            <a:endParaRPr b="1">
              <a:solidFill>
                <a:srgbClr val="980000"/>
              </a:solidFill>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p:txBody>
      </p:sp>
      <p:sp>
        <p:nvSpPr>
          <p:cNvPr id="792" name="Google Shape;792;p46"/>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46"/>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794" name="Google Shape;794;p46"/>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46"/>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796" name="Google Shape;796;p46"/>
          <p:cNvSpPr/>
          <p:nvPr/>
        </p:nvSpPr>
        <p:spPr>
          <a:xfrm>
            <a:off x="6236700" y="1685295"/>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46"/>
          <p:cNvSpPr/>
          <p:nvPr/>
        </p:nvSpPr>
        <p:spPr>
          <a:xfrm>
            <a:off x="510725" y="2847775"/>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46"/>
          <p:cNvSpPr/>
          <p:nvPr/>
        </p:nvSpPr>
        <p:spPr>
          <a:xfrm>
            <a:off x="5398500" y="1623172"/>
            <a:ext cx="372000" cy="324600"/>
          </a:xfrm>
          <a:prstGeom prst="rect">
            <a:avLst/>
          </a:prstGeom>
          <a:solidFill>
            <a:srgbClr val="AFD7F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46"/>
          <p:cNvSpPr/>
          <p:nvPr/>
        </p:nvSpPr>
        <p:spPr>
          <a:xfrm>
            <a:off x="5480100" y="1664325"/>
            <a:ext cx="208800" cy="6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6"/>
          <p:cNvSpPr txBox="1"/>
          <p:nvPr/>
        </p:nvSpPr>
        <p:spPr>
          <a:xfrm>
            <a:off x="5460300" y="1140356"/>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b</a:t>
            </a:r>
            <a:endParaRPr b="1"/>
          </a:p>
        </p:txBody>
      </p:sp>
      <p:sp>
        <p:nvSpPr>
          <p:cNvPr id="801" name="Google Shape;801;p46"/>
          <p:cNvSpPr/>
          <p:nvPr/>
        </p:nvSpPr>
        <p:spPr>
          <a:xfrm>
            <a:off x="5844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5</a:t>
            </a:r>
            <a:endParaRPr/>
          </a:p>
        </p:txBody>
      </p:sp>
      <p:sp>
        <p:nvSpPr>
          <p:cNvPr id="802" name="Google Shape;802;p46"/>
          <p:cNvSpPr/>
          <p:nvPr/>
        </p:nvSpPr>
        <p:spPr>
          <a:xfrm>
            <a:off x="6216850" y="2820510"/>
            <a:ext cx="372000" cy="324600"/>
          </a:xfrm>
          <a:prstGeom prst="rect">
            <a:avLst/>
          </a:prstGeom>
          <a:solidFill>
            <a:srgbClr val="FCE5C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it"/>
              <a:t>1</a:t>
            </a:r>
            <a:endParaRPr/>
          </a:p>
        </p:txBody>
      </p:sp>
      <p:cxnSp>
        <p:nvCxnSpPr>
          <p:cNvPr id="803" name="Google Shape;803;p46"/>
          <p:cNvCxnSpPr>
            <a:stCxn id="799" idx="2"/>
            <a:endCxn id="801" idx="0"/>
          </p:cNvCxnSpPr>
          <p:nvPr/>
        </p:nvCxnSpPr>
        <p:spPr>
          <a:xfrm flipH="1" rot="-5400000">
            <a:off x="5260050" y="2049675"/>
            <a:ext cx="1095300" cy="446400"/>
          </a:xfrm>
          <a:prstGeom prst="bentConnector3">
            <a:avLst>
              <a:gd fmla="val 50002" name="adj1"/>
            </a:avLst>
          </a:prstGeom>
          <a:noFill/>
          <a:ln cap="flat" cmpd="sng" w="28575">
            <a:solidFill>
              <a:srgbClr val="595959"/>
            </a:solidFill>
            <a:prstDash val="solid"/>
            <a:round/>
            <a:headEnd len="med" w="med" type="oval"/>
            <a:tailEnd len="med" w="med" type="triangle"/>
          </a:ln>
        </p:spPr>
      </p:cxnSp>
      <p:sp>
        <p:nvSpPr>
          <p:cNvPr id="804" name="Google Shape;804;p46"/>
          <p:cNvSpPr/>
          <p:nvPr/>
        </p:nvSpPr>
        <p:spPr>
          <a:xfrm>
            <a:off x="5817588" y="1623195"/>
            <a:ext cx="372000" cy="324600"/>
          </a:xfrm>
          <a:prstGeom prst="rect">
            <a:avLst/>
          </a:prstGeom>
          <a:solidFill>
            <a:srgbClr val="AFD7F7"/>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980000"/>
                </a:solidFill>
              </a:rPr>
              <a:t>6</a:t>
            </a:r>
            <a:endParaRPr>
              <a:solidFill>
                <a:srgbClr val="980000"/>
              </a:solidFill>
            </a:endParaRPr>
          </a:p>
        </p:txBody>
      </p:sp>
      <p:sp>
        <p:nvSpPr>
          <p:cNvPr id="805" name="Google Shape;805;p46"/>
          <p:cNvSpPr txBox="1"/>
          <p:nvPr/>
        </p:nvSpPr>
        <p:spPr>
          <a:xfrm>
            <a:off x="5878538" y="1140368"/>
            <a:ext cx="24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t>c</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Box&lt;T&gt;</a:t>
            </a:r>
            <a:endParaRPr/>
          </a:p>
        </p:txBody>
      </p:sp>
      <p:sp>
        <p:nvSpPr>
          <p:cNvPr id="811" name="Google Shape;811;p4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12" name="Google Shape;812;p47"/>
          <p:cNvSpPr txBox="1"/>
          <p:nvPr/>
        </p:nvSpPr>
        <p:spPr>
          <a:xfrm>
            <a:off x="429600" y="1241933"/>
            <a:ext cx="39894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latin typeface="Consolas"/>
                <a:ea typeface="Consolas"/>
                <a:cs typeface="Consolas"/>
                <a:sym typeface="Consolas"/>
              </a:rPr>
              <a:t>fn makeBox(a: i32) -&gt; Box&lt;(i32,i32)&gt; {</a:t>
            </a:r>
            <a:endParaRPr>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let r = Box::new( (a, 1) );</a:t>
            </a:r>
            <a:endParaRPr b="1">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return r;</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b = makeBox(5);</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c  = b.0 + b.1;</a:t>
            </a:r>
            <a:endParaRPr>
              <a:latin typeface="Consolas"/>
              <a:ea typeface="Consolas"/>
              <a:cs typeface="Consolas"/>
              <a:sym typeface="Consolas"/>
            </a:endParaRPr>
          </a:p>
          <a:p>
            <a:pPr indent="0" lvl="0" marL="0" rtl="0" algn="l">
              <a:spcBef>
                <a:spcPts val="0"/>
              </a:spcBef>
              <a:spcAft>
                <a:spcPts val="0"/>
              </a:spcAft>
              <a:buNone/>
            </a:pPr>
            <a:r>
              <a:rPr b="1" lang="it">
                <a:solidFill>
                  <a:srgbClr val="980000"/>
                </a:solidFill>
                <a:latin typeface="Consolas"/>
                <a:ea typeface="Consolas"/>
                <a:cs typeface="Consolas"/>
                <a:sym typeface="Consolas"/>
              </a:rPr>
              <a:t>}</a:t>
            </a:r>
            <a:endParaRPr b="1">
              <a:solidFill>
                <a:srgbClr val="980000"/>
              </a:solidFill>
              <a:latin typeface="Consolas"/>
              <a:ea typeface="Consolas"/>
              <a:cs typeface="Consolas"/>
              <a:sym typeface="Consolas"/>
            </a:endParaRPr>
          </a:p>
        </p:txBody>
      </p:sp>
      <p:sp>
        <p:nvSpPr>
          <p:cNvPr id="813" name="Google Shape;813;p47"/>
          <p:cNvSpPr/>
          <p:nvPr/>
        </p:nvSpPr>
        <p:spPr>
          <a:xfrm>
            <a:off x="5264100" y="1623195"/>
            <a:ext cx="3568200" cy="324600"/>
          </a:xfrm>
          <a:prstGeom prst="rect">
            <a:avLst/>
          </a:prstGeom>
          <a:solidFill>
            <a:srgbClr val="3C78D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47"/>
          <p:cNvSpPr txBox="1"/>
          <p:nvPr/>
        </p:nvSpPr>
        <p:spPr>
          <a:xfrm>
            <a:off x="4486325" y="1605375"/>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Stack</a:t>
            </a:r>
            <a:endParaRPr/>
          </a:p>
        </p:txBody>
      </p:sp>
      <p:sp>
        <p:nvSpPr>
          <p:cNvPr id="815" name="Google Shape;815;p47"/>
          <p:cNvSpPr/>
          <p:nvPr/>
        </p:nvSpPr>
        <p:spPr>
          <a:xfrm>
            <a:off x="5264100" y="2820510"/>
            <a:ext cx="3568200" cy="324600"/>
          </a:xfrm>
          <a:prstGeom prst="rect">
            <a:avLst/>
          </a:prstGeom>
          <a:solidFill>
            <a:srgbClr val="FF99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47"/>
          <p:cNvSpPr txBox="1"/>
          <p:nvPr/>
        </p:nvSpPr>
        <p:spPr>
          <a:xfrm>
            <a:off x="4486325" y="2784870"/>
            <a:ext cx="710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it"/>
              <a:t>Heap</a:t>
            </a:r>
            <a:endParaRPr/>
          </a:p>
        </p:txBody>
      </p:sp>
      <p:sp>
        <p:nvSpPr>
          <p:cNvPr id="817" name="Google Shape;817;p47"/>
          <p:cNvSpPr/>
          <p:nvPr/>
        </p:nvSpPr>
        <p:spPr>
          <a:xfrm flipH="1">
            <a:off x="5341150" y="1685295"/>
            <a:ext cx="304500" cy="200400"/>
          </a:xfrm>
          <a:prstGeom prst="rightArrow">
            <a:avLst>
              <a:gd fmla="val 50000" name="adj1"/>
              <a:gd fmla="val 50000" name="adj2"/>
            </a:avLst>
          </a:prstGeom>
          <a:solidFill>
            <a:srgbClr val="EEEE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47"/>
          <p:cNvSpPr/>
          <p:nvPr/>
        </p:nvSpPr>
        <p:spPr>
          <a:xfrm>
            <a:off x="459900" y="3060822"/>
            <a:ext cx="3378300" cy="200400"/>
          </a:xfrm>
          <a:prstGeom prst="roundRect">
            <a:avLst>
              <a:gd fmla="val 16667" name="adj"/>
            </a:avLst>
          </a:prstGeom>
          <a:solidFill>
            <a:srgbClr val="EEFF41">
              <a:alpha val="19130"/>
            </a:srgbClr>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a:t>
            </a:r>
            <a:endParaRPr/>
          </a:p>
        </p:txBody>
      </p:sp>
      <p:sp>
        <p:nvSpPr>
          <p:cNvPr id="824" name="Google Shape;824;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Per risolvere i problemi di accesso, Rust introduce diverse forme di puntatori, volte a rendere espliciti responsabilità e diritti di chi le maneggia</a:t>
            </a:r>
            <a:endParaRPr/>
          </a:p>
          <a:p>
            <a:pPr indent="-317500" lvl="1" marL="914400" rtl="0" algn="l">
              <a:spcBef>
                <a:spcPts val="0"/>
              </a:spcBef>
              <a:spcAft>
                <a:spcPts val="0"/>
              </a:spcAft>
              <a:buSzPts val="1400"/>
              <a:buChar char="○"/>
            </a:pPr>
            <a:r>
              <a:rPr lang="it"/>
              <a:t>Il borrow checker si occupa di garantire che il codice complessivamente scritto sia conforme a tali regole e impedisce la compilazione in caso contrario</a:t>
            </a:r>
            <a:endParaRPr/>
          </a:p>
          <a:p>
            <a:pPr indent="-342900" lvl="0" marL="457200" rtl="0" algn="l">
              <a:spcBef>
                <a:spcPts val="0"/>
              </a:spcBef>
              <a:spcAft>
                <a:spcPts val="0"/>
              </a:spcAft>
              <a:buSzPts val="1800"/>
              <a:buChar char="●"/>
            </a:pPr>
            <a:r>
              <a:rPr lang="it"/>
              <a:t>Un </a:t>
            </a:r>
            <a:r>
              <a:rPr b="1" lang="it">
                <a:solidFill>
                  <a:srgbClr val="0B5394"/>
                </a:solidFill>
              </a:rPr>
              <a:t>riferimento</a:t>
            </a:r>
            <a:r>
              <a:rPr lang="it"/>
              <a:t> è un puntatore in sola lettura ad un blocco di memoria </a:t>
            </a:r>
            <a:r>
              <a:rPr b="1" lang="it">
                <a:solidFill>
                  <a:srgbClr val="0B5394"/>
                </a:solidFill>
              </a:rPr>
              <a:t>posseduto da un’altra variabile</a:t>
            </a:r>
            <a:endParaRPr b="1">
              <a:solidFill>
                <a:srgbClr val="0B5394"/>
              </a:solidFill>
            </a:endParaRPr>
          </a:p>
          <a:p>
            <a:pPr indent="-317500" lvl="1" marL="914400" rtl="0" algn="l">
              <a:spcBef>
                <a:spcPts val="0"/>
              </a:spcBef>
              <a:spcAft>
                <a:spcPts val="0"/>
              </a:spcAft>
              <a:buSzPts val="1400"/>
              <a:buChar char="○"/>
            </a:pPr>
            <a:r>
              <a:rPr lang="it"/>
              <a:t>Permette di accedere ad un valore senza trasferirne la proprietà</a:t>
            </a:r>
            <a:endParaRPr/>
          </a:p>
          <a:p>
            <a:pPr indent="-317500" lvl="1" marL="914400" rtl="0" algn="l">
              <a:spcBef>
                <a:spcPts val="0"/>
              </a:spcBef>
              <a:spcAft>
                <a:spcPts val="0"/>
              </a:spcAft>
              <a:buSzPts val="1400"/>
              <a:buChar char="○"/>
            </a:pPr>
            <a:r>
              <a:rPr lang="it"/>
              <a:t>Il riferimento può esistere solo mentre esiste la variabile che possiede il dato a cui punta</a:t>
            </a:r>
            <a:endParaRPr/>
          </a:p>
          <a:p>
            <a:pPr indent="-317500" lvl="1" marL="914400" rtl="0" algn="l">
              <a:spcBef>
                <a:spcPts val="0"/>
              </a:spcBef>
              <a:spcAft>
                <a:spcPts val="0"/>
              </a:spcAft>
              <a:buSzPts val="1400"/>
              <a:buChar char="○"/>
            </a:pPr>
            <a:r>
              <a:rPr lang="it"/>
              <a:t>Non serve usare l'operatore </a:t>
            </a:r>
            <a:r>
              <a:rPr b="1" lang="it">
                <a:solidFill>
                  <a:srgbClr val="0B5394"/>
                </a:solidFill>
                <a:latin typeface="Consolas"/>
                <a:ea typeface="Consolas"/>
                <a:cs typeface="Consolas"/>
                <a:sym typeface="Consolas"/>
              </a:rPr>
              <a:t>*</a:t>
            </a:r>
            <a:r>
              <a:rPr lang="it"/>
              <a:t>, quando si accede al valore tramite l’operatore </a:t>
            </a:r>
            <a:r>
              <a:rPr b="1" lang="it">
                <a:solidFill>
                  <a:srgbClr val="0B5394"/>
                </a:solidFill>
                <a:latin typeface="Consolas"/>
                <a:ea typeface="Consolas"/>
                <a:cs typeface="Consolas"/>
                <a:sym typeface="Consolas"/>
              </a:rPr>
              <a:t>.</a:t>
            </a:r>
            <a:endParaRPr/>
          </a:p>
        </p:txBody>
      </p:sp>
      <p:sp>
        <p:nvSpPr>
          <p:cNvPr id="825" name="Google Shape;825;p4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a:t>
            </a:r>
            <a:endParaRPr/>
          </a:p>
        </p:txBody>
      </p:sp>
      <p:sp>
        <p:nvSpPr>
          <p:cNvPr id="831" name="Google Shape;831;p4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32" name="Google Shape;832;p49"/>
          <p:cNvSpPr txBox="1"/>
          <p:nvPr/>
        </p:nvSpPr>
        <p:spPr>
          <a:xfrm>
            <a:off x="311700" y="1384600"/>
            <a:ext cx="8520600" cy="25551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let mut point = (1.0, 0.0);  //point possiede il valore</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reference = &amp;point;     //reference PUÒ accedere al valore in lettura</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//finché ESISTE point</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//point NON PU</a:t>
            </a:r>
            <a:r>
              <a:rPr b="1" lang="it">
                <a:solidFill>
                  <a:schemeClr val="dk1"/>
                </a:solidFill>
                <a:latin typeface="Consolas"/>
                <a:ea typeface="Consolas"/>
                <a:cs typeface="Consolas"/>
                <a:sym typeface="Consolas"/>
              </a:rPr>
              <a:t>Ò</a:t>
            </a:r>
            <a:r>
              <a:rPr b="1" lang="it">
                <a:latin typeface="Consolas"/>
                <a:ea typeface="Consolas"/>
                <a:cs typeface="Consolas"/>
                <a:sym typeface="Consolas"/>
              </a:rPr>
              <a:t> essere modificato finché ESISTE reference</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println!(“({}, {})”, reference.0, reference.1);</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point = (2.0, 3.0);   		//tentativi di accesso a reference oltre questa linea</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//generano errore</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e prestiti</a:t>
            </a:r>
            <a:endParaRPr/>
          </a:p>
        </p:txBody>
      </p:sp>
      <p:sp>
        <p:nvSpPr>
          <p:cNvPr id="838" name="Google Shape;838;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Un riferimento </a:t>
            </a:r>
            <a:r>
              <a:rPr b="1" lang="it">
                <a:solidFill>
                  <a:srgbClr val="0B5394"/>
                </a:solidFill>
              </a:rPr>
              <a:t>prende a prestito</a:t>
            </a:r>
            <a:r>
              <a:rPr lang="it"/>
              <a:t> (borrows) l’indirizzo di memoria in cui esiste il valore</a:t>
            </a:r>
            <a:endParaRPr/>
          </a:p>
          <a:p>
            <a:pPr indent="-317500" lvl="1" marL="914400" rtl="0" algn="l">
              <a:spcBef>
                <a:spcPts val="0"/>
              </a:spcBef>
              <a:spcAft>
                <a:spcPts val="0"/>
              </a:spcAft>
              <a:buSzPts val="1400"/>
              <a:buChar char="○"/>
            </a:pPr>
            <a:r>
              <a:rPr lang="it"/>
              <a:t>Fino a che il riferimento è accessibile, non è possibile modificare il valore, né tramite il riferimento (che ha accesso in sola lettura), né tramite la variabile che possiede il valore</a:t>
            </a:r>
            <a:endParaRPr/>
          </a:p>
          <a:p>
            <a:pPr indent="-342900" lvl="0" marL="457200" rtl="0" algn="l">
              <a:spcBef>
                <a:spcPts val="0"/>
              </a:spcBef>
              <a:spcAft>
                <a:spcPts val="0"/>
              </a:spcAft>
              <a:buSzPts val="1800"/>
              <a:buChar char="●"/>
            </a:pPr>
            <a:r>
              <a:rPr lang="it"/>
              <a:t>E’ possibile creare ulteriori riferimenti a partire dal dato originale o da altri riferimenti ad esso</a:t>
            </a:r>
            <a:endParaRPr/>
          </a:p>
          <a:p>
            <a:pPr indent="-317500" lvl="1" marL="914400" rtl="0" algn="l">
              <a:spcBef>
                <a:spcPts val="0"/>
              </a:spcBef>
              <a:spcAft>
                <a:spcPts val="0"/>
              </a:spcAft>
              <a:buSzPts val="1400"/>
              <a:buChar char="○"/>
            </a:pPr>
            <a:r>
              <a:rPr lang="it"/>
              <a:t>I riferimenti sono </a:t>
            </a:r>
            <a:r>
              <a:rPr b="1" lang="it">
                <a:solidFill>
                  <a:srgbClr val="0B5394"/>
                </a:solidFill>
              </a:rPr>
              <a:t>copiabili</a:t>
            </a:r>
            <a:r>
              <a:rPr lang="it"/>
              <a:t>: viene duplicato il puntatore</a:t>
            </a:r>
            <a:endParaRPr/>
          </a:p>
          <a:p>
            <a:pPr indent="-317500" lvl="1" marL="914400" rtl="0" algn="l">
              <a:spcBef>
                <a:spcPts val="0"/>
              </a:spcBef>
              <a:spcAft>
                <a:spcPts val="0"/>
              </a:spcAft>
              <a:buSzPts val="1400"/>
              <a:buChar char="○"/>
            </a:pPr>
            <a:r>
              <a:rPr lang="it"/>
              <a:t>Il compilatore (attraverso il borrow checker) garantisce che un riferimento punti SEMPRE ad un dato valido</a:t>
            </a:r>
            <a:endParaRPr/>
          </a:p>
          <a:p>
            <a:pPr indent="-317500" lvl="1" marL="914400" rtl="0" algn="l">
              <a:spcBef>
                <a:spcPts val="0"/>
              </a:spcBef>
              <a:spcAft>
                <a:spcPts val="0"/>
              </a:spcAft>
              <a:buSzPts val="1400"/>
              <a:buChar char="○"/>
            </a:pPr>
            <a:r>
              <a:rPr lang="it"/>
              <a:t>Finché esiste almeno un riferimento, il dato originale non potrà essere né modificato né distrutto</a:t>
            </a:r>
            <a:endParaRPr/>
          </a:p>
        </p:txBody>
      </p:sp>
      <p:sp>
        <p:nvSpPr>
          <p:cNvPr id="839" name="Google Shape;839;p5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mutabili</a:t>
            </a:r>
            <a:endParaRPr/>
          </a:p>
        </p:txBody>
      </p:sp>
      <p:sp>
        <p:nvSpPr>
          <p:cNvPr id="845" name="Google Shape;845;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A partire da una variabile che possiede un valore è possibile estrarre UN SOLO </a:t>
            </a:r>
            <a:r>
              <a:rPr b="1" lang="it">
                <a:solidFill>
                  <a:srgbClr val="0B5394"/>
                </a:solidFill>
              </a:rPr>
              <a:t>riferimento mutabile</a:t>
            </a:r>
            <a:r>
              <a:rPr lang="it"/>
              <a:t> per volta</a:t>
            </a:r>
            <a:endParaRPr/>
          </a:p>
          <a:p>
            <a:pPr indent="-317500" lvl="1" marL="914400" rtl="0" algn="l">
              <a:spcBef>
                <a:spcPts val="0"/>
              </a:spcBef>
              <a:spcAft>
                <a:spcPts val="0"/>
              </a:spcAft>
              <a:buSzPts val="1400"/>
              <a:buChar char="○"/>
            </a:pPr>
            <a:r>
              <a:rPr lang="it"/>
              <a:t>Si crea un riferimento mutabile con la sintassi </a:t>
            </a:r>
            <a:r>
              <a:rPr b="1" lang="it">
                <a:solidFill>
                  <a:srgbClr val="0B5394"/>
                </a:solidFill>
                <a:latin typeface="Consolas"/>
                <a:ea typeface="Consolas"/>
                <a:cs typeface="Consolas"/>
                <a:sym typeface="Consolas"/>
              </a:rPr>
              <a:t>let r = &amp;mut v;</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Char char="●"/>
            </a:pPr>
            <a:r>
              <a:rPr lang="it"/>
              <a:t>Mentre esiste un riferimento mutabile...</a:t>
            </a:r>
            <a:endParaRPr/>
          </a:p>
          <a:p>
            <a:pPr indent="-317500" lvl="1" marL="914400" rtl="0" algn="l">
              <a:spcBef>
                <a:spcPts val="0"/>
              </a:spcBef>
              <a:spcAft>
                <a:spcPts val="0"/>
              </a:spcAft>
              <a:buSzPts val="1400"/>
              <a:buChar char="○"/>
            </a:pPr>
            <a:r>
              <a:rPr lang="it"/>
              <a:t>Non possono esistere riferimenti semplici (in sola lettura)</a:t>
            </a:r>
            <a:endParaRPr/>
          </a:p>
          <a:p>
            <a:pPr indent="-317500" lvl="1" marL="914400" rtl="0" algn="l">
              <a:spcBef>
                <a:spcPts val="0"/>
              </a:spcBef>
              <a:spcAft>
                <a:spcPts val="0"/>
              </a:spcAft>
              <a:buSzPts val="1400"/>
              <a:buChar char="○"/>
            </a:pPr>
            <a:r>
              <a:rPr lang="it"/>
              <a:t>Non è possibile modificare né muovere la variabile che possiede il valore</a:t>
            </a:r>
            <a:endParaRPr/>
          </a:p>
          <a:p>
            <a:pPr indent="-342900" lvl="0" marL="457200" rtl="0" algn="l">
              <a:spcBef>
                <a:spcPts val="0"/>
              </a:spcBef>
              <a:spcAft>
                <a:spcPts val="0"/>
              </a:spcAft>
              <a:buSzPts val="1800"/>
              <a:buChar char="●"/>
            </a:pPr>
            <a:r>
              <a:rPr lang="it"/>
              <a:t>E’ possibile creare un riferimento mutabile </a:t>
            </a:r>
            <a:r>
              <a:rPr b="1" lang="it">
                <a:solidFill>
                  <a:srgbClr val="0B5394"/>
                </a:solidFill>
              </a:rPr>
              <a:t>solo se</a:t>
            </a:r>
            <a:r>
              <a:rPr lang="it"/>
              <a:t> la variabile che possiede il dato è dichiarata mutabile a sua volta</a:t>
            </a:r>
            <a:endParaRPr/>
          </a:p>
        </p:txBody>
      </p:sp>
      <p:sp>
        <p:nvSpPr>
          <p:cNvPr id="846" name="Google Shape;846;p5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52"/>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a:t>
            </a:r>
            <a:endParaRPr/>
          </a:p>
        </p:txBody>
      </p:sp>
      <p:sp>
        <p:nvSpPr>
          <p:cNvPr id="852" name="Google Shape;852;p52"/>
          <p:cNvSpPr txBox="1"/>
          <p:nvPr>
            <p:ph idx="12" type="sldNum"/>
          </p:nvPr>
        </p:nvSpPr>
        <p:spPr>
          <a:xfrm>
            <a:off x="8472458" y="4786402"/>
            <a:ext cx="548700" cy="3543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853" name="Google Shape;853;p52"/>
          <p:cNvPicPr preferRelativeResize="0"/>
          <p:nvPr/>
        </p:nvPicPr>
        <p:blipFill>
          <a:blip r:embed="rId3">
            <a:alphaModFix/>
          </a:blip>
          <a:stretch>
            <a:fillRect/>
          </a:stretch>
        </p:blipFill>
        <p:spPr>
          <a:xfrm>
            <a:off x="488175" y="892842"/>
            <a:ext cx="7350893" cy="377743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53"/>
          <p:cNvSpPr/>
          <p:nvPr/>
        </p:nvSpPr>
        <p:spPr>
          <a:xfrm>
            <a:off x="4937300" y="3873195"/>
            <a:ext cx="3621900" cy="3249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9" name="Google Shape;859;p53"/>
          <p:cNvGrpSpPr/>
          <p:nvPr/>
        </p:nvGrpSpPr>
        <p:grpSpPr>
          <a:xfrm>
            <a:off x="4944625" y="3873195"/>
            <a:ext cx="3607250" cy="324810"/>
            <a:chOff x="3420625" y="4303550"/>
            <a:chExt cx="3607250" cy="360900"/>
          </a:xfrm>
        </p:grpSpPr>
        <p:sp>
          <p:nvSpPr>
            <p:cNvPr id="860" name="Google Shape;860;p53"/>
            <p:cNvSpPr/>
            <p:nvPr/>
          </p:nvSpPr>
          <p:spPr>
            <a:xfrm>
              <a:off x="3420625" y="4303550"/>
              <a:ext cx="1811700" cy="36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1" name="Google Shape;861;p53"/>
            <p:cNvSpPr/>
            <p:nvPr/>
          </p:nvSpPr>
          <p:spPr>
            <a:xfrm>
              <a:off x="5216175" y="4303550"/>
              <a:ext cx="1811700" cy="36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3</a:t>
              </a:r>
              <a:endParaRPr/>
            </a:p>
          </p:txBody>
        </p:sp>
      </p:grpSp>
      <p:sp>
        <p:nvSpPr>
          <p:cNvPr id="862" name="Google Shape;862;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disposizione in memoria</a:t>
            </a:r>
            <a:endParaRPr/>
          </a:p>
        </p:txBody>
      </p:sp>
      <p:sp>
        <p:nvSpPr>
          <p:cNvPr id="863" name="Google Shape;863;p5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64" name="Google Shape;864;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 riferimenti sono implementati diversamente in base al tipo puntato</a:t>
            </a:r>
            <a:endParaRPr/>
          </a:p>
          <a:p>
            <a:pPr indent="-317500" lvl="1" marL="914400" rtl="0" algn="l">
              <a:spcBef>
                <a:spcPts val="0"/>
              </a:spcBef>
              <a:spcAft>
                <a:spcPts val="0"/>
              </a:spcAft>
              <a:buSzPts val="1400"/>
              <a:buChar char="○"/>
            </a:pPr>
            <a:r>
              <a:rPr b="1" lang="it">
                <a:solidFill>
                  <a:srgbClr val="0B5394"/>
                </a:solidFill>
              </a:rPr>
              <a:t>Puntatori semplici</a:t>
            </a:r>
            <a:r>
              <a:rPr lang="it"/>
              <a:t>, se il compilatore conosce la dimensione del dato puntato</a:t>
            </a:r>
            <a:endParaRPr/>
          </a:p>
          <a:p>
            <a:pPr indent="-317500" lvl="1" marL="914400" rtl="0" algn="l">
              <a:spcBef>
                <a:spcPts val="0"/>
              </a:spcBef>
              <a:spcAft>
                <a:spcPts val="0"/>
              </a:spcAft>
              <a:buSzPts val="1400"/>
              <a:buChar char="○"/>
            </a:pPr>
            <a:r>
              <a:rPr b="1" lang="it">
                <a:solidFill>
                  <a:srgbClr val="0B5394"/>
                </a:solidFill>
              </a:rPr>
              <a:t>Puntatore + dimensione</a:t>
            </a:r>
            <a:r>
              <a:rPr lang="it"/>
              <a:t> ( fat pointer), se la dimensione del dato è solo nota in fase di esecuzione</a:t>
            </a:r>
            <a:endParaRPr/>
          </a:p>
          <a:p>
            <a:pPr indent="-317500" lvl="1" marL="914400" rtl="0" algn="l">
              <a:spcBef>
                <a:spcPts val="0"/>
              </a:spcBef>
              <a:spcAft>
                <a:spcPts val="0"/>
              </a:spcAft>
              <a:buSzPts val="1400"/>
              <a:buChar char="○"/>
            </a:pPr>
            <a:r>
              <a:rPr b="1" lang="it">
                <a:solidFill>
                  <a:srgbClr val="0B5394"/>
                </a:solidFill>
              </a:rPr>
              <a:t>Puntatore doppio</a:t>
            </a:r>
            <a:r>
              <a:rPr lang="it"/>
              <a:t>, se il tipo di dato puntato è noto solo per l’insieme di tratti che implementa</a:t>
            </a:r>
            <a:endParaRPr/>
          </a:p>
        </p:txBody>
      </p:sp>
      <p:sp>
        <p:nvSpPr>
          <p:cNvPr id="865" name="Google Shape;865;p53"/>
          <p:cNvSpPr txBox="1"/>
          <p:nvPr/>
        </p:nvSpPr>
        <p:spPr>
          <a:xfrm>
            <a:off x="1008223" y="2571750"/>
            <a:ext cx="2421300" cy="6156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let i: i32 = 10;</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r1: &amp;i32 = &amp;i;</a:t>
            </a:r>
            <a:endParaRPr b="1">
              <a:latin typeface="Consolas"/>
              <a:ea typeface="Consolas"/>
              <a:cs typeface="Consolas"/>
              <a:sym typeface="Consolas"/>
            </a:endParaRPr>
          </a:p>
        </p:txBody>
      </p:sp>
      <p:sp>
        <p:nvSpPr>
          <p:cNvPr id="866" name="Google Shape;866;p53"/>
          <p:cNvSpPr/>
          <p:nvPr/>
        </p:nvSpPr>
        <p:spPr>
          <a:xfrm>
            <a:off x="1617825" y="3429000"/>
            <a:ext cx="900000" cy="32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10</a:t>
            </a:r>
            <a:endParaRPr/>
          </a:p>
        </p:txBody>
      </p:sp>
      <p:sp>
        <p:nvSpPr>
          <p:cNvPr id="867" name="Google Shape;867;p53"/>
          <p:cNvSpPr txBox="1"/>
          <p:nvPr/>
        </p:nvSpPr>
        <p:spPr>
          <a:xfrm>
            <a:off x="1013125" y="3411315"/>
            <a:ext cx="38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i:</a:t>
            </a:r>
            <a:endParaRPr/>
          </a:p>
        </p:txBody>
      </p:sp>
      <p:sp>
        <p:nvSpPr>
          <p:cNvPr id="868" name="Google Shape;868;p53"/>
          <p:cNvSpPr/>
          <p:nvPr/>
        </p:nvSpPr>
        <p:spPr>
          <a:xfrm>
            <a:off x="1617825" y="3873195"/>
            <a:ext cx="1811700" cy="3249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9" name="Google Shape;869;p53"/>
          <p:cNvSpPr txBox="1"/>
          <p:nvPr/>
        </p:nvSpPr>
        <p:spPr>
          <a:xfrm>
            <a:off x="932875" y="3873195"/>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r1:</a:t>
            </a:r>
            <a:endParaRPr/>
          </a:p>
        </p:txBody>
      </p:sp>
      <p:sp>
        <p:nvSpPr>
          <p:cNvPr id="870" name="Google Shape;870;p53"/>
          <p:cNvSpPr/>
          <p:nvPr/>
        </p:nvSpPr>
        <p:spPr>
          <a:xfrm>
            <a:off x="2465925" y="3983625"/>
            <a:ext cx="115500" cy="1041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1" name="Google Shape;871;p53"/>
          <p:cNvCxnSpPr>
            <a:stCxn id="870" idx="2"/>
            <a:endCxn id="866" idx="1"/>
          </p:cNvCxnSpPr>
          <p:nvPr/>
        </p:nvCxnSpPr>
        <p:spPr>
          <a:xfrm rot="10800000">
            <a:off x="1617825" y="3591375"/>
            <a:ext cx="848100" cy="444300"/>
          </a:xfrm>
          <a:prstGeom prst="curvedConnector3">
            <a:avLst>
              <a:gd fmla="val 128077" name="adj1"/>
            </a:avLst>
          </a:prstGeom>
          <a:noFill/>
          <a:ln cap="flat" cmpd="sng" w="28575">
            <a:solidFill>
              <a:srgbClr val="FF0000"/>
            </a:solidFill>
            <a:prstDash val="solid"/>
            <a:round/>
            <a:headEnd len="med" w="med" type="none"/>
            <a:tailEnd len="med" w="med" type="triangle"/>
          </a:ln>
        </p:spPr>
      </p:cxnSp>
      <p:sp>
        <p:nvSpPr>
          <p:cNvPr id="872" name="Google Shape;872;p53"/>
          <p:cNvSpPr txBox="1"/>
          <p:nvPr/>
        </p:nvSpPr>
        <p:spPr>
          <a:xfrm>
            <a:off x="4335026" y="2571750"/>
            <a:ext cx="4224300" cy="6156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let a: [i32;3] = [1,2,3];</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r2: &amp;[i32] = &amp;a;</a:t>
            </a:r>
            <a:endParaRPr b="1">
              <a:latin typeface="Consolas"/>
              <a:ea typeface="Consolas"/>
              <a:cs typeface="Consolas"/>
              <a:sym typeface="Consolas"/>
            </a:endParaRPr>
          </a:p>
        </p:txBody>
      </p:sp>
      <p:sp>
        <p:nvSpPr>
          <p:cNvPr id="873" name="Google Shape;873;p53"/>
          <p:cNvSpPr/>
          <p:nvPr/>
        </p:nvSpPr>
        <p:spPr>
          <a:xfrm>
            <a:off x="4944625" y="3429000"/>
            <a:ext cx="900000" cy="32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1</a:t>
            </a:r>
            <a:endParaRPr/>
          </a:p>
        </p:txBody>
      </p:sp>
      <p:sp>
        <p:nvSpPr>
          <p:cNvPr id="874" name="Google Shape;874;p53"/>
          <p:cNvSpPr txBox="1"/>
          <p:nvPr/>
        </p:nvSpPr>
        <p:spPr>
          <a:xfrm>
            <a:off x="4339925" y="3411315"/>
            <a:ext cx="38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a:</a:t>
            </a:r>
            <a:endParaRPr/>
          </a:p>
        </p:txBody>
      </p:sp>
      <p:sp>
        <p:nvSpPr>
          <p:cNvPr id="875" name="Google Shape;875;p53"/>
          <p:cNvSpPr txBox="1"/>
          <p:nvPr/>
        </p:nvSpPr>
        <p:spPr>
          <a:xfrm>
            <a:off x="4259675" y="3873195"/>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r2:</a:t>
            </a:r>
            <a:endParaRPr/>
          </a:p>
        </p:txBody>
      </p:sp>
      <p:sp>
        <p:nvSpPr>
          <p:cNvPr id="876" name="Google Shape;876;p53"/>
          <p:cNvSpPr/>
          <p:nvPr/>
        </p:nvSpPr>
        <p:spPr>
          <a:xfrm>
            <a:off x="5792725" y="3983625"/>
            <a:ext cx="115500" cy="1041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3"/>
          <p:cNvSpPr/>
          <p:nvPr/>
        </p:nvSpPr>
        <p:spPr>
          <a:xfrm>
            <a:off x="5844625" y="3429000"/>
            <a:ext cx="900000" cy="32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2</a:t>
            </a:r>
            <a:endParaRPr/>
          </a:p>
        </p:txBody>
      </p:sp>
      <p:sp>
        <p:nvSpPr>
          <p:cNvPr id="878" name="Google Shape;878;p53"/>
          <p:cNvSpPr/>
          <p:nvPr/>
        </p:nvSpPr>
        <p:spPr>
          <a:xfrm>
            <a:off x="6744625" y="3429000"/>
            <a:ext cx="900000" cy="32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3</a:t>
            </a:r>
            <a:endParaRPr/>
          </a:p>
        </p:txBody>
      </p:sp>
      <p:cxnSp>
        <p:nvCxnSpPr>
          <p:cNvPr id="879" name="Google Shape;879;p53"/>
          <p:cNvCxnSpPr>
            <a:stCxn id="876" idx="2"/>
            <a:endCxn id="873" idx="1"/>
          </p:cNvCxnSpPr>
          <p:nvPr/>
        </p:nvCxnSpPr>
        <p:spPr>
          <a:xfrm rot="10800000">
            <a:off x="4944625" y="3591375"/>
            <a:ext cx="848100" cy="444300"/>
          </a:xfrm>
          <a:prstGeom prst="curvedConnector3">
            <a:avLst>
              <a:gd fmla="val 128077" name="adj1"/>
            </a:avLst>
          </a:prstGeom>
          <a:noFill/>
          <a:ln cap="flat" cmpd="sng" w="28575">
            <a:solidFill>
              <a:srgbClr val="FF0000"/>
            </a:solidFill>
            <a:prstDash val="solid"/>
            <a:round/>
            <a:headEnd len="med" w="med" type="none"/>
            <a:tailEnd len="med" w="med" type="triangle"/>
          </a:ln>
        </p:spPr>
      </p:cxnSp>
      <p:sp>
        <p:nvSpPr>
          <p:cNvPr id="880" name="Google Shape;880;p53"/>
          <p:cNvSpPr txBox="1"/>
          <p:nvPr/>
        </p:nvSpPr>
        <p:spPr>
          <a:xfrm>
            <a:off x="1617825" y="4233375"/>
            <a:ext cx="18117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it">
                <a:solidFill>
                  <a:schemeClr val="dk2"/>
                </a:solidFill>
              </a:rPr>
              <a:t>simple pointer</a:t>
            </a:r>
            <a:endParaRPr b="1"/>
          </a:p>
        </p:txBody>
      </p:sp>
      <p:sp>
        <p:nvSpPr>
          <p:cNvPr id="881" name="Google Shape;881;p53"/>
          <p:cNvSpPr txBox="1"/>
          <p:nvPr/>
        </p:nvSpPr>
        <p:spPr>
          <a:xfrm>
            <a:off x="4960775" y="4317390"/>
            <a:ext cx="18117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it">
                <a:solidFill>
                  <a:schemeClr val="dk2"/>
                </a:solidFill>
              </a:rPr>
              <a:t>fat pointer</a:t>
            </a:r>
            <a:endParaRPr b="1"/>
          </a:p>
        </p:txBody>
      </p:sp>
      <p:sp>
        <p:nvSpPr>
          <p:cNvPr id="882" name="Google Shape;882;p53"/>
          <p:cNvSpPr txBox="1"/>
          <p:nvPr/>
        </p:nvSpPr>
        <p:spPr>
          <a:xfrm>
            <a:off x="311700" y="84848"/>
            <a:ext cx="8520600" cy="400200"/>
          </a:xfrm>
          <a:prstGeom prst="rect">
            <a:avLst/>
          </a:prstGeom>
          <a:solidFill>
            <a:schemeClr val="accent4"/>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lang="it"/>
              <a:t>https://github.com/pretzelhammer/rust-blog/blob/master/posts/sizedness-in-rust.md</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disposizione in memoria</a:t>
            </a:r>
            <a:endParaRPr/>
          </a:p>
        </p:txBody>
      </p:sp>
      <p:sp>
        <p:nvSpPr>
          <p:cNvPr id="888" name="Google Shape;888;p5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89" name="Google Shape;889;p54"/>
          <p:cNvSpPr/>
          <p:nvPr/>
        </p:nvSpPr>
        <p:spPr>
          <a:xfrm>
            <a:off x="296150" y="1558463"/>
            <a:ext cx="3621900" cy="3249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0" name="Google Shape;890;p54"/>
          <p:cNvGrpSpPr/>
          <p:nvPr/>
        </p:nvGrpSpPr>
        <p:grpSpPr>
          <a:xfrm>
            <a:off x="303475" y="1558463"/>
            <a:ext cx="3607250" cy="324810"/>
            <a:chOff x="3420625" y="4303550"/>
            <a:chExt cx="3607250" cy="360900"/>
          </a:xfrm>
        </p:grpSpPr>
        <p:sp>
          <p:nvSpPr>
            <p:cNvPr id="891" name="Google Shape;891;p54"/>
            <p:cNvSpPr/>
            <p:nvPr/>
          </p:nvSpPr>
          <p:spPr>
            <a:xfrm>
              <a:off x="3420625" y="4303550"/>
              <a:ext cx="1811700" cy="36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2" name="Google Shape;892;p54"/>
            <p:cNvSpPr/>
            <p:nvPr/>
          </p:nvSpPr>
          <p:spPr>
            <a:xfrm>
              <a:off x="5216175" y="4303550"/>
              <a:ext cx="1811700" cy="36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93" name="Google Shape;893;p54"/>
          <p:cNvSpPr txBox="1"/>
          <p:nvPr/>
        </p:nvSpPr>
        <p:spPr>
          <a:xfrm>
            <a:off x="4518675" y="1173465"/>
            <a:ext cx="4219200" cy="6156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let f: File = File::create(“test.txt”);</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r3: &amp;dyn Write = &amp;f;</a:t>
            </a:r>
            <a:endParaRPr b="1">
              <a:latin typeface="Consolas"/>
              <a:ea typeface="Consolas"/>
              <a:cs typeface="Consolas"/>
              <a:sym typeface="Consolas"/>
            </a:endParaRPr>
          </a:p>
        </p:txBody>
      </p:sp>
      <p:sp>
        <p:nvSpPr>
          <p:cNvPr id="894" name="Google Shape;894;p54"/>
          <p:cNvSpPr/>
          <p:nvPr/>
        </p:nvSpPr>
        <p:spPr>
          <a:xfrm>
            <a:off x="296150" y="3319335"/>
            <a:ext cx="2700000" cy="32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 hidden implementation ]</a:t>
            </a:r>
            <a:endParaRPr/>
          </a:p>
        </p:txBody>
      </p:sp>
      <p:sp>
        <p:nvSpPr>
          <p:cNvPr id="895" name="Google Shape;895;p54"/>
          <p:cNvSpPr txBox="1"/>
          <p:nvPr/>
        </p:nvSpPr>
        <p:spPr>
          <a:xfrm>
            <a:off x="296150" y="3660975"/>
            <a:ext cx="91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f: File</a:t>
            </a:r>
            <a:endParaRPr/>
          </a:p>
        </p:txBody>
      </p:sp>
      <p:sp>
        <p:nvSpPr>
          <p:cNvPr id="896" name="Google Shape;896;p54"/>
          <p:cNvSpPr txBox="1"/>
          <p:nvPr/>
        </p:nvSpPr>
        <p:spPr>
          <a:xfrm>
            <a:off x="323875" y="1198283"/>
            <a:ext cx="207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chemeClr val="dk1"/>
                </a:solidFill>
                <a:latin typeface="Consolas"/>
                <a:ea typeface="Consolas"/>
                <a:cs typeface="Consolas"/>
                <a:sym typeface="Consolas"/>
              </a:rPr>
              <a:t>r3: &amp;dyn Write</a:t>
            </a:r>
            <a:endParaRPr/>
          </a:p>
        </p:txBody>
      </p:sp>
      <p:sp>
        <p:nvSpPr>
          <p:cNvPr id="897" name="Google Shape;897;p54"/>
          <p:cNvSpPr/>
          <p:nvPr/>
        </p:nvSpPr>
        <p:spPr>
          <a:xfrm>
            <a:off x="1151575" y="1668893"/>
            <a:ext cx="115500" cy="1041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8" name="Google Shape;898;p54"/>
          <p:cNvCxnSpPr>
            <a:stCxn id="897" idx="4"/>
            <a:endCxn id="894" idx="0"/>
          </p:cNvCxnSpPr>
          <p:nvPr/>
        </p:nvCxnSpPr>
        <p:spPr>
          <a:xfrm flipH="1" rot="-5400000">
            <a:off x="654625" y="2327693"/>
            <a:ext cx="1546200" cy="436800"/>
          </a:xfrm>
          <a:prstGeom prst="curvedConnector3">
            <a:avLst>
              <a:gd fmla="val 49998" name="adj1"/>
            </a:avLst>
          </a:prstGeom>
          <a:noFill/>
          <a:ln cap="flat" cmpd="sng" w="28575">
            <a:solidFill>
              <a:srgbClr val="FF0000"/>
            </a:solidFill>
            <a:prstDash val="solid"/>
            <a:round/>
            <a:headEnd len="med" w="med" type="none"/>
            <a:tailEnd len="med" w="med" type="triangle"/>
          </a:ln>
        </p:spPr>
      </p:cxnSp>
      <p:sp>
        <p:nvSpPr>
          <p:cNvPr id="899" name="Google Shape;899;p54"/>
          <p:cNvSpPr txBox="1"/>
          <p:nvPr/>
        </p:nvSpPr>
        <p:spPr>
          <a:xfrm>
            <a:off x="1227775" y="1883261"/>
            <a:ext cx="18117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it">
                <a:solidFill>
                  <a:schemeClr val="dk2"/>
                </a:solidFill>
              </a:rPr>
              <a:t>double pointer</a:t>
            </a:r>
            <a:endParaRPr b="1"/>
          </a:p>
        </p:txBody>
      </p:sp>
      <p:sp>
        <p:nvSpPr>
          <p:cNvPr id="900" name="Google Shape;900;p54"/>
          <p:cNvSpPr/>
          <p:nvPr/>
        </p:nvSpPr>
        <p:spPr>
          <a:xfrm>
            <a:off x="2904175" y="1668893"/>
            <a:ext cx="115500" cy="1041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54"/>
          <p:cNvSpPr txBox="1"/>
          <p:nvPr/>
        </p:nvSpPr>
        <p:spPr>
          <a:xfrm>
            <a:off x="5865000" y="2780483"/>
            <a:ext cx="3131700" cy="369300"/>
          </a:xfrm>
          <a:prstGeom prst="rect">
            <a:avLst/>
          </a:prstGeom>
          <a:solidFill>
            <a:srgbClr val="D9EAD3"/>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sz="1200">
                <a:solidFill>
                  <a:schemeClr val="dk1"/>
                </a:solidFill>
                <a:latin typeface="Courier New"/>
                <a:ea typeface="Courier New"/>
                <a:cs typeface="Courier New"/>
                <a:sym typeface="Courier New"/>
              </a:rPr>
              <a:t>fn write(...) {...}</a:t>
            </a:r>
            <a:endParaRPr b="1" sz="1200">
              <a:solidFill>
                <a:schemeClr val="dk1"/>
              </a:solidFill>
              <a:latin typeface="Courier New"/>
              <a:ea typeface="Courier New"/>
              <a:cs typeface="Courier New"/>
              <a:sym typeface="Courier New"/>
            </a:endParaRPr>
          </a:p>
        </p:txBody>
      </p:sp>
      <p:sp>
        <p:nvSpPr>
          <p:cNvPr id="902" name="Google Shape;902;p54"/>
          <p:cNvSpPr txBox="1"/>
          <p:nvPr/>
        </p:nvSpPr>
        <p:spPr>
          <a:xfrm>
            <a:off x="5865000" y="3328605"/>
            <a:ext cx="3131700" cy="369300"/>
          </a:xfrm>
          <a:prstGeom prst="rect">
            <a:avLst/>
          </a:prstGeom>
          <a:solidFill>
            <a:srgbClr val="D9EAD3"/>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sz="1200">
                <a:solidFill>
                  <a:schemeClr val="dk1"/>
                </a:solidFill>
                <a:latin typeface="Courier New"/>
                <a:ea typeface="Courier New"/>
                <a:cs typeface="Courier New"/>
                <a:sym typeface="Courier New"/>
              </a:rPr>
              <a:t>fn write_vectored(...) {...}</a:t>
            </a:r>
            <a:endParaRPr b="1" sz="1200">
              <a:solidFill>
                <a:schemeClr val="dk1"/>
              </a:solidFill>
              <a:latin typeface="Courier New"/>
              <a:ea typeface="Courier New"/>
              <a:cs typeface="Courier New"/>
              <a:sym typeface="Courier New"/>
            </a:endParaRPr>
          </a:p>
        </p:txBody>
      </p:sp>
      <p:sp>
        <p:nvSpPr>
          <p:cNvPr id="903" name="Google Shape;903;p54"/>
          <p:cNvSpPr txBox="1"/>
          <p:nvPr/>
        </p:nvSpPr>
        <p:spPr>
          <a:xfrm>
            <a:off x="5865000" y="3876728"/>
            <a:ext cx="3131700" cy="369300"/>
          </a:xfrm>
          <a:prstGeom prst="rect">
            <a:avLst/>
          </a:prstGeom>
          <a:solidFill>
            <a:srgbClr val="D9EAD3"/>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sz="1200">
                <a:solidFill>
                  <a:schemeClr val="dk1"/>
                </a:solidFill>
                <a:latin typeface="Courier New"/>
                <a:ea typeface="Courier New"/>
                <a:cs typeface="Courier New"/>
                <a:sym typeface="Courier New"/>
              </a:rPr>
              <a:t>fn is_write_vectored(...) {...}</a:t>
            </a:r>
            <a:endParaRPr b="1" sz="1200">
              <a:solidFill>
                <a:schemeClr val="dk1"/>
              </a:solidFill>
              <a:latin typeface="Courier New"/>
              <a:ea typeface="Courier New"/>
              <a:cs typeface="Courier New"/>
              <a:sym typeface="Courier New"/>
            </a:endParaRPr>
          </a:p>
        </p:txBody>
      </p:sp>
      <p:sp>
        <p:nvSpPr>
          <p:cNvPr id="904" name="Google Shape;904;p54"/>
          <p:cNvSpPr txBox="1"/>
          <p:nvPr/>
        </p:nvSpPr>
        <p:spPr>
          <a:xfrm>
            <a:off x="5865000" y="4403093"/>
            <a:ext cx="3131700" cy="369300"/>
          </a:xfrm>
          <a:prstGeom prst="rect">
            <a:avLst/>
          </a:prstGeom>
          <a:solidFill>
            <a:srgbClr val="D9EAD3"/>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sz="1200">
                <a:solidFill>
                  <a:schemeClr val="dk1"/>
                </a:solidFill>
                <a:latin typeface="Courier New"/>
                <a:ea typeface="Courier New"/>
                <a:cs typeface="Courier New"/>
                <a:sym typeface="Courier New"/>
              </a:rPr>
              <a:t>fn flush(...) {...}</a:t>
            </a:r>
            <a:endParaRPr b="1" sz="1200">
              <a:solidFill>
                <a:schemeClr val="dk1"/>
              </a:solidFill>
              <a:latin typeface="Courier New"/>
              <a:ea typeface="Courier New"/>
              <a:cs typeface="Courier New"/>
              <a:sym typeface="Courier New"/>
            </a:endParaRPr>
          </a:p>
        </p:txBody>
      </p:sp>
      <p:cxnSp>
        <p:nvCxnSpPr>
          <p:cNvPr id="905" name="Google Shape;905;p54"/>
          <p:cNvCxnSpPr>
            <a:stCxn id="900" idx="6"/>
            <a:endCxn id="906" idx="0"/>
          </p:cNvCxnSpPr>
          <p:nvPr/>
        </p:nvCxnSpPr>
        <p:spPr>
          <a:xfrm>
            <a:off x="3019675" y="1720943"/>
            <a:ext cx="1136400" cy="528000"/>
          </a:xfrm>
          <a:prstGeom prst="curvedConnector2">
            <a:avLst/>
          </a:prstGeom>
          <a:noFill/>
          <a:ln cap="flat" cmpd="sng" w="28575">
            <a:solidFill>
              <a:srgbClr val="FF0000"/>
            </a:solidFill>
            <a:prstDash val="solid"/>
            <a:round/>
            <a:headEnd len="med" w="med" type="none"/>
            <a:tailEnd len="med" w="med" type="triangle"/>
          </a:ln>
        </p:spPr>
      </p:cxnSp>
      <p:sp>
        <p:nvSpPr>
          <p:cNvPr id="907" name="Google Shape;907;p54"/>
          <p:cNvSpPr txBox="1"/>
          <p:nvPr/>
        </p:nvSpPr>
        <p:spPr>
          <a:xfrm>
            <a:off x="3250200" y="1883273"/>
            <a:ext cx="1811700" cy="4002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1200"/>
              </a:spcAft>
              <a:buNone/>
            </a:pPr>
            <a:r>
              <a:rPr b="1" lang="it">
                <a:solidFill>
                  <a:schemeClr val="dk2"/>
                </a:solidFill>
              </a:rPr>
              <a:t>vtable</a:t>
            </a:r>
            <a:endParaRPr b="1"/>
          </a:p>
        </p:txBody>
      </p:sp>
      <p:grpSp>
        <p:nvGrpSpPr>
          <p:cNvPr id="908" name="Google Shape;908;p54"/>
          <p:cNvGrpSpPr/>
          <p:nvPr/>
        </p:nvGrpSpPr>
        <p:grpSpPr>
          <a:xfrm>
            <a:off x="3250200" y="2248886"/>
            <a:ext cx="1811700" cy="2465696"/>
            <a:chOff x="2924725" y="2095863"/>
            <a:chExt cx="1811700" cy="2739663"/>
          </a:xfrm>
        </p:grpSpPr>
        <p:sp>
          <p:nvSpPr>
            <p:cNvPr id="909" name="Google Shape;909;p54"/>
            <p:cNvSpPr/>
            <p:nvPr/>
          </p:nvSpPr>
          <p:spPr>
            <a:xfrm>
              <a:off x="2924725" y="3285244"/>
              <a:ext cx="1811700" cy="36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0" name="Google Shape;910;p54"/>
            <p:cNvSpPr/>
            <p:nvPr/>
          </p:nvSpPr>
          <p:spPr>
            <a:xfrm>
              <a:off x="2924725" y="3681704"/>
              <a:ext cx="1811700" cy="36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1" name="Google Shape;911;p54"/>
            <p:cNvSpPr/>
            <p:nvPr/>
          </p:nvSpPr>
          <p:spPr>
            <a:xfrm>
              <a:off x="2924725" y="4078165"/>
              <a:ext cx="1811700" cy="36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2" name="Google Shape;912;p54"/>
            <p:cNvSpPr/>
            <p:nvPr/>
          </p:nvSpPr>
          <p:spPr>
            <a:xfrm>
              <a:off x="2924725" y="4474625"/>
              <a:ext cx="1811700" cy="36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3" name="Google Shape;913;p54"/>
            <p:cNvSpPr/>
            <p:nvPr/>
          </p:nvSpPr>
          <p:spPr>
            <a:xfrm>
              <a:off x="3772825" y="3396725"/>
              <a:ext cx="115500" cy="115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54"/>
            <p:cNvSpPr/>
            <p:nvPr/>
          </p:nvSpPr>
          <p:spPr>
            <a:xfrm>
              <a:off x="3772825" y="3796925"/>
              <a:ext cx="115500" cy="115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54"/>
            <p:cNvSpPr/>
            <p:nvPr/>
          </p:nvSpPr>
          <p:spPr>
            <a:xfrm>
              <a:off x="3772825" y="4197125"/>
              <a:ext cx="115500" cy="115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54"/>
            <p:cNvSpPr/>
            <p:nvPr/>
          </p:nvSpPr>
          <p:spPr>
            <a:xfrm>
              <a:off x="3772825" y="4597325"/>
              <a:ext cx="115500" cy="115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54"/>
            <p:cNvSpPr/>
            <p:nvPr/>
          </p:nvSpPr>
          <p:spPr>
            <a:xfrm>
              <a:off x="2924725" y="2888783"/>
              <a:ext cx="1811700" cy="36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aligment</a:t>
              </a:r>
              <a:endParaRPr/>
            </a:p>
          </p:txBody>
        </p:sp>
        <p:sp>
          <p:nvSpPr>
            <p:cNvPr id="918" name="Google Shape;918;p54"/>
            <p:cNvSpPr/>
            <p:nvPr/>
          </p:nvSpPr>
          <p:spPr>
            <a:xfrm>
              <a:off x="2924725" y="2492323"/>
              <a:ext cx="1811700" cy="36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size</a:t>
              </a:r>
              <a:endParaRPr/>
            </a:p>
          </p:txBody>
        </p:sp>
        <p:sp>
          <p:nvSpPr>
            <p:cNvPr id="906" name="Google Shape;906;p54"/>
            <p:cNvSpPr/>
            <p:nvPr/>
          </p:nvSpPr>
          <p:spPr>
            <a:xfrm>
              <a:off x="2924725" y="2095863"/>
              <a:ext cx="1811700" cy="36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9" name="Google Shape;919;p54"/>
            <p:cNvSpPr/>
            <p:nvPr/>
          </p:nvSpPr>
          <p:spPr>
            <a:xfrm>
              <a:off x="3772825" y="2218563"/>
              <a:ext cx="115500" cy="115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20" name="Google Shape;920;p54"/>
          <p:cNvCxnSpPr>
            <a:stCxn id="919" idx="6"/>
            <a:endCxn id="921" idx="1"/>
          </p:cNvCxnSpPr>
          <p:nvPr/>
        </p:nvCxnSpPr>
        <p:spPr>
          <a:xfrm>
            <a:off x="4213800" y="2411291"/>
            <a:ext cx="1651200" cy="30600"/>
          </a:xfrm>
          <a:prstGeom prst="curvedConnector3">
            <a:avLst>
              <a:gd fmla="val 50000" name="adj1"/>
            </a:avLst>
          </a:prstGeom>
          <a:noFill/>
          <a:ln cap="flat" cmpd="sng" w="28575">
            <a:solidFill>
              <a:srgbClr val="FF0000"/>
            </a:solidFill>
            <a:prstDash val="solid"/>
            <a:round/>
            <a:headEnd len="med" w="med" type="none"/>
            <a:tailEnd len="med" w="med" type="triangle"/>
          </a:ln>
        </p:spPr>
      </p:cxnSp>
      <p:sp>
        <p:nvSpPr>
          <p:cNvPr id="921" name="Google Shape;921;p54"/>
          <p:cNvSpPr txBox="1"/>
          <p:nvPr/>
        </p:nvSpPr>
        <p:spPr>
          <a:xfrm>
            <a:off x="5865000" y="2257358"/>
            <a:ext cx="3131700" cy="369300"/>
          </a:xfrm>
          <a:prstGeom prst="rect">
            <a:avLst/>
          </a:prstGeom>
          <a:solidFill>
            <a:srgbClr val="D9EAD3"/>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sz="1200">
                <a:solidFill>
                  <a:schemeClr val="dk1"/>
                </a:solidFill>
                <a:latin typeface="Courier New"/>
                <a:ea typeface="Courier New"/>
                <a:cs typeface="Courier New"/>
                <a:sym typeface="Courier New"/>
              </a:rPr>
              <a:t>fn drop() {...}</a:t>
            </a:r>
            <a:endParaRPr b="1" sz="1200">
              <a:solidFill>
                <a:schemeClr val="dk1"/>
              </a:solidFill>
              <a:latin typeface="Courier New"/>
              <a:ea typeface="Courier New"/>
              <a:cs typeface="Courier New"/>
              <a:sym typeface="Courier New"/>
            </a:endParaRPr>
          </a:p>
        </p:txBody>
      </p:sp>
      <p:cxnSp>
        <p:nvCxnSpPr>
          <p:cNvPr id="922" name="Google Shape;922;p54"/>
          <p:cNvCxnSpPr>
            <a:stCxn id="916" idx="6"/>
            <a:endCxn id="904" idx="1"/>
          </p:cNvCxnSpPr>
          <p:nvPr/>
        </p:nvCxnSpPr>
        <p:spPr>
          <a:xfrm>
            <a:off x="4213800" y="4552178"/>
            <a:ext cx="1651200" cy="35700"/>
          </a:xfrm>
          <a:prstGeom prst="curvedConnector3">
            <a:avLst>
              <a:gd fmla="val 50000" name="adj1"/>
            </a:avLst>
          </a:prstGeom>
          <a:noFill/>
          <a:ln cap="flat" cmpd="sng" w="28575">
            <a:solidFill>
              <a:srgbClr val="FF0000"/>
            </a:solidFill>
            <a:prstDash val="solid"/>
            <a:round/>
            <a:headEnd len="med" w="med" type="none"/>
            <a:tailEnd len="med" w="med" type="triangle"/>
          </a:ln>
        </p:spPr>
      </p:cxnSp>
      <p:cxnSp>
        <p:nvCxnSpPr>
          <p:cNvPr id="923" name="Google Shape;923;p54"/>
          <p:cNvCxnSpPr>
            <a:stCxn id="915" idx="6"/>
            <a:endCxn id="903" idx="1"/>
          </p:cNvCxnSpPr>
          <p:nvPr/>
        </p:nvCxnSpPr>
        <p:spPr>
          <a:xfrm flipH="1" rot="10800000">
            <a:off x="4213800" y="4061498"/>
            <a:ext cx="1651200" cy="130500"/>
          </a:xfrm>
          <a:prstGeom prst="curvedConnector3">
            <a:avLst>
              <a:gd fmla="val 50000" name="adj1"/>
            </a:avLst>
          </a:prstGeom>
          <a:noFill/>
          <a:ln cap="flat" cmpd="sng" w="28575">
            <a:solidFill>
              <a:srgbClr val="FF0000"/>
            </a:solidFill>
            <a:prstDash val="solid"/>
            <a:round/>
            <a:headEnd len="med" w="med" type="none"/>
            <a:tailEnd len="med" w="med" type="triangle"/>
          </a:ln>
        </p:spPr>
      </p:cxnSp>
      <p:cxnSp>
        <p:nvCxnSpPr>
          <p:cNvPr id="924" name="Google Shape;924;p54"/>
          <p:cNvCxnSpPr>
            <a:stCxn id="914" idx="6"/>
            <a:endCxn id="902" idx="1"/>
          </p:cNvCxnSpPr>
          <p:nvPr/>
        </p:nvCxnSpPr>
        <p:spPr>
          <a:xfrm flipH="1" rot="10800000">
            <a:off x="4213800" y="3513218"/>
            <a:ext cx="1651200" cy="318600"/>
          </a:xfrm>
          <a:prstGeom prst="curvedConnector3">
            <a:avLst>
              <a:gd fmla="val 50000" name="adj1"/>
            </a:avLst>
          </a:prstGeom>
          <a:noFill/>
          <a:ln cap="flat" cmpd="sng" w="28575">
            <a:solidFill>
              <a:srgbClr val="FF0000"/>
            </a:solidFill>
            <a:prstDash val="solid"/>
            <a:round/>
            <a:headEnd len="med" w="med" type="none"/>
            <a:tailEnd len="med" w="med" type="triangle"/>
          </a:ln>
        </p:spPr>
      </p:cxnSp>
      <p:cxnSp>
        <p:nvCxnSpPr>
          <p:cNvPr id="925" name="Google Shape;925;p54"/>
          <p:cNvCxnSpPr>
            <a:stCxn id="913" idx="6"/>
            <a:endCxn id="901" idx="1"/>
          </p:cNvCxnSpPr>
          <p:nvPr/>
        </p:nvCxnSpPr>
        <p:spPr>
          <a:xfrm flipH="1" rot="10800000">
            <a:off x="4213800" y="2965238"/>
            <a:ext cx="1651200" cy="506400"/>
          </a:xfrm>
          <a:prstGeom prst="curvedConnector3">
            <a:avLst>
              <a:gd fmla="val 50000" name="adj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Tempo di vita dei riferimenti</a:t>
            </a:r>
            <a:endParaRPr/>
          </a:p>
        </p:txBody>
      </p:sp>
      <p:sp>
        <p:nvSpPr>
          <p:cNvPr id="931" name="Google Shape;931;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it"/>
              <a:t>Il borrow checker garantisce che tutti gli accessi ad un riferimento avvengano solo in un </a:t>
            </a:r>
            <a:r>
              <a:rPr b="1" lang="it">
                <a:solidFill>
                  <a:srgbClr val="0B5394"/>
                </a:solidFill>
              </a:rPr>
              <a:t>intervallo di tempo</a:t>
            </a:r>
            <a:r>
              <a:rPr lang="it"/>
              <a:t> (righe) </a:t>
            </a:r>
            <a:r>
              <a:rPr b="1" lang="it">
                <a:solidFill>
                  <a:srgbClr val="0B5394"/>
                </a:solidFill>
              </a:rPr>
              <a:t>compreso</a:t>
            </a:r>
            <a:r>
              <a:rPr lang="it"/>
              <a:t> in quelle in cui il dato esiste</a:t>
            </a:r>
            <a:endParaRPr/>
          </a:p>
          <a:p>
            <a:pPr indent="-310832" lvl="1" marL="914400" rtl="0" algn="l">
              <a:spcBef>
                <a:spcPts val="0"/>
              </a:spcBef>
              <a:spcAft>
                <a:spcPts val="0"/>
              </a:spcAft>
              <a:buSzPct val="100000"/>
              <a:buChar char="○"/>
            </a:pPr>
            <a:r>
              <a:rPr lang="it"/>
              <a:t>Serve ad impedire il fenomeno dei </a:t>
            </a:r>
            <a:r>
              <a:rPr i="1" lang="it">
                <a:solidFill>
                  <a:srgbClr val="0B5394"/>
                </a:solidFill>
              </a:rPr>
              <a:t>dangling pointer</a:t>
            </a:r>
            <a:r>
              <a:rPr lang="it"/>
              <a:t> </a:t>
            </a:r>
            <a:endParaRPr/>
          </a:p>
          <a:p>
            <a:pPr indent="-334327" lvl="0" marL="457200" rtl="0" algn="l">
              <a:spcBef>
                <a:spcPts val="0"/>
              </a:spcBef>
              <a:spcAft>
                <a:spcPts val="0"/>
              </a:spcAft>
              <a:buSzPct val="100000"/>
              <a:buChar char="●"/>
            </a:pPr>
            <a:r>
              <a:rPr lang="it"/>
              <a:t>L’insieme delle righe in cui si fa accesso al riferimento costituisce il suo </a:t>
            </a:r>
            <a:r>
              <a:rPr b="1" i="1" lang="it">
                <a:solidFill>
                  <a:srgbClr val="0B5394"/>
                </a:solidFill>
              </a:rPr>
              <a:t>lifetime</a:t>
            </a:r>
            <a:r>
              <a:rPr lang="it"/>
              <a:t> </a:t>
            </a:r>
            <a:endParaRPr/>
          </a:p>
          <a:p>
            <a:pPr indent="-310832" lvl="1" marL="914400" rtl="0" algn="l">
              <a:spcBef>
                <a:spcPts val="0"/>
              </a:spcBef>
              <a:spcAft>
                <a:spcPts val="0"/>
              </a:spcAft>
              <a:buSzPct val="100000"/>
              <a:buChar char="○"/>
            </a:pPr>
            <a:r>
              <a:rPr lang="it"/>
              <a:t>Tale informazione è mantenuta, dal compilatore, insieme alle informazioni che descrivono il tipo del riferimento e non ha nessuna rappresentazione in fase di esecuzione</a:t>
            </a:r>
            <a:endParaRPr/>
          </a:p>
          <a:p>
            <a:pPr indent="-334327" lvl="0" marL="457200" rtl="0" algn="l">
              <a:spcBef>
                <a:spcPts val="0"/>
              </a:spcBef>
              <a:spcAft>
                <a:spcPts val="0"/>
              </a:spcAft>
              <a:buSzPct val="100000"/>
              <a:buChar char="●"/>
            </a:pPr>
            <a:r>
              <a:rPr lang="it"/>
              <a:t>Sebbene in molte situazioni possa essere omesso, il tempo di vita di un riferimento può essere espresso nella firma del tipo, nel seguente modo:</a:t>
            </a:r>
            <a:endParaRPr/>
          </a:p>
          <a:p>
            <a:pPr indent="-310832" lvl="1" marL="914400" rtl="0" algn="l">
              <a:spcBef>
                <a:spcPts val="0"/>
              </a:spcBef>
              <a:spcAft>
                <a:spcPts val="0"/>
              </a:spcAft>
              <a:buSzPct val="100000"/>
              <a:buChar char="○"/>
            </a:pPr>
            <a:r>
              <a:rPr b="1" lang="it">
                <a:solidFill>
                  <a:srgbClr val="0B5394"/>
                </a:solidFill>
                <a:latin typeface="Consolas"/>
                <a:ea typeface="Consolas"/>
                <a:cs typeface="Consolas"/>
                <a:sym typeface="Consolas"/>
              </a:rPr>
              <a:t>&amp;'a NomeTipo</a:t>
            </a:r>
            <a:r>
              <a:rPr lang="it"/>
              <a:t>, dove </a:t>
            </a:r>
            <a:r>
              <a:rPr b="1" i="1" lang="it">
                <a:solidFill>
                  <a:srgbClr val="0B5394"/>
                </a:solidFill>
                <a:latin typeface="Consolas"/>
                <a:ea typeface="Consolas"/>
                <a:cs typeface="Consolas"/>
                <a:sym typeface="Consolas"/>
              </a:rPr>
              <a:t>a</a:t>
            </a:r>
            <a:r>
              <a:rPr lang="it"/>
              <a:t> è un identificativo qualsiasi e il simbolo </a:t>
            </a:r>
            <a:r>
              <a:rPr b="1" lang="it">
                <a:solidFill>
                  <a:srgbClr val="0B5394"/>
                </a:solidFill>
                <a:latin typeface="Consolas"/>
                <a:ea typeface="Consolas"/>
                <a:cs typeface="Consolas"/>
                <a:sym typeface="Consolas"/>
              </a:rPr>
              <a:t>'</a:t>
            </a:r>
            <a:r>
              <a:rPr lang="it"/>
              <a:t> (tick) serve a qualificarlo come tempo di vita</a:t>
            </a:r>
            <a:endParaRPr/>
          </a:p>
          <a:p>
            <a:pPr indent="-310832" lvl="1" marL="914400" rtl="0" algn="l">
              <a:spcBef>
                <a:spcPts val="0"/>
              </a:spcBef>
              <a:spcAft>
                <a:spcPts val="0"/>
              </a:spcAft>
              <a:buSzPct val="100000"/>
              <a:buChar char="○"/>
            </a:pPr>
            <a:r>
              <a:rPr lang="it"/>
              <a:t>Tale notazione è utile in quelle situazioni in cui occorre imporre vincoli sulla durata relativa dei tempi di vita di due o più riferimenti</a:t>
            </a:r>
            <a:endParaRPr/>
          </a:p>
          <a:p>
            <a:pPr indent="-334327" lvl="0" marL="457200" rtl="0" algn="l">
              <a:spcBef>
                <a:spcPts val="0"/>
              </a:spcBef>
              <a:spcAft>
                <a:spcPts val="0"/>
              </a:spcAft>
              <a:buSzPct val="100000"/>
              <a:buChar char="●"/>
            </a:pPr>
            <a:r>
              <a:rPr lang="it"/>
              <a:t>Se un riferimento è valido per l’intera durata di un programma, viene indicato con la notazione </a:t>
            </a:r>
            <a:r>
              <a:rPr b="1" lang="it">
                <a:solidFill>
                  <a:srgbClr val="0B5394"/>
                </a:solidFill>
                <a:latin typeface="Consolas"/>
                <a:ea typeface="Consolas"/>
                <a:cs typeface="Consolas"/>
                <a:sym typeface="Consolas"/>
              </a:rPr>
              <a:t>&amp;'static NomeTipo</a:t>
            </a:r>
            <a:endParaRPr b="1">
              <a:solidFill>
                <a:srgbClr val="0B5394"/>
              </a:solidFill>
              <a:latin typeface="Consolas"/>
              <a:ea typeface="Consolas"/>
              <a:cs typeface="Consolas"/>
              <a:sym typeface="Consolas"/>
            </a:endParaRPr>
          </a:p>
          <a:p>
            <a:pPr indent="-310832" lvl="1" marL="914400" rtl="0" algn="l">
              <a:spcBef>
                <a:spcPts val="0"/>
              </a:spcBef>
              <a:spcAft>
                <a:spcPts val="0"/>
              </a:spcAft>
              <a:buSzPct val="100000"/>
              <a:buChar char="○"/>
            </a:pPr>
            <a:r>
              <a:rPr lang="it"/>
              <a:t>Una stringa espressa in formato letterale ( </a:t>
            </a:r>
            <a:r>
              <a:rPr lang="it">
                <a:latin typeface="Consolas"/>
                <a:ea typeface="Consolas"/>
                <a:cs typeface="Consolas"/>
                <a:sym typeface="Consolas"/>
              </a:rPr>
              <a:t>“some string”</a:t>
            </a:r>
            <a:r>
              <a:rPr lang="it"/>
              <a:t> ) ha come tipo </a:t>
            </a:r>
            <a:r>
              <a:rPr b="1" lang="it">
                <a:solidFill>
                  <a:srgbClr val="0B5394"/>
                </a:solidFill>
                <a:latin typeface="Consolas"/>
                <a:ea typeface="Consolas"/>
                <a:cs typeface="Consolas"/>
                <a:sym typeface="Consolas"/>
              </a:rPr>
              <a:t>&amp;'static str</a:t>
            </a:r>
            <a:r>
              <a:rPr lang="it"/>
              <a:t>, in quanto la sequenza di caratteri viene allocata dal compilatore nella sezione delle costanti e non viene mai rilasciata</a:t>
            </a:r>
            <a:endParaRPr/>
          </a:p>
        </p:txBody>
      </p:sp>
      <p:sp>
        <p:nvSpPr>
          <p:cNvPr id="932" name="Google Shape;932;p5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Tempo di vita dei riferimenti</a:t>
            </a:r>
            <a:endParaRPr/>
          </a:p>
        </p:txBody>
      </p:sp>
      <p:sp>
        <p:nvSpPr>
          <p:cNvPr id="938" name="Google Shape;938;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Per essere lecito, </a:t>
            </a:r>
            <a:r>
              <a:rPr b="1" lang="it">
                <a:solidFill>
                  <a:srgbClr val="0B5394"/>
                </a:solidFill>
              </a:rPr>
              <a:t>il tempo di vita </a:t>
            </a:r>
            <a:r>
              <a:rPr lang="it"/>
              <a:t>di un riferimento </a:t>
            </a:r>
            <a:r>
              <a:rPr b="1" lang="it">
                <a:solidFill>
                  <a:srgbClr val="0B5394"/>
                </a:solidFill>
              </a:rPr>
              <a:t>deve essere contenuto nel </a:t>
            </a:r>
            <a:r>
              <a:rPr lang="it"/>
              <a:t>tempo di vita del </a:t>
            </a:r>
            <a:r>
              <a:rPr b="1" lang="it">
                <a:solidFill>
                  <a:srgbClr val="0B5394"/>
                </a:solidFill>
              </a:rPr>
              <a:t>valore </a:t>
            </a:r>
            <a:r>
              <a:rPr lang="it"/>
              <a:t>a cui punta</a:t>
            </a:r>
            <a:endParaRPr/>
          </a:p>
          <a:p>
            <a:pPr indent="-317500" lvl="1" marL="914400" rtl="0" algn="l">
              <a:spcBef>
                <a:spcPts val="0"/>
              </a:spcBef>
              <a:spcAft>
                <a:spcPts val="0"/>
              </a:spcAft>
              <a:buSzPts val="1400"/>
              <a:buChar char="○"/>
            </a:pPr>
            <a:r>
              <a:rPr lang="it"/>
              <a:t>Il borrow checker si fa carico di garantire tale vincolo</a:t>
            </a:r>
            <a:endParaRPr/>
          </a:p>
          <a:p>
            <a:pPr indent="-342900" lvl="0" marL="457200" rtl="0" algn="l">
              <a:spcBef>
                <a:spcPts val="0"/>
              </a:spcBef>
              <a:spcAft>
                <a:spcPts val="0"/>
              </a:spcAft>
              <a:buSzPts val="1800"/>
              <a:buChar char="●"/>
            </a:pPr>
            <a:r>
              <a:rPr lang="it"/>
              <a:t>Questo richiede di esplicitare il tempo di vita quando si memorizza un riferimento all’interno di una struttura dati o si usa un riferimento come valore di ritorno di una funzione </a:t>
            </a:r>
            <a:endParaRPr/>
          </a:p>
          <a:p>
            <a:pPr indent="-317500" lvl="1" marL="914400" rtl="0" algn="l">
              <a:spcBef>
                <a:spcPts val="0"/>
              </a:spcBef>
              <a:spcAft>
                <a:spcPts val="0"/>
              </a:spcAft>
              <a:buSzPts val="1400"/>
              <a:buChar char="○"/>
            </a:pPr>
            <a:r>
              <a:rPr lang="it"/>
              <a:t>Questi due casi saranno trattati dettagliatamente in seguito</a:t>
            </a:r>
            <a:endParaRPr/>
          </a:p>
          <a:p>
            <a:pPr indent="-342900" lvl="0" marL="457200" rtl="0" algn="l">
              <a:spcBef>
                <a:spcPts val="0"/>
              </a:spcBef>
              <a:spcAft>
                <a:spcPts val="0"/>
              </a:spcAft>
              <a:buSzPts val="1800"/>
              <a:buChar char="●"/>
            </a:pPr>
            <a:r>
              <a:rPr lang="it"/>
              <a:t>Il vincolo (apparentemente ovvio) di esistenza in vita dei vincoli </a:t>
            </a:r>
            <a:r>
              <a:rPr b="1" lang="it">
                <a:solidFill>
                  <a:srgbClr val="0B5394"/>
                </a:solidFill>
              </a:rPr>
              <a:t>dovrebbe</a:t>
            </a:r>
            <a:r>
              <a:rPr lang="it"/>
              <a:t> essere alla base anche di tutti gli usi dei puntatori in C e C++</a:t>
            </a:r>
            <a:endParaRPr/>
          </a:p>
          <a:p>
            <a:pPr indent="-317500" lvl="1" marL="914400" rtl="0" algn="l">
              <a:spcBef>
                <a:spcPts val="0"/>
              </a:spcBef>
              <a:spcAft>
                <a:spcPts val="0"/>
              </a:spcAft>
              <a:buSzPts val="1400"/>
              <a:buChar char="○"/>
            </a:pPr>
            <a:r>
              <a:rPr lang="it"/>
              <a:t>Poiché, però, in questi linguaggi non viene tracciato il tempo di vita, il compilatore non è in grado di identificare la presenza di dangling pointers, né identificare eventuali problemi di non rilascio o doppio rilascio, come invece avviene in Rust</a:t>
            </a:r>
            <a:endParaRPr/>
          </a:p>
        </p:txBody>
      </p:sp>
      <p:sp>
        <p:nvSpPr>
          <p:cNvPr id="939" name="Google Shape;939;p5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Esistenza in vita</a:t>
            </a:r>
            <a:endParaRPr/>
          </a:p>
        </p:txBody>
      </p:sp>
      <p:sp>
        <p:nvSpPr>
          <p:cNvPr id="945" name="Google Shape;945;p5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946" name="Google Shape;946;p57"/>
          <p:cNvSpPr txBox="1"/>
          <p:nvPr/>
        </p:nvSpPr>
        <p:spPr>
          <a:xfrm>
            <a:off x="416575" y="1089630"/>
            <a:ext cx="2538600" cy="3648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500">
                <a:latin typeface="Consolas"/>
                <a:ea typeface="Consolas"/>
                <a:cs typeface="Consolas"/>
                <a:sym typeface="Consolas"/>
              </a:rPr>
              <a:t>{</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let r;</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let x = 1;</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r = &amp;x;</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assert_eq!(*r, 1);</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a:t>
            </a:r>
            <a:endParaRPr b="1" sz="1500">
              <a:latin typeface="Consolas"/>
              <a:ea typeface="Consolas"/>
              <a:cs typeface="Consolas"/>
              <a:sym typeface="Consolas"/>
            </a:endParaRPr>
          </a:p>
        </p:txBody>
      </p:sp>
      <p:sp>
        <p:nvSpPr>
          <p:cNvPr id="947" name="Google Shape;947;p57"/>
          <p:cNvSpPr txBox="1"/>
          <p:nvPr/>
        </p:nvSpPr>
        <p:spPr>
          <a:xfrm>
            <a:off x="3152400" y="1089630"/>
            <a:ext cx="5679900" cy="2724300"/>
          </a:xfrm>
          <a:prstGeom prst="rect">
            <a:avLst/>
          </a:prstGeom>
          <a:solidFill>
            <a:schemeClr val="lt2"/>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sz="1500">
                <a:latin typeface="Consolas"/>
                <a:ea typeface="Consolas"/>
                <a:cs typeface="Consolas"/>
                <a:sym typeface="Consolas"/>
              </a:rPr>
              <a:t>error: `x` does not live long enough</a:t>
            </a:r>
            <a:endParaRPr b="1" sz="15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9  |     r = &amp;x;</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         ^^ borrowed value does not live long enough</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10 |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11 |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   - `x` dropped here while still borrowed</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12 |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13 |   assert_eq!(*r, 1);</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   ----------------- borrow later used here</a:t>
            </a:r>
            <a:endParaRPr b="1" sz="1500">
              <a:latin typeface="Consolas"/>
              <a:ea typeface="Consolas"/>
              <a:cs typeface="Consolas"/>
              <a:sym typeface="Consola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Esistenza in vita</a:t>
            </a:r>
            <a:endParaRPr/>
          </a:p>
        </p:txBody>
      </p:sp>
      <p:sp>
        <p:nvSpPr>
          <p:cNvPr id="953" name="Google Shape;953;p5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954" name="Google Shape;954;p58"/>
          <p:cNvSpPr txBox="1"/>
          <p:nvPr/>
        </p:nvSpPr>
        <p:spPr>
          <a:xfrm>
            <a:off x="416575" y="1089630"/>
            <a:ext cx="2538600" cy="3648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500">
                <a:latin typeface="Consolas"/>
                <a:ea typeface="Consolas"/>
                <a:cs typeface="Consolas"/>
                <a:sym typeface="Consolas"/>
              </a:rPr>
              <a:t>{</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let r;</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let x = 1;</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r = &amp;x;</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assert_eq!(*r, 1);</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a:t>
            </a:r>
            <a:endParaRPr b="1" sz="1500">
              <a:latin typeface="Consolas"/>
              <a:ea typeface="Consolas"/>
              <a:cs typeface="Consolas"/>
              <a:sym typeface="Consolas"/>
            </a:endParaRPr>
          </a:p>
        </p:txBody>
      </p:sp>
      <p:sp>
        <p:nvSpPr>
          <p:cNvPr id="955" name="Google Shape;955;p58"/>
          <p:cNvSpPr/>
          <p:nvPr/>
        </p:nvSpPr>
        <p:spPr>
          <a:xfrm>
            <a:off x="794100" y="2378430"/>
            <a:ext cx="2017800" cy="914100"/>
          </a:xfrm>
          <a:prstGeom prst="wedgeRoundRectCallout">
            <a:avLst>
              <a:gd fmla="val 133874" name="adj1"/>
              <a:gd fmla="val -18852" name="adj2"/>
              <a:gd fmla="val 0" name="adj3"/>
            </a:avLst>
          </a:prstGeom>
          <a:solidFill>
            <a:srgbClr val="BDE8F8">
              <a:alpha val="33880"/>
            </a:srgbClr>
          </a:solidFill>
          <a:ln cap="flat" cmpd="sng" w="3810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956" name="Google Shape;956;p58"/>
          <p:cNvSpPr txBox="1"/>
          <p:nvPr/>
        </p:nvSpPr>
        <p:spPr>
          <a:xfrm>
            <a:off x="4572000" y="2448720"/>
            <a:ext cx="36684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800"/>
              <a:t>Intervallo di esistenza di x</a:t>
            </a:r>
            <a:endParaRPr b="1" sz="1800"/>
          </a:p>
          <a:p>
            <a:pPr indent="0" lvl="0" marL="0" rtl="0" algn="ctr">
              <a:spcBef>
                <a:spcPts val="0"/>
              </a:spcBef>
              <a:spcAft>
                <a:spcPts val="0"/>
              </a:spcAft>
              <a:buNone/>
            </a:pPr>
            <a:r>
              <a:t/>
            </a:r>
            <a:endParaRPr b="1" sz="1800"/>
          </a:p>
          <a:p>
            <a:pPr indent="0" lvl="0" marL="0" rtl="0" algn="ctr">
              <a:spcBef>
                <a:spcPts val="0"/>
              </a:spcBef>
              <a:spcAft>
                <a:spcPts val="0"/>
              </a:spcAft>
              <a:buNone/>
            </a:pPr>
            <a:r>
              <a:rPr i="1" lang="it" sz="1800"/>
              <a:t>qualunque riferimento ad x, non può eccedere questo periodo</a:t>
            </a:r>
            <a:endParaRPr i="1" sz="18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Esistenza in vita</a:t>
            </a:r>
            <a:endParaRPr/>
          </a:p>
        </p:txBody>
      </p:sp>
      <p:sp>
        <p:nvSpPr>
          <p:cNvPr id="962" name="Google Shape;962;p5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963" name="Google Shape;963;p59"/>
          <p:cNvSpPr txBox="1"/>
          <p:nvPr/>
        </p:nvSpPr>
        <p:spPr>
          <a:xfrm>
            <a:off x="416575" y="1089630"/>
            <a:ext cx="2538600" cy="3648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500">
                <a:latin typeface="Consolas"/>
                <a:ea typeface="Consolas"/>
                <a:cs typeface="Consolas"/>
                <a:sym typeface="Consolas"/>
              </a:rPr>
              <a:t>{</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let r;</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let x = 1;</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r = &amp;x;</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assert_eq!(*r, 1);</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a:t>
            </a:r>
            <a:endParaRPr b="1" sz="1500">
              <a:latin typeface="Consolas"/>
              <a:ea typeface="Consolas"/>
              <a:cs typeface="Consolas"/>
              <a:sym typeface="Consolas"/>
            </a:endParaRPr>
          </a:p>
        </p:txBody>
      </p:sp>
      <p:sp>
        <p:nvSpPr>
          <p:cNvPr id="964" name="Google Shape;964;p59"/>
          <p:cNvSpPr/>
          <p:nvPr/>
        </p:nvSpPr>
        <p:spPr>
          <a:xfrm>
            <a:off x="598875" y="2984524"/>
            <a:ext cx="2121900" cy="1206900"/>
          </a:xfrm>
          <a:prstGeom prst="wedgeRoundRectCallout">
            <a:avLst>
              <a:gd fmla="val 154939" name="adj1"/>
              <a:gd fmla="val -70667" name="adj2"/>
              <a:gd fmla="val 0" name="adj3"/>
            </a:avLst>
          </a:prstGeom>
          <a:solidFill>
            <a:srgbClr val="BDE8F8">
              <a:alpha val="33880"/>
            </a:srgbClr>
          </a:solidFill>
          <a:ln cap="flat" cmpd="sng" w="3810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965" name="Google Shape;965;p59"/>
          <p:cNvSpPr txBox="1"/>
          <p:nvPr/>
        </p:nvSpPr>
        <p:spPr>
          <a:xfrm>
            <a:off x="4572000" y="2448720"/>
            <a:ext cx="36684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800"/>
              <a:t>Intervallo di validità di r </a:t>
            </a:r>
            <a:endParaRPr b="1" sz="1800"/>
          </a:p>
          <a:p>
            <a:pPr indent="0" lvl="0" marL="0" rtl="0" algn="ctr">
              <a:spcBef>
                <a:spcPts val="0"/>
              </a:spcBef>
              <a:spcAft>
                <a:spcPts val="0"/>
              </a:spcAft>
              <a:buNone/>
            </a:pPr>
            <a:r>
              <a:t/>
            </a:r>
            <a:endParaRPr b="1" sz="1800"/>
          </a:p>
          <a:p>
            <a:pPr indent="0" lvl="0" marL="0" rtl="0" algn="ctr">
              <a:spcBef>
                <a:spcPts val="0"/>
              </a:spcBef>
              <a:spcAft>
                <a:spcPts val="0"/>
              </a:spcAft>
              <a:buNone/>
            </a:pPr>
            <a:r>
              <a:rPr i="1" lang="it" sz="1800"/>
              <a:t>il valore memorizzato al suo interno deve avere una vita che si estende per tutto questo periodo</a:t>
            </a:r>
            <a:endParaRPr i="1" sz="18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Esistenza in vita</a:t>
            </a:r>
            <a:endParaRPr/>
          </a:p>
        </p:txBody>
      </p:sp>
      <p:sp>
        <p:nvSpPr>
          <p:cNvPr id="971" name="Google Shape;971;p6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972" name="Google Shape;972;p60"/>
          <p:cNvSpPr txBox="1"/>
          <p:nvPr/>
        </p:nvSpPr>
        <p:spPr>
          <a:xfrm>
            <a:off x="416575" y="1089630"/>
            <a:ext cx="2538600" cy="3648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500">
                <a:latin typeface="Consolas"/>
                <a:ea typeface="Consolas"/>
                <a:cs typeface="Consolas"/>
                <a:sym typeface="Consolas"/>
              </a:rPr>
              <a:t>{</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let r;</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let x = 1;</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r = &amp;x;</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assert_eq!(*r, 1);</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a:t>
            </a:r>
            <a:endParaRPr b="1" sz="1500">
              <a:latin typeface="Consolas"/>
              <a:ea typeface="Consolas"/>
              <a:cs typeface="Consolas"/>
              <a:sym typeface="Consolas"/>
            </a:endParaRPr>
          </a:p>
        </p:txBody>
      </p:sp>
      <p:sp>
        <p:nvSpPr>
          <p:cNvPr id="973" name="Google Shape;973;p60"/>
          <p:cNvSpPr txBox="1"/>
          <p:nvPr/>
        </p:nvSpPr>
        <p:spPr>
          <a:xfrm>
            <a:off x="4572000" y="2448720"/>
            <a:ext cx="36684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800"/>
              <a:t>Violazione dei vincoli</a:t>
            </a:r>
            <a:endParaRPr b="1" sz="1800"/>
          </a:p>
          <a:p>
            <a:pPr indent="0" lvl="0" marL="0" rtl="0" algn="ctr">
              <a:spcBef>
                <a:spcPts val="0"/>
              </a:spcBef>
              <a:spcAft>
                <a:spcPts val="0"/>
              </a:spcAft>
              <a:buNone/>
            </a:pPr>
            <a:r>
              <a:t/>
            </a:r>
            <a:endParaRPr b="1" sz="1800"/>
          </a:p>
          <a:p>
            <a:pPr indent="0" lvl="0" marL="0" rtl="0" algn="ctr">
              <a:spcBef>
                <a:spcPts val="0"/>
              </a:spcBef>
              <a:spcAft>
                <a:spcPts val="0"/>
              </a:spcAft>
              <a:buNone/>
            </a:pPr>
            <a:r>
              <a:rPr i="1" lang="it" sz="1800"/>
              <a:t>Non è possibile soddisfare entrambi i vincoli </a:t>
            </a:r>
            <a:r>
              <a:rPr b="1" lang="it" sz="1800"/>
              <a:t>  </a:t>
            </a:r>
            <a:br>
              <a:rPr lang="it" sz="1800"/>
            </a:br>
            <a:endParaRPr i="1" sz="1800"/>
          </a:p>
        </p:txBody>
      </p:sp>
      <p:sp>
        <p:nvSpPr>
          <p:cNvPr id="974" name="Google Shape;974;p60"/>
          <p:cNvSpPr/>
          <p:nvPr/>
        </p:nvSpPr>
        <p:spPr>
          <a:xfrm>
            <a:off x="794100" y="2366708"/>
            <a:ext cx="2004900" cy="925500"/>
          </a:xfrm>
          <a:prstGeom prst="roundRect">
            <a:avLst>
              <a:gd fmla="val 16667" name="adj"/>
            </a:avLst>
          </a:prstGeom>
          <a:solidFill>
            <a:srgbClr val="F8BDBD">
              <a:alpha val="33880"/>
            </a:srgbClr>
          </a:solidFill>
          <a:ln cap="flat" cmpd="sng" w="3810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60"/>
          <p:cNvSpPr/>
          <p:nvPr/>
        </p:nvSpPr>
        <p:spPr>
          <a:xfrm>
            <a:off x="624875" y="3014916"/>
            <a:ext cx="2121900" cy="1206900"/>
          </a:xfrm>
          <a:prstGeom prst="roundRect">
            <a:avLst>
              <a:gd fmla="val 16667" name="adj"/>
            </a:avLst>
          </a:prstGeom>
          <a:solidFill>
            <a:srgbClr val="F8BDBD">
              <a:alpha val="33880"/>
            </a:srgbClr>
          </a:solidFill>
          <a:ln cap="flat" cmpd="sng" w="3810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Esistenza in vita</a:t>
            </a:r>
            <a:endParaRPr/>
          </a:p>
        </p:txBody>
      </p:sp>
      <p:sp>
        <p:nvSpPr>
          <p:cNvPr id="981" name="Google Shape;981;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Le regole, ovviamente, valgono anche quando si crea un riferimento ad una parte di una struttura dati più grande</a:t>
            </a:r>
            <a:endParaRPr/>
          </a:p>
          <a:p>
            <a:pPr indent="-317500" lvl="1" marL="914400" rtl="0" algn="l">
              <a:spcBef>
                <a:spcPts val="0"/>
              </a:spcBef>
              <a:spcAft>
                <a:spcPts val="0"/>
              </a:spcAft>
              <a:buSzPts val="1400"/>
              <a:buChar char="○"/>
            </a:pPr>
            <a:r>
              <a:rPr lang="it"/>
              <a:t>L’esistenza in vita del riferimento deve essere inclusa in quella della struttura a cui punta</a:t>
            </a:r>
            <a:endParaRPr/>
          </a:p>
          <a:p>
            <a:pPr indent="-317500" lvl="1" marL="914400" rtl="0" algn="l">
              <a:spcBef>
                <a:spcPts val="0"/>
              </a:spcBef>
              <a:spcAft>
                <a:spcPts val="0"/>
              </a:spcAft>
              <a:buSzPts val="1400"/>
              <a:buFont typeface="Consolas"/>
              <a:buChar char="○"/>
            </a:pPr>
            <a:r>
              <a:rPr lang="it">
                <a:latin typeface="Consolas"/>
                <a:ea typeface="Consolas"/>
                <a:cs typeface="Consolas"/>
                <a:sym typeface="Consolas"/>
              </a:rPr>
              <a:t>let v = vec![1, 2, 3];</a:t>
            </a:r>
            <a:endParaRPr>
              <a:latin typeface="Consolas"/>
              <a:ea typeface="Consolas"/>
              <a:cs typeface="Consolas"/>
              <a:sym typeface="Consolas"/>
            </a:endParaRPr>
          </a:p>
          <a:p>
            <a:pPr indent="-317500" lvl="1" marL="914400" rtl="0" algn="l">
              <a:spcBef>
                <a:spcPts val="0"/>
              </a:spcBef>
              <a:spcAft>
                <a:spcPts val="0"/>
              </a:spcAft>
              <a:buSzPts val="1400"/>
              <a:buFont typeface="Consolas"/>
              <a:buChar char="○"/>
            </a:pPr>
            <a:r>
              <a:rPr lang="it">
                <a:latin typeface="Consolas"/>
                <a:ea typeface="Consolas"/>
                <a:cs typeface="Consolas"/>
                <a:sym typeface="Consolas"/>
              </a:rPr>
              <a:t>let r = &amp;v[1];			// v deve durare più a lungo di r</a:t>
            </a:r>
            <a:endParaRPr>
              <a:latin typeface="Consolas"/>
              <a:ea typeface="Consolas"/>
              <a:cs typeface="Consolas"/>
              <a:sym typeface="Consolas"/>
            </a:endParaRPr>
          </a:p>
          <a:p>
            <a:pPr indent="-342900" lvl="0" marL="457200" marR="0" rtl="0" algn="l">
              <a:lnSpc>
                <a:spcPct val="115000"/>
              </a:lnSpc>
              <a:spcBef>
                <a:spcPts val="0"/>
              </a:spcBef>
              <a:spcAft>
                <a:spcPts val="0"/>
              </a:spcAft>
              <a:buSzPts val="1800"/>
              <a:buChar char="●"/>
            </a:pPr>
            <a:r>
              <a:rPr lang="it"/>
              <a:t>Se, al contrario si memorizzano dei riferimenti in una struttura, tutti questi riferimenti devono avere una durata di vita maggiore della struttura dati in cui sono memorizzati</a:t>
            </a:r>
            <a:endParaRPr/>
          </a:p>
        </p:txBody>
      </p:sp>
      <p:sp>
        <p:nvSpPr>
          <p:cNvPr id="982" name="Google Shape;982;p6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Esistenza in vita</a:t>
            </a:r>
            <a:endParaRPr/>
          </a:p>
        </p:txBody>
      </p:sp>
      <p:sp>
        <p:nvSpPr>
          <p:cNvPr id="988" name="Google Shape;988;p6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989" name="Google Shape;989;p62"/>
          <p:cNvSpPr txBox="1"/>
          <p:nvPr/>
        </p:nvSpPr>
        <p:spPr>
          <a:xfrm>
            <a:off x="311700" y="1097824"/>
            <a:ext cx="2648100" cy="19086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let mut v = Vec::new();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let a = 1;</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v.push(&amp;a);</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println!("{:?}", v);</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990" name="Google Shape;990;p62"/>
          <p:cNvSpPr txBox="1"/>
          <p:nvPr/>
        </p:nvSpPr>
        <p:spPr>
          <a:xfrm>
            <a:off x="2739900" y="2459964"/>
            <a:ext cx="6092400" cy="2124000"/>
          </a:xfrm>
          <a:prstGeom prst="rect">
            <a:avLst/>
          </a:prstGeom>
          <a:solidFill>
            <a:schemeClr val="lt2"/>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error[E0597]: `a` does not live long enough</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--&gt; src/main.rs:5:14</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5 |       v.push(&amp;a);</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 borrowed value does not live long enough</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6 |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 `a` dropped here while still borrowed</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7 |   println!("{:?}", v);</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 borrow later used here</a:t>
            </a:r>
            <a:endParaRPr b="1">
              <a:latin typeface="Consolas"/>
              <a:ea typeface="Consolas"/>
              <a:cs typeface="Consolas"/>
              <a:sym typeface="Consola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e funzioni</a:t>
            </a:r>
            <a:endParaRPr/>
          </a:p>
        </p:txBody>
      </p:sp>
      <p:sp>
        <p:nvSpPr>
          <p:cNvPr id="996" name="Google Shape;996;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Se una funzione riceve un parametro di tipo riferimento (mutabile o meno), il tempo di vita del riferimento diventa parte integrante della firma della funzione</a:t>
            </a:r>
            <a:endParaRPr/>
          </a:p>
          <a:p>
            <a:pPr indent="-317500" lvl="1" marL="914400" rtl="0" algn="l">
              <a:spcBef>
                <a:spcPts val="0"/>
              </a:spcBef>
              <a:spcAft>
                <a:spcPts val="0"/>
              </a:spcAft>
              <a:buSzPts val="1400"/>
              <a:buChar char="○"/>
            </a:pPr>
            <a:r>
              <a:rPr lang="it"/>
              <a:t>E’ necessario infatti che tutte le operazioni eseguite dalla funzione sul riferimento </a:t>
            </a:r>
            <a:r>
              <a:rPr b="1" lang="it">
                <a:solidFill>
                  <a:srgbClr val="0B5394"/>
                </a:solidFill>
              </a:rPr>
              <a:t>siano compatibili</a:t>
            </a:r>
            <a:r>
              <a:rPr lang="it"/>
              <a:t> con la validità del dato memorizzato al suo interno</a:t>
            </a:r>
            <a:endParaRPr/>
          </a:p>
          <a:p>
            <a:pPr indent="-317500" lvl="1" marL="914400" rtl="0" algn="l">
              <a:spcBef>
                <a:spcPts val="0"/>
              </a:spcBef>
              <a:spcAft>
                <a:spcPts val="0"/>
              </a:spcAft>
              <a:buSzPts val="1400"/>
              <a:buFont typeface="Consolas"/>
              <a:buChar char="○"/>
            </a:pPr>
            <a:r>
              <a:rPr b="1" lang="it">
                <a:latin typeface="Consolas"/>
                <a:ea typeface="Consolas"/>
                <a:cs typeface="Consolas"/>
                <a:sym typeface="Consolas"/>
              </a:rPr>
              <a:t>fn f(p: &amp;i32) { … } ⇒ </a:t>
            </a:r>
            <a:r>
              <a:rPr b="1" lang="it">
                <a:highlight>
                  <a:schemeClr val="accent6"/>
                </a:highlight>
                <a:latin typeface="Consolas"/>
                <a:ea typeface="Consolas"/>
                <a:cs typeface="Consolas"/>
                <a:sym typeface="Consolas"/>
              </a:rPr>
              <a:t>fn f</a:t>
            </a:r>
            <a:r>
              <a:rPr b="1" lang="it">
                <a:solidFill>
                  <a:srgbClr val="980000"/>
                </a:solidFill>
                <a:highlight>
                  <a:schemeClr val="accent6"/>
                </a:highlight>
                <a:latin typeface="Consolas"/>
                <a:ea typeface="Consolas"/>
                <a:cs typeface="Consolas"/>
                <a:sym typeface="Consolas"/>
              </a:rPr>
              <a:t>&lt;'a&gt;</a:t>
            </a:r>
            <a:r>
              <a:rPr b="1" lang="it">
                <a:highlight>
                  <a:schemeClr val="accent6"/>
                </a:highlight>
                <a:latin typeface="Consolas"/>
                <a:ea typeface="Consolas"/>
                <a:cs typeface="Consolas"/>
                <a:sym typeface="Consolas"/>
              </a:rPr>
              <a:t>(p: &amp;</a:t>
            </a:r>
            <a:r>
              <a:rPr b="1" lang="it">
                <a:solidFill>
                  <a:srgbClr val="980000"/>
                </a:solidFill>
                <a:highlight>
                  <a:schemeClr val="accent6"/>
                </a:highlight>
                <a:latin typeface="Consolas"/>
                <a:ea typeface="Consolas"/>
                <a:cs typeface="Consolas"/>
                <a:sym typeface="Consolas"/>
              </a:rPr>
              <a:t>'a</a:t>
            </a:r>
            <a:r>
              <a:rPr b="1" lang="it">
                <a:highlight>
                  <a:schemeClr val="accent6"/>
                </a:highlight>
                <a:latin typeface="Consolas"/>
                <a:ea typeface="Consolas"/>
                <a:cs typeface="Consolas"/>
                <a:sym typeface="Consolas"/>
              </a:rPr>
              <a:t> i32) { … }</a:t>
            </a:r>
            <a:endParaRPr b="1">
              <a:highlight>
                <a:schemeClr val="accent6"/>
              </a:highlight>
              <a:latin typeface="Consolas"/>
              <a:ea typeface="Consolas"/>
              <a:cs typeface="Consolas"/>
              <a:sym typeface="Consolas"/>
            </a:endParaRPr>
          </a:p>
          <a:p>
            <a:pPr indent="-317500" lvl="1" marL="914400" rtl="0" algn="l">
              <a:spcBef>
                <a:spcPts val="0"/>
              </a:spcBef>
              <a:spcAft>
                <a:spcPts val="0"/>
              </a:spcAft>
              <a:buSzPts val="1400"/>
              <a:buChar char="○"/>
            </a:pPr>
            <a:r>
              <a:rPr lang="it"/>
              <a:t>Il compilatore provvede in molti casi a effettuare autonomamente la riscrittura indicata (</a:t>
            </a:r>
            <a:r>
              <a:rPr i="1" lang="it"/>
              <a:t>lifetime elision</a:t>
            </a:r>
            <a:r>
              <a:rPr lang="it"/>
              <a:t>)</a:t>
            </a:r>
            <a:endParaRPr/>
          </a:p>
          <a:p>
            <a:pPr indent="-342900" lvl="0" marL="457200" rtl="0" algn="l">
              <a:spcBef>
                <a:spcPts val="0"/>
              </a:spcBef>
              <a:spcAft>
                <a:spcPts val="0"/>
              </a:spcAft>
              <a:buSzPts val="1800"/>
              <a:buChar char="●"/>
            </a:pPr>
            <a:r>
              <a:rPr lang="it"/>
              <a:t>Se la funzione riceve </a:t>
            </a:r>
            <a:r>
              <a:rPr b="1" lang="it">
                <a:solidFill>
                  <a:srgbClr val="0B5394"/>
                </a:solidFill>
              </a:rPr>
              <a:t>più riferimenti</a:t>
            </a:r>
            <a:r>
              <a:rPr lang="it"/>
              <a:t>, può essere necessario indicare se il loro tempo di vita sia vincolato al più breve o se siano disgiunti</a:t>
            </a:r>
            <a:endParaRPr/>
          </a:p>
          <a:p>
            <a:pPr indent="-317500" lvl="1" marL="914400" rtl="0" algn="l">
              <a:spcBef>
                <a:spcPts val="0"/>
              </a:spcBef>
              <a:spcAft>
                <a:spcPts val="0"/>
              </a:spcAft>
              <a:buSzPts val="1400"/>
              <a:buChar char="○"/>
            </a:pPr>
            <a:r>
              <a:rPr lang="it"/>
              <a:t>Nel primo caso si usa un solo identificatore </a:t>
            </a:r>
            <a:r>
              <a:rPr b="1" lang="it">
                <a:highlight>
                  <a:schemeClr val="accent6"/>
                </a:highlight>
                <a:latin typeface="Consolas"/>
                <a:ea typeface="Consolas"/>
                <a:cs typeface="Consolas"/>
                <a:sym typeface="Consolas"/>
              </a:rPr>
              <a:t>fn f</a:t>
            </a:r>
            <a:r>
              <a:rPr b="1" lang="it">
                <a:solidFill>
                  <a:srgbClr val="980000"/>
                </a:solidFill>
                <a:highlight>
                  <a:schemeClr val="accent6"/>
                </a:highlight>
                <a:latin typeface="Consolas"/>
                <a:ea typeface="Consolas"/>
                <a:cs typeface="Consolas"/>
                <a:sym typeface="Consolas"/>
              </a:rPr>
              <a:t>&lt;'a&gt;</a:t>
            </a:r>
            <a:r>
              <a:rPr b="1" lang="it">
                <a:highlight>
                  <a:schemeClr val="accent6"/>
                </a:highlight>
                <a:latin typeface="Consolas"/>
                <a:ea typeface="Consolas"/>
                <a:cs typeface="Consolas"/>
                <a:sym typeface="Consolas"/>
              </a:rPr>
              <a:t>(p1: &amp;</a:t>
            </a:r>
            <a:r>
              <a:rPr b="1" lang="it">
                <a:solidFill>
                  <a:srgbClr val="980000"/>
                </a:solidFill>
                <a:highlight>
                  <a:schemeClr val="accent6"/>
                </a:highlight>
                <a:latin typeface="Consolas"/>
                <a:ea typeface="Consolas"/>
                <a:cs typeface="Consolas"/>
                <a:sym typeface="Consolas"/>
              </a:rPr>
              <a:t>'a</a:t>
            </a:r>
            <a:r>
              <a:rPr b="1" lang="it">
                <a:highlight>
                  <a:schemeClr val="accent6"/>
                </a:highlight>
                <a:latin typeface="Consolas"/>
                <a:ea typeface="Consolas"/>
                <a:cs typeface="Consolas"/>
                <a:sym typeface="Consolas"/>
              </a:rPr>
              <a:t> i32, p2:&amp;</a:t>
            </a:r>
            <a:r>
              <a:rPr b="1" lang="it">
                <a:solidFill>
                  <a:srgbClr val="980000"/>
                </a:solidFill>
                <a:highlight>
                  <a:schemeClr val="accent6"/>
                </a:highlight>
                <a:latin typeface="Consolas"/>
                <a:ea typeface="Consolas"/>
                <a:cs typeface="Consolas"/>
                <a:sym typeface="Consolas"/>
              </a:rPr>
              <a:t>'a</a:t>
            </a:r>
            <a:r>
              <a:rPr b="1" lang="it">
                <a:highlight>
                  <a:schemeClr val="accent6"/>
                </a:highlight>
                <a:latin typeface="Consolas"/>
                <a:ea typeface="Consolas"/>
                <a:cs typeface="Consolas"/>
                <a:sym typeface="Consolas"/>
              </a:rPr>
              <a:t> i32) { … }</a:t>
            </a:r>
            <a:endParaRPr/>
          </a:p>
          <a:p>
            <a:pPr indent="-317500" lvl="1" marL="914400" rtl="0" algn="l">
              <a:spcBef>
                <a:spcPts val="0"/>
              </a:spcBef>
              <a:spcAft>
                <a:spcPts val="0"/>
              </a:spcAft>
              <a:buSzPts val="1400"/>
              <a:buChar char="○"/>
            </a:pPr>
            <a:r>
              <a:rPr lang="it"/>
              <a:t>Nel secondo si usano etichette diverse </a:t>
            </a:r>
            <a:r>
              <a:rPr b="1" lang="it">
                <a:highlight>
                  <a:schemeClr val="accent6"/>
                </a:highlight>
                <a:latin typeface="Consolas"/>
                <a:ea typeface="Consolas"/>
                <a:cs typeface="Consolas"/>
                <a:sym typeface="Consolas"/>
              </a:rPr>
              <a:t>fn f</a:t>
            </a:r>
            <a:r>
              <a:rPr b="1" lang="it">
                <a:solidFill>
                  <a:srgbClr val="980000"/>
                </a:solidFill>
                <a:highlight>
                  <a:schemeClr val="accent6"/>
                </a:highlight>
                <a:latin typeface="Consolas"/>
                <a:ea typeface="Consolas"/>
                <a:cs typeface="Consolas"/>
                <a:sym typeface="Consolas"/>
              </a:rPr>
              <a:t>&lt;'a, 'b&gt;</a:t>
            </a:r>
            <a:r>
              <a:rPr b="1" lang="it">
                <a:highlight>
                  <a:schemeClr val="accent6"/>
                </a:highlight>
                <a:latin typeface="Consolas"/>
                <a:ea typeface="Consolas"/>
                <a:cs typeface="Consolas"/>
                <a:sym typeface="Consolas"/>
              </a:rPr>
              <a:t>(p1: &amp;</a:t>
            </a:r>
            <a:r>
              <a:rPr b="1" lang="it">
                <a:solidFill>
                  <a:srgbClr val="980000"/>
                </a:solidFill>
                <a:highlight>
                  <a:schemeClr val="accent6"/>
                </a:highlight>
                <a:latin typeface="Consolas"/>
                <a:ea typeface="Consolas"/>
                <a:cs typeface="Consolas"/>
                <a:sym typeface="Consolas"/>
              </a:rPr>
              <a:t>'a</a:t>
            </a:r>
            <a:r>
              <a:rPr b="1" lang="it">
                <a:highlight>
                  <a:schemeClr val="accent6"/>
                </a:highlight>
                <a:latin typeface="Consolas"/>
                <a:ea typeface="Consolas"/>
                <a:cs typeface="Consolas"/>
                <a:sym typeface="Consolas"/>
              </a:rPr>
              <a:t> i32, p2:&amp;</a:t>
            </a:r>
            <a:r>
              <a:rPr b="1" lang="it">
                <a:solidFill>
                  <a:srgbClr val="980000"/>
                </a:solidFill>
                <a:highlight>
                  <a:schemeClr val="accent6"/>
                </a:highlight>
                <a:latin typeface="Consolas"/>
                <a:ea typeface="Consolas"/>
                <a:cs typeface="Consolas"/>
                <a:sym typeface="Consolas"/>
              </a:rPr>
              <a:t>'b</a:t>
            </a:r>
            <a:r>
              <a:rPr b="1" lang="it">
                <a:highlight>
                  <a:schemeClr val="accent6"/>
                </a:highlight>
                <a:latin typeface="Consolas"/>
                <a:ea typeface="Consolas"/>
                <a:cs typeface="Consolas"/>
                <a:sym typeface="Consolas"/>
              </a:rPr>
              <a:t> i32) { … }</a:t>
            </a:r>
            <a:endParaRPr/>
          </a:p>
        </p:txBody>
      </p:sp>
      <p:sp>
        <p:nvSpPr>
          <p:cNvPr id="997" name="Google Shape;997;p6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e funzioni</a:t>
            </a:r>
            <a:endParaRPr/>
          </a:p>
        </p:txBody>
      </p:sp>
      <p:sp>
        <p:nvSpPr>
          <p:cNvPr id="1003" name="Google Shape;1003;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Uno dei casi più frequenti in cui il compilatore non riesce a dedurre il corretto tempo di vita è legato a funzioni che </a:t>
            </a:r>
            <a:r>
              <a:rPr b="1" lang="it">
                <a:solidFill>
                  <a:srgbClr val="0B5394"/>
                </a:solidFill>
              </a:rPr>
              <a:t>restituiscono un riferimento</a:t>
            </a:r>
            <a:r>
              <a:rPr lang="it"/>
              <a:t>,</a:t>
            </a:r>
            <a:r>
              <a:rPr lang="it">
                <a:solidFill>
                  <a:srgbClr val="0B5394"/>
                </a:solidFill>
              </a:rPr>
              <a:t> </a:t>
            </a:r>
            <a:r>
              <a:rPr lang="it"/>
              <a:t>estratto da una delle strutture dati ricevute in ingresso</a:t>
            </a:r>
            <a:endParaRPr/>
          </a:p>
          <a:p>
            <a:pPr indent="-317500" lvl="1" marL="914400" rtl="0" algn="l">
              <a:spcBef>
                <a:spcPts val="0"/>
              </a:spcBef>
              <a:spcAft>
                <a:spcPts val="0"/>
              </a:spcAft>
              <a:buSzPts val="1400"/>
              <a:buChar char="○"/>
            </a:pPr>
            <a:r>
              <a:rPr lang="it"/>
              <a:t>In tale caso occorre annotare il tipo restituito con la corretta etichetta</a:t>
            </a:r>
            <a:endParaRPr/>
          </a:p>
          <a:p>
            <a:pPr indent="-317500" lvl="1" marL="914400" rtl="0" algn="l">
              <a:spcBef>
                <a:spcPts val="0"/>
              </a:spcBef>
              <a:spcAft>
                <a:spcPts val="0"/>
              </a:spcAft>
              <a:buSzPts val="1400"/>
              <a:buChar char="○"/>
            </a:pPr>
            <a:r>
              <a:rPr b="1" lang="it">
                <a:highlight>
                  <a:schemeClr val="accent6"/>
                </a:highlight>
                <a:latin typeface="Consolas"/>
                <a:ea typeface="Consolas"/>
                <a:cs typeface="Consolas"/>
                <a:sym typeface="Consolas"/>
              </a:rPr>
              <a:t>fn f</a:t>
            </a:r>
            <a:r>
              <a:rPr b="1" lang="it">
                <a:solidFill>
                  <a:srgbClr val="980000"/>
                </a:solidFill>
                <a:highlight>
                  <a:schemeClr val="accent6"/>
                </a:highlight>
                <a:latin typeface="Consolas"/>
                <a:ea typeface="Consolas"/>
                <a:cs typeface="Consolas"/>
                <a:sym typeface="Consolas"/>
              </a:rPr>
              <a:t>&lt;'a, 'b&gt;</a:t>
            </a:r>
            <a:r>
              <a:rPr b="1" lang="it">
                <a:highlight>
                  <a:schemeClr val="accent6"/>
                </a:highlight>
                <a:latin typeface="Consolas"/>
                <a:ea typeface="Consolas"/>
                <a:cs typeface="Consolas"/>
                <a:sym typeface="Consolas"/>
              </a:rPr>
              <a:t>(p1: &amp;</a:t>
            </a:r>
            <a:r>
              <a:rPr b="1" lang="it">
                <a:solidFill>
                  <a:srgbClr val="980000"/>
                </a:solidFill>
                <a:highlight>
                  <a:schemeClr val="accent6"/>
                </a:highlight>
                <a:latin typeface="Consolas"/>
                <a:ea typeface="Consolas"/>
                <a:cs typeface="Consolas"/>
                <a:sym typeface="Consolas"/>
              </a:rPr>
              <a:t>'a</a:t>
            </a:r>
            <a:r>
              <a:rPr b="1" lang="it">
                <a:highlight>
                  <a:schemeClr val="accent6"/>
                </a:highlight>
                <a:latin typeface="Consolas"/>
                <a:ea typeface="Consolas"/>
                <a:cs typeface="Consolas"/>
                <a:sym typeface="Consolas"/>
              </a:rPr>
              <a:t> Foo, p2:&amp;</a:t>
            </a:r>
            <a:r>
              <a:rPr b="1" lang="it">
                <a:solidFill>
                  <a:srgbClr val="980000"/>
                </a:solidFill>
                <a:highlight>
                  <a:schemeClr val="accent6"/>
                </a:highlight>
                <a:latin typeface="Consolas"/>
                <a:ea typeface="Consolas"/>
                <a:cs typeface="Consolas"/>
                <a:sym typeface="Consolas"/>
              </a:rPr>
              <a:t>'b</a:t>
            </a:r>
            <a:r>
              <a:rPr b="1" lang="it">
                <a:highlight>
                  <a:schemeClr val="accent6"/>
                </a:highlight>
                <a:latin typeface="Consolas"/>
                <a:ea typeface="Consolas"/>
                <a:cs typeface="Consolas"/>
                <a:sym typeface="Consolas"/>
              </a:rPr>
              <a:t> Bar) -&gt; &amp;</a:t>
            </a:r>
            <a:r>
              <a:rPr b="1" lang="it">
                <a:solidFill>
                  <a:srgbClr val="980000"/>
                </a:solidFill>
                <a:highlight>
                  <a:schemeClr val="accent6"/>
                </a:highlight>
                <a:latin typeface="Consolas"/>
                <a:ea typeface="Consolas"/>
                <a:cs typeface="Consolas"/>
                <a:sym typeface="Consolas"/>
              </a:rPr>
              <a:t>'b</a:t>
            </a:r>
            <a:r>
              <a:rPr b="1" lang="it">
                <a:highlight>
                  <a:schemeClr val="accent6"/>
                </a:highlight>
                <a:latin typeface="Consolas"/>
                <a:ea typeface="Consolas"/>
                <a:cs typeface="Consolas"/>
                <a:sym typeface="Consolas"/>
              </a:rPr>
              <a:t> i32 { /*…*/ return &amp;p2.y; }</a:t>
            </a:r>
            <a:endParaRPr b="1">
              <a:highlight>
                <a:schemeClr val="accent6"/>
              </a:highlight>
              <a:latin typeface="Consolas"/>
              <a:ea typeface="Consolas"/>
              <a:cs typeface="Consolas"/>
              <a:sym typeface="Consolas"/>
            </a:endParaRPr>
          </a:p>
          <a:p>
            <a:pPr indent="-342900" lvl="0" marL="457200" rtl="0" algn="l">
              <a:spcBef>
                <a:spcPts val="0"/>
              </a:spcBef>
              <a:spcAft>
                <a:spcPts val="0"/>
              </a:spcAft>
              <a:buSzPts val="1800"/>
              <a:buFont typeface="Consolas"/>
              <a:buChar char="●"/>
            </a:pPr>
            <a:r>
              <a:rPr lang="it"/>
              <a:t>Se la funzione memorizza il riferimento ricevuto in ingresso in una struttura dati, il compilatore deduce che </a:t>
            </a:r>
            <a:r>
              <a:rPr b="1" lang="it">
                <a:solidFill>
                  <a:srgbClr val="0B5394"/>
                </a:solidFill>
              </a:rPr>
              <a:t>il tempo di vita della struttura</a:t>
            </a:r>
            <a:r>
              <a:rPr lang="it"/>
              <a:t> in cui il riferimento è memorizzato </a:t>
            </a:r>
            <a:r>
              <a:rPr b="1" lang="it">
                <a:solidFill>
                  <a:srgbClr val="0B5394"/>
                </a:solidFill>
              </a:rPr>
              <a:t>deve essere incluso </a:t>
            </a:r>
            <a:r>
              <a:rPr lang="it"/>
              <a:t>o coincidente con </a:t>
            </a:r>
            <a:r>
              <a:rPr b="1" lang="it">
                <a:solidFill>
                  <a:srgbClr val="0B5394"/>
                </a:solidFill>
              </a:rPr>
              <a:t>il tempo di vita del riferimento</a:t>
            </a:r>
            <a:endParaRPr b="1">
              <a:solidFill>
                <a:srgbClr val="0B5394"/>
              </a:solidFill>
            </a:endParaRPr>
          </a:p>
          <a:p>
            <a:pPr indent="-317500" lvl="1" marL="914400" rtl="0" algn="l">
              <a:spcBef>
                <a:spcPts val="0"/>
              </a:spcBef>
              <a:spcAft>
                <a:spcPts val="0"/>
              </a:spcAft>
              <a:buSzPts val="1400"/>
              <a:buChar char="○"/>
            </a:pPr>
            <a:r>
              <a:rPr lang="it"/>
              <a:t>Se questo non avviene, il compilatore identifica l’errore e impedisce alla compilazione di avere successo</a:t>
            </a:r>
            <a:endParaRPr/>
          </a:p>
        </p:txBody>
      </p:sp>
      <p:sp>
        <p:nvSpPr>
          <p:cNvPr id="1004" name="Google Shape;1004;p6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e funzioni</a:t>
            </a:r>
            <a:endParaRPr/>
          </a:p>
        </p:txBody>
      </p:sp>
      <p:sp>
        <p:nvSpPr>
          <p:cNvPr id="1010" name="Google Shape;1010;p6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11" name="Google Shape;1011;p65"/>
          <p:cNvSpPr txBox="1"/>
          <p:nvPr/>
        </p:nvSpPr>
        <p:spPr>
          <a:xfrm>
            <a:off x="468650" y="1154138"/>
            <a:ext cx="8003700" cy="923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sz="1600">
                <a:latin typeface="Consolas"/>
                <a:ea typeface="Consolas"/>
                <a:cs typeface="Consolas"/>
                <a:sym typeface="Consolas"/>
              </a:rPr>
              <a:t>fn f(s: &amp;str, v: &amp;mut Vec&lt;&amp;str&gt;) {</a:t>
            </a:r>
            <a:endParaRPr b="1"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600">
                <a:latin typeface="Consolas"/>
                <a:ea typeface="Consolas"/>
                <a:cs typeface="Consolas"/>
                <a:sym typeface="Consolas"/>
              </a:rPr>
              <a:t>    v.push(s);</a:t>
            </a:r>
            <a:endParaRPr b="1" sz="1600">
              <a:latin typeface="Consolas"/>
              <a:ea typeface="Consolas"/>
              <a:cs typeface="Consolas"/>
              <a:sym typeface="Consolas"/>
            </a:endParaRPr>
          </a:p>
          <a:p>
            <a:pPr indent="0" lvl="0" marL="0" rtl="0" algn="l">
              <a:spcBef>
                <a:spcPts val="0"/>
              </a:spcBef>
              <a:spcAft>
                <a:spcPts val="0"/>
              </a:spcAft>
              <a:buNone/>
            </a:pPr>
            <a:r>
              <a:rPr b="1" lang="it" sz="1600">
                <a:latin typeface="Consolas"/>
                <a:ea typeface="Consolas"/>
                <a:cs typeface="Consolas"/>
                <a:sym typeface="Consolas"/>
              </a:rPr>
              <a:t>}</a:t>
            </a:r>
            <a:endParaRPr b="1" sz="1600">
              <a:latin typeface="Consolas"/>
              <a:ea typeface="Consolas"/>
              <a:cs typeface="Consolas"/>
              <a:sym typeface="Consolas"/>
            </a:endParaRPr>
          </a:p>
        </p:txBody>
      </p:sp>
      <p:sp>
        <p:nvSpPr>
          <p:cNvPr id="1012" name="Google Shape;1012;p65"/>
          <p:cNvSpPr txBox="1"/>
          <p:nvPr/>
        </p:nvSpPr>
        <p:spPr>
          <a:xfrm>
            <a:off x="468650" y="2343285"/>
            <a:ext cx="8003700" cy="2154900"/>
          </a:xfrm>
          <a:prstGeom prst="rect">
            <a:avLst/>
          </a:prstGeom>
          <a:solidFill>
            <a:schemeClr val="lt2"/>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600">
                <a:solidFill>
                  <a:srgbClr val="BF1B1B"/>
                </a:solidFill>
                <a:latin typeface="Consolas"/>
                <a:ea typeface="Consolas"/>
                <a:cs typeface="Consolas"/>
                <a:sym typeface="Consolas"/>
              </a:rPr>
              <a:t>error: lifetime mismatch</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  |</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1 | fn f(s: &amp;str, v: &amp;mut Vec&lt;&amp;str&gt;) {</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  |         ----              ----</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  |         |</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  |         these two types are declared with different lifetimes...</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2 |     v.push(s);</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  |            ^ ...but data from `s` flows into `v` here</a:t>
            </a:r>
            <a:endParaRPr b="1" sz="1600">
              <a:latin typeface="Consolas"/>
              <a:ea typeface="Consolas"/>
              <a:cs typeface="Consolas"/>
              <a:sym typeface="Consola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e funzioni</a:t>
            </a:r>
            <a:endParaRPr/>
          </a:p>
        </p:txBody>
      </p:sp>
      <p:sp>
        <p:nvSpPr>
          <p:cNvPr id="1018" name="Google Shape;1018;p6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19" name="Google Shape;1019;p66"/>
          <p:cNvSpPr txBox="1"/>
          <p:nvPr/>
        </p:nvSpPr>
        <p:spPr>
          <a:xfrm>
            <a:off x="468650" y="1154138"/>
            <a:ext cx="8003700" cy="923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600">
                <a:latin typeface="Consolas"/>
                <a:ea typeface="Consolas"/>
                <a:cs typeface="Consolas"/>
                <a:sym typeface="Consolas"/>
              </a:rPr>
              <a:t>fn f</a:t>
            </a:r>
            <a:r>
              <a:rPr b="1" lang="it" sz="1600">
                <a:solidFill>
                  <a:srgbClr val="BF1B1B"/>
                </a:solidFill>
                <a:latin typeface="Consolas"/>
                <a:ea typeface="Consolas"/>
                <a:cs typeface="Consolas"/>
                <a:sym typeface="Consolas"/>
              </a:rPr>
              <a:t>&lt;'a&gt;</a:t>
            </a:r>
            <a:r>
              <a:rPr b="1" lang="it" sz="1600">
                <a:latin typeface="Consolas"/>
                <a:ea typeface="Consolas"/>
                <a:cs typeface="Consolas"/>
                <a:sym typeface="Consolas"/>
              </a:rPr>
              <a:t>(s: &amp;</a:t>
            </a:r>
            <a:r>
              <a:rPr b="1" lang="it" sz="1600">
                <a:solidFill>
                  <a:srgbClr val="BF1B1B"/>
                </a:solidFill>
                <a:latin typeface="Consolas"/>
                <a:ea typeface="Consolas"/>
                <a:cs typeface="Consolas"/>
                <a:sym typeface="Consolas"/>
              </a:rPr>
              <a:t>'a </a:t>
            </a:r>
            <a:r>
              <a:rPr b="1" lang="it" sz="1600">
                <a:latin typeface="Consolas"/>
                <a:ea typeface="Consolas"/>
                <a:cs typeface="Consolas"/>
                <a:sym typeface="Consolas"/>
              </a:rPr>
              <a:t>str, v: &amp;</a:t>
            </a:r>
            <a:r>
              <a:rPr b="1" lang="it" sz="1600">
                <a:solidFill>
                  <a:srgbClr val="BF1B1B"/>
                </a:solidFill>
                <a:latin typeface="Consolas"/>
                <a:ea typeface="Consolas"/>
                <a:cs typeface="Consolas"/>
                <a:sym typeface="Consolas"/>
              </a:rPr>
              <a:t>'a</a:t>
            </a:r>
            <a:r>
              <a:rPr b="1" lang="it" sz="1600">
                <a:latin typeface="Consolas"/>
                <a:ea typeface="Consolas"/>
                <a:cs typeface="Consolas"/>
                <a:sym typeface="Consolas"/>
              </a:rPr>
              <a:t> mut Vec&lt;&amp;str&gt;) {</a:t>
            </a:r>
            <a:endParaRPr b="1" sz="1600">
              <a:latin typeface="Consolas"/>
              <a:ea typeface="Consolas"/>
              <a:cs typeface="Consolas"/>
              <a:sym typeface="Consolas"/>
            </a:endParaRPr>
          </a:p>
          <a:p>
            <a:pPr indent="0" lvl="0" marL="0" rtl="0" algn="l">
              <a:spcBef>
                <a:spcPts val="0"/>
              </a:spcBef>
              <a:spcAft>
                <a:spcPts val="0"/>
              </a:spcAft>
              <a:buNone/>
            </a:pPr>
            <a:r>
              <a:rPr b="1" lang="it" sz="1600">
                <a:latin typeface="Consolas"/>
                <a:ea typeface="Consolas"/>
                <a:cs typeface="Consolas"/>
                <a:sym typeface="Consolas"/>
              </a:rPr>
              <a:t>    v.push(s);</a:t>
            </a:r>
            <a:endParaRPr b="1" sz="1600">
              <a:latin typeface="Consolas"/>
              <a:ea typeface="Consolas"/>
              <a:cs typeface="Consolas"/>
              <a:sym typeface="Consolas"/>
            </a:endParaRPr>
          </a:p>
          <a:p>
            <a:pPr indent="0" lvl="0" marL="0" rtl="0" algn="l">
              <a:spcBef>
                <a:spcPts val="0"/>
              </a:spcBef>
              <a:spcAft>
                <a:spcPts val="0"/>
              </a:spcAft>
              <a:buNone/>
            </a:pPr>
            <a:r>
              <a:rPr b="1" lang="it" sz="1600">
                <a:latin typeface="Consolas"/>
                <a:ea typeface="Consolas"/>
                <a:cs typeface="Consolas"/>
                <a:sym typeface="Consolas"/>
              </a:rPr>
              <a:t>}</a:t>
            </a:r>
            <a:endParaRPr b="1" sz="1600">
              <a:latin typeface="Consolas"/>
              <a:ea typeface="Consolas"/>
              <a:cs typeface="Consolas"/>
              <a:sym typeface="Consolas"/>
            </a:endParaRPr>
          </a:p>
        </p:txBody>
      </p:sp>
      <p:sp>
        <p:nvSpPr>
          <p:cNvPr id="1020" name="Google Shape;1020;p66"/>
          <p:cNvSpPr txBox="1"/>
          <p:nvPr/>
        </p:nvSpPr>
        <p:spPr>
          <a:xfrm>
            <a:off x="468650" y="2343285"/>
            <a:ext cx="8003700" cy="2154900"/>
          </a:xfrm>
          <a:prstGeom prst="rect">
            <a:avLst/>
          </a:prstGeom>
          <a:solidFill>
            <a:schemeClr val="lt2"/>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600">
                <a:solidFill>
                  <a:srgbClr val="BF1B1B"/>
                </a:solidFill>
                <a:latin typeface="Consolas"/>
                <a:ea typeface="Consolas"/>
                <a:cs typeface="Consolas"/>
                <a:sym typeface="Consolas"/>
              </a:rPr>
              <a:t>error: explicit lifetime required in the type of `v`</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  |</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1 | fn f&lt;'a&gt;(s: &amp;'a str, v: &amp;'a mut Vec&lt;&amp;str&gt;) {</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  |                        ----------------- help: add explicit lifetime `'a` to the type of `v`: `&amp;'a mut Vec&lt;&amp;'a str&gt;`</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2 |     v.push(s);</a:t>
            </a:r>
            <a:endParaRPr b="1" sz="1600">
              <a:solidFill>
                <a:schemeClr val="dk1"/>
              </a:solidFill>
              <a:latin typeface="Consolas"/>
              <a:ea typeface="Consolas"/>
              <a:cs typeface="Consolas"/>
              <a:sym typeface="Consolas"/>
            </a:endParaRPr>
          </a:p>
          <a:p>
            <a:pPr indent="0" lvl="0" marL="0" rtl="0" algn="l">
              <a:spcBef>
                <a:spcPts val="0"/>
              </a:spcBef>
              <a:spcAft>
                <a:spcPts val="0"/>
              </a:spcAft>
              <a:buNone/>
            </a:pPr>
            <a:r>
              <a:rPr b="1" lang="it" sz="1600">
                <a:solidFill>
                  <a:schemeClr val="dk1"/>
                </a:solidFill>
                <a:latin typeface="Consolas"/>
                <a:ea typeface="Consolas"/>
                <a:cs typeface="Consolas"/>
                <a:sym typeface="Consolas"/>
              </a:rPr>
              <a:t>  |            ^ lifetime `'a` required</a:t>
            </a:r>
            <a:endParaRPr b="1" sz="1600">
              <a:latin typeface="Consolas"/>
              <a:ea typeface="Consolas"/>
              <a:cs typeface="Consolas"/>
              <a:sym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e funzioni</a:t>
            </a:r>
            <a:endParaRPr/>
          </a:p>
        </p:txBody>
      </p:sp>
      <p:sp>
        <p:nvSpPr>
          <p:cNvPr id="1026" name="Google Shape;1026;p6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27" name="Google Shape;1027;p67"/>
          <p:cNvSpPr txBox="1"/>
          <p:nvPr/>
        </p:nvSpPr>
        <p:spPr>
          <a:xfrm>
            <a:off x="143300" y="908078"/>
            <a:ext cx="8003700" cy="27705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fn f</a:t>
            </a:r>
            <a:r>
              <a:rPr b="1" lang="it">
                <a:solidFill>
                  <a:srgbClr val="0000FF"/>
                </a:solidFill>
                <a:latin typeface="Consolas"/>
                <a:ea typeface="Consolas"/>
                <a:cs typeface="Consolas"/>
                <a:sym typeface="Consolas"/>
              </a:rPr>
              <a:t>&lt;'a&gt;</a:t>
            </a:r>
            <a:r>
              <a:rPr b="1" lang="it">
                <a:latin typeface="Consolas"/>
                <a:ea typeface="Consolas"/>
                <a:cs typeface="Consolas"/>
                <a:sym typeface="Consolas"/>
              </a:rPr>
              <a:t>(s: &amp;</a:t>
            </a:r>
            <a:r>
              <a:rPr b="1" lang="it">
                <a:solidFill>
                  <a:srgbClr val="0000FF"/>
                </a:solidFill>
                <a:latin typeface="Consolas"/>
                <a:ea typeface="Consolas"/>
                <a:cs typeface="Consolas"/>
                <a:sym typeface="Consolas"/>
              </a:rPr>
              <a:t>'a</a:t>
            </a:r>
            <a:r>
              <a:rPr b="1" lang="it">
                <a:solidFill>
                  <a:srgbClr val="BF1B1B"/>
                </a:solidFill>
                <a:latin typeface="Consolas"/>
                <a:ea typeface="Consolas"/>
                <a:cs typeface="Consolas"/>
                <a:sym typeface="Consolas"/>
              </a:rPr>
              <a:t> </a:t>
            </a:r>
            <a:r>
              <a:rPr b="1" lang="it">
                <a:latin typeface="Consolas"/>
                <a:ea typeface="Consolas"/>
                <a:cs typeface="Consolas"/>
                <a:sym typeface="Consolas"/>
              </a:rPr>
              <a:t>str, v: &amp;</a:t>
            </a:r>
            <a:r>
              <a:rPr b="1" lang="it">
                <a:solidFill>
                  <a:srgbClr val="0000FF"/>
                </a:solidFill>
                <a:latin typeface="Consolas"/>
                <a:ea typeface="Consolas"/>
                <a:cs typeface="Consolas"/>
                <a:sym typeface="Consolas"/>
              </a:rPr>
              <a:t>'a</a:t>
            </a:r>
            <a:r>
              <a:rPr b="1" lang="it">
                <a:latin typeface="Consolas"/>
                <a:ea typeface="Consolas"/>
                <a:cs typeface="Consolas"/>
                <a:sym typeface="Consolas"/>
              </a:rPr>
              <a:t> mut Vec&lt;&amp;</a:t>
            </a:r>
            <a:r>
              <a:rPr b="1" lang="it">
                <a:solidFill>
                  <a:srgbClr val="0000FF"/>
                </a:solidFill>
                <a:latin typeface="Consolas"/>
                <a:ea typeface="Consolas"/>
                <a:cs typeface="Consolas"/>
                <a:sym typeface="Consolas"/>
              </a:rPr>
              <a:t>'a</a:t>
            </a:r>
            <a:r>
              <a:rPr b="1" lang="it">
                <a:solidFill>
                  <a:srgbClr val="BF1B1B"/>
                </a:solidFill>
                <a:latin typeface="Consolas"/>
                <a:ea typeface="Consolas"/>
                <a:cs typeface="Consolas"/>
                <a:sym typeface="Consolas"/>
              </a:rPr>
              <a:t> </a:t>
            </a:r>
            <a:r>
              <a:rPr b="1" lang="it">
                <a:latin typeface="Consolas"/>
                <a:ea typeface="Consolas"/>
                <a:cs typeface="Consolas"/>
                <a:sym typeface="Consolas"/>
              </a:rPr>
              <a:t>str&gt;)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v.push(s);</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fn main()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let mut v: Vec&lt;&amp;str&gt; = Vec::new();</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let s= String::from("abc");</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r>
              <a:rPr b="1" lang="it">
                <a:solidFill>
                  <a:srgbClr val="BF1B1B"/>
                </a:solidFill>
                <a:latin typeface="Consolas"/>
                <a:ea typeface="Consolas"/>
                <a:cs typeface="Consolas"/>
                <a:sym typeface="Consolas"/>
              </a:rPr>
              <a:t>v.push(&amp;s);</a:t>
            </a:r>
            <a:endParaRPr b="1">
              <a:solidFill>
                <a:srgbClr val="BF1B1B"/>
              </a:solidFill>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println!("{:?}",v);</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1028" name="Google Shape;1028;p67"/>
          <p:cNvSpPr txBox="1"/>
          <p:nvPr/>
        </p:nvSpPr>
        <p:spPr>
          <a:xfrm>
            <a:off x="2580300" y="2810425"/>
            <a:ext cx="6511800" cy="1908600"/>
          </a:xfrm>
          <a:prstGeom prst="rect">
            <a:avLst/>
          </a:prstGeom>
          <a:solidFill>
            <a:schemeClr val="lt2"/>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solidFill>
                  <a:srgbClr val="BF1B1B"/>
                </a:solidFill>
                <a:latin typeface="Consolas"/>
                <a:ea typeface="Consolas"/>
                <a:cs typeface="Consolas"/>
                <a:sym typeface="Consolas"/>
              </a:rPr>
              <a:t>error: `s` does not live long enough</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9  |     v.push(&amp;s);</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            ^^ borrowed value does not live long enough</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10 |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   - `s` dropped here while still borrowed</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11 |   println!("{:?}",v);</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it">
                <a:solidFill>
                  <a:schemeClr val="dk1"/>
                </a:solidFill>
                <a:latin typeface="Consolas"/>
                <a:ea typeface="Consolas"/>
                <a:cs typeface="Consolas"/>
                <a:sym typeface="Consolas"/>
              </a:rPr>
              <a:t>   |                   - borrow later used here</a:t>
            </a:r>
            <a:endParaRPr b="1">
              <a:solidFill>
                <a:schemeClr val="dk1"/>
              </a:solidFill>
              <a:latin typeface="Consolas"/>
              <a:ea typeface="Consolas"/>
              <a:cs typeface="Consolas"/>
              <a:sym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e funzioni</a:t>
            </a:r>
            <a:endParaRPr/>
          </a:p>
        </p:txBody>
      </p:sp>
      <p:sp>
        <p:nvSpPr>
          <p:cNvPr id="1034" name="Google Shape;1034;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Se una funzione ha due o più riferimenti in ingresso e un riferimento in uscita, il compilatore non è in grado di decidere (senza eseguire il codice) da quale parametro provenga il riferimento in uscita</a:t>
            </a:r>
            <a:endParaRPr/>
          </a:p>
          <a:p>
            <a:pPr indent="-317500" lvl="1" marL="914400" rtl="0" algn="l">
              <a:spcBef>
                <a:spcPts val="0"/>
              </a:spcBef>
              <a:spcAft>
                <a:spcPts val="0"/>
              </a:spcAft>
              <a:buSzPts val="1400"/>
              <a:buChar char="○"/>
            </a:pPr>
            <a:r>
              <a:rPr lang="it"/>
              <a:t>L’inserimento degli identificatori nella firma della funzione risolve questa ambiguità</a:t>
            </a:r>
            <a:endParaRPr/>
          </a:p>
        </p:txBody>
      </p:sp>
      <p:sp>
        <p:nvSpPr>
          <p:cNvPr id="1035" name="Google Shape;1035;p6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36" name="Google Shape;1036;p68"/>
          <p:cNvSpPr txBox="1"/>
          <p:nvPr/>
        </p:nvSpPr>
        <p:spPr>
          <a:xfrm>
            <a:off x="1128750" y="2413575"/>
            <a:ext cx="6886500" cy="23397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fn f&lt;'b, </a:t>
            </a:r>
            <a:r>
              <a:rPr b="1" lang="it">
                <a:solidFill>
                  <a:srgbClr val="BF1B1B"/>
                </a:solidFill>
                <a:latin typeface="Consolas"/>
                <a:ea typeface="Consolas"/>
                <a:cs typeface="Consolas"/>
                <a:sym typeface="Consolas"/>
              </a:rPr>
              <a:t>'c</a:t>
            </a:r>
            <a:r>
              <a:rPr b="1" lang="it">
                <a:latin typeface="Consolas"/>
                <a:ea typeface="Consolas"/>
                <a:cs typeface="Consolas"/>
                <a:sym typeface="Consolas"/>
              </a:rPr>
              <a:t>&gt;(x: &amp;'b S, y: &amp;</a:t>
            </a:r>
            <a:r>
              <a:rPr b="1" lang="it">
                <a:solidFill>
                  <a:srgbClr val="BF1B1B"/>
                </a:solidFill>
                <a:latin typeface="Consolas"/>
                <a:ea typeface="Consolas"/>
                <a:cs typeface="Consolas"/>
                <a:sym typeface="Consolas"/>
              </a:rPr>
              <a:t>'c</a:t>
            </a:r>
            <a:r>
              <a:rPr b="1" lang="it">
                <a:latin typeface="Consolas"/>
                <a:ea typeface="Consolas"/>
                <a:cs typeface="Consolas"/>
                <a:sym typeface="Consolas"/>
              </a:rPr>
              <a:t> S) -&gt; &amp;</a:t>
            </a:r>
            <a:r>
              <a:rPr b="1" lang="it">
                <a:solidFill>
                  <a:srgbClr val="BF1B1B"/>
                </a:solidFill>
                <a:latin typeface="Consolas"/>
                <a:ea typeface="Consolas"/>
                <a:cs typeface="Consolas"/>
                <a:sym typeface="Consolas"/>
              </a:rPr>
              <a:t>'c</a:t>
            </a:r>
            <a:r>
              <a:rPr b="1" lang="it">
                <a:latin typeface="Consolas"/>
                <a:ea typeface="Consolas"/>
                <a:cs typeface="Consolas"/>
                <a:sym typeface="Consolas"/>
              </a:rPr>
              <a:t> u8 { ...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v1 = S(1);</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mut v2 = S(2);</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r = f(&amp;v1, &amp;v2); // Sappiamo che r è basato su v2,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che rimane nello stato di prestito</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mentre v1 viene rilasciato e può evolvere</a:t>
            </a:r>
            <a:endParaRPr b="1">
              <a:latin typeface="Consolas"/>
              <a:ea typeface="Consolas"/>
              <a:cs typeface="Consolas"/>
              <a:sym typeface="Consolas"/>
            </a:endParaRPr>
          </a:p>
          <a:p>
            <a:pPr indent="0" lvl="0" marL="0" rtl="0" algn="l">
              <a:spcBef>
                <a:spcPts val="0"/>
              </a:spcBef>
              <a:spcAft>
                <a:spcPts val="0"/>
              </a:spcAft>
              <a:buNone/>
            </a:pPr>
            <a:r>
              <a:rPr b="1" lang="it" strike="sngStrike">
                <a:solidFill>
                  <a:srgbClr val="980000"/>
                </a:solidFill>
                <a:latin typeface="Consolas"/>
                <a:ea typeface="Consolas"/>
                <a:cs typeface="Consolas"/>
                <a:sym typeface="Consolas"/>
              </a:rPr>
              <a:t>v2 = v1;        	  // Questa operazione crea un problema!</a:t>
            </a:r>
            <a:endParaRPr b="1" strike="sngStrike">
              <a:solidFill>
                <a:srgbClr val="980000"/>
              </a:solidFill>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print_byte(r);       // Qui finisce il prestito di r (e di v2)</a:t>
            </a:r>
            <a:endParaRPr b="1">
              <a:latin typeface="Consolas"/>
              <a:ea typeface="Consolas"/>
              <a:cs typeface="Consolas"/>
              <a:sym typeface="Consola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e funzioni</a:t>
            </a:r>
            <a:endParaRPr/>
          </a:p>
        </p:txBody>
      </p:sp>
      <p:sp>
        <p:nvSpPr>
          <p:cNvPr id="1042" name="Google Shape;1042;p69"/>
          <p:cNvSpPr txBox="1"/>
          <p:nvPr>
            <p:ph idx="1" type="body"/>
          </p:nvPr>
        </p:nvSpPr>
        <p:spPr>
          <a:xfrm>
            <a:off x="311700" y="1152475"/>
            <a:ext cx="8520600" cy="3615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Lo scopo degli identificatori relativi al ciclo di vita è </a:t>
            </a:r>
            <a:r>
              <a:rPr b="1" lang="it">
                <a:solidFill>
                  <a:srgbClr val="0B5394"/>
                </a:solidFill>
              </a:rPr>
              <a:t>duplice</a:t>
            </a:r>
            <a:r>
              <a:rPr lang="it"/>
              <a:t>:</a:t>
            </a:r>
            <a:endParaRPr b="1">
              <a:solidFill>
                <a:srgbClr val="0B5394"/>
              </a:solidFill>
            </a:endParaRPr>
          </a:p>
          <a:p>
            <a:pPr indent="-317500" lvl="1" marL="914400" rtl="0" algn="l">
              <a:spcBef>
                <a:spcPts val="0"/>
              </a:spcBef>
              <a:spcAft>
                <a:spcPts val="0"/>
              </a:spcAft>
              <a:buSzPts val="1400"/>
              <a:buChar char="○"/>
            </a:pPr>
            <a:r>
              <a:rPr lang="it"/>
              <a:t>Per il codice che </a:t>
            </a:r>
            <a:r>
              <a:rPr b="1" lang="it">
                <a:solidFill>
                  <a:srgbClr val="0B5394"/>
                </a:solidFill>
              </a:rPr>
              <a:t>invoca</a:t>
            </a:r>
            <a:r>
              <a:rPr lang="it"/>
              <a:t> la funzione (chiamante), essi indicano su </a:t>
            </a:r>
            <a:r>
              <a:rPr b="1" lang="it">
                <a:solidFill>
                  <a:srgbClr val="0B5394"/>
                </a:solidFill>
              </a:rPr>
              <a:t>quale</a:t>
            </a:r>
            <a:r>
              <a:rPr lang="it"/>
              <a:t>, tra gli indirizzi in ingresso, è basato il risultato in uscita</a:t>
            </a:r>
            <a:endParaRPr/>
          </a:p>
          <a:p>
            <a:pPr indent="-317500" lvl="1" marL="914400" rtl="0" algn="l">
              <a:spcBef>
                <a:spcPts val="0"/>
              </a:spcBef>
              <a:spcAft>
                <a:spcPts val="0"/>
              </a:spcAft>
              <a:buSzPts val="1400"/>
              <a:buChar char="○"/>
            </a:pPr>
            <a:r>
              <a:rPr lang="it"/>
              <a:t>Per il codice </a:t>
            </a:r>
            <a:r>
              <a:rPr b="1" lang="it">
                <a:solidFill>
                  <a:srgbClr val="0B5394"/>
                </a:solidFill>
              </a:rPr>
              <a:t>all’interno</a:t>
            </a:r>
            <a:r>
              <a:rPr lang="it"/>
              <a:t> della funzione (chiamato), essi garantiscono che vengano restituiti solo indirizzi cui </a:t>
            </a:r>
            <a:r>
              <a:rPr b="1" lang="it">
                <a:solidFill>
                  <a:srgbClr val="0B5394"/>
                </a:solidFill>
              </a:rPr>
              <a:t>è lecito accedere</a:t>
            </a:r>
            <a:r>
              <a:rPr lang="it"/>
              <a:t> per (almeno) il tempo di vita indicato</a:t>
            </a:r>
            <a:endParaRPr/>
          </a:p>
          <a:p>
            <a:pPr indent="-342900" lvl="0" marL="457200" rtl="0" algn="l">
              <a:spcBef>
                <a:spcPts val="0"/>
              </a:spcBef>
              <a:spcAft>
                <a:spcPts val="0"/>
              </a:spcAft>
              <a:buSzPts val="1800"/>
              <a:buChar char="●"/>
            </a:pPr>
            <a:r>
              <a:rPr lang="it"/>
              <a:t>All’atto dell’invocazione, gli identificatori forniti dal programmatore (o inseriti automaticamente dal compilatore, quando possibile) sono legati all’effettivo intervallo minimo (espresso come insieme di linee di codice) nel quale il valore da cui il prestito è stato preso debba restare bloccato per non violare le assunzioni su cui la funzione è basata</a:t>
            </a:r>
            <a:endParaRPr/>
          </a:p>
          <a:p>
            <a:pPr indent="-317500" lvl="1" marL="914400" rtl="0" algn="l">
              <a:spcBef>
                <a:spcPts val="0"/>
              </a:spcBef>
              <a:spcAft>
                <a:spcPts val="0"/>
              </a:spcAft>
              <a:buSzPts val="1400"/>
              <a:buChar char="○"/>
            </a:pPr>
            <a:r>
              <a:rPr lang="it"/>
              <a:t>Tentativi di modificare il valore originale da cui il prestito è preso prima che il tempo di vita sia trascorso portano ad errori di compilazione che costituiscono la base della robustezza del sistema di possesso e prestito offerto da Rust</a:t>
            </a:r>
            <a:endParaRPr/>
          </a:p>
        </p:txBody>
      </p:sp>
      <p:sp>
        <p:nvSpPr>
          <p:cNvPr id="1043" name="Google Shape;1043;p6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Riferimenti e strutture dati</a:t>
            </a:r>
            <a:endParaRPr/>
          </a:p>
        </p:txBody>
      </p:sp>
      <p:sp>
        <p:nvSpPr>
          <p:cNvPr id="1049" name="Google Shape;1049;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Lo stesso tipo di ragionamento vale se il dato viene salvato all’interno di una qualsiasi struttura dati</a:t>
            </a:r>
            <a:endParaRPr/>
          </a:p>
          <a:p>
            <a:pPr indent="-317500" lvl="1" marL="914400" rtl="0" algn="l">
              <a:spcBef>
                <a:spcPts val="0"/>
              </a:spcBef>
              <a:spcAft>
                <a:spcPts val="0"/>
              </a:spcAft>
              <a:buSzPts val="1400"/>
              <a:buChar char="○"/>
            </a:pPr>
            <a:r>
              <a:rPr lang="it"/>
              <a:t>Rust verifica che il valore a cui si punta abbia un tempo di vita maggiore o uguale del tempo di vita della struttura dati</a:t>
            </a:r>
            <a:endParaRPr/>
          </a:p>
          <a:p>
            <a:pPr indent="-317500" lvl="1" marL="914400" rtl="0" algn="l">
              <a:spcBef>
                <a:spcPts val="0"/>
              </a:spcBef>
              <a:spcAft>
                <a:spcPts val="0"/>
              </a:spcAft>
              <a:buSzPts val="1400"/>
              <a:buChar char="○"/>
            </a:pPr>
            <a:r>
              <a:rPr lang="it"/>
              <a:t>Questo richiede di esplicitare il tempo di vita della struttura rispetto al tempo di vita dei riferimenti in essa contenuti</a:t>
            </a:r>
            <a:endParaRPr/>
          </a:p>
          <a:p>
            <a:pPr indent="-342900" lvl="0" marL="457200" rtl="0" algn="l">
              <a:spcBef>
                <a:spcPts val="0"/>
              </a:spcBef>
              <a:spcAft>
                <a:spcPts val="0"/>
              </a:spcAft>
              <a:buSzPts val="1800"/>
              <a:buChar char="●"/>
            </a:pPr>
            <a:r>
              <a:rPr lang="it"/>
              <a:t>Se una struttura che contiene riferimenti è contenuta, a sua volta, in un’altra struttura, anche quest’ultima deve avere il tempo di vita esplicitato</a:t>
            </a:r>
            <a:endParaRPr/>
          </a:p>
        </p:txBody>
      </p:sp>
      <p:sp>
        <p:nvSpPr>
          <p:cNvPr id="1050" name="Google Shape;1050;p7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51" name="Google Shape;1051;p70"/>
          <p:cNvSpPr txBox="1"/>
          <p:nvPr/>
        </p:nvSpPr>
        <p:spPr>
          <a:xfrm>
            <a:off x="768075" y="3643807"/>
            <a:ext cx="3124500" cy="10467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struct User&lt;'a&gt;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id: u32,</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name: &amp;'a str,</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1052" name="Google Shape;1052;p70"/>
          <p:cNvSpPr txBox="1"/>
          <p:nvPr/>
        </p:nvSpPr>
        <p:spPr>
          <a:xfrm>
            <a:off x="4279175" y="3643807"/>
            <a:ext cx="3124500" cy="10467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struct Data&lt;'a&gt;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user: User&lt;'a&gt;,</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password: String,</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Elisione dei tempi di vita</a:t>
            </a:r>
            <a:endParaRPr/>
          </a:p>
        </p:txBody>
      </p:sp>
      <p:sp>
        <p:nvSpPr>
          <p:cNvPr id="1058" name="Google Shape;1058;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Rust, per default, provvede ad assegnare, ad ogni riferimento presente in una struttura dati o tra i parametri di una funzione, un tempo di vita distinto</a:t>
            </a:r>
            <a:endParaRPr/>
          </a:p>
          <a:p>
            <a:pPr indent="-317500" lvl="1" marL="914400" rtl="0" algn="l">
              <a:spcBef>
                <a:spcPts val="0"/>
              </a:spcBef>
              <a:spcAft>
                <a:spcPts val="0"/>
              </a:spcAft>
              <a:buSzPts val="1400"/>
              <a:buChar char="○"/>
            </a:pPr>
            <a:r>
              <a:rPr lang="it"/>
              <a:t>Tali tempi di vita si propagano al codice che fa uso di tale struttura dati e, in assenza di ambiguità, non richiede di esplicitare gli identificatori dei tempi di vita</a:t>
            </a:r>
            <a:endParaRPr/>
          </a:p>
        </p:txBody>
      </p:sp>
      <p:sp>
        <p:nvSpPr>
          <p:cNvPr id="1059" name="Google Shape;1059;p7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60" name="Google Shape;1060;p71"/>
          <p:cNvSpPr txBox="1"/>
          <p:nvPr/>
        </p:nvSpPr>
        <p:spPr>
          <a:xfrm>
            <a:off x="277200" y="2437020"/>
            <a:ext cx="38793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struct Point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x: &amp;i32,</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y: &amp;i32,</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fn scale(r: &amp;i32, p: Point) -&gt; i32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r * (p.x * p.x + p.y * p.y)</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p:txBody>
      </p:sp>
      <p:sp>
        <p:nvSpPr>
          <p:cNvPr id="1061" name="Google Shape;1061;p71"/>
          <p:cNvSpPr txBox="1"/>
          <p:nvPr/>
        </p:nvSpPr>
        <p:spPr>
          <a:xfrm>
            <a:off x="4419600" y="2437020"/>
            <a:ext cx="4514700" cy="2124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struct Point</a:t>
            </a:r>
            <a:r>
              <a:rPr b="1" lang="it">
                <a:solidFill>
                  <a:schemeClr val="dk1"/>
                </a:solidFill>
                <a:latin typeface="Consolas"/>
                <a:ea typeface="Consolas"/>
                <a:cs typeface="Consolas"/>
                <a:sym typeface="Consolas"/>
              </a:rPr>
              <a:t>&lt;</a:t>
            </a:r>
            <a:r>
              <a:rPr b="1" lang="it">
                <a:solidFill>
                  <a:srgbClr val="BF1B1B"/>
                </a:solidFill>
                <a:latin typeface="Consolas"/>
                <a:ea typeface="Consolas"/>
                <a:cs typeface="Consolas"/>
                <a:sym typeface="Consolas"/>
              </a:rPr>
              <a:t>'a</a:t>
            </a:r>
            <a:r>
              <a:rPr b="1" lang="it">
                <a:solidFill>
                  <a:schemeClr val="dk1"/>
                </a:solidFill>
                <a:latin typeface="Consolas"/>
                <a:ea typeface="Consolas"/>
                <a:cs typeface="Consolas"/>
                <a:sym typeface="Consolas"/>
              </a:rPr>
              <a:t>,</a:t>
            </a:r>
            <a:r>
              <a:rPr b="1" lang="it">
                <a:solidFill>
                  <a:srgbClr val="BF1B1B"/>
                </a:solidFill>
                <a:latin typeface="Consolas"/>
                <a:ea typeface="Consolas"/>
                <a:cs typeface="Consolas"/>
                <a:sym typeface="Consolas"/>
              </a:rPr>
              <a:t>'b</a:t>
            </a:r>
            <a:r>
              <a:rPr b="1" lang="it">
                <a:solidFill>
                  <a:schemeClr val="dk1"/>
                </a:solidFill>
                <a:latin typeface="Consolas"/>
                <a:ea typeface="Consolas"/>
                <a:cs typeface="Consolas"/>
                <a:sym typeface="Consolas"/>
              </a:rPr>
              <a:t>&gt;</a:t>
            </a: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x: &amp;</a:t>
            </a:r>
            <a:r>
              <a:rPr b="1" lang="it">
                <a:solidFill>
                  <a:srgbClr val="BF1B1B"/>
                </a:solidFill>
                <a:latin typeface="Consolas"/>
                <a:ea typeface="Consolas"/>
                <a:cs typeface="Consolas"/>
                <a:sym typeface="Consolas"/>
              </a:rPr>
              <a:t>'a</a:t>
            </a:r>
            <a:r>
              <a:rPr b="1" lang="it">
                <a:latin typeface="Consolas"/>
                <a:ea typeface="Consolas"/>
                <a:cs typeface="Consolas"/>
                <a:sym typeface="Consolas"/>
              </a:rPr>
              <a:t> i32,</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y: &amp;</a:t>
            </a:r>
            <a:r>
              <a:rPr b="1" lang="it">
                <a:solidFill>
                  <a:srgbClr val="BF1B1B"/>
                </a:solidFill>
                <a:latin typeface="Consolas"/>
                <a:ea typeface="Consolas"/>
                <a:cs typeface="Consolas"/>
                <a:sym typeface="Consolas"/>
              </a:rPr>
              <a:t>'b</a:t>
            </a:r>
            <a:r>
              <a:rPr b="1" lang="it">
                <a:latin typeface="Consolas"/>
                <a:ea typeface="Consolas"/>
                <a:cs typeface="Consolas"/>
                <a:sym typeface="Consolas"/>
              </a:rPr>
              <a:t> i32,</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fn scale&lt;</a:t>
            </a:r>
            <a:r>
              <a:rPr b="1" lang="it">
                <a:solidFill>
                  <a:srgbClr val="BF1B1B"/>
                </a:solidFill>
                <a:latin typeface="Consolas"/>
                <a:ea typeface="Consolas"/>
                <a:cs typeface="Consolas"/>
                <a:sym typeface="Consolas"/>
              </a:rPr>
              <a:t>'a</a:t>
            </a:r>
            <a:r>
              <a:rPr b="1" lang="it">
                <a:latin typeface="Consolas"/>
                <a:ea typeface="Consolas"/>
                <a:cs typeface="Consolas"/>
                <a:sym typeface="Consolas"/>
              </a:rPr>
              <a:t>,</a:t>
            </a:r>
            <a:r>
              <a:rPr b="1" lang="it">
                <a:solidFill>
                  <a:srgbClr val="BF1B1B"/>
                </a:solidFill>
                <a:latin typeface="Consolas"/>
                <a:ea typeface="Consolas"/>
                <a:cs typeface="Consolas"/>
                <a:sym typeface="Consolas"/>
              </a:rPr>
              <a:t>'b</a:t>
            </a:r>
            <a:r>
              <a:rPr b="1" lang="it">
                <a:latin typeface="Consolas"/>
                <a:ea typeface="Consolas"/>
                <a:cs typeface="Consolas"/>
                <a:sym typeface="Consolas"/>
              </a:rPr>
              <a:t>,</a:t>
            </a:r>
            <a:r>
              <a:rPr b="1" lang="it">
                <a:solidFill>
                  <a:srgbClr val="BF1B1B"/>
                </a:solidFill>
                <a:latin typeface="Consolas"/>
                <a:ea typeface="Consolas"/>
                <a:cs typeface="Consolas"/>
                <a:sym typeface="Consolas"/>
              </a:rPr>
              <a:t>'c</a:t>
            </a:r>
            <a:r>
              <a:rPr b="1" lang="it">
                <a:latin typeface="Consolas"/>
                <a:ea typeface="Consolas"/>
                <a:cs typeface="Consolas"/>
                <a:sym typeface="Consolas"/>
              </a:rPr>
              <a:t>&gt; (r: &amp;</a:t>
            </a:r>
            <a:r>
              <a:rPr b="1" lang="it">
                <a:solidFill>
                  <a:srgbClr val="BF1B1B"/>
                </a:solidFill>
                <a:latin typeface="Consolas"/>
                <a:ea typeface="Consolas"/>
                <a:cs typeface="Consolas"/>
                <a:sym typeface="Consolas"/>
              </a:rPr>
              <a:t>'a</a:t>
            </a:r>
            <a:r>
              <a:rPr b="1" lang="it">
                <a:latin typeface="Consolas"/>
                <a:ea typeface="Consolas"/>
                <a:cs typeface="Consolas"/>
                <a:sym typeface="Consolas"/>
              </a:rPr>
              <a:t> i32, </a:t>
            </a:r>
            <a:br>
              <a:rPr b="1" lang="it">
                <a:latin typeface="Consolas"/>
                <a:ea typeface="Consolas"/>
                <a:cs typeface="Consolas"/>
                <a:sym typeface="Consolas"/>
              </a:rPr>
            </a:br>
            <a:r>
              <a:rPr b="1" lang="it">
                <a:latin typeface="Consolas"/>
                <a:ea typeface="Consolas"/>
                <a:cs typeface="Consolas"/>
                <a:sym typeface="Consolas"/>
              </a:rPr>
              <a:t>                 p: Point</a:t>
            </a:r>
            <a:r>
              <a:rPr b="1" lang="it">
                <a:solidFill>
                  <a:schemeClr val="dk1"/>
                </a:solidFill>
                <a:latin typeface="Consolas"/>
                <a:ea typeface="Consolas"/>
                <a:cs typeface="Consolas"/>
                <a:sym typeface="Consolas"/>
              </a:rPr>
              <a:t>&lt;</a:t>
            </a:r>
            <a:r>
              <a:rPr b="1" lang="it">
                <a:solidFill>
                  <a:srgbClr val="BF1B1B"/>
                </a:solidFill>
                <a:latin typeface="Consolas"/>
                <a:ea typeface="Consolas"/>
                <a:cs typeface="Consolas"/>
                <a:sym typeface="Consolas"/>
              </a:rPr>
              <a:t>'b</a:t>
            </a:r>
            <a:r>
              <a:rPr b="1" lang="it">
                <a:solidFill>
                  <a:schemeClr val="dk1"/>
                </a:solidFill>
                <a:latin typeface="Consolas"/>
                <a:ea typeface="Consolas"/>
                <a:cs typeface="Consolas"/>
                <a:sym typeface="Consolas"/>
              </a:rPr>
              <a:t>, </a:t>
            </a:r>
            <a:r>
              <a:rPr b="1" lang="it">
                <a:solidFill>
                  <a:srgbClr val="BF1B1B"/>
                </a:solidFill>
                <a:latin typeface="Consolas"/>
                <a:ea typeface="Consolas"/>
                <a:cs typeface="Consolas"/>
                <a:sym typeface="Consolas"/>
              </a:rPr>
              <a:t>'c</a:t>
            </a:r>
            <a:r>
              <a:rPr b="1" lang="it">
                <a:solidFill>
                  <a:schemeClr val="dk1"/>
                </a:solidFill>
                <a:latin typeface="Consolas"/>
                <a:ea typeface="Consolas"/>
                <a:cs typeface="Consolas"/>
                <a:sym typeface="Consolas"/>
              </a:rPr>
              <a:t>&gt;</a:t>
            </a:r>
            <a:r>
              <a:rPr b="1" lang="it">
                <a:latin typeface="Consolas"/>
                <a:ea typeface="Consolas"/>
                <a:cs typeface="Consolas"/>
                <a:sym typeface="Consolas"/>
              </a:rPr>
              <a:t>) -&gt; i32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r * (p.x * p.x + p.y * p.y)</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Elisione dei tempi di vita</a:t>
            </a:r>
            <a:endParaRPr/>
          </a:p>
        </p:txBody>
      </p:sp>
      <p:sp>
        <p:nvSpPr>
          <p:cNvPr id="1067" name="Google Shape;1067;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Se una funzione </a:t>
            </a:r>
            <a:r>
              <a:rPr b="1" lang="it">
                <a:solidFill>
                  <a:srgbClr val="0B5394"/>
                </a:solidFill>
              </a:rPr>
              <a:t>restituisce un riferimento</a:t>
            </a:r>
            <a:r>
              <a:rPr lang="it"/>
              <a:t> o un tipo che contiene - direttamente o indirettamente - un riferimento, occorre disambiguare il tempo di vita del valore ritornato</a:t>
            </a:r>
            <a:endParaRPr/>
          </a:p>
          <a:p>
            <a:pPr indent="-317500" lvl="1" marL="914400" rtl="0" algn="l">
              <a:spcBef>
                <a:spcPts val="0"/>
              </a:spcBef>
              <a:spcAft>
                <a:spcPts val="0"/>
              </a:spcAft>
              <a:buSzPts val="1400"/>
              <a:buChar char="○"/>
            </a:pPr>
            <a:r>
              <a:rPr lang="it"/>
              <a:t>Se c’è un solo parametro in ingresso dotato di tempo di vita, Rust assume che quello debba essere il tempo di vita del risultato</a:t>
            </a:r>
            <a:endParaRPr/>
          </a:p>
          <a:p>
            <a:pPr indent="-317500" lvl="1" marL="914400" rtl="0" algn="l">
              <a:spcBef>
                <a:spcPts val="0"/>
              </a:spcBef>
              <a:spcAft>
                <a:spcPts val="0"/>
              </a:spcAft>
              <a:buSzPts val="1400"/>
              <a:buChar char="○"/>
            </a:pPr>
            <a:r>
              <a:rPr lang="it"/>
              <a:t>Se sono presenti più parametri in ingresso con tempo di vita, tocca al programmatore esplicitare quale debba essere il tempo di vita da associare al risultato</a:t>
            </a:r>
            <a:endParaRPr/>
          </a:p>
          <a:p>
            <a:pPr indent="-342900" lvl="0" marL="457200" rtl="0" algn="l">
              <a:spcBef>
                <a:spcPts val="0"/>
              </a:spcBef>
              <a:spcAft>
                <a:spcPts val="0"/>
              </a:spcAft>
              <a:buSzPts val="1800"/>
              <a:buChar char="●"/>
            </a:pPr>
            <a:r>
              <a:rPr lang="it"/>
              <a:t>Nel caso di metodi che accedono a </a:t>
            </a:r>
            <a:r>
              <a:rPr b="1" lang="it">
                <a:solidFill>
                  <a:srgbClr val="0B5394"/>
                </a:solidFill>
              </a:rPr>
              <a:t>self</a:t>
            </a:r>
            <a:r>
              <a:rPr lang="it"/>
              <a:t> tramite un riferimento, Rust assume che il tempo di vita da associare al risultato </a:t>
            </a:r>
            <a:r>
              <a:rPr b="1" lang="it">
                <a:solidFill>
                  <a:srgbClr val="0B5394"/>
                </a:solidFill>
              </a:rPr>
              <a:t>sia quello del riferimento a self</a:t>
            </a:r>
            <a:endParaRPr b="1">
              <a:solidFill>
                <a:srgbClr val="0B5394"/>
              </a:solidFill>
            </a:endParaRPr>
          </a:p>
          <a:p>
            <a:pPr indent="-317500" lvl="1" marL="914400" rtl="0" algn="l">
              <a:spcBef>
                <a:spcPts val="0"/>
              </a:spcBef>
              <a:spcAft>
                <a:spcPts val="0"/>
              </a:spcAft>
              <a:buSzPts val="1400"/>
              <a:buChar char="○"/>
            </a:pPr>
            <a:r>
              <a:rPr lang="it"/>
              <a:t>Questo parte dal presupposto che se un metodo di un oggetto restituisce un dato preso a prestito (borrow), questo sia stato preso dai dati posseduti dall’oggetto stesso</a:t>
            </a:r>
            <a:endParaRPr/>
          </a:p>
        </p:txBody>
      </p:sp>
      <p:sp>
        <p:nvSpPr>
          <p:cNvPr id="1068" name="Google Shape;1068;p7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Possesso - riassunto delle regole</a:t>
            </a:r>
            <a:endParaRPr/>
          </a:p>
        </p:txBody>
      </p:sp>
      <p:sp>
        <p:nvSpPr>
          <p:cNvPr id="1074" name="Google Shape;1074;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Ciascun valore ha un </a:t>
            </a:r>
            <a:r>
              <a:rPr b="1" lang="it">
                <a:solidFill>
                  <a:srgbClr val="0B5394"/>
                </a:solidFill>
              </a:rPr>
              <a:t>unico</a:t>
            </a:r>
            <a:r>
              <a:rPr lang="it"/>
              <a:t> possessore (variabile o campo di una struttura)</a:t>
            </a:r>
            <a:endParaRPr/>
          </a:p>
          <a:p>
            <a:pPr indent="-317500" lvl="1" marL="914400" rtl="0" algn="l">
              <a:spcBef>
                <a:spcPts val="0"/>
              </a:spcBef>
              <a:spcAft>
                <a:spcPts val="0"/>
              </a:spcAft>
              <a:buSzPts val="1400"/>
              <a:buChar char="○"/>
            </a:pPr>
            <a:r>
              <a:rPr lang="it"/>
              <a:t>Il valore viene rilasciato (drop) quando il possessore esce dal proprio scope o quando al possessore viene assegnato un nuovo valore</a:t>
            </a:r>
            <a:endParaRPr/>
          </a:p>
          <a:p>
            <a:pPr indent="-342900" lvl="0" marL="457200" rtl="0" algn="l">
              <a:spcBef>
                <a:spcPts val="0"/>
              </a:spcBef>
              <a:spcAft>
                <a:spcPts val="0"/>
              </a:spcAft>
              <a:buSzPts val="1800"/>
              <a:buChar char="●"/>
            </a:pPr>
            <a:r>
              <a:rPr lang="it"/>
              <a:t>Può esistere, al più, un </a:t>
            </a:r>
            <a:r>
              <a:rPr b="1" lang="it">
                <a:solidFill>
                  <a:srgbClr val="0B5394"/>
                </a:solidFill>
              </a:rPr>
              <a:t>singolo riferimento mutabile</a:t>
            </a:r>
            <a:r>
              <a:rPr lang="it"/>
              <a:t> ad un dato valore</a:t>
            </a:r>
            <a:endParaRPr/>
          </a:p>
          <a:p>
            <a:pPr indent="-342900" lvl="0" marL="457200" rtl="0" algn="l">
              <a:spcBef>
                <a:spcPts val="0"/>
              </a:spcBef>
              <a:spcAft>
                <a:spcPts val="0"/>
              </a:spcAft>
              <a:buSzPts val="1800"/>
              <a:buChar char="●"/>
            </a:pPr>
            <a:r>
              <a:rPr b="1" lang="it">
                <a:solidFill>
                  <a:srgbClr val="980000"/>
                </a:solidFill>
              </a:rPr>
              <a:t>Oppure</a:t>
            </a:r>
            <a:r>
              <a:rPr lang="it"/>
              <a:t>, possono esistere </a:t>
            </a:r>
            <a:r>
              <a:rPr b="1" lang="it">
                <a:solidFill>
                  <a:srgbClr val="0B5394"/>
                </a:solidFill>
              </a:rPr>
              <a:t>molti riferimenti immutabili</a:t>
            </a:r>
            <a:r>
              <a:rPr lang="it"/>
              <a:t> al medesimo valore</a:t>
            </a:r>
            <a:endParaRPr/>
          </a:p>
          <a:p>
            <a:pPr indent="-317500" lvl="1" marL="914400" rtl="0" algn="l">
              <a:spcBef>
                <a:spcPts val="0"/>
              </a:spcBef>
              <a:spcAft>
                <a:spcPts val="0"/>
              </a:spcAft>
              <a:buSzPts val="1400"/>
              <a:buChar char="○"/>
            </a:pPr>
            <a:r>
              <a:rPr lang="it"/>
              <a:t>Ma fintanto che ne esiste almeno uno, il valore non può essere mutato</a:t>
            </a:r>
            <a:endParaRPr/>
          </a:p>
          <a:p>
            <a:pPr indent="-342900" lvl="0" marL="457200" rtl="0" algn="l">
              <a:spcBef>
                <a:spcPts val="0"/>
              </a:spcBef>
              <a:spcAft>
                <a:spcPts val="0"/>
              </a:spcAft>
              <a:buSzPts val="1800"/>
              <a:buChar char="●"/>
            </a:pPr>
            <a:r>
              <a:rPr lang="it"/>
              <a:t>Tutti i riferimenti devono avere una </a:t>
            </a:r>
            <a:r>
              <a:rPr b="1" lang="it">
                <a:solidFill>
                  <a:srgbClr val="0B5394"/>
                </a:solidFill>
              </a:rPr>
              <a:t>durata di vita inferiore</a:t>
            </a:r>
            <a:r>
              <a:rPr lang="it"/>
              <a:t> a quella del valore a cui fanno riferimento</a:t>
            </a:r>
            <a:endParaRPr/>
          </a:p>
          <a:p>
            <a:pPr indent="0" lvl="0" marL="0" rtl="0" algn="l">
              <a:spcBef>
                <a:spcPts val="1200"/>
              </a:spcBef>
              <a:spcAft>
                <a:spcPts val="1200"/>
              </a:spcAft>
              <a:buNone/>
            </a:pPr>
            <a:r>
              <a:t/>
            </a:r>
            <a:endParaRPr/>
          </a:p>
        </p:txBody>
      </p:sp>
      <p:sp>
        <p:nvSpPr>
          <p:cNvPr id="1075" name="Google Shape;1075;p7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Puntatori in Rust</a:t>
            </a:r>
            <a:endParaRPr/>
          </a:p>
        </p:txBody>
      </p:sp>
      <p:sp>
        <p:nvSpPr>
          <p:cNvPr id="1081" name="Google Shape;1081;p7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aphicFrame>
        <p:nvGraphicFramePr>
          <p:cNvPr id="1082" name="Google Shape;1082;p74"/>
          <p:cNvGraphicFramePr/>
          <p:nvPr/>
        </p:nvGraphicFramePr>
        <p:xfrm>
          <a:off x="952500" y="1428750"/>
          <a:ext cx="3000000" cy="3000000"/>
        </p:xfrm>
        <a:graphic>
          <a:graphicData uri="http://schemas.openxmlformats.org/drawingml/2006/table">
            <a:tbl>
              <a:tblPr>
                <a:noFill/>
                <a:tableStyleId>{7E0FB459-A639-4E69-BF2F-BE9D303E0CE3}</a:tableStyleId>
              </a:tblPr>
              <a:tblGrid>
                <a:gridCol w="2413000"/>
                <a:gridCol w="2413000"/>
                <a:gridCol w="2413000"/>
              </a:tblGrid>
              <a:tr h="381000">
                <a:tc>
                  <a:txBody>
                    <a:bodyPr/>
                    <a:lstStyle/>
                    <a:p>
                      <a:pPr indent="0" lvl="0" marL="0" rtl="0" algn="l">
                        <a:spcBef>
                          <a:spcPts val="0"/>
                        </a:spcBef>
                        <a:spcAft>
                          <a:spcPts val="0"/>
                        </a:spcAft>
                        <a:buNone/>
                      </a:pPr>
                      <a:r>
                        <a:rPr b="1" lang="it"/>
                        <a:t>Proprietà</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it"/>
                        <a:t>&amp;T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it"/>
                        <a:t>Box&lt;T&gt;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it"/>
                        <a:t>Possesso</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b="1" lang="it">
                          <a:solidFill>
                            <a:srgbClr val="0B5394"/>
                          </a:solidFill>
                        </a:rPr>
                        <a:t>No</a:t>
                      </a:r>
                      <a:r>
                        <a:rPr lang="it"/>
                        <a:t>: prestito</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b="1" lang="it">
                          <a:solidFill>
                            <a:srgbClr val="0B5394"/>
                          </a:solidFill>
                        </a:rPr>
                        <a:t>Si</a:t>
                      </a:r>
                      <a:r>
                        <a:rPr lang="it"/>
                        <a:t>: possessore unico</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l">
                        <a:spcBef>
                          <a:spcPts val="0"/>
                        </a:spcBef>
                        <a:spcAft>
                          <a:spcPts val="0"/>
                        </a:spcAft>
                        <a:buNone/>
                      </a:pPr>
                      <a:r>
                        <a:rPr b="1" lang="it"/>
                        <a:t>Rilascio</a:t>
                      </a:r>
                      <a:endParaRPr b="1"/>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t>A carico del possessore</a:t>
                      </a:r>
                      <a:endParaRPr/>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t>Automatico al termine dello scope</a:t>
                      </a:r>
                      <a:endParaRPr/>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l">
                        <a:spcBef>
                          <a:spcPts val="0"/>
                        </a:spcBef>
                        <a:spcAft>
                          <a:spcPts val="0"/>
                        </a:spcAft>
                        <a:buNone/>
                      </a:pPr>
                      <a:r>
                        <a:rPr b="1" lang="it"/>
                        <a:t>Validità</a:t>
                      </a:r>
                      <a:endParaRPr b="1"/>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t>Garantita dal compilatore</a:t>
                      </a:r>
                      <a:endParaRPr/>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t>Garantita in fase di esecuzione</a:t>
                      </a:r>
                      <a:endParaRPr/>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l">
                        <a:spcBef>
                          <a:spcPts val="0"/>
                        </a:spcBef>
                        <a:spcAft>
                          <a:spcPts val="0"/>
                        </a:spcAft>
                        <a:buNone/>
                      </a:pPr>
                      <a:r>
                        <a:rPr b="1" lang="it"/>
                        <a:t>Nullabilità</a:t>
                      </a:r>
                      <a:endParaRPr b="1"/>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t>Mai nullo</a:t>
                      </a:r>
                      <a:endParaRPr/>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t>Mai nullo</a:t>
                      </a:r>
                      <a:endParaRPr/>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l">
                        <a:spcBef>
                          <a:spcPts val="0"/>
                        </a:spcBef>
                        <a:spcAft>
                          <a:spcPts val="0"/>
                        </a:spcAft>
                        <a:buNone/>
                      </a:pPr>
                      <a:r>
                        <a:rPr b="1" lang="it"/>
                        <a:t>Aliasing e mutabilità</a:t>
                      </a:r>
                      <a:endParaRPr b="1"/>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t>Controllata: o molti riferimenti in sola lettura o un solo riferimento mutabile</a:t>
                      </a:r>
                      <a:endParaRPr/>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t>Soggetta alla regole del possesso (no aliasing)</a:t>
                      </a:r>
                      <a:endParaRPr/>
                    </a:p>
                  </a:txBody>
                  <a:tcPr marT="91425" marB="91425" marR="91425" marL="91425">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alpha val="0"/>
                        </a:srgbClr>
                      </a:solidFill>
                      <a:prstDash val="solid"/>
                      <a:round/>
                      <a:headEnd len="sm" w="sm" type="none"/>
                      <a:tailEnd len="sm" w="sm" type="none"/>
                    </a:lnB>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Slice</a:t>
            </a:r>
            <a:endParaRPr/>
          </a:p>
        </p:txBody>
      </p:sp>
      <p:sp>
        <p:nvSpPr>
          <p:cNvPr id="1088" name="Google Shape;1088;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Una slice (fetta) è una VISTA di una sequenza contigua di elementi, la cui lunghezza NON è nota in fase di compilazione, ma disponibile durante l’esecuzione</a:t>
            </a:r>
            <a:endParaRPr/>
          </a:p>
          <a:p>
            <a:pPr indent="-317500" lvl="1" marL="914400" rtl="0" algn="l">
              <a:spcBef>
                <a:spcPts val="0"/>
              </a:spcBef>
              <a:spcAft>
                <a:spcPts val="0"/>
              </a:spcAft>
              <a:buSzPts val="1400"/>
              <a:buChar char="○"/>
            </a:pPr>
            <a:r>
              <a:rPr lang="it"/>
              <a:t>Internamente viene rappresentata come </a:t>
            </a:r>
            <a:r>
              <a:rPr b="1" lang="it">
                <a:solidFill>
                  <a:srgbClr val="0B5394"/>
                </a:solidFill>
              </a:rPr>
              <a:t>fat pointer</a:t>
            </a:r>
            <a:r>
              <a:rPr lang="it"/>
              <a:t>: una </a:t>
            </a:r>
            <a:r>
              <a:rPr b="1" lang="it">
                <a:solidFill>
                  <a:srgbClr val="0B5394"/>
                </a:solidFill>
              </a:rPr>
              <a:t>tupla di due elementi</a:t>
            </a:r>
            <a:r>
              <a:rPr lang="it"/>
              <a:t>, il primo dei quali punta al primo valore della sequenza, mentre il secondo indica il numero di elementi consecutivi</a:t>
            </a:r>
            <a:endParaRPr/>
          </a:p>
          <a:p>
            <a:pPr indent="-317500" lvl="1" marL="914400" rtl="0" algn="l">
              <a:spcBef>
                <a:spcPts val="0"/>
              </a:spcBef>
              <a:spcAft>
                <a:spcPts val="0"/>
              </a:spcAft>
              <a:buSzPts val="1400"/>
              <a:buChar char="○"/>
            </a:pPr>
            <a:r>
              <a:rPr lang="it"/>
              <a:t>Una slice di elementi T ha tipo </a:t>
            </a:r>
            <a:r>
              <a:rPr b="1" lang="it">
                <a:solidFill>
                  <a:srgbClr val="0B5394"/>
                </a:solidFill>
                <a:latin typeface="Consolas"/>
                <a:ea typeface="Consolas"/>
                <a:cs typeface="Consolas"/>
                <a:sym typeface="Consolas"/>
              </a:rPr>
              <a:t>[T]</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Char char="●"/>
            </a:pPr>
            <a:r>
              <a:rPr lang="it"/>
              <a:t>Una slice </a:t>
            </a:r>
            <a:r>
              <a:rPr b="1" lang="it">
                <a:solidFill>
                  <a:srgbClr val="0B5394"/>
                </a:solidFill>
              </a:rPr>
              <a:t>non possiede</a:t>
            </a:r>
            <a:r>
              <a:rPr lang="it"/>
              <a:t> i dati cui fa riferimento</a:t>
            </a:r>
            <a:endParaRPr/>
          </a:p>
          <a:p>
            <a:pPr indent="-317500" lvl="1" marL="914400" rtl="0" algn="l">
              <a:spcBef>
                <a:spcPts val="0"/>
              </a:spcBef>
              <a:spcAft>
                <a:spcPts val="0"/>
              </a:spcAft>
              <a:buSzPts val="1400"/>
              <a:buChar char="○"/>
            </a:pPr>
            <a:r>
              <a:rPr lang="it"/>
              <a:t>Questi appartengono sempre ad un’altra variabile, da cui la slice viene derivata</a:t>
            </a:r>
            <a:endParaRPr/>
          </a:p>
          <a:p>
            <a:pPr indent="-317500" lvl="1" marL="914400" rtl="0" algn="l">
              <a:spcBef>
                <a:spcPts val="0"/>
              </a:spcBef>
              <a:spcAft>
                <a:spcPts val="0"/>
              </a:spcAft>
              <a:buSzPts val="1400"/>
              <a:buChar char="○"/>
            </a:pPr>
            <a:r>
              <a:rPr lang="it"/>
              <a:t>Tutti i valori contenuti sono garantiti essere inizializzati, gli accessi sono verificati in fase di esecuzione</a:t>
            </a:r>
            <a:endParaRPr/>
          </a:p>
          <a:p>
            <a:pPr indent="-342900" lvl="0" marL="457200" rtl="0" algn="l">
              <a:spcBef>
                <a:spcPts val="0"/>
              </a:spcBef>
              <a:spcAft>
                <a:spcPts val="0"/>
              </a:spcAft>
              <a:buSzPts val="1800"/>
              <a:buChar char="●"/>
            </a:pPr>
            <a:r>
              <a:rPr lang="it"/>
              <a:t>E’ possibile ricavare una slice a partire da un array, ma anche da altri tipi di contenitori (</a:t>
            </a:r>
            <a:r>
              <a:rPr b="1" lang="it">
                <a:solidFill>
                  <a:srgbClr val="0B5394"/>
                </a:solidFill>
                <a:latin typeface="Consolas"/>
                <a:ea typeface="Consolas"/>
                <a:cs typeface="Consolas"/>
                <a:sym typeface="Consolas"/>
              </a:rPr>
              <a:t>std::Vec&lt;T&gt;</a:t>
            </a:r>
            <a:r>
              <a:rPr lang="it"/>
              <a:t>, </a:t>
            </a:r>
            <a:r>
              <a:rPr b="1" lang="it">
                <a:solidFill>
                  <a:srgbClr val="0B5394"/>
                </a:solidFill>
                <a:latin typeface="Consolas"/>
                <a:ea typeface="Consolas"/>
                <a:cs typeface="Consolas"/>
                <a:sym typeface="Consolas"/>
              </a:rPr>
              <a:t>String</a:t>
            </a:r>
            <a:r>
              <a:rPr lang="it"/>
              <a:t>, </a:t>
            </a:r>
            <a:r>
              <a:rPr b="1" lang="it">
                <a:solidFill>
                  <a:srgbClr val="0B5394"/>
                </a:solidFill>
                <a:latin typeface="Consolas"/>
                <a:ea typeface="Consolas"/>
                <a:cs typeface="Consolas"/>
                <a:sym typeface="Consolas"/>
              </a:rPr>
              <a:t>Box&lt;[T]&gt;</a:t>
            </a:r>
            <a:r>
              <a:rPr lang="it"/>
              <a:t>, …)</a:t>
            </a:r>
            <a:endParaRPr/>
          </a:p>
        </p:txBody>
      </p:sp>
      <p:sp>
        <p:nvSpPr>
          <p:cNvPr id="1089" name="Google Shape;1089;p7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90" name="Google Shape;1090;p75"/>
          <p:cNvSpPr txBox="1"/>
          <p:nvPr/>
        </p:nvSpPr>
        <p:spPr>
          <a:xfrm>
            <a:off x="549300" y="4004888"/>
            <a:ext cx="8045400" cy="8313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let a: [i32; 5] = [1, 2, 3, 4, 5]; // a è un array di 5 interi</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s = &amp;a[1..3];                  // s è una slice formata da 2 elementi [2,3]</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two = s[0];				  // two contiene il valore 2</a:t>
            </a:r>
            <a:endParaRPr b="1">
              <a:latin typeface="Consolas"/>
              <a:ea typeface="Consolas"/>
              <a:cs typeface="Consolas"/>
              <a:sym typeface="Consola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Slice</a:t>
            </a:r>
            <a:endParaRPr/>
          </a:p>
        </p:txBody>
      </p:sp>
      <p:sp>
        <p:nvSpPr>
          <p:cNvPr id="1096" name="Google Shape;1096;p7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1097" name="Google Shape;1097;p76"/>
          <p:cNvGrpSpPr/>
          <p:nvPr/>
        </p:nvGrpSpPr>
        <p:grpSpPr>
          <a:xfrm>
            <a:off x="2129320" y="445050"/>
            <a:ext cx="4427481" cy="4185359"/>
            <a:chOff x="2511650" y="1130775"/>
            <a:chExt cx="3613975" cy="3795900"/>
          </a:xfrm>
        </p:grpSpPr>
        <p:pic>
          <p:nvPicPr>
            <p:cNvPr id="1098" name="Google Shape;1098;p76"/>
            <p:cNvPicPr preferRelativeResize="0"/>
            <p:nvPr/>
          </p:nvPicPr>
          <p:blipFill>
            <a:blip r:embed="rId3">
              <a:alphaModFix/>
            </a:blip>
            <a:stretch>
              <a:fillRect/>
            </a:stretch>
          </p:blipFill>
          <p:spPr>
            <a:xfrm>
              <a:off x="2511651" y="1130775"/>
              <a:ext cx="3613974" cy="3795900"/>
            </a:xfrm>
            <a:prstGeom prst="rect">
              <a:avLst/>
            </a:prstGeom>
            <a:noFill/>
            <a:ln>
              <a:noFill/>
            </a:ln>
          </p:spPr>
        </p:pic>
        <p:sp>
          <p:nvSpPr>
            <p:cNvPr id="1099" name="Google Shape;1099;p76"/>
            <p:cNvSpPr/>
            <p:nvPr/>
          </p:nvSpPr>
          <p:spPr>
            <a:xfrm>
              <a:off x="2511650" y="3894375"/>
              <a:ext cx="1331400" cy="1032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Vantaggi introdotti dal concetto di possesso</a:t>
            </a:r>
            <a:endParaRPr/>
          </a:p>
        </p:txBody>
      </p:sp>
      <p:sp>
        <p:nvSpPr>
          <p:cNvPr id="1105" name="Google Shape;1105;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Un programma Rust, pur non avendo un garbage collector, offre molteplici garanzie relative alla correttezza degli accessi in memoria e del rilascio delle risorse</a:t>
            </a:r>
            <a:endParaRPr/>
          </a:p>
          <a:p>
            <a:pPr indent="-317500" lvl="1" marL="914400" rtl="0" algn="l">
              <a:spcBef>
                <a:spcPts val="0"/>
              </a:spcBef>
              <a:spcAft>
                <a:spcPts val="0"/>
              </a:spcAft>
              <a:buSzPts val="1400"/>
              <a:buChar char="○"/>
            </a:pPr>
            <a:r>
              <a:rPr lang="it"/>
              <a:t>Non esiste</a:t>
            </a:r>
            <a:r>
              <a:rPr b="1" lang="it">
                <a:solidFill>
                  <a:srgbClr val="0B5394"/>
                </a:solidFill>
              </a:rPr>
              <a:t> </a:t>
            </a:r>
            <a:r>
              <a:rPr lang="it"/>
              <a:t>il concetto di</a:t>
            </a:r>
            <a:r>
              <a:rPr b="1" lang="it">
                <a:solidFill>
                  <a:srgbClr val="0B5394"/>
                </a:solidFill>
              </a:rPr>
              <a:t> riferimento nullo</a:t>
            </a:r>
            <a:r>
              <a:rPr lang="it"/>
              <a:t> e, di conseguenza, non c’è il rischio di dereferenziarlo</a:t>
            </a:r>
            <a:endParaRPr/>
          </a:p>
          <a:p>
            <a:pPr indent="-317500" lvl="1" marL="914400" rtl="0" algn="l">
              <a:spcBef>
                <a:spcPts val="0"/>
              </a:spcBef>
              <a:spcAft>
                <a:spcPts val="0"/>
              </a:spcAft>
              <a:buSzPts val="1400"/>
              <a:buChar char="○"/>
            </a:pPr>
            <a:r>
              <a:rPr lang="it"/>
              <a:t>Poiché il borrow checker vigila sulle assegnazioni dei riferimenti e sugli intervalli temporali in cui essi sono effettivamente usati impedendo accessi illeciti, non c’è il rischio di originare </a:t>
            </a:r>
            <a:r>
              <a:rPr b="1" lang="it">
                <a:solidFill>
                  <a:srgbClr val="0B5394"/>
                </a:solidFill>
              </a:rPr>
              <a:t>errori di segmentazione</a:t>
            </a:r>
            <a:r>
              <a:rPr lang="it"/>
              <a:t> o </a:t>
            </a:r>
            <a:r>
              <a:rPr b="1" lang="it">
                <a:solidFill>
                  <a:srgbClr val="0B5394"/>
                </a:solidFill>
              </a:rPr>
              <a:t>accesso illegale</a:t>
            </a:r>
            <a:r>
              <a:rPr lang="it"/>
              <a:t> ad aree ristrette di memoria, né la possibilità di avere riferimenti ad aree già rilasciate (</a:t>
            </a:r>
            <a:r>
              <a:rPr b="1" lang="it">
                <a:solidFill>
                  <a:srgbClr val="0B5394"/>
                </a:solidFill>
              </a:rPr>
              <a:t>dangling pointer</a:t>
            </a:r>
            <a:r>
              <a:rPr lang="it"/>
              <a:t>)</a:t>
            </a:r>
            <a:endParaRPr/>
          </a:p>
          <a:p>
            <a:pPr indent="-317500" lvl="1" marL="914400" rtl="0" algn="l">
              <a:spcBef>
                <a:spcPts val="0"/>
              </a:spcBef>
              <a:spcAft>
                <a:spcPts val="0"/>
              </a:spcAft>
              <a:buSzPts val="1400"/>
              <a:buChar char="○"/>
            </a:pPr>
            <a:r>
              <a:rPr lang="it"/>
              <a:t>Poiché in ogni istante il borrow checker è in grado di determinare la dimensione di un blocco di memoria cui un riferimento punta, non possono verificarsi</a:t>
            </a:r>
            <a:r>
              <a:rPr b="1" lang="it">
                <a:solidFill>
                  <a:srgbClr val="0B5394"/>
                </a:solidFill>
              </a:rPr>
              <a:t> buffer overflow</a:t>
            </a:r>
            <a:r>
              <a:rPr lang="it"/>
              <a:t> né </a:t>
            </a:r>
            <a:r>
              <a:rPr b="1" lang="it">
                <a:solidFill>
                  <a:srgbClr val="0B5394"/>
                </a:solidFill>
              </a:rPr>
              <a:t>buffer underflow</a:t>
            </a:r>
            <a:endParaRPr/>
          </a:p>
          <a:p>
            <a:pPr indent="-317500" lvl="1" marL="914400" marR="0" rtl="0" algn="l">
              <a:lnSpc>
                <a:spcPct val="115000"/>
              </a:lnSpc>
              <a:spcBef>
                <a:spcPts val="0"/>
              </a:spcBef>
              <a:spcAft>
                <a:spcPts val="0"/>
              </a:spcAft>
              <a:buSzPts val="1400"/>
              <a:buChar char="○"/>
            </a:pPr>
            <a:r>
              <a:rPr lang="it"/>
              <a:t>Per lo stesso motivo, gli </a:t>
            </a:r>
            <a:r>
              <a:rPr b="1" lang="it">
                <a:solidFill>
                  <a:srgbClr val="0B5394"/>
                </a:solidFill>
              </a:rPr>
              <a:t>iteratori</a:t>
            </a:r>
            <a:r>
              <a:rPr lang="it"/>
              <a:t> offerti da Rust </a:t>
            </a:r>
            <a:r>
              <a:rPr b="1" lang="it">
                <a:solidFill>
                  <a:srgbClr val="0B5394"/>
                </a:solidFill>
              </a:rPr>
              <a:t>non</a:t>
            </a:r>
            <a:r>
              <a:rPr lang="it"/>
              <a:t> </a:t>
            </a:r>
            <a:r>
              <a:rPr b="1" lang="it">
                <a:solidFill>
                  <a:srgbClr val="0B5394"/>
                </a:solidFill>
              </a:rPr>
              <a:t>eccedono</a:t>
            </a:r>
            <a:r>
              <a:rPr lang="it"/>
              <a:t> mai</a:t>
            </a:r>
            <a:r>
              <a:rPr b="1" lang="it">
                <a:solidFill>
                  <a:srgbClr val="0B5394"/>
                </a:solidFill>
              </a:rPr>
              <a:t> i loro limiti</a:t>
            </a:r>
            <a:endParaRPr/>
          </a:p>
        </p:txBody>
      </p:sp>
      <p:sp>
        <p:nvSpPr>
          <p:cNvPr id="1106" name="Google Shape;1106;p7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Vantaggi introdotti dal concetto di possesso</a:t>
            </a:r>
            <a:endParaRPr/>
          </a:p>
        </p:txBody>
      </p:sp>
      <p:sp>
        <p:nvSpPr>
          <p:cNvPr id="1112" name="Google Shape;1112;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Tutte le variabili sono </a:t>
            </a:r>
            <a:r>
              <a:rPr b="1" lang="it">
                <a:solidFill>
                  <a:srgbClr val="0B5394"/>
                </a:solidFill>
              </a:rPr>
              <a:t>immutabili</a:t>
            </a:r>
            <a:r>
              <a:rPr lang="it"/>
              <a:t> per default e occorre una dichiarazione esplicita per renderle mutabili</a:t>
            </a:r>
            <a:endParaRPr/>
          </a:p>
          <a:p>
            <a:pPr indent="-317500" lvl="1" marL="914400" rtl="0" algn="l">
              <a:spcBef>
                <a:spcPts val="0"/>
              </a:spcBef>
              <a:spcAft>
                <a:spcPts val="0"/>
              </a:spcAft>
              <a:buSzPts val="1400"/>
              <a:buChar char="○"/>
            </a:pPr>
            <a:r>
              <a:rPr lang="it"/>
              <a:t>Questo obbliga il programmatore a riflettere attentamente sul come e dove i dati debbano essere modificati e su quale sia il ciclo di vita di ciascun valore</a:t>
            </a:r>
            <a:endParaRPr/>
          </a:p>
          <a:p>
            <a:pPr indent="-342900" lvl="0" marL="457200" rtl="0" algn="l">
              <a:spcBef>
                <a:spcPts val="0"/>
              </a:spcBef>
              <a:spcAft>
                <a:spcPts val="0"/>
              </a:spcAft>
              <a:buSzPts val="1800"/>
              <a:buChar char="●"/>
            </a:pPr>
            <a:r>
              <a:rPr lang="it"/>
              <a:t>Il modello di possesso non riguarda solo la gestione della memoria, ma anche la </a:t>
            </a:r>
            <a:r>
              <a:rPr b="1" lang="it">
                <a:solidFill>
                  <a:srgbClr val="0B5394"/>
                </a:solidFill>
              </a:rPr>
              <a:t>gestione delle risorse</a:t>
            </a:r>
            <a:r>
              <a:rPr lang="it"/>
              <a:t> contenute in un valore</a:t>
            </a:r>
            <a:endParaRPr/>
          </a:p>
          <a:p>
            <a:pPr indent="-317500" lvl="1" marL="914400" rtl="0" algn="l">
              <a:spcBef>
                <a:spcPts val="0"/>
              </a:spcBef>
              <a:spcAft>
                <a:spcPts val="0"/>
              </a:spcAft>
              <a:buSzPts val="1400"/>
              <a:buChar char="○"/>
            </a:pPr>
            <a:r>
              <a:rPr lang="it"/>
              <a:t>Come socket di rete, handle di file e database, descrittori dei dispositivi, …</a:t>
            </a:r>
            <a:endParaRPr/>
          </a:p>
          <a:p>
            <a:pPr indent="-342900" lvl="0" marL="457200" rtl="0" algn="l">
              <a:spcBef>
                <a:spcPts val="0"/>
              </a:spcBef>
              <a:spcAft>
                <a:spcPts val="0"/>
              </a:spcAft>
              <a:buSzPts val="1800"/>
              <a:buChar char="●"/>
            </a:pPr>
            <a:r>
              <a:rPr lang="it"/>
              <a:t>L’assenza di un garbage collector impedisce </a:t>
            </a:r>
            <a:r>
              <a:rPr b="1" lang="it">
                <a:solidFill>
                  <a:srgbClr val="0B5394"/>
                </a:solidFill>
              </a:rPr>
              <a:t>comportamenti non deterministici</a:t>
            </a:r>
            <a:endParaRPr b="1">
              <a:solidFill>
                <a:srgbClr val="0B5394"/>
              </a:solidFill>
            </a:endParaRPr>
          </a:p>
          <a:p>
            <a:pPr indent="-317500" lvl="1" marL="914400" rtl="0" algn="l">
              <a:spcBef>
                <a:spcPts val="0"/>
              </a:spcBef>
              <a:spcAft>
                <a:spcPts val="0"/>
              </a:spcAft>
              <a:buSzPts val="1400"/>
              <a:buChar char="○"/>
            </a:pPr>
            <a:r>
              <a:rPr lang="it"/>
              <a:t>In particolare, la sospensione totale del funzionamento ogni qual volta occorra ricompattare la memoria</a:t>
            </a:r>
            <a:endParaRPr/>
          </a:p>
        </p:txBody>
      </p:sp>
      <p:sp>
        <p:nvSpPr>
          <p:cNvPr id="1113" name="Google Shape;1113;p7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7" name="Shape 1117"/>
        <p:cNvGrpSpPr/>
        <p:nvPr/>
      </p:nvGrpSpPr>
      <p:grpSpPr>
        <a:xfrm>
          <a:off x="0" y="0"/>
          <a:ext cx="0" cy="0"/>
          <a:chOff x="0" y="0"/>
          <a:chExt cx="0" cy="0"/>
        </a:xfrm>
      </p:grpSpPr>
      <p:sp>
        <p:nvSpPr>
          <p:cNvPr id="1118" name="Google Shape;1118;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Disposizione in memoria</a:t>
            </a:r>
            <a:endParaRPr/>
          </a:p>
        </p:txBody>
      </p:sp>
      <p:sp>
        <p:nvSpPr>
          <p:cNvPr id="1119" name="Google Shape;1119;p7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120" name="Google Shape;1120;p79"/>
          <p:cNvPicPr preferRelativeResize="0"/>
          <p:nvPr/>
        </p:nvPicPr>
        <p:blipFill>
          <a:blip r:embed="rId3">
            <a:alphaModFix/>
          </a:blip>
          <a:stretch>
            <a:fillRect/>
          </a:stretch>
        </p:blipFill>
        <p:spPr>
          <a:xfrm>
            <a:off x="1952625" y="1152461"/>
            <a:ext cx="4714875" cy="3523297"/>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Per saperne di più</a:t>
            </a:r>
            <a:endParaRPr/>
          </a:p>
        </p:txBody>
      </p:sp>
      <p:sp>
        <p:nvSpPr>
          <p:cNvPr id="1126" name="Google Shape;1126;p8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Rust Ownership by Example</a:t>
            </a:r>
            <a:endParaRPr/>
          </a:p>
          <a:p>
            <a:pPr indent="-317500" lvl="1" marL="914400" rtl="0" algn="l">
              <a:spcBef>
                <a:spcPts val="0"/>
              </a:spcBef>
              <a:spcAft>
                <a:spcPts val="0"/>
              </a:spcAft>
              <a:buSzPts val="1400"/>
              <a:buChar char="○"/>
            </a:pPr>
            <a:r>
              <a:rPr lang="it" u="sng">
                <a:solidFill>
                  <a:schemeClr val="hlink"/>
                </a:solidFill>
                <a:hlinkClick r:id="rId3"/>
              </a:rPr>
              <a:t>https://depth-first.com/articles/2020/01/27/rust-ownership-by-example/</a:t>
            </a:r>
            <a:r>
              <a:rPr lang="it"/>
              <a:t> </a:t>
            </a:r>
            <a:endParaRPr/>
          </a:p>
          <a:p>
            <a:pPr indent="-317500" lvl="1" marL="914400" rtl="0" algn="l">
              <a:spcBef>
                <a:spcPts val="0"/>
              </a:spcBef>
              <a:spcAft>
                <a:spcPts val="0"/>
              </a:spcAft>
              <a:buSzPts val="1400"/>
              <a:buChar char="○"/>
            </a:pPr>
            <a:r>
              <a:rPr lang="it"/>
              <a:t>Carrellata di esempi, progressivamente più articolati, per illustrare il concetto di possesso</a:t>
            </a:r>
            <a:endParaRPr/>
          </a:p>
          <a:p>
            <a:pPr indent="-342900" lvl="0" marL="457200" rtl="0" algn="l">
              <a:spcBef>
                <a:spcPts val="0"/>
              </a:spcBef>
              <a:spcAft>
                <a:spcPts val="0"/>
              </a:spcAft>
              <a:buSzPts val="1800"/>
              <a:buChar char="●"/>
            </a:pPr>
            <a:r>
              <a:rPr lang="it"/>
              <a:t>Understanding Ownership in Rust with Examples</a:t>
            </a:r>
            <a:endParaRPr/>
          </a:p>
          <a:p>
            <a:pPr indent="-317500" lvl="1" marL="914400" rtl="0" algn="l">
              <a:spcBef>
                <a:spcPts val="0"/>
              </a:spcBef>
              <a:spcAft>
                <a:spcPts val="0"/>
              </a:spcAft>
              <a:buSzPts val="1400"/>
              <a:buChar char="○"/>
            </a:pPr>
            <a:r>
              <a:rPr lang="it" u="sng">
                <a:solidFill>
                  <a:schemeClr val="hlink"/>
                </a:solidFill>
                <a:hlinkClick r:id="rId4"/>
              </a:rPr>
              <a:t>https://medium.com/coinmonks/understanding-ownership-in-rust-with-examples-73835ba931b1</a:t>
            </a:r>
            <a:r>
              <a:rPr lang="it"/>
              <a:t> </a:t>
            </a:r>
            <a:endParaRPr/>
          </a:p>
          <a:p>
            <a:pPr indent="-317500" lvl="1" marL="914400" rtl="0" algn="l">
              <a:spcBef>
                <a:spcPts val="0"/>
              </a:spcBef>
              <a:spcAft>
                <a:spcPts val="0"/>
              </a:spcAft>
              <a:buSzPts val="1400"/>
              <a:buChar char="○"/>
            </a:pPr>
            <a:r>
              <a:rPr lang="it"/>
              <a:t>Altro articolo introduttivo che illustra i diversi aspetti collegati al possesso</a:t>
            </a:r>
            <a:endParaRPr/>
          </a:p>
          <a:p>
            <a:pPr indent="-342900" lvl="0" marL="457200" rtl="0" algn="l">
              <a:spcBef>
                <a:spcPts val="0"/>
              </a:spcBef>
              <a:spcAft>
                <a:spcPts val="0"/>
              </a:spcAft>
              <a:buSzPts val="1800"/>
              <a:buChar char="●"/>
            </a:pPr>
            <a:r>
              <a:rPr lang="it"/>
              <a:t>Rust Lifetimes: A Complete Guide to Ownership and Borrowing</a:t>
            </a:r>
            <a:endParaRPr/>
          </a:p>
          <a:p>
            <a:pPr indent="-317500" lvl="1" marL="914400" rtl="0" algn="l">
              <a:spcBef>
                <a:spcPts val="0"/>
              </a:spcBef>
              <a:spcAft>
                <a:spcPts val="0"/>
              </a:spcAft>
              <a:buSzPts val="1400"/>
              <a:buChar char="○"/>
            </a:pPr>
            <a:r>
              <a:rPr lang="it" u="sng">
                <a:solidFill>
                  <a:schemeClr val="hlink"/>
                </a:solidFill>
                <a:hlinkClick r:id="rId5"/>
              </a:rPr>
              <a:t>https://earthly.dev/blog/rust-lifetimes-ownership-burrowing/</a:t>
            </a:r>
            <a:endParaRPr/>
          </a:p>
          <a:p>
            <a:pPr indent="-317500" lvl="1" marL="914400" rtl="0" algn="l">
              <a:spcBef>
                <a:spcPts val="0"/>
              </a:spcBef>
              <a:spcAft>
                <a:spcPts val="0"/>
              </a:spcAft>
              <a:buSzPts val="1400"/>
              <a:buChar char="○"/>
            </a:pPr>
            <a:r>
              <a:rPr lang="it"/>
              <a:t>Approfondimento sul concetto di tempo di vita di un valore e gestione dei prestiti</a:t>
            </a:r>
            <a:endParaRPr/>
          </a:p>
          <a:p>
            <a:pPr indent="-342900" lvl="0" marL="457200" rtl="0" algn="l">
              <a:spcBef>
                <a:spcPts val="0"/>
              </a:spcBef>
              <a:spcAft>
                <a:spcPts val="0"/>
              </a:spcAft>
              <a:buSzPts val="1800"/>
              <a:buChar char="●"/>
            </a:pPr>
            <a:r>
              <a:rPr lang="it"/>
              <a:t>Effective Rust - Item 14: Understand lifetimes</a:t>
            </a:r>
            <a:endParaRPr/>
          </a:p>
          <a:p>
            <a:pPr indent="-317500" lvl="1" marL="914400" rtl="0" algn="l">
              <a:spcBef>
                <a:spcPts val="0"/>
              </a:spcBef>
              <a:spcAft>
                <a:spcPts val="0"/>
              </a:spcAft>
              <a:buSzPts val="1400"/>
              <a:buChar char="○"/>
            </a:pPr>
            <a:r>
              <a:rPr lang="it" u="sng">
                <a:solidFill>
                  <a:schemeClr val="hlink"/>
                </a:solidFill>
                <a:hlinkClick r:id="rId6"/>
              </a:rPr>
              <a:t>https://www.lurklurk.org/effective-rust/lifetimes.html</a:t>
            </a:r>
            <a:endParaRPr/>
          </a:p>
          <a:p>
            <a:pPr indent="-317500" lvl="1" marL="914400" rtl="0" algn="l">
              <a:spcBef>
                <a:spcPts val="0"/>
              </a:spcBef>
              <a:spcAft>
                <a:spcPts val="0"/>
              </a:spcAft>
              <a:buSzPts val="1400"/>
              <a:buChar char="○"/>
            </a:pPr>
            <a:r>
              <a:rPr lang="it"/>
              <a:t>Altra trattazione dettagliata del concetto di tempo di vita, parte di un libro più ampio con molti altri contenuti utili</a:t>
            </a:r>
            <a:endParaRPr/>
          </a:p>
        </p:txBody>
      </p:sp>
      <p:sp>
        <p:nvSpPr>
          <p:cNvPr id="1127" name="Google Shape;1127;p8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128" name="Google Shape;1128;p80"/>
          <p:cNvPicPr preferRelativeResize="0"/>
          <p:nvPr/>
        </p:nvPicPr>
        <p:blipFill rotWithShape="1">
          <a:blip r:embed="rId7">
            <a:alphaModFix/>
          </a:blip>
          <a:srcRect b="18806" l="17235" r="17235" t="18800"/>
          <a:stretch/>
        </p:blipFill>
        <p:spPr>
          <a:xfrm>
            <a:off x="7771925" y="105705"/>
            <a:ext cx="1249224" cy="102312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Test rapidi: copia movimento, aliasing e mutabilità</a:t>
            </a:r>
            <a:endParaRPr/>
          </a:p>
        </p:txBody>
      </p:sp>
      <p:sp>
        <p:nvSpPr>
          <p:cNvPr id="1134" name="Google Shape;1134;p81"/>
          <p:cNvSpPr txBox="1"/>
          <p:nvPr>
            <p:ph idx="1" type="body"/>
          </p:nvPr>
        </p:nvSpPr>
        <p:spPr>
          <a:xfrm>
            <a:off x="311700" y="1152475"/>
            <a:ext cx="3999900" cy="3416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rtl="0" algn="l">
              <a:lnSpc>
                <a:spcPct val="100000"/>
              </a:lnSpc>
              <a:spcBef>
                <a:spcPts val="1200"/>
              </a:spcBef>
              <a:spcAft>
                <a:spcPts val="0"/>
              </a:spcAft>
              <a:buNone/>
            </a:pPr>
            <a:r>
              <a:rPr lang="it">
                <a:latin typeface="Consolas"/>
                <a:ea typeface="Consolas"/>
                <a:cs typeface="Consolas"/>
                <a:sym typeface="Consolas"/>
              </a:rPr>
              <a:t>    let i1 = 1;</a:t>
            </a:r>
            <a:endParaRPr>
              <a:latin typeface="Consolas"/>
              <a:ea typeface="Consolas"/>
              <a:cs typeface="Consolas"/>
              <a:sym typeface="Consolas"/>
            </a:endParaRPr>
          </a:p>
          <a:p>
            <a:pPr indent="0" lvl="0" marL="0" rtl="0" algn="l">
              <a:lnSpc>
                <a:spcPct val="100000"/>
              </a:lnSpc>
              <a:spcBef>
                <a:spcPts val="1200"/>
              </a:spcBef>
              <a:spcAft>
                <a:spcPts val="0"/>
              </a:spcAft>
              <a:buNone/>
            </a:pPr>
            <a:r>
              <a:rPr lang="it">
                <a:latin typeface="Consolas"/>
                <a:ea typeface="Consolas"/>
                <a:cs typeface="Consolas"/>
                <a:sym typeface="Consolas"/>
              </a:rPr>
              <a:t>    let i2 = i1;</a:t>
            </a:r>
            <a:endParaRPr>
              <a:latin typeface="Consolas"/>
              <a:ea typeface="Consolas"/>
              <a:cs typeface="Consolas"/>
              <a:sym typeface="Consolas"/>
            </a:endParaRPr>
          </a:p>
          <a:p>
            <a:pPr indent="0" lvl="0" marL="0" rtl="0" algn="l">
              <a:lnSpc>
                <a:spcPct val="100000"/>
              </a:lnSpc>
              <a:spcBef>
                <a:spcPts val="1200"/>
              </a:spcBef>
              <a:spcAft>
                <a:spcPts val="0"/>
              </a:spcAft>
              <a:buNone/>
            </a:pPr>
            <a:r>
              <a:rPr lang="it">
                <a:latin typeface="Consolas"/>
                <a:ea typeface="Consolas"/>
                <a:cs typeface="Consolas"/>
                <a:sym typeface="Consolas"/>
              </a:rPr>
              <a:t>    let s1 = String::from("Sistemi");</a:t>
            </a:r>
            <a:endParaRPr>
              <a:latin typeface="Consolas"/>
              <a:ea typeface="Consolas"/>
              <a:cs typeface="Consolas"/>
              <a:sym typeface="Consolas"/>
            </a:endParaRPr>
          </a:p>
          <a:p>
            <a:pPr indent="0" lvl="0" marL="0" rtl="0" algn="l">
              <a:lnSpc>
                <a:spcPct val="100000"/>
              </a:lnSpc>
              <a:spcBef>
                <a:spcPts val="1200"/>
              </a:spcBef>
              <a:spcAft>
                <a:spcPts val="0"/>
              </a:spcAft>
              <a:buNone/>
            </a:pPr>
            <a:r>
              <a:rPr lang="it">
                <a:latin typeface="Consolas"/>
                <a:ea typeface="Consolas"/>
                <a:cs typeface="Consolas"/>
                <a:sym typeface="Consolas"/>
              </a:rPr>
              <a:t>    let s2 = s1; </a:t>
            </a:r>
            <a:br>
              <a:rPr lang="it">
                <a:latin typeface="Consolas"/>
                <a:ea typeface="Consolas"/>
                <a:cs typeface="Consolas"/>
                <a:sym typeface="Consolas"/>
              </a:rPr>
            </a:br>
            <a:r>
              <a:rPr lang="it">
                <a:latin typeface="Consolas"/>
                <a:ea typeface="Consolas"/>
                <a:cs typeface="Consolas"/>
                <a:sym typeface="Consolas"/>
              </a:rPr>
              <a:t>           </a:t>
            </a:r>
            <a:r>
              <a:rPr lang="it">
                <a:highlight>
                  <a:srgbClr val="00FF00"/>
                </a:highlight>
                <a:latin typeface="Consolas"/>
                <a:ea typeface="Consolas"/>
                <a:cs typeface="Consolas"/>
                <a:sym typeface="Consolas"/>
              </a:rPr>
              <a:t>// [A] Cosa succede qui?</a:t>
            </a:r>
            <a:endParaRPr>
              <a:highlight>
                <a:srgbClr val="00FF00"/>
              </a:highlight>
              <a:latin typeface="Consolas"/>
              <a:ea typeface="Consolas"/>
              <a:cs typeface="Consolas"/>
              <a:sym typeface="Consolas"/>
            </a:endParaRPr>
          </a:p>
          <a:p>
            <a:pPr indent="0" lvl="0" marL="0" rtl="0" algn="l">
              <a:lnSpc>
                <a:spcPct val="100000"/>
              </a:lnSpc>
              <a:spcBef>
                <a:spcPts val="1200"/>
              </a:spcBef>
              <a:spcAft>
                <a:spcPts val="0"/>
              </a:spcAft>
              <a:buClr>
                <a:schemeClr val="dk1"/>
              </a:buClr>
              <a:buSzPts val="1100"/>
              <a:buFont typeface="Arial"/>
              <a:buNone/>
            </a:pPr>
            <a:r>
              <a:rPr lang="it">
                <a:latin typeface="Consolas"/>
                <a:ea typeface="Consolas"/>
                <a:cs typeface="Consolas"/>
                <a:sym typeface="Consolas"/>
              </a:rPr>
              <a:t>    println!("Intero: {}", i1); </a:t>
            </a:r>
            <a:br>
              <a:rPr lang="it">
                <a:latin typeface="Consolas"/>
                <a:ea typeface="Consolas"/>
                <a:cs typeface="Consolas"/>
                <a:sym typeface="Consolas"/>
              </a:rPr>
            </a:br>
            <a:r>
              <a:rPr lang="it">
                <a:latin typeface="Consolas"/>
                <a:ea typeface="Consolas"/>
                <a:cs typeface="Consolas"/>
                <a:sym typeface="Consolas"/>
              </a:rPr>
              <a:t>           </a:t>
            </a:r>
            <a:r>
              <a:rPr lang="it">
                <a:highlight>
                  <a:srgbClr val="00FF00"/>
                </a:highlight>
                <a:latin typeface="Consolas"/>
                <a:ea typeface="Consolas"/>
                <a:cs typeface="Consolas"/>
                <a:sym typeface="Consolas"/>
              </a:rPr>
              <a:t>// [B] Questa riga compila?</a:t>
            </a:r>
            <a:endParaRPr>
              <a:highlight>
                <a:srgbClr val="00FF00"/>
              </a:highlight>
              <a:latin typeface="Consolas"/>
              <a:ea typeface="Consolas"/>
              <a:cs typeface="Consolas"/>
              <a:sym typeface="Consolas"/>
            </a:endParaRPr>
          </a:p>
          <a:p>
            <a:pPr indent="0" lvl="0" marL="0" rtl="0" algn="l">
              <a:lnSpc>
                <a:spcPct val="100000"/>
              </a:lnSpc>
              <a:spcBef>
                <a:spcPts val="1200"/>
              </a:spcBef>
              <a:spcAft>
                <a:spcPts val="0"/>
              </a:spcAft>
              <a:buNone/>
            </a:pPr>
            <a:r>
              <a:rPr lang="it">
                <a:latin typeface="Consolas"/>
                <a:ea typeface="Consolas"/>
                <a:cs typeface="Consolas"/>
                <a:sym typeface="Consolas"/>
              </a:rPr>
              <a:t>    println!("Stringa: {}", s1); </a:t>
            </a:r>
            <a:br>
              <a:rPr lang="it">
                <a:latin typeface="Consolas"/>
                <a:ea typeface="Consolas"/>
                <a:cs typeface="Consolas"/>
                <a:sym typeface="Consolas"/>
              </a:rPr>
            </a:br>
            <a:r>
              <a:rPr lang="it">
                <a:latin typeface="Consolas"/>
                <a:ea typeface="Consolas"/>
                <a:cs typeface="Consolas"/>
                <a:sym typeface="Consolas"/>
              </a:rPr>
              <a:t>           </a:t>
            </a:r>
            <a:r>
              <a:rPr lang="it">
                <a:highlight>
                  <a:srgbClr val="00FF00"/>
                </a:highlight>
                <a:latin typeface="Consolas"/>
                <a:ea typeface="Consolas"/>
                <a:cs typeface="Consolas"/>
                <a:sym typeface="Consolas"/>
              </a:rPr>
              <a:t>// [C] Questa riga compila?</a:t>
            </a:r>
            <a:endParaRPr>
              <a:highlight>
                <a:srgbClr val="00FF00"/>
              </a:highlight>
              <a:latin typeface="Consolas"/>
              <a:ea typeface="Consolas"/>
              <a:cs typeface="Consolas"/>
              <a:sym typeface="Consolas"/>
            </a:endParaRPr>
          </a:p>
          <a:p>
            <a:pPr indent="0" lvl="0" marL="0" rtl="0" algn="l">
              <a:lnSpc>
                <a:spcPct val="100000"/>
              </a:lnSpc>
              <a:spcBef>
                <a:spcPts val="1200"/>
              </a:spcBef>
              <a:spcAft>
                <a:spcPts val="1200"/>
              </a:spcAft>
              <a:buNone/>
            </a:pPr>
            <a:r>
              <a:rPr lang="it">
                <a:latin typeface="Consolas"/>
                <a:ea typeface="Consolas"/>
                <a:cs typeface="Consolas"/>
                <a:sym typeface="Consolas"/>
              </a:rPr>
              <a:t>}</a:t>
            </a:r>
            <a:endParaRPr>
              <a:latin typeface="Consolas"/>
              <a:ea typeface="Consolas"/>
              <a:cs typeface="Consolas"/>
              <a:sym typeface="Consolas"/>
            </a:endParaRPr>
          </a:p>
        </p:txBody>
      </p:sp>
      <p:sp>
        <p:nvSpPr>
          <p:cNvPr id="1135" name="Google Shape;1135;p8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136" name="Google Shape;1136;p81"/>
          <p:cNvSpPr txBox="1"/>
          <p:nvPr>
            <p:ph idx="2" type="body"/>
          </p:nvPr>
        </p:nvSpPr>
        <p:spPr>
          <a:xfrm>
            <a:off x="4832400" y="1152475"/>
            <a:ext cx="3999900" cy="3416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54000" wrap="square" tIns="91425">
            <a:noAutofit/>
          </a:bodyPr>
          <a:lstStyle/>
          <a:p>
            <a:pPr indent="0" lvl="0" marL="0" marR="0" rtl="0" algn="l">
              <a:lnSpc>
                <a:spcPct val="100000"/>
              </a:lnSpc>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marR="0" rtl="0" algn="l">
              <a:lnSpc>
                <a:spcPct val="100000"/>
              </a:lnSpc>
              <a:spcBef>
                <a:spcPts val="1200"/>
              </a:spcBef>
              <a:spcAft>
                <a:spcPts val="0"/>
              </a:spcAft>
              <a:buNone/>
            </a:pPr>
            <a:r>
              <a:rPr lang="it">
                <a:latin typeface="Consolas"/>
                <a:ea typeface="Consolas"/>
                <a:cs typeface="Consolas"/>
                <a:sym typeface="Consolas"/>
              </a:rPr>
              <a:t>    let mut v = vec![1, 2, 3];</a:t>
            </a:r>
            <a:endParaRPr>
              <a:latin typeface="Consolas"/>
              <a:ea typeface="Consolas"/>
              <a:cs typeface="Consolas"/>
              <a:sym typeface="Consolas"/>
            </a:endParaRPr>
          </a:p>
          <a:p>
            <a:pPr indent="0" lvl="0" marL="0" marR="0" rtl="0" algn="l">
              <a:lnSpc>
                <a:spcPct val="100000"/>
              </a:lnSpc>
              <a:spcBef>
                <a:spcPts val="1200"/>
              </a:spcBef>
              <a:spcAft>
                <a:spcPts val="0"/>
              </a:spcAft>
              <a:buNone/>
            </a:pPr>
            <a:r>
              <a:rPr lang="it">
                <a:latin typeface="Consolas"/>
                <a:ea typeface="Consolas"/>
                <a:cs typeface="Consolas"/>
                <a:sym typeface="Consolas"/>
              </a:rPr>
              <a:t>    let r1 = &amp;v;      </a:t>
            </a:r>
            <a:br>
              <a:rPr lang="it">
                <a:latin typeface="Consolas"/>
                <a:ea typeface="Consolas"/>
                <a:cs typeface="Consolas"/>
                <a:sym typeface="Consolas"/>
              </a:rPr>
            </a:br>
            <a:r>
              <a:rPr lang="it">
                <a:latin typeface="Consolas"/>
                <a:ea typeface="Consolas"/>
                <a:cs typeface="Consolas"/>
                <a:sym typeface="Consolas"/>
              </a:rPr>
              <a:t>		// Prestito condiviso</a:t>
            </a:r>
            <a:endParaRPr>
              <a:latin typeface="Consolas"/>
              <a:ea typeface="Consolas"/>
              <a:cs typeface="Consolas"/>
              <a:sym typeface="Consolas"/>
            </a:endParaRPr>
          </a:p>
          <a:p>
            <a:pPr indent="0" lvl="0" marL="0" marR="0" rtl="0" algn="l">
              <a:lnSpc>
                <a:spcPct val="100000"/>
              </a:lnSpc>
              <a:spcBef>
                <a:spcPts val="1200"/>
              </a:spcBef>
              <a:spcAft>
                <a:spcPts val="0"/>
              </a:spcAft>
              <a:buNone/>
            </a:pPr>
            <a:r>
              <a:rPr lang="it">
                <a:latin typeface="Consolas"/>
                <a:ea typeface="Consolas"/>
                <a:cs typeface="Consolas"/>
                <a:sym typeface="Consolas"/>
              </a:rPr>
              <a:t>    let r2 = &amp;v;</a:t>
            </a:r>
            <a:br>
              <a:rPr lang="it">
                <a:latin typeface="Consolas"/>
                <a:ea typeface="Consolas"/>
                <a:cs typeface="Consolas"/>
                <a:sym typeface="Consolas"/>
              </a:rPr>
            </a:br>
            <a:r>
              <a:rPr lang="it">
                <a:latin typeface="Consolas"/>
                <a:ea typeface="Consolas"/>
                <a:cs typeface="Consolas"/>
                <a:sym typeface="Consolas"/>
              </a:rPr>
              <a:t>		// Secondo prestito condiviso    </a:t>
            </a:r>
            <a:endParaRPr>
              <a:latin typeface="Consolas"/>
              <a:ea typeface="Consolas"/>
              <a:cs typeface="Consolas"/>
              <a:sym typeface="Consolas"/>
            </a:endParaRPr>
          </a:p>
          <a:p>
            <a:pPr indent="0" lvl="0" marL="0" marR="0" rtl="0" algn="l">
              <a:lnSpc>
                <a:spcPct val="100000"/>
              </a:lnSpc>
              <a:spcBef>
                <a:spcPts val="1200"/>
              </a:spcBef>
              <a:spcAft>
                <a:spcPts val="0"/>
              </a:spcAft>
              <a:buNone/>
            </a:pPr>
            <a:r>
              <a:rPr lang="it">
                <a:latin typeface="Consolas"/>
                <a:ea typeface="Consolas"/>
                <a:cs typeface="Consolas"/>
                <a:sym typeface="Consolas"/>
              </a:rPr>
              <a:t>    v.push(4);        </a:t>
            </a:r>
            <a:br>
              <a:rPr lang="it">
                <a:latin typeface="Consolas"/>
                <a:ea typeface="Consolas"/>
                <a:cs typeface="Consolas"/>
                <a:sym typeface="Consolas"/>
              </a:rPr>
            </a:br>
            <a:r>
              <a:rPr lang="it">
                <a:latin typeface="Consolas"/>
                <a:ea typeface="Consolas"/>
                <a:cs typeface="Consolas"/>
                <a:sym typeface="Consolas"/>
              </a:rPr>
              <a:t>		</a:t>
            </a:r>
            <a:r>
              <a:rPr lang="it">
                <a:highlight>
                  <a:srgbClr val="00FF00"/>
                </a:highlight>
                <a:latin typeface="Consolas"/>
                <a:ea typeface="Consolas"/>
                <a:cs typeface="Consolas"/>
                <a:sym typeface="Consolas"/>
              </a:rPr>
              <a:t>// [D] Posso modificare v qui?</a:t>
            </a:r>
            <a:endParaRPr>
              <a:highlight>
                <a:srgbClr val="00FF00"/>
              </a:highlight>
              <a:latin typeface="Consolas"/>
              <a:ea typeface="Consolas"/>
              <a:cs typeface="Consolas"/>
              <a:sym typeface="Consolas"/>
            </a:endParaRPr>
          </a:p>
          <a:p>
            <a:pPr indent="0" lvl="0" marL="0" marR="0" rtl="0" algn="l">
              <a:lnSpc>
                <a:spcPct val="100000"/>
              </a:lnSpc>
              <a:spcBef>
                <a:spcPts val="1200"/>
              </a:spcBef>
              <a:spcAft>
                <a:spcPts val="0"/>
              </a:spcAft>
              <a:buNone/>
            </a:pPr>
            <a:r>
              <a:rPr lang="it">
                <a:latin typeface="Consolas"/>
                <a:ea typeface="Consolas"/>
                <a:cs typeface="Consolas"/>
                <a:sym typeface="Consolas"/>
              </a:rPr>
              <a:t>    println!("{:?}", r1); </a:t>
            </a:r>
            <a:endParaRPr>
              <a:latin typeface="Consolas"/>
              <a:ea typeface="Consolas"/>
              <a:cs typeface="Consolas"/>
              <a:sym typeface="Consolas"/>
            </a:endParaRPr>
          </a:p>
          <a:p>
            <a:pPr indent="0" lvl="0" marL="0" marR="0" rtl="0" algn="l">
              <a:lnSpc>
                <a:spcPct val="100000"/>
              </a:lnSpc>
              <a:spcBef>
                <a:spcPts val="1200"/>
              </a:spcBef>
              <a:spcAft>
                <a:spcPts val="1200"/>
              </a:spcAft>
              <a:buNone/>
            </a:pPr>
            <a:r>
              <a:rPr lang="it">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Test rapidi: la semantica di Box, riferimenti</a:t>
            </a:r>
            <a:endParaRPr/>
          </a:p>
        </p:txBody>
      </p:sp>
      <p:sp>
        <p:nvSpPr>
          <p:cNvPr id="1142" name="Google Shape;1142;p82"/>
          <p:cNvSpPr txBox="1"/>
          <p:nvPr>
            <p:ph idx="1" type="body"/>
          </p:nvPr>
        </p:nvSpPr>
        <p:spPr>
          <a:xfrm>
            <a:off x="311700" y="1152475"/>
            <a:ext cx="3999900" cy="3416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rtl="0" algn="l">
              <a:lnSpc>
                <a:spcPct val="100000"/>
              </a:lnSpc>
              <a:spcBef>
                <a:spcPts val="1200"/>
              </a:spcBef>
              <a:spcAft>
                <a:spcPts val="0"/>
              </a:spcAft>
              <a:buNone/>
            </a:pPr>
            <a:r>
              <a:rPr lang="it">
                <a:latin typeface="Consolas"/>
                <a:ea typeface="Consolas"/>
                <a:cs typeface="Consolas"/>
                <a:sym typeface="Consolas"/>
              </a:rPr>
              <a:t>    let b1 = Box::new(10);</a:t>
            </a:r>
            <a:br>
              <a:rPr lang="it">
                <a:latin typeface="Consolas"/>
                <a:ea typeface="Consolas"/>
                <a:cs typeface="Consolas"/>
                <a:sym typeface="Consolas"/>
              </a:rPr>
            </a:br>
            <a:r>
              <a:rPr lang="it">
                <a:latin typeface="Consolas"/>
                <a:ea typeface="Consolas"/>
                <a:cs typeface="Consolas"/>
                <a:sym typeface="Consolas"/>
              </a:rPr>
              <a:t>              // Allocazione su Heap</a:t>
            </a:r>
            <a:endParaRPr>
              <a:latin typeface="Consolas"/>
              <a:ea typeface="Consolas"/>
              <a:cs typeface="Consolas"/>
              <a:sym typeface="Consolas"/>
            </a:endParaRPr>
          </a:p>
          <a:p>
            <a:pPr indent="0" lvl="0" marL="0" rtl="0" algn="l">
              <a:lnSpc>
                <a:spcPct val="100000"/>
              </a:lnSpc>
              <a:spcBef>
                <a:spcPts val="1200"/>
              </a:spcBef>
              <a:spcAft>
                <a:spcPts val="0"/>
              </a:spcAft>
              <a:buNone/>
            </a:pPr>
            <a:r>
              <a:rPr lang="it">
                <a:latin typeface="Consolas"/>
                <a:ea typeface="Consolas"/>
                <a:cs typeface="Consolas"/>
                <a:sym typeface="Consolas"/>
              </a:rPr>
              <a:t>    let b2 = b1;</a:t>
            </a:r>
            <a:br>
              <a:rPr lang="it">
                <a:latin typeface="Consolas"/>
                <a:ea typeface="Consolas"/>
                <a:cs typeface="Consolas"/>
                <a:sym typeface="Consolas"/>
              </a:rPr>
            </a:br>
            <a:r>
              <a:rPr lang="it">
                <a:latin typeface="Consolas"/>
                <a:ea typeface="Consolas"/>
                <a:cs typeface="Consolas"/>
                <a:sym typeface="Consolas"/>
              </a:rPr>
              <a:t>              </a:t>
            </a:r>
            <a:r>
              <a:rPr lang="it">
                <a:highlight>
                  <a:srgbClr val="00FF00"/>
                </a:highlight>
                <a:latin typeface="Consolas"/>
                <a:ea typeface="Consolas"/>
                <a:cs typeface="Consolas"/>
                <a:sym typeface="Consolas"/>
              </a:rPr>
              <a:t>// [E] Movimento o Copia?</a:t>
            </a:r>
            <a:r>
              <a:rPr lang="it">
                <a:latin typeface="Consolas"/>
                <a:ea typeface="Consolas"/>
                <a:cs typeface="Consolas"/>
                <a:sym typeface="Consolas"/>
              </a:rPr>
              <a:t>  </a:t>
            </a:r>
            <a:endParaRPr>
              <a:latin typeface="Consolas"/>
              <a:ea typeface="Consolas"/>
              <a:cs typeface="Consolas"/>
              <a:sym typeface="Consolas"/>
            </a:endParaRPr>
          </a:p>
          <a:p>
            <a:pPr indent="0" lvl="0" marL="0" rtl="0" algn="l">
              <a:lnSpc>
                <a:spcPct val="100000"/>
              </a:lnSpc>
              <a:spcBef>
                <a:spcPts val="1200"/>
              </a:spcBef>
              <a:spcAft>
                <a:spcPts val="0"/>
              </a:spcAft>
              <a:buNone/>
            </a:pPr>
            <a:r>
              <a:rPr lang="it">
                <a:latin typeface="Consolas"/>
                <a:ea typeface="Consolas"/>
                <a:cs typeface="Consolas"/>
                <a:sym typeface="Consolas"/>
              </a:rPr>
              <a:t>    // println!("{}", b1); </a:t>
            </a:r>
            <a:br>
              <a:rPr lang="it">
                <a:latin typeface="Consolas"/>
                <a:ea typeface="Consolas"/>
                <a:cs typeface="Consolas"/>
                <a:sym typeface="Consolas"/>
              </a:rPr>
            </a:br>
            <a:r>
              <a:rPr lang="it">
                <a:latin typeface="Consolas"/>
                <a:ea typeface="Consolas"/>
                <a:cs typeface="Consolas"/>
                <a:sym typeface="Consolas"/>
              </a:rPr>
              <a:t>              </a:t>
            </a:r>
            <a:r>
              <a:rPr lang="it">
                <a:highlight>
                  <a:srgbClr val="00FF00"/>
                </a:highlight>
                <a:latin typeface="Consolas"/>
                <a:ea typeface="Consolas"/>
                <a:cs typeface="Consolas"/>
                <a:sym typeface="Consolas"/>
              </a:rPr>
              <a:t>// [F] cosa capita se si </a:t>
            </a:r>
            <a:br>
              <a:rPr lang="it">
                <a:highlight>
                  <a:srgbClr val="00FF00"/>
                </a:highlight>
                <a:latin typeface="Consolas"/>
                <a:ea typeface="Consolas"/>
                <a:cs typeface="Consolas"/>
                <a:sym typeface="Consolas"/>
              </a:rPr>
            </a:br>
            <a:r>
              <a:rPr lang="it">
                <a:highlight>
                  <a:srgbClr val="00FF00"/>
                </a:highlight>
                <a:latin typeface="Consolas"/>
                <a:ea typeface="Consolas"/>
                <a:cs typeface="Consolas"/>
                <a:sym typeface="Consolas"/>
              </a:rPr>
              <a:t>              // toglie il commento? </a:t>
            </a:r>
            <a:endParaRPr>
              <a:highlight>
                <a:srgbClr val="00FF00"/>
              </a:highlight>
              <a:latin typeface="Consolas"/>
              <a:ea typeface="Consolas"/>
              <a:cs typeface="Consolas"/>
              <a:sym typeface="Consolas"/>
            </a:endParaRPr>
          </a:p>
          <a:p>
            <a:pPr indent="0" lvl="0" marL="0" rtl="0" algn="l">
              <a:lnSpc>
                <a:spcPct val="100000"/>
              </a:lnSpc>
              <a:spcBef>
                <a:spcPts val="1200"/>
              </a:spcBef>
              <a:spcAft>
                <a:spcPts val="1200"/>
              </a:spcAft>
              <a:buNone/>
            </a:pPr>
            <a:r>
              <a:rPr lang="it">
                <a:latin typeface="Consolas"/>
                <a:ea typeface="Consolas"/>
                <a:cs typeface="Consolas"/>
                <a:sym typeface="Consolas"/>
              </a:rPr>
              <a:t>}</a:t>
            </a:r>
            <a:endParaRPr>
              <a:latin typeface="Consolas"/>
              <a:ea typeface="Consolas"/>
              <a:cs typeface="Consolas"/>
              <a:sym typeface="Consolas"/>
            </a:endParaRPr>
          </a:p>
        </p:txBody>
      </p:sp>
      <p:sp>
        <p:nvSpPr>
          <p:cNvPr id="1143" name="Google Shape;1143;p8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144" name="Google Shape;1144;p82"/>
          <p:cNvSpPr txBox="1"/>
          <p:nvPr>
            <p:ph idx="2" type="body"/>
          </p:nvPr>
        </p:nvSpPr>
        <p:spPr>
          <a:xfrm>
            <a:off x="4832400" y="1152475"/>
            <a:ext cx="3999900" cy="3416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54000" wrap="square" tIns="91425">
            <a:noAutofit/>
          </a:bodyPr>
          <a:lstStyle/>
          <a:p>
            <a:pPr indent="0" lvl="0" marL="0" marR="0" rtl="0" algn="l">
              <a:lnSpc>
                <a:spcPct val="100000"/>
              </a:lnSpc>
              <a:spcBef>
                <a:spcPts val="0"/>
              </a:spcBef>
              <a:spcAft>
                <a:spcPts val="0"/>
              </a:spcAft>
              <a:buNone/>
            </a:pPr>
            <a:r>
              <a:rPr lang="it">
                <a:latin typeface="Consolas"/>
                <a:ea typeface="Consolas"/>
                <a:cs typeface="Consolas"/>
                <a:sym typeface="Consolas"/>
              </a:rPr>
              <a:t>fn get_data() -&gt; &amp;String {</a:t>
            </a:r>
            <a:endParaRPr>
              <a:latin typeface="Consolas"/>
              <a:ea typeface="Consolas"/>
              <a:cs typeface="Consolas"/>
              <a:sym typeface="Consolas"/>
            </a:endParaRPr>
          </a:p>
          <a:p>
            <a:pPr indent="0" lvl="0" marL="0" marR="0" rtl="0" algn="l">
              <a:lnSpc>
                <a:spcPct val="100000"/>
              </a:lnSpc>
              <a:spcBef>
                <a:spcPts val="1200"/>
              </a:spcBef>
              <a:spcAft>
                <a:spcPts val="0"/>
              </a:spcAft>
              <a:buNone/>
            </a:pPr>
            <a:r>
              <a:rPr lang="it">
                <a:latin typeface="Consolas"/>
                <a:ea typeface="Consolas"/>
                <a:cs typeface="Consolas"/>
                <a:sym typeface="Consolas"/>
              </a:rPr>
              <a:t>    let s = String::from("Locale");</a:t>
            </a:r>
            <a:endParaRPr>
              <a:latin typeface="Consolas"/>
              <a:ea typeface="Consolas"/>
              <a:cs typeface="Consolas"/>
              <a:sym typeface="Consolas"/>
            </a:endParaRPr>
          </a:p>
          <a:p>
            <a:pPr indent="0" lvl="0" marL="0" marR="0" rtl="0" algn="l">
              <a:lnSpc>
                <a:spcPct val="100000"/>
              </a:lnSpc>
              <a:spcBef>
                <a:spcPts val="1200"/>
              </a:spcBef>
              <a:spcAft>
                <a:spcPts val="0"/>
              </a:spcAft>
              <a:buNone/>
            </a:pPr>
            <a:r>
              <a:rPr lang="it">
                <a:latin typeface="Consolas"/>
                <a:ea typeface="Consolas"/>
                <a:cs typeface="Consolas"/>
                <a:sym typeface="Consolas"/>
              </a:rPr>
              <a:t>    &amp;s </a:t>
            </a:r>
            <a:r>
              <a:rPr lang="it">
                <a:highlight>
                  <a:srgbClr val="00FF00"/>
                </a:highlight>
                <a:latin typeface="Consolas"/>
                <a:ea typeface="Consolas"/>
                <a:cs typeface="Consolas"/>
                <a:sym typeface="Consolas"/>
              </a:rPr>
              <a:t>// [G] Cosa succede qui?</a:t>
            </a:r>
            <a:endParaRPr>
              <a:highlight>
                <a:srgbClr val="00FF00"/>
              </a:highlight>
              <a:latin typeface="Consolas"/>
              <a:ea typeface="Consolas"/>
              <a:cs typeface="Consolas"/>
              <a:sym typeface="Consolas"/>
            </a:endParaRPr>
          </a:p>
          <a:p>
            <a:pPr indent="0" lvl="0" marL="0" marR="0" rtl="0" algn="l">
              <a:lnSpc>
                <a:spcPct val="100000"/>
              </a:lnSpc>
              <a:spcBef>
                <a:spcPts val="120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indent="0" lvl="0" marL="0" marR="0" rtl="0" algn="l">
              <a:lnSpc>
                <a:spcPct val="100000"/>
              </a:lnSpc>
              <a:spcBef>
                <a:spcPts val="1200"/>
              </a:spcBef>
              <a:spcAft>
                <a:spcPts val="0"/>
              </a:spcAft>
              <a:buNone/>
            </a:pPr>
            <a:r>
              <a:t/>
            </a:r>
            <a:endParaRPr>
              <a:latin typeface="Consolas"/>
              <a:ea typeface="Consolas"/>
              <a:cs typeface="Consolas"/>
              <a:sym typeface="Consolas"/>
            </a:endParaRPr>
          </a:p>
          <a:p>
            <a:pPr indent="0" lvl="0" marL="0" marR="0" rtl="0" algn="l">
              <a:lnSpc>
                <a:spcPct val="100000"/>
              </a:lnSpc>
              <a:spcBef>
                <a:spcPts val="120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marR="0" rtl="0" algn="l">
              <a:lnSpc>
                <a:spcPct val="100000"/>
              </a:lnSpc>
              <a:spcBef>
                <a:spcPts val="1200"/>
              </a:spcBef>
              <a:spcAft>
                <a:spcPts val="0"/>
              </a:spcAft>
              <a:buNone/>
            </a:pPr>
            <a:r>
              <a:rPr lang="it">
                <a:latin typeface="Consolas"/>
                <a:ea typeface="Consolas"/>
                <a:cs typeface="Consolas"/>
                <a:sym typeface="Consolas"/>
              </a:rPr>
              <a:t>    let r = get_data();</a:t>
            </a:r>
            <a:endParaRPr>
              <a:latin typeface="Consolas"/>
              <a:ea typeface="Consolas"/>
              <a:cs typeface="Consolas"/>
              <a:sym typeface="Consolas"/>
            </a:endParaRPr>
          </a:p>
          <a:p>
            <a:pPr indent="0" lvl="0" marL="0" marR="0" rtl="0" algn="l">
              <a:lnSpc>
                <a:spcPct val="100000"/>
              </a:lnSpc>
              <a:spcBef>
                <a:spcPts val="1200"/>
              </a:spcBef>
              <a:spcAft>
                <a:spcPts val="1200"/>
              </a:spcAft>
              <a:buNone/>
            </a:pPr>
            <a:r>
              <a:rPr lang="it">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Test rapidi: durata in vita</a:t>
            </a:r>
            <a:endParaRPr/>
          </a:p>
        </p:txBody>
      </p:sp>
      <p:sp>
        <p:nvSpPr>
          <p:cNvPr id="1150" name="Google Shape;1150;p83"/>
          <p:cNvSpPr txBox="1"/>
          <p:nvPr>
            <p:ph idx="1" type="body"/>
          </p:nvPr>
        </p:nvSpPr>
        <p:spPr>
          <a:xfrm>
            <a:off x="311700" y="1152475"/>
            <a:ext cx="3999900" cy="3416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it">
                <a:highlight>
                  <a:srgbClr val="00FF00"/>
                </a:highlight>
                <a:latin typeface="Consolas"/>
                <a:ea typeface="Consolas"/>
                <a:cs typeface="Consolas"/>
                <a:sym typeface="Consolas"/>
              </a:rPr>
              <a:t>// [H] Questa firma è sufficiente?</a:t>
            </a:r>
            <a:endParaRPr>
              <a:highlight>
                <a:srgbClr val="00FF00"/>
              </a:highlight>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fn longest(x: &amp;str, y: &amp;str) -&gt; &amp;str {</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if x.len() &gt; y.len() { x } </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else { y }</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indent="0" lvl="0" marL="0" rtl="0" algn="l">
              <a:lnSpc>
                <a:spcPct val="100000"/>
              </a:lnSpc>
              <a:spcBef>
                <a:spcPts val="0"/>
              </a:spcBef>
              <a:spcAft>
                <a:spcPts val="0"/>
              </a:spcAft>
              <a:buNone/>
            </a:pPr>
            <a:r>
              <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let s1 = String::from("lunga");</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let res;</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let s2 = String::from("corta");</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res = longest(&amp;s1, &amp;s2); </a:t>
            </a:r>
            <a:r>
              <a:rPr lang="it">
                <a:highlight>
                  <a:srgbClr val="00FF00"/>
                </a:highlight>
                <a:latin typeface="Consolas"/>
                <a:ea typeface="Consolas"/>
                <a:cs typeface="Consolas"/>
                <a:sym typeface="Consolas"/>
              </a:rPr>
              <a:t>// [I]</a:t>
            </a:r>
            <a:endParaRPr>
              <a:highlight>
                <a:srgbClr val="00FF00"/>
              </a:highlight>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println!("Il più lungo è {}", res);</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p:txBody>
      </p:sp>
      <p:sp>
        <p:nvSpPr>
          <p:cNvPr id="1151" name="Google Shape;1151;p8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lito">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